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・営業テクニックを覚える会ではなく、アプローチブックをめくれるようになる会だと宣言する</a:t>
            </a:r>
          </a:p>
          <a:p>
            <a:r>
              <a:t>・「資料に書いてあることを読む」のではなく「資料を使って言わせる」のが目的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・「資料を読み上げる」と「資料を使って言わせる」の違いを、講師が実演して見せる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・3つとも「アプローチブックの扱い方」の話であって、話術の話ではないことを強調する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株式会社山岸様　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C0504D">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1000"/>
              </a:spcAft>
            </a:pPr>
            <a:r>
              <a:rPr sz="2600" b="1">
                <a:solidFill>
                  <a:srgbClr val="FFFFFF"/>
                </a:solidFill>
                <a:latin typeface="BIZ UDPゴシック"/>
                <a:ea typeface="BIZ UDPゴシック"/>
              </a:rPr>
              <a:t>株式会社山岸　御中</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800"/>
              </a:spcAft>
            </a:pPr>
            <a:r>
              <a:rPr sz="4800" b="1">
                <a:solidFill>
                  <a:srgbClr val="FFFFFF"/>
                </a:solidFill>
                <a:latin typeface="BIZ UDPゴシック"/>
                <a:ea typeface="BIZ UDPゴシック"/>
              </a:rPr>
              <a:t>必要性訴求パート</a:t>
            </a:r>
          </a:p>
          <a:p>
            <a:pPr algn="l">
              <a:spcAft>
                <a:spcPts val="1000"/>
              </a:spcAft>
            </a:pPr>
            <a:r>
              <a:rPr sz="3200" b="1">
                <a:solidFill>
                  <a:srgbClr val="FFFFFF"/>
                </a:solidFill>
                <a:latin typeface="BIZ UDPゴシック"/>
                <a:ea typeface="BIZ UDPゴシック"/>
              </a:rPr>
              <a:t>アプローチブックの伝え方</a:t>
            </a:r>
          </a:p>
          <a:p>
            <a:pPr algn="l">
              <a:spcAft>
                <a:spcPts val="500"/>
              </a:spcAft>
            </a:pPr>
            <a:r>
              <a:rPr sz="22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2026年度　所要60分　株式会社船井総合研究所</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このパートのゴール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298448"/>
            <a:ext cx="9052560" cy="548640"/>
          </a:xfrm>
          <a:prstGeom prst="rect">
            <a:avLst/>
          </a:prstGeom>
          <a:noFill/>
        </p:spPr>
        <p:txBody>
          <a:bodyPr wrap="square" anchor="t" lIns="0" rIns="0" tIns="18288" bIns="18288">
            <a:spAutoFit/>
          </a:bodyPr>
          <a:lstStyle/>
          <a:p>
            <a:pPr algn="l">
              <a:spcAft>
                <a:spcPts val="500"/>
              </a:spcAft>
            </a:pPr>
            <a:r>
              <a:rPr sz="2100" b="1">
                <a:solidFill>
                  <a:srgbClr val="FF0000"/>
                </a:solidFill>
                <a:latin typeface="HGPｺﾞｼｯｸE"/>
                <a:ea typeface="HGPｺﾞｼｯｸE"/>
              </a:rPr>
              <a:t>アプローチブック p.9〜p.19 を、自分の言葉でめくれるようになる</a:t>
            </a:r>
          </a:p>
        </p:txBody>
      </p:sp>
      <p:sp>
        <p:nvSpPr>
          <p:cNvPr id="6" name="Rectangle 5"/>
          <p:cNvSpPr/>
          <p:nvPr/>
        </p:nvSpPr>
        <p:spPr>
          <a:xfrm>
            <a:off x="411480" y="2057400"/>
            <a:ext cx="9098280" cy="26974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1000"/>
              </a:spcAft>
            </a:pPr>
            <a:r>
              <a:rPr sz="1800" b="1">
                <a:solidFill>
                  <a:srgbClr val="000000"/>
                </a:solidFill>
                <a:latin typeface="HGPｺﾞｼｯｸE"/>
                <a:ea typeface="HGPｺﾞｼｯｸE"/>
              </a:rPr>
              <a:t>この1時間が終わったときの「できる状態」</a:t>
            </a:r>
          </a:p>
          <a:p>
            <a:pPr algn="l">
              <a:spcAft>
                <a:spcPts val="900"/>
              </a:spcAft>
            </a:pPr>
            <a:r>
              <a:rPr sz="1900" b="0">
                <a:solidFill>
                  <a:srgbClr val="000000"/>
                </a:solidFill>
                <a:latin typeface="HGPｺﾞｼｯｸE"/>
                <a:ea typeface="HGPｺﾞｼｯｸE"/>
              </a:rPr>
              <a:t>①　各ページで「何を言うか」が、資料を見なくても口から出る</a:t>
            </a:r>
          </a:p>
          <a:p>
            <a:pPr algn="l">
              <a:spcAft>
                <a:spcPts val="900"/>
              </a:spcAft>
            </a:pPr>
            <a:r>
              <a:rPr sz="1900" b="0">
                <a:solidFill>
                  <a:srgbClr val="000000"/>
                </a:solidFill>
                <a:latin typeface="HGPｺﾞｼｯｸE"/>
                <a:ea typeface="HGPｺﾞｼｯｸE"/>
              </a:rPr>
              <a:t>②　各ページの「結論の一文」を、そのまま言い切れる</a:t>
            </a:r>
          </a:p>
          <a:p>
            <a:pPr algn="l">
              <a:spcAft>
                <a:spcPts val="900"/>
              </a:spcAft>
            </a:pPr>
            <a:r>
              <a:rPr sz="1900" b="0">
                <a:solidFill>
                  <a:srgbClr val="000000"/>
                </a:solidFill>
                <a:latin typeface="HGPｺﾞｼｯｸE"/>
                <a:ea typeface="HGPｺﾞｼｯｸE"/>
              </a:rPr>
              <a:t>③　お客様から引き出したい反応を、質問で取りにいける</a:t>
            </a:r>
          </a:p>
          <a:p>
            <a:pPr algn="l">
              <a:spcAft>
                <a:spcPts val="500"/>
              </a:spcAft>
            </a:pPr>
            <a:r>
              <a:rPr sz="1900" b="0">
                <a:solidFill>
                  <a:srgbClr val="000000"/>
                </a:solidFill>
                <a:latin typeface="HGPｺﾞｼｯｸE"/>
                <a:ea typeface="HGPｺﾞｼｯｸE"/>
              </a:rPr>
              <a:t>④　p.9からp.19まで、13分で止まらずに通せる</a:t>
            </a:r>
          </a:p>
        </p:txBody>
      </p:sp>
      <p:sp>
        <p:nvSpPr>
          <p:cNvPr id="7" name="Rectangle 6"/>
          <p:cNvSpPr/>
          <p:nvPr/>
        </p:nvSpPr>
        <p:spPr>
          <a:xfrm>
            <a:off x="411480" y="49834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300"/>
              </a:spcAft>
            </a:pPr>
            <a:r>
              <a:rPr sz="1400" b="1">
                <a:solidFill>
                  <a:srgbClr val="595959"/>
                </a:solidFill>
                <a:latin typeface="HGPｺﾞｼｯｸE"/>
                <a:ea typeface="HGPｺﾞｼｯｸE"/>
              </a:rPr>
              <a:t>このパートで扱うもの</a:t>
            </a:r>
          </a:p>
          <a:p>
            <a:pPr algn="ctr">
              <a:spcAft>
                <a:spcPts val="500"/>
              </a:spcAft>
            </a:pPr>
            <a:r>
              <a:rPr sz="2100" b="1">
                <a:solidFill>
                  <a:srgbClr val="000000"/>
                </a:solidFill>
                <a:latin typeface="HGPｺﾞｼｯｸE"/>
                <a:ea typeface="HGPｺﾞｼｯｸE"/>
              </a:rPr>
              <a:t>アプローチブック p.9〜p.19（11ページ）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必要性訴求とは</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必要性を訴求する3つの切り口</a:t>
            </a:r>
          </a:p>
        </p:txBody>
      </p:sp>
      <p:sp>
        <p:nvSpPr>
          <p:cNvPr id="6" name="Rectangle 5"/>
          <p:cNvSpPr/>
          <p:nvPr/>
        </p:nvSpPr>
        <p:spPr>
          <a:xfrm>
            <a:off x="411480" y="1783080"/>
            <a:ext cx="566928"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①</a:t>
            </a:r>
          </a:p>
        </p:txBody>
      </p:sp>
      <p:sp>
        <p:nvSpPr>
          <p:cNvPr id="7" name="Rectangle 6"/>
          <p:cNvSpPr/>
          <p:nvPr/>
        </p:nvSpPr>
        <p:spPr>
          <a:xfrm>
            <a:off x="1097280" y="1783080"/>
            <a:ext cx="6537960"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電気代が高騰している ⇒ 払わなくていい</a:t>
            </a:r>
          </a:p>
          <a:p>
            <a:pPr algn="l">
              <a:spcAft>
                <a:spcPts val="500"/>
              </a:spcAft>
            </a:pPr>
            <a:r>
              <a:rPr sz="1400" b="0">
                <a:solidFill>
                  <a:srgbClr val="595959"/>
                </a:solidFill>
                <a:latin typeface="HGPｺﾞｼｯｸE"/>
                <a:ea typeface="HGPｺﾞｼｯｸE"/>
              </a:rPr>
              <a:t>使うページ：p.9〜p.17（9ページ）</a:t>
            </a:r>
          </a:p>
        </p:txBody>
      </p:sp>
      <p:sp>
        <p:nvSpPr>
          <p:cNvPr id="8" name="Rectangle 7"/>
          <p:cNvSpPr/>
          <p:nvPr/>
        </p:nvSpPr>
        <p:spPr>
          <a:xfrm>
            <a:off x="7772400" y="2057400"/>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約20分</a:t>
            </a:r>
          </a:p>
        </p:txBody>
      </p:sp>
      <p:sp>
        <p:nvSpPr>
          <p:cNvPr id="9" name="Rectangle 8"/>
          <p:cNvSpPr/>
          <p:nvPr/>
        </p:nvSpPr>
        <p:spPr>
          <a:xfrm>
            <a:off x="411480" y="3035808"/>
            <a:ext cx="566928"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②</a:t>
            </a:r>
          </a:p>
        </p:txBody>
      </p:sp>
      <p:sp>
        <p:nvSpPr>
          <p:cNvPr id="10" name="Rectangle 9"/>
          <p:cNvSpPr/>
          <p:nvPr/>
        </p:nvSpPr>
        <p:spPr>
          <a:xfrm>
            <a:off x="1097280" y="3035808"/>
            <a:ext cx="6537960"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災害対策</a:t>
            </a:r>
          </a:p>
          <a:p>
            <a:pPr algn="l">
              <a:spcAft>
                <a:spcPts val="500"/>
              </a:spcAft>
            </a:pPr>
            <a:r>
              <a:rPr sz="1400" b="0">
                <a:solidFill>
                  <a:srgbClr val="595959"/>
                </a:solidFill>
                <a:latin typeface="HGPｺﾞｼｯｸE"/>
                <a:ea typeface="HGPｺﾞｼｯｸE"/>
              </a:rPr>
              <a:t>使うページ：p.18・p.19（2ページ）</a:t>
            </a:r>
          </a:p>
        </p:txBody>
      </p:sp>
      <p:sp>
        <p:nvSpPr>
          <p:cNvPr id="11" name="Rectangle 10"/>
          <p:cNvSpPr/>
          <p:nvPr/>
        </p:nvSpPr>
        <p:spPr>
          <a:xfrm>
            <a:off x="7772400" y="3310127"/>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3分以内</a:t>
            </a:r>
          </a:p>
        </p:txBody>
      </p:sp>
      <p:sp>
        <p:nvSpPr>
          <p:cNvPr id="12" name="Rectangle 11"/>
          <p:cNvSpPr/>
          <p:nvPr/>
        </p:nvSpPr>
        <p:spPr>
          <a:xfrm>
            <a:off x="411480" y="4288536"/>
            <a:ext cx="566928"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595959"/>
                </a:solidFill>
                <a:latin typeface="HGPｺﾞｼｯｸE"/>
                <a:ea typeface="HGPｺﾞｼｯｸE"/>
              </a:rPr>
              <a:t>③</a:t>
            </a:r>
          </a:p>
        </p:txBody>
      </p:sp>
      <p:sp>
        <p:nvSpPr>
          <p:cNvPr id="13" name="Rectangle 12"/>
          <p:cNvSpPr/>
          <p:nvPr/>
        </p:nvSpPr>
        <p:spPr>
          <a:xfrm>
            <a:off x="1097280" y="4288536"/>
            <a:ext cx="6537960"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595959"/>
                </a:solidFill>
                <a:latin typeface="HGPｺﾞｼｯｸE"/>
                <a:ea typeface="HGPｺﾞｼｯｸE"/>
              </a:rPr>
              <a:t>経済メリット</a:t>
            </a:r>
          </a:p>
          <a:p>
            <a:pPr algn="l">
              <a:spcAft>
                <a:spcPts val="500"/>
              </a:spcAft>
            </a:pPr>
            <a:r>
              <a:rPr sz="1400" b="0">
                <a:solidFill>
                  <a:srgbClr val="595959"/>
                </a:solidFill>
                <a:latin typeface="HGPｺﾞｼｯｸE"/>
                <a:ea typeface="HGPｺﾞｼｯｸE"/>
              </a:rPr>
              <a:t>使うページ：p.20・p.21 ＋ シミュレーション</a:t>
            </a:r>
          </a:p>
        </p:txBody>
      </p:sp>
      <p:sp>
        <p:nvSpPr>
          <p:cNvPr id="14" name="Rectangle 13"/>
          <p:cNvSpPr/>
          <p:nvPr/>
        </p:nvSpPr>
        <p:spPr>
          <a:xfrm>
            <a:off x="7772400" y="4562856"/>
            <a:ext cx="1737360" cy="54864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次回</a:t>
            </a:r>
          </a:p>
        </p:txBody>
      </p:sp>
      <p:sp>
        <p:nvSpPr>
          <p:cNvPr id="15" name="Rectangle 14"/>
          <p:cNvSpPr/>
          <p:nvPr/>
        </p:nvSpPr>
        <p:spPr>
          <a:xfrm>
            <a:off x="411480" y="5577840"/>
            <a:ext cx="9098280"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800" b="1">
                <a:solidFill>
                  <a:srgbClr val="FF0000"/>
                </a:solidFill>
                <a:latin typeface="HGPｺﾞｼｯｸE"/>
                <a:ea typeface="HGPｺﾞｼｯｸE"/>
              </a:rPr>
              <a:t>本日は①と②だけを扱います</a:t>
            </a:r>
          </a:p>
          <a:p>
            <a:pPr algn="l">
              <a:spcAft>
                <a:spcPts val="500"/>
              </a:spcAft>
            </a:pPr>
            <a:r>
              <a:rPr sz="1500" b="0">
                <a:solidFill>
                  <a:srgbClr val="000000"/>
                </a:solidFill>
                <a:latin typeface="HGPｺﾞｼｯｸE"/>
                <a:ea typeface="HGPｺﾞｼｯｸE"/>
              </a:rPr>
              <a:t>①②でネガティブな現状を自分事にしてもらうところまで。③の解決策は次回扱います。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アプローチブックの地図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07008"/>
            <a:ext cx="9098280" cy="347472"/>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p.9〜p.19で、どのページで何を言うか</a:t>
            </a:r>
          </a:p>
        </p:txBody>
      </p:sp>
      <p:graphicFrame>
        <p:nvGraphicFramePr>
          <p:cNvPr id="6" name="Table 5"/>
          <p:cNvGraphicFramePr>
            <a:graphicFrameLocks noGrp="1"/>
          </p:cNvGraphicFramePr>
          <p:nvPr/>
        </p:nvGraphicFramePr>
        <p:xfrm>
          <a:off x="274320" y="1609344"/>
          <a:ext cx="9372600" cy="4005072"/>
        </p:xfrm>
        <a:graphic>
          <a:graphicData uri="http://schemas.openxmlformats.org/drawingml/2006/table">
            <a:tbl>
              <a:tblPr firstRow="1">
                <a:tableStyleId>{5C22544A-7EE6-4342-B048-85BDC9FD1C3A}</a:tableStyleId>
              </a:tblPr>
              <a:tblGrid>
                <a:gridCol w="1280160"/>
                <a:gridCol w="1005840"/>
                <a:gridCol w="3291840"/>
                <a:gridCol w="3794760"/>
              </a:tblGrid>
              <a:tr h="274320">
                <a:tc>
                  <a:txBody>
                    <a:bodyPr wrap="square"/>
                    <a:lstStyle/>
                    <a:p>
                      <a:pPr algn="ctr"/>
                      <a:r>
                        <a:rPr sz="1050" b="1">
                          <a:solidFill>
                            <a:srgbClr val="FFFFFF"/>
                          </a:solidFill>
                          <a:latin typeface="游ゴシック"/>
                          <a:ea typeface="游ゴシック"/>
                        </a:rPr>
                        <a:t>切り口</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見せるもの</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引き出す反応</a:t>
                      </a:r>
                    </a:p>
                  </a:txBody>
                  <a:tcPr marL="45720" marR="45720" marT="18288" marB="18288" anchor="ctr">
                    <a:solidFill>
                      <a:srgbClr val="000000"/>
                    </a:solidFill>
                  </a:tcPr>
                </a:tc>
              </a:tr>
              <a:tr h="310896">
                <a:tc>
                  <a:txBody>
                    <a:bodyPr wrap="square"/>
                    <a:lstStyle/>
                    <a:p>
                      <a:pPr algn="l"/>
                      <a:r>
                        <a:rPr sz="1050" b="0">
                          <a:solidFill>
                            <a:srgbClr val="000000"/>
                          </a:solidFill>
                          <a:latin typeface="游ゴシック"/>
                          <a:ea typeface="游ゴシック"/>
                        </a:rPr>
                        <a:t>①電気代</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p.9</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電気料金の推移（2010〜2025年）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10年で5.5万円も上がっているのですね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p.10</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電力自由化でも下がらなかった</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法改正しても上がっているのですね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p.11</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電気料金の内訳（❶❷の単価）</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内訳はこんな感じなんですね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p.12</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全国的な電力単価の値上げ</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全国的に上がっているのですね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p.13</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再エネ賦課金とは何か（4.18円）</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p.14</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再エネ賦課金の推移（13年で18倍）</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p.15</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燃料調整費のしくみと政府支援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これからも上がりそうですね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p.16</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燃料調整単価の実績（北陸電力）</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もう上がり始めているのですね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p.17</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生涯に支払う電気代（700万円超）</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30年でそんなにも払うのですね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②災害</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p.18</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予測が困難な地震情報</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いつ災害が起こるか分からないですね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p.19</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停電被害の実績</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0">
                          <a:solidFill>
                            <a:srgbClr val="FF0000"/>
                          </a:solidFill>
                          <a:latin typeface="游ゴシック"/>
                          <a:ea typeface="游ゴシック"/>
                        </a:rPr>
                        <a:t>（なし）</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自社・メーカーの事例で語る</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bl>
          </a:graphicData>
        </a:graphic>
      </p:graphicFrame>
      <p:sp>
        <p:nvSpPr>
          <p:cNvPr id="7" name="Rectangle 6"/>
          <p:cNvSpPr/>
          <p:nvPr/>
        </p:nvSpPr>
        <p:spPr>
          <a:xfrm>
            <a:off x="274320" y="5907024"/>
            <a:ext cx="9372600" cy="402336"/>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太字が「必ず時間をかけるページ」。それ以外も飛ばさず、1ページずつめくります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伝え方の型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全ページ共通：1ページを「4ステップ」でめくる</a:t>
            </a:r>
          </a:p>
        </p:txBody>
      </p:sp>
      <p:sp>
        <p:nvSpPr>
          <p:cNvPr id="6" name="Rectangle 5"/>
          <p:cNvSpPr/>
          <p:nvPr/>
        </p:nvSpPr>
        <p:spPr>
          <a:xfrm>
            <a:off x="411480" y="1810512"/>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1</a:t>
            </a:r>
          </a:p>
        </p:txBody>
      </p:sp>
      <p:sp>
        <p:nvSpPr>
          <p:cNvPr id="7" name="Rectangle 6"/>
          <p:cNvSpPr/>
          <p:nvPr/>
        </p:nvSpPr>
        <p:spPr>
          <a:xfrm>
            <a:off x="1508760" y="1810512"/>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見出しを読む</a:t>
            </a:r>
            <a:r>
              <a:rPr sz="1300" b="0">
                <a:solidFill>
                  <a:srgbClr val="595959"/>
                </a:solidFill>
                <a:latin typeface="HGPｺﾞｼｯｸE"/>
                <a:ea typeface="HGPｺﾞｼｯｸE"/>
              </a:rPr>
              <a:t>　（約5秒）</a:t>
            </a:r>
          </a:p>
          <a:p>
            <a:pPr algn="l">
              <a:spcAft>
                <a:spcPts val="0"/>
              </a:spcAft>
            </a:pPr>
            <a:r>
              <a:rPr sz="1400" b="0">
                <a:solidFill>
                  <a:srgbClr val="000000"/>
                </a:solidFill>
                <a:latin typeface="HGPｺﾞｼｯｸE"/>
                <a:ea typeface="HGPｺﾞｼｯｸE"/>
              </a:rPr>
              <a:t>ページ上部の見出しを、そのまま読み上げる。ここは変えない。</a:t>
            </a:r>
          </a:p>
        </p:txBody>
      </p:sp>
      <p:sp>
        <p:nvSpPr>
          <p:cNvPr id="8" name="Rectangle 7"/>
          <p:cNvSpPr/>
          <p:nvPr/>
        </p:nvSpPr>
        <p:spPr>
          <a:xfrm>
            <a:off x="411480" y="2880360"/>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2</a:t>
            </a:r>
          </a:p>
        </p:txBody>
      </p:sp>
      <p:sp>
        <p:nvSpPr>
          <p:cNvPr id="9" name="Rectangle 8"/>
          <p:cNvSpPr/>
          <p:nvPr/>
        </p:nvSpPr>
        <p:spPr>
          <a:xfrm>
            <a:off x="1508760" y="2880360"/>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リード文は読まない</a:t>
            </a:r>
            <a:r>
              <a:rPr sz="1300" b="0">
                <a:solidFill>
                  <a:srgbClr val="595959"/>
                </a:solidFill>
                <a:latin typeface="HGPｺﾞｼｯｸE"/>
                <a:ea typeface="HGPｺﾞｼｯｸE"/>
              </a:rPr>
              <a:t>　（約15秒）</a:t>
            </a:r>
          </a:p>
          <a:p>
            <a:pPr algn="l">
              <a:spcAft>
                <a:spcPts val="0"/>
              </a:spcAft>
            </a:pPr>
            <a:r>
              <a:rPr sz="1400" b="0">
                <a:solidFill>
                  <a:srgbClr val="000000"/>
                </a:solidFill>
                <a:latin typeface="HGPｺﾞｼｯｸE"/>
                <a:ea typeface="HGPｺﾞｼｯｸE"/>
              </a:rPr>
              <a:t>小さい文字のリード文は読み上げず、要点を自分の言葉で1文に縮めて言う。</a:t>
            </a:r>
          </a:p>
        </p:txBody>
      </p:sp>
      <p:sp>
        <p:nvSpPr>
          <p:cNvPr id="10" name="Rectangle 9"/>
          <p:cNvSpPr/>
          <p:nvPr/>
        </p:nvSpPr>
        <p:spPr>
          <a:xfrm>
            <a:off x="411480" y="3950208"/>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3</a:t>
            </a:r>
          </a:p>
        </p:txBody>
      </p:sp>
      <p:sp>
        <p:nvSpPr>
          <p:cNvPr id="11" name="Rectangle 10"/>
          <p:cNvSpPr/>
          <p:nvPr/>
        </p:nvSpPr>
        <p:spPr>
          <a:xfrm>
            <a:off x="1508760" y="3950208"/>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図の中の数字を1つだけ指す</a:t>
            </a:r>
            <a:r>
              <a:rPr sz="1300" b="0">
                <a:solidFill>
                  <a:srgbClr val="595959"/>
                </a:solidFill>
                <a:latin typeface="HGPｺﾞｼｯｸE"/>
                <a:ea typeface="HGPｺﾞｼｯｸE"/>
              </a:rPr>
              <a:t>　（約30秒）</a:t>
            </a:r>
          </a:p>
          <a:p>
            <a:pPr algn="l">
              <a:spcAft>
                <a:spcPts val="0"/>
              </a:spcAft>
            </a:pPr>
            <a:r>
              <a:rPr sz="1400" b="0">
                <a:solidFill>
                  <a:srgbClr val="000000"/>
                </a:solidFill>
                <a:latin typeface="HGPｺﾞｼｯｸE"/>
                <a:ea typeface="HGPｺﾞｼｯｸE"/>
              </a:rPr>
              <a:t>図の全部を説明しない。指でさして、いちばん大きい数字を1つだけ口に出す。</a:t>
            </a:r>
          </a:p>
        </p:txBody>
      </p:sp>
      <p:sp>
        <p:nvSpPr>
          <p:cNvPr id="12" name="Rectangle 11"/>
          <p:cNvSpPr/>
          <p:nvPr/>
        </p:nvSpPr>
        <p:spPr>
          <a:xfrm>
            <a:off x="411480" y="5020056"/>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4</a:t>
            </a:r>
          </a:p>
        </p:txBody>
      </p:sp>
      <p:sp>
        <p:nvSpPr>
          <p:cNvPr id="13" name="Rectangle 12"/>
          <p:cNvSpPr/>
          <p:nvPr/>
        </p:nvSpPr>
        <p:spPr>
          <a:xfrm>
            <a:off x="1508760" y="5020056"/>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緑帯の結論を言い切り、質問を返す</a:t>
            </a:r>
            <a:r>
              <a:rPr sz="1300" b="0">
                <a:solidFill>
                  <a:srgbClr val="595959"/>
                </a:solidFill>
                <a:latin typeface="HGPｺﾞｼｯｸE"/>
                <a:ea typeface="HGPｺﾞｼｯｸE"/>
              </a:rPr>
              <a:t>　（約20秒）</a:t>
            </a:r>
          </a:p>
          <a:p>
            <a:pPr algn="l">
              <a:spcAft>
                <a:spcPts val="0"/>
              </a:spcAft>
            </a:pPr>
            <a:r>
              <a:rPr sz="1400" b="0">
                <a:solidFill>
                  <a:srgbClr val="000000"/>
                </a:solidFill>
                <a:latin typeface="HGPｺﾞｼｯｸE"/>
                <a:ea typeface="HGPｺﾞｼｯｸE"/>
              </a:rPr>
              <a:t>下の緑帯をそのまま言い切る。そのあと質問を投げて、お客様に言わせる。</a:t>
            </a:r>
          </a:p>
        </p:txBody>
      </p:sp>
      <p:sp>
        <p:nvSpPr>
          <p:cNvPr id="14" name="Rectangle 13"/>
          <p:cNvSpPr/>
          <p:nvPr/>
        </p:nvSpPr>
        <p:spPr>
          <a:xfrm>
            <a:off x="411480" y="6053328"/>
            <a:ext cx="9098280" cy="384048"/>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1ページ約70秒。11ページ通して約13分。これが「めくるだけ」の標準ペースです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①　電気代が高騰している ⇒ 払わなくていい</a:t>
            </a:r>
          </a:p>
        </p:txBody>
      </p:sp>
      <p:sp>
        <p:nvSpPr>
          <p:cNvPr id="6" name="Rectangle 5"/>
          <p:cNvSpPr/>
          <p:nvPr/>
        </p:nvSpPr>
        <p:spPr>
          <a:xfrm>
            <a:off x="411480" y="2011680"/>
            <a:ext cx="452628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p.9 〜 p.17（9ページ）</a:t>
            </a:r>
          </a:p>
        </p:txBody>
      </p:sp>
      <p:sp>
        <p:nvSpPr>
          <p:cNvPr id="7" name="Rectangle 6"/>
          <p:cNvSpPr/>
          <p:nvPr/>
        </p:nvSpPr>
        <p:spPr>
          <a:xfrm>
            <a:off x="5120640" y="2011680"/>
            <a:ext cx="438912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約20分</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「このままではまずい」と自分事で思ってもらう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・9ページすべてを1ページずつめくる。飛ばすページはありません</a:t>
            </a:r>
          </a:p>
          <a:p>
            <a:pPr algn="l">
              <a:spcAft>
                <a:spcPts val="600"/>
              </a:spcAft>
            </a:pPr>
            <a:r>
              <a:rPr sz="1500" b="0">
                <a:solidFill>
                  <a:srgbClr val="000000"/>
                </a:solidFill>
                <a:latin typeface="HGPｺﾞｼｯｸE"/>
                <a:ea typeface="HGPｺﾞｼｯｸE"/>
              </a:rPr>
              <a:t>・時間をかけるのは p.9・p.14・p.17 の3ページ。残りは各20〜30秒で抜ける</a:t>
            </a:r>
          </a:p>
          <a:p>
            <a:pPr algn="l">
              <a:spcAft>
                <a:spcPts val="600"/>
              </a:spcAft>
            </a:pPr>
            <a:r>
              <a:rPr sz="1500" b="0">
                <a:solidFill>
                  <a:srgbClr val="000000"/>
                </a:solidFill>
                <a:latin typeface="HGPｺﾞｼｯｸE"/>
                <a:ea typeface="HGPｺﾞｼｯｸE"/>
              </a:rPr>
              <a:t>・いちばん最初に、お客様の検針票の実額を聞く。そこから全部の数字を置き換える</a:t>
            </a:r>
          </a:p>
          <a:p>
            <a:pPr algn="l">
              <a:spcAft>
                <a:spcPts val="600"/>
              </a:spcAft>
            </a:pPr>
            <a:r>
              <a:rPr sz="1500" b="0">
                <a:solidFill>
                  <a:srgbClr val="000000"/>
                </a:solidFill>
                <a:latin typeface="HGPｺﾞｼｯｸE"/>
                <a:ea typeface="HGPｺﾞｼｯｸE"/>
              </a:rPr>
              <a:t>・「全国平均では」で終わらせない。必ず「〇〇様の場合は」に変換する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p.9　直近10年間、過去最高水準の電気料金になっています</a:t>
            </a:r>
          </a:p>
        </p:txBody>
      </p:sp>
      <p:pic>
        <p:nvPicPr>
          <p:cNvPr id="6" name="Picture 5" descr="ab09.jpg"/>
          <p:cNvPicPr>
            <a:picLocks noChangeAspect="1"/>
          </p:cNvPicPr>
          <p:nvPr/>
        </p:nvPicPr>
        <p:blipFill>
          <a:blip r:embed="rId2"/>
          <a:stretch>
            <a:fillRect/>
          </a:stretch>
        </p:blipFill>
        <p:spPr>
          <a:xfrm>
            <a:off x="411480" y="1755648"/>
            <a:ext cx="4434840" cy="2682483"/>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p.9　電気料金の推移</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「10年間で5.5万円も電気代は上がっているのですね」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グラフ全体は説明せず、右端の¥180,675だけを指す</a:t>
            </a:r>
          </a:p>
          <a:p>
            <a:pPr algn="l">
              <a:spcAft>
                <a:spcPts val="600"/>
              </a:spcAft>
            </a:pPr>
            <a:r>
              <a:rPr sz="1300" b="0">
                <a:solidFill>
                  <a:srgbClr val="000000"/>
                </a:solidFill>
                <a:latin typeface="HGPｺﾞｼｯｸE"/>
                <a:ea typeface="HGPｺﾞｼｯｸE"/>
              </a:rPr>
              <a:t>「2010年は約12万円でした。それが2025年には18万円です」</a:t>
            </a:r>
          </a:p>
          <a:p>
            <a:pPr algn="l">
              <a:spcAft>
                <a:spcPts val="600"/>
              </a:spcAft>
            </a:pPr>
            <a:r>
              <a:rPr sz="1300" b="0">
                <a:solidFill>
                  <a:srgbClr val="000000"/>
                </a:solidFill>
                <a:latin typeface="HGPｺﾞｼｯｸE"/>
                <a:ea typeface="HGPｺﾞｼｯｸE"/>
              </a:rPr>
              <a:t>「震災を境に、15年で約5.5万円上がりました」</a:t>
            </a:r>
          </a:p>
          <a:p>
            <a:pPr algn="l">
              <a:spcAft>
                <a:spcPts val="600"/>
              </a:spcAft>
            </a:pPr>
            <a:r>
              <a:rPr sz="1300" b="1">
                <a:solidFill>
                  <a:srgbClr val="FF0000"/>
                </a:solidFill>
                <a:latin typeface="HGPｺﾞｼｯｸE"/>
                <a:ea typeface="HGPｺﾞｼｯｸE"/>
              </a:rPr>
              <a:t>先に「〇〇様は月いくらですか？」と聞いてから開く</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電気料金は2011年以降45％、約5.5万円も上昇している</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グラフの棒を1本ずつ読み上げると、お客様は数字を追えなくなります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p.10　「電力自由化」でも電気代は上がってしまいました</a:t>
            </a:r>
          </a:p>
        </p:txBody>
      </p:sp>
      <p:pic>
        <p:nvPicPr>
          <p:cNvPr id="6" name="Picture 5" descr="ab10.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p.10　電力自由化の前後と電力量単価</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「政府が電力自由化の法改正をしても電気代は上がっているのですね」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左右の図は流す。下の単価表の2行だけを指す</a:t>
            </a:r>
          </a:p>
          <a:p>
            <a:pPr algn="l">
              <a:spcAft>
                <a:spcPts val="600"/>
              </a:spcAft>
            </a:pPr>
            <a:r>
              <a:rPr sz="1300" b="0">
                <a:solidFill>
                  <a:srgbClr val="000000"/>
                </a:solidFill>
                <a:latin typeface="HGPｺﾞｼｯｸE"/>
                <a:ea typeface="HGPｺﾞｼｯｸE"/>
              </a:rPr>
              <a:t>「2016年4月に電力小売が自由化されました」</a:t>
            </a:r>
          </a:p>
          <a:p>
            <a:pPr algn="l">
              <a:spcAft>
                <a:spcPts val="600"/>
              </a:spcAft>
            </a:pPr>
            <a:r>
              <a:rPr sz="1300" b="0">
                <a:solidFill>
                  <a:srgbClr val="000000"/>
                </a:solidFill>
                <a:latin typeface="HGPｺﾞｼｯｸE"/>
                <a:ea typeface="HGPｺﾞｼｯｸE"/>
              </a:rPr>
              <a:t>「自分で電力会社を選べるようになり、選択肢は広がりました」</a:t>
            </a:r>
          </a:p>
          <a:p>
            <a:pPr algn="l">
              <a:spcAft>
                <a:spcPts val="600"/>
              </a:spcAft>
            </a:pPr>
            <a:r>
              <a:rPr sz="1300" b="0">
                <a:solidFill>
                  <a:srgbClr val="000000"/>
                </a:solidFill>
                <a:latin typeface="HGPｺﾞｼｯｸE"/>
                <a:ea typeface="HGPｺﾞｼｯｸE"/>
              </a:rPr>
              <a:t>「ところが単価は21円→32円。11円上がっています」</a:t>
            </a:r>
          </a:p>
          <a:p>
            <a:pPr algn="l">
              <a:spcAft>
                <a:spcPts val="600"/>
              </a:spcAft>
            </a:pPr>
            <a:r>
              <a:rPr sz="1300" b="1">
                <a:solidFill>
                  <a:srgbClr val="FF0000"/>
                </a:solidFill>
                <a:latin typeface="HGPｺﾞｼｯｸE"/>
                <a:ea typeface="HGPｺﾞｼｯｸE"/>
              </a:rPr>
              <a:t>狙いは「法改正でも止まらなかった」の一点</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制度のねらいに反し、電気代はむしろ高くなっているのです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新電力の良し悪しの話に持っていかない。「会社を変えても単価は上がる」で止める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p.11　電気代高騰の原因は2つの料金単価が上昇しているから</a:t>
            </a:r>
          </a:p>
        </p:txBody>
      </p:sp>
      <p:pic>
        <p:nvPicPr>
          <p:cNvPr id="6" name="Picture 5" descr="ab11.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p.11　電気料金の内訳</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「電気代の内訳はこんな感じなんですね」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赤枠の❶❷を順に指す。式は読み上げない</a:t>
            </a:r>
          </a:p>
          <a:p>
            <a:pPr algn="l">
              <a:spcAft>
                <a:spcPts val="600"/>
              </a:spcAft>
            </a:pPr>
            <a:r>
              <a:rPr sz="1300" b="0">
                <a:solidFill>
                  <a:srgbClr val="000000"/>
                </a:solidFill>
                <a:latin typeface="HGPｺﾞｼｯｸE"/>
                <a:ea typeface="HGPｺﾞｼｯｸE"/>
              </a:rPr>
              <a:t>「基本料金＋電力量料金＋再エネ賦課金の足し算です」</a:t>
            </a:r>
          </a:p>
          <a:p>
            <a:pPr algn="l">
              <a:spcAft>
                <a:spcPts val="600"/>
              </a:spcAft>
            </a:pPr>
            <a:r>
              <a:rPr sz="1300" b="0">
                <a:solidFill>
                  <a:srgbClr val="000000"/>
                </a:solidFill>
                <a:latin typeface="HGPｺﾞｼｯｸE"/>
                <a:ea typeface="HGPｺﾞｼｯｸE"/>
              </a:rPr>
              <a:t>「上がっているのは❶と❷、2つの単価です」</a:t>
            </a:r>
          </a:p>
          <a:p>
            <a:pPr algn="l">
              <a:spcAft>
                <a:spcPts val="600"/>
              </a:spcAft>
            </a:pPr>
            <a:r>
              <a:rPr sz="1300" b="0">
                <a:solidFill>
                  <a:srgbClr val="000000"/>
                </a:solidFill>
                <a:latin typeface="HGPｺﾞｼｯｸE"/>
                <a:ea typeface="HGPｺﾞｼｯｸE"/>
              </a:rPr>
              <a:t>「量を減らしても、単価が上がれば電気代は上がる」</a:t>
            </a:r>
          </a:p>
          <a:p>
            <a:pPr algn="l">
              <a:spcAft>
                <a:spcPts val="600"/>
              </a:spcAft>
            </a:pPr>
            <a:r>
              <a:rPr sz="1300" b="1">
                <a:solidFill>
                  <a:srgbClr val="FF0000"/>
                </a:solidFill>
                <a:latin typeface="HGPｺﾞｼｯｸE"/>
                <a:ea typeface="HGPｺﾞｼｯｸE"/>
              </a:rPr>
              <a:t>次のp.12が❶、p.13が❷の話です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毎月の支払料金はみても、内訳まで見る人はいません…</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ここで難しい話にしない。「上がっているのは2つの単価」だけ残せば十分です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p.12　電気料金が上昇する理由：①全国的な電力単価の値上げ</a:t>
            </a:r>
          </a:p>
        </p:txBody>
      </p:sp>
      <p:pic>
        <p:nvPicPr>
          <p:cNvPr id="6" name="Picture 5" descr="ab12.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p.12　各電力会社の平均値上げ幅</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「全国的に電気代は上昇しているのですね」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全社を読み上げない。お客様の地域と最高値の2つだけ</a:t>
            </a:r>
          </a:p>
          <a:p>
            <a:pPr algn="l">
              <a:spcAft>
                <a:spcPts val="600"/>
              </a:spcAft>
            </a:pPr>
            <a:r>
              <a:rPr sz="1300" b="0">
                <a:solidFill>
                  <a:srgbClr val="000000"/>
                </a:solidFill>
                <a:latin typeface="HGPｺﾞｼｯｸE"/>
                <a:ea typeface="HGPｺﾞｼｯｸE"/>
              </a:rPr>
              <a:t>「2023年5月に受理、6月使用分から反映済みです」</a:t>
            </a:r>
          </a:p>
          <a:p>
            <a:pPr algn="l">
              <a:spcAft>
                <a:spcPts val="600"/>
              </a:spcAft>
            </a:pPr>
            <a:r>
              <a:rPr sz="1300" b="0">
                <a:solidFill>
                  <a:srgbClr val="000000"/>
                </a:solidFill>
                <a:latin typeface="HGPｺﾞｼｯｸE"/>
                <a:ea typeface="HGPｺﾞｼｯｸE"/>
              </a:rPr>
              <a:t>「北陸は42％、九州は38％の値上げです」</a:t>
            </a:r>
          </a:p>
          <a:p>
            <a:pPr algn="l">
              <a:spcAft>
                <a:spcPts val="600"/>
              </a:spcAft>
            </a:pPr>
            <a:r>
              <a:rPr sz="1300" b="0">
                <a:solidFill>
                  <a:srgbClr val="000000"/>
                </a:solidFill>
                <a:latin typeface="HGPｺﾞｼｯｸE"/>
                <a:ea typeface="HGPｺﾞｼｯｸE"/>
              </a:rPr>
              <a:t>「背景はウクライナ侵攻。石炭が止まったためです」</a:t>
            </a:r>
          </a:p>
          <a:p>
            <a:pPr algn="l">
              <a:spcAft>
                <a:spcPts val="600"/>
              </a:spcAft>
            </a:pPr>
            <a:r>
              <a:rPr sz="1300" b="1">
                <a:solidFill>
                  <a:srgbClr val="FF0000"/>
                </a:solidFill>
                <a:latin typeface="HGPｺﾞｼｯｸE"/>
                <a:ea typeface="HGPｺﾞｼｯｸE"/>
              </a:rPr>
              <a:t>「〇〇様の地域だけではありません」で締める</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中部電力は値上げなしでしたが、いつ全国的な波に巻き込まれるか分かりません</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中部エリアのお客様には、右枠の「2022年12月に大幅値上げ済み」を必ず添える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p.13　電気料金が上昇する理由：②再エネ賦課金の上昇</a:t>
            </a:r>
          </a:p>
        </p:txBody>
      </p:sp>
      <p:pic>
        <p:nvPicPr>
          <p:cNvPr id="6" name="Picture 5" descr="ab13.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p.13　再エネ賦課金のしくみと料金明細</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左の説明文は読まない。右の検針票サンプルを指す</a:t>
            </a:r>
          </a:p>
          <a:p>
            <a:pPr algn="l">
              <a:spcAft>
                <a:spcPts val="600"/>
              </a:spcAft>
            </a:pPr>
            <a:r>
              <a:rPr sz="1300" b="0">
                <a:solidFill>
                  <a:srgbClr val="000000"/>
                </a:solidFill>
                <a:latin typeface="HGPｺﾞｼｯｸE"/>
                <a:ea typeface="HGPｺﾞｼｯｸE"/>
              </a:rPr>
              <a:t>「明細の、この小さい行が再エネ賦課金です」</a:t>
            </a:r>
          </a:p>
          <a:p>
            <a:pPr algn="l">
              <a:spcAft>
                <a:spcPts val="600"/>
              </a:spcAft>
            </a:pPr>
            <a:r>
              <a:rPr sz="1300" b="0">
                <a:solidFill>
                  <a:srgbClr val="000000"/>
                </a:solidFill>
                <a:latin typeface="HGPｺﾞｼｯｸE"/>
                <a:ea typeface="HGPｺﾞｼｯｸE"/>
              </a:rPr>
              <a:t>「再エネの電気を電力会社が買い取るためのお金です」</a:t>
            </a:r>
          </a:p>
          <a:p>
            <a:pPr algn="l">
              <a:spcAft>
                <a:spcPts val="600"/>
              </a:spcAft>
            </a:pPr>
            <a:r>
              <a:rPr sz="1300" b="0">
                <a:solidFill>
                  <a:srgbClr val="000000"/>
                </a:solidFill>
                <a:latin typeface="HGPｺﾞｼｯｸE"/>
                <a:ea typeface="HGPｺﾞｼｯｸE"/>
              </a:rPr>
              <a:t>「国が決めた割高な価格で買い取る義務があります」</a:t>
            </a:r>
          </a:p>
          <a:p>
            <a:pPr algn="l">
              <a:spcAft>
                <a:spcPts val="600"/>
              </a:spcAft>
            </a:pPr>
            <a:r>
              <a:rPr sz="1300" b="0">
                <a:solidFill>
                  <a:srgbClr val="000000"/>
                </a:solidFill>
                <a:latin typeface="HGPｺﾞｼｯｸE"/>
                <a:ea typeface="HGPｺﾞｼｯｸE"/>
              </a:rPr>
              <a:t>「いま4.18円/kWh。使った分だけ自動で増えます」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全国民が電気料金とともに再エネ賦課金を負担しているのです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制度の良し悪しを論じない。「払っている」という事実だけ置いて、次のp.14へ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p.14　再エネ賦課金は値上がりし続けています</a:t>
            </a:r>
          </a:p>
        </p:txBody>
      </p:sp>
      <p:pic>
        <p:nvPicPr>
          <p:cNvPr id="6" name="Picture 5" descr="ab14.jpg"/>
          <p:cNvPicPr>
            <a:picLocks noChangeAspect="1"/>
          </p:cNvPicPr>
          <p:nvPr/>
        </p:nvPicPr>
        <p:blipFill>
          <a:blip r:embed="rId2"/>
          <a:stretch>
            <a:fillRect/>
          </a:stretch>
        </p:blipFill>
        <p:spPr>
          <a:xfrm>
            <a:off x="411480" y="1755648"/>
            <a:ext cx="4434840" cy="2682483"/>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p.14　再エネ賦課金の推移</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左端と右端の2本だけを指す。途中の棒は説明しない</a:t>
            </a:r>
          </a:p>
          <a:p>
            <a:pPr algn="l">
              <a:spcAft>
                <a:spcPts val="600"/>
              </a:spcAft>
            </a:pPr>
            <a:r>
              <a:rPr sz="1300" b="0">
                <a:solidFill>
                  <a:srgbClr val="000000"/>
                </a:solidFill>
                <a:latin typeface="HGPｺﾞｼｯｸE"/>
                <a:ea typeface="HGPｺﾞｼｯｸE"/>
              </a:rPr>
              <a:t>「2012年は年1,210円。2026年は22,990円です」</a:t>
            </a:r>
          </a:p>
          <a:p>
            <a:pPr algn="l">
              <a:spcAft>
                <a:spcPts val="600"/>
              </a:spcAft>
            </a:pPr>
            <a:r>
              <a:rPr sz="1300" b="0">
                <a:solidFill>
                  <a:srgbClr val="000000"/>
                </a:solidFill>
                <a:latin typeface="HGPｺﾞｼｯｸE"/>
                <a:ea typeface="HGPｺﾞｼｯｸE"/>
              </a:rPr>
              <a:t>「13年で18倍。使った分だけ自動で増えます」</a:t>
            </a:r>
          </a:p>
          <a:p>
            <a:pPr algn="l">
              <a:spcAft>
                <a:spcPts val="600"/>
              </a:spcAft>
            </a:pPr>
            <a:r>
              <a:rPr sz="1300" b="1">
                <a:solidFill>
                  <a:srgbClr val="FF0000"/>
                </a:solidFill>
                <a:latin typeface="HGPｺﾞｼｯｸE"/>
                <a:ea typeface="HGPｺﾞｼｯｸE"/>
              </a:rPr>
              <a:t>言い切ったら、必ず緑帯の一文で裏返す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2023年だけ下がって見えます。聞かれたら「燃料費高騰による一時的な措置」と即答する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p.15　電気料金が上昇する理由：③燃料調整費の上昇</a:t>
            </a:r>
          </a:p>
        </p:txBody>
      </p:sp>
      <p:pic>
        <p:nvPicPr>
          <p:cNvPr id="6" name="Picture 5" descr="ab15.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p.15　燃料費調整のしくみと政府支援</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「これからも電気代は上がりそうですね」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FF0000"/>
                </a:solidFill>
                <a:latin typeface="HGPｺﾞｼｯｸE"/>
                <a:ea typeface="HGPｺﾞｼｯｸE"/>
              </a:rPr>
              <a:t>ここから「過去」ではなく「これから」の話に変わる</a:t>
            </a:r>
          </a:p>
          <a:p>
            <a:pPr algn="l">
              <a:spcAft>
                <a:spcPts val="600"/>
              </a:spcAft>
            </a:pPr>
            <a:r>
              <a:rPr sz="1300" b="0">
                <a:solidFill>
                  <a:srgbClr val="000000"/>
                </a:solidFill>
                <a:latin typeface="HGPｺﾞｼｯｸE"/>
                <a:ea typeface="HGPｺﾞｼｯｸE"/>
              </a:rPr>
              <a:t>「燃料代は3か月平均で計算し、2か月後の請求に乗ります」</a:t>
            </a:r>
          </a:p>
          <a:p>
            <a:pPr algn="l">
              <a:spcAft>
                <a:spcPts val="600"/>
              </a:spcAft>
            </a:pPr>
            <a:r>
              <a:rPr sz="1300" b="0">
                <a:solidFill>
                  <a:srgbClr val="000000"/>
                </a:solidFill>
                <a:latin typeface="HGPｺﾞｼｯｸE"/>
                <a:ea typeface="HGPｺﾞｼｯｸE"/>
              </a:rPr>
              <a:t>「今の値上がりが、これから請求に出てきます」</a:t>
            </a:r>
          </a:p>
          <a:p>
            <a:pPr algn="l">
              <a:spcAft>
                <a:spcPts val="600"/>
              </a:spcAft>
            </a:pPr>
            <a:r>
              <a:rPr sz="1300" b="0">
                <a:solidFill>
                  <a:srgbClr val="000000"/>
                </a:solidFill>
                <a:latin typeface="HGPｺﾞｼｯｸE"/>
                <a:ea typeface="HGPｺﾞｼｯｸE"/>
              </a:rPr>
              <a:t>「政府の補助は2026年7月使用分から再開します」</a:t>
            </a:r>
          </a:p>
          <a:p>
            <a:pPr algn="l">
              <a:spcAft>
                <a:spcPts val="600"/>
              </a:spcAft>
            </a:pPr>
            <a:r>
              <a:rPr sz="1300" b="1">
                <a:solidFill>
                  <a:srgbClr val="000000"/>
                </a:solidFill>
                <a:latin typeface="HGPｺﾞｼｯｸE"/>
                <a:ea typeface="HGPｺﾞｼｯｸE"/>
              </a:rPr>
              <a:t>「7・9月は3.5円、8月は4.5円。一時的です」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7月より補助は再開されますが、一時的なため対策が必要です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補助の再開を「よかったですね」で終わらせない。必ず「一時的」に着地する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p.16　燃料調整費は、実際にこれだけ動いています</a:t>
            </a:r>
          </a:p>
        </p:txBody>
      </p:sp>
      <p:pic>
        <p:nvPicPr>
          <p:cNvPr id="6" name="Picture 5" descr="ab16.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p.16　燃料調整単価の推移（北陸電力・低圧）</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「もう実際に上がり始めているのですね」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折れ線は追わない。2月と7月の数字だけを指す</a:t>
            </a:r>
          </a:p>
          <a:p>
            <a:pPr algn="l">
              <a:spcAft>
                <a:spcPts val="600"/>
              </a:spcAft>
            </a:pPr>
            <a:r>
              <a:rPr sz="1300" b="0">
                <a:solidFill>
                  <a:srgbClr val="000000"/>
                </a:solidFill>
                <a:latin typeface="HGPｺﾞｼｯｸE"/>
                <a:ea typeface="HGPｺﾞｼｯｸE"/>
              </a:rPr>
              <a:t>「2月は−12.45円、7月は−7.54円です」</a:t>
            </a:r>
          </a:p>
          <a:p>
            <a:pPr algn="l">
              <a:spcAft>
                <a:spcPts val="600"/>
              </a:spcAft>
            </a:pPr>
            <a:r>
              <a:rPr sz="1300" b="0">
                <a:solidFill>
                  <a:srgbClr val="000000"/>
                </a:solidFill>
                <a:latin typeface="HGPｺﾞｼｯｸE"/>
                <a:ea typeface="HGPｺﾞｼｯｸE"/>
              </a:rPr>
              <a:t>「マイナスが4.9円小さくなりました」</a:t>
            </a:r>
          </a:p>
          <a:p>
            <a:pPr algn="l">
              <a:spcAft>
                <a:spcPts val="600"/>
              </a:spcAft>
            </a:pPr>
            <a:r>
              <a:rPr sz="1300" b="1">
                <a:solidFill>
                  <a:srgbClr val="FF0000"/>
                </a:solidFill>
                <a:latin typeface="HGPｺﾞｼｯｸE"/>
                <a:ea typeface="HGPｺﾞｼｯｸE"/>
              </a:rPr>
              <a:t>「値引きが4.9円減った＝1kWhあたり4.9円上がった、ということです」</a:t>
            </a:r>
          </a:p>
          <a:p>
            <a:pPr algn="l">
              <a:spcAft>
                <a:spcPts val="600"/>
              </a:spcAft>
            </a:pPr>
            <a:r>
              <a:rPr sz="1300" b="0">
                <a:solidFill>
                  <a:srgbClr val="000000"/>
                </a:solidFill>
                <a:latin typeface="HGPｺﾞｼｯｸE"/>
                <a:ea typeface="HGPｺﾞｼｯｸE"/>
              </a:rPr>
              <a:t>「4月以降、マイナス調整分が減り続けています」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ホルムズ海峡封鎖は電気代高騰にも影響を及ぼします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マイナスの数字が並ぶページ。「マイナスが小さくなる＝値上げ」を先に言ってから見せる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p.17　生涯に支払うことになる電気代は700万円を超えます</a:t>
            </a:r>
          </a:p>
        </p:txBody>
      </p:sp>
      <p:pic>
        <p:nvPicPr>
          <p:cNvPr id="6" name="Picture 5" descr="ab17.jpg"/>
          <p:cNvPicPr>
            <a:picLocks noChangeAspect="1"/>
          </p:cNvPicPr>
          <p:nvPr/>
        </p:nvPicPr>
        <p:blipFill>
          <a:blip r:embed="rId2"/>
          <a:stretch>
            <a:fillRect/>
          </a:stretch>
        </p:blipFill>
        <p:spPr>
          <a:xfrm>
            <a:off x="411480" y="1755648"/>
            <a:ext cx="4434840" cy="2661995"/>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p.17　生涯に支払う電気代の早見表</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「30年間でそんなにも電気代を払わないといけないのですね」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表の全部を見せず、お客様の金額の列だけを指でなぞる</a:t>
            </a:r>
          </a:p>
          <a:p>
            <a:pPr algn="l">
              <a:spcAft>
                <a:spcPts val="600"/>
              </a:spcAft>
            </a:pPr>
            <a:r>
              <a:rPr sz="1300" b="0">
                <a:solidFill>
                  <a:srgbClr val="000000"/>
                </a:solidFill>
                <a:latin typeface="HGPｺﾞｼｯｸE"/>
                <a:ea typeface="HGPｺﾞｼｯｸE"/>
              </a:rPr>
              <a:t>「一般的なご家庭の例ですが…」と前置きする</a:t>
            </a:r>
          </a:p>
          <a:p>
            <a:pPr algn="l">
              <a:spcAft>
                <a:spcPts val="600"/>
              </a:spcAft>
            </a:pPr>
            <a:r>
              <a:rPr sz="1300" b="0">
                <a:solidFill>
                  <a:srgbClr val="000000"/>
                </a:solidFill>
                <a:latin typeface="HGPｺﾞｼｯｸE"/>
                <a:ea typeface="HGPｺﾞｼｯｸE"/>
              </a:rPr>
              <a:t>「〇〇様は月2万円でしたね。黄色いこの列です」</a:t>
            </a:r>
          </a:p>
          <a:p>
            <a:pPr algn="l">
              <a:spcAft>
                <a:spcPts val="600"/>
              </a:spcAft>
            </a:pPr>
            <a:r>
              <a:rPr sz="1300" b="0">
                <a:solidFill>
                  <a:srgbClr val="000000"/>
                </a:solidFill>
                <a:latin typeface="HGPｺﾞｼｯｸE"/>
                <a:ea typeface="HGPｺﾞｼｯｸE"/>
              </a:rPr>
              <a:t>「1年24万円、10年240万円、30年で720万円」</a:t>
            </a:r>
          </a:p>
          <a:p>
            <a:pPr algn="l">
              <a:spcAft>
                <a:spcPts val="600"/>
              </a:spcAft>
            </a:pPr>
            <a:r>
              <a:rPr sz="1300" b="1">
                <a:solidFill>
                  <a:srgbClr val="FF0000"/>
                </a:solidFill>
                <a:latin typeface="HGPｺﾞｼｯｸE"/>
                <a:ea typeface="HGPｺﾞｼｯｸE"/>
              </a:rPr>
              <a:t>YES取り「こんなに払うの勿体ないですよね？」</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月々の電気代が2万円なら、30年間の負担額は700万円以上になります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「だから太陽光を」とすぐ言わない。ここは危機感を置いて、一度止まります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①のまとめ：9ページで言い切ること</a:t>
            </a:r>
          </a:p>
        </p:txBody>
      </p:sp>
      <p:graphicFrame>
        <p:nvGraphicFramePr>
          <p:cNvPr id="6" name="Table 5"/>
          <p:cNvGraphicFramePr>
            <a:graphicFrameLocks noGrp="1"/>
          </p:cNvGraphicFramePr>
          <p:nvPr/>
        </p:nvGraphicFramePr>
        <p:xfrm>
          <a:off x="411480" y="1783080"/>
          <a:ext cx="9098280" cy="3749040"/>
        </p:xfrm>
        <a:graphic>
          <a:graphicData uri="http://schemas.openxmlformats.org/drawingml/2006/table">
            <a:tbl>
              <a:tblPr firstRow="1">
                <a:tableStyleId>{5C22544A-7EE6-4342-B048-85BDC9FD1C3A}</a:tableStyleId>
              </a:tblPr>
              <a:tblGrid>
                <a:gridCol w="1234440"/>
                <a:gridCol w="4206240"/>
                <a:gridCol w="3657600"/>
              </a:tblGrid>
              <a:tr h="292608">
                <a:tc>
                  <a:txBody>
                    <a:bodyPr wrap="square"/>
                    <a:lstStyle/>
                    <a:p>
                      <a:pPr algn="ctr"/>
                      <a:r>
                        <a:rPr sz="12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一言でいうと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言い切る数字</a:t>
                      </a:r>
                    </a:p>
                  </a:txBody>
                  <a:tcPr marL="45720" marR="45720" marT="18288" marB="18288" anchor="ctr">
                    <a:solidFill>
                      <a:srgbClr val="000000"/>
                    </a:solidFill>
                  </a:tcPr>
                </a:tc>
              </a:tr>
              <a:tr h="384048">
                <a:tc>
                  <a:txBody>
                    <a:bodyPr wrap="square"/>
                    <a:lstStyle/>
                    <a:p>
                      <a:pPr algn="l"/>
                      <a:r>
                        <a:rPr sz="1250" b="1">
                          <a:solidFill>
                            <a:srgbClr val="000000"/>
                          </a:solidFill>
                          <a:latin typeface="游ゴシック"/>
                          <a:ea typeface="游ゴシック"/>
                        </a:rPr>
                        <a:t>p.9</a:t>
                      </a:r>
                    </a:p>
                  </a:txBody>
                  <a:tcPr marL="45720" marR="45720" marT="18288" marB="18288" anchor="ctr">
                    <a:noFill/>
                  </a:tcPr>
                </a:tc>
                <a:tc>
                  <a:txBody>
                    <a:bodyPr wrap="square"/>
                    <a:lstStyle/>
                    <a:p>
                      <a:pPr algn="l"/>
                      <a:r>
                        <a:rPr sz="1250" b="1">
                          <a:solidFill>
                            <a:srgbClr val="000000"/>
                          </a:solidFill>
                          <a:latin typeface="游ゴシック"/>
                          <a:ea typeface="游ゴシック"/>
                        </a:rPr>
                        <a:t>過去10年で上がった</a:t>
                      </a:r>
                    </a:p>
                  </a:txBody>
                  <a:tcPr marL="45720" marR="45720" marT="18288" marB="18288" anchor="ctr">
                    <a:noFill/>
                  </a:tcPr>
                </a:tc>
                <a:tc>
                  <a:txBody>
                    <a:bodyPr wrap="square"/>
                    <a:lstStyle/>
                    <a:p>
                      <a:pPr algn="l"/>
                      <a:r>
                        <a:rPr sz="1250" b="1">
                          <a:solidFill>
                            <a:srgbClr val="000000"/>
                          </a:solidFill>
                          <a:latin typeface="游ゴシック"/>
                          <a:ea typeface="游ゴシック"/>
                        </a:rPr>
                        <a:t>45％・約5.5万円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p.10</a:t>
                      </a:r>
                    </a:p>
                  </a:txBody>
                  <a:tcPr marL="45720" marR="45720" marT="18288" marB="18288" anchor="ctr">
                    <a:noFill/>
                  </a:tcPr>
                </a:tc>
                <a:tc>
                  <a:txBody>
                    <a:bodyPr wrap="square"/>
                    <a:lstStyle/>
                    <a:p>
                      <a:pPr algn="l"/>
                      <a:r>
                        <a:rPr sz="1250" b="0">
                          <a:solidFill>
                            <a:srgbClr val="000000"/>
                          </a:solidFill>
                          <a:latin typeface="游ゴシック"/>
                          <a:ea typeface="游ゴシック"/>
                        </a:rPr>
                        <a:t>自由化しても下がらなかった</a:t>
                      </a:r>
                    </a:p>
                  </a:txBody>
                  <a:tcPr marL="45720" marR="45720" marT="18288" marB="18288" anchor="ctr">
                    <a:noFill/>
                  </a:tcPr>
                </a:tc>
                <a:tc>
                  <a:txBody>
                    <a:bodyPr wrap="square"/>
                    <a:lstStyle/>
                    <a:p>
                      <a:pPr algn="l"/>
                      <a:r>
                        <a:rPr sz="1250" b="0">
                          <a:solidFill>
                            <a:srgbClr val="000000"/>
                          </a:solidFill>
                          <a:latin typeface="游ゴシック"/>
                          <a:ea typeface="游ゴシック"/>
                        </a:rPr>
                        <a:t>21円 → 32円（＋11円）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p.11</a:t>
                      </a:r>
                    </a:p>
                  </a:txBody>
                  <a:tcPr marL="45720" marR="45720" marT="18288" marB="18288" anchor="ctr">
                    <a:noFill/>
                  </a:tcPr>
                </a:tc>
                <a:tc>
                  <a:txBody>
                    <a:bodyPr wrap="square"/>
                    <a:lstStyle/>
                    <a:p>
                      <a:pPr algn="l"/>
                      <a:r>
                        <a:rPr sz="1250" b="0">
                          <a:solidFill>
                            <a:srgbClr val="000000"/>
                          </a:solidFill>
                          <a:latin typeface="游ゴシック"/>
                          <a:ea typeface="游ゴシック"/>
                        </a:rPr>
                        <a:t>上がる理由は2つの単価</a:t>
                      </a:r>
                    </a:p>
                  </a:txBody>
                  <a:tcPr marL="45720" marR="45720" marT="18288" marB="18288" anchor="ctr">
                    <a:noFill/>
                  </a:tcPr>
                </a:tc>
                <a:tc>
                  <a:txBody>
                    <a:bodyPr wrap="square"/>
                    <a:lstStyle/>
                    <a:p>
                      <a:pPr algn="l"/>
                      <a:r>
                        <a:rPr sz="1250" b="0">
                          <a:solidFill>
                            <a:srgbClr val="000000"/>
                          </a:solidFill>
                          <a:latin typeface="游ゴシック"/>
                          <a:ea typeface="游ゴシック"/>
                        </a:rPr>
                        <a:t>（計算式）</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p.12</a:t>
                      </a:r>
                    </a:p>
                  </a:txBody>
                  <a:tcPr marL="45720" marR="45720" marT="18288" marB="18288" anchor="ctr">
                    <a:noFill/>
                  </a:tcPr>
                </a:tc>
                <a:tc>
                  <a:txBody>
                    <a:bodyPr wrap="square"/>
                    <a:lstStyle/>
                    <a:p>
                      <a:pPr algn="l"/>
                      <a:r>
                        <a:rPr sz="1250" b="0">
                          <a:solidFill>
                            <a:srgbClr val="000000"/>
                          </a:solidFill>
                          <a:latin typeface="游ゴシック"/>
                          <a:ea typeface="游ゴシック"/>
                        </a:rPr>
                        <a:t>全国どこでも上がっている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北陸42％・九州38％</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p.13</a:t>
                      </a:r>
                    </a:p>
                  </a:txBody>
                  <a:tcPr marL="45720" marR="45720" marT="18288" marB="18288" anchor="ctr">
                    <a:noFill/>
                  </a:tcPr>
                </a:tc>
                <a:tc>
                  <a:txBody>
                    <a:bodyPr wrap="square"/>
                    <a:lstStyle/>
                    <a:p>
                      <a:pPr algn="l"/>
                      <a:r>
                        <a:rPr sz="1250" b="0">
                          <a:solidFill>
                            <a:srgbClr val="000000"/>
                          </a:solidFill>
                          <a:latin typeface="游ゴシック"/>
                          <a:ea typeface="游ゴシック"/>
                        </a:rPr>
                        <a:t>賦課金というものがある</a:t>
                      </a:r>
                    </a:p>
                  </a:txBody>
                  <a:tcPr marL="45720" marR="45720" marT="18288" marB="18288" anchor="ctr">
                    <a:noFill/>
                  </a:tcPr>
                </a:tc>
                <a:tc>
                  <a:txBody>
                    <a:bodyPr wrap="square"/>
                    <a:lstStyle/>
                    <a:p>
                      <a:pPr algn="l"/>
                      <a:r>
                        <a:rPr sz="1250" b="0">
                          <a:solidFill>
                            <a:srgbClr val="000000"/>
                          </a:solidFill>
                          <a:latin typeface="游ゴシック"/>
                          <a:ea typeface="游ゴシック"/>
                        </a:rPr>
                        <a:t>4.18円/kWh</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p.14</a:t>
                      </a:r>
                    </a:p>
                  </a:txBody>
                  <a:tcPr marL="45720" marR="45720" marT="18288" marB="18288" anchor="ctr">
                    <a:noFill/>
                  </a:tcPr>
                </a:tc>
                <a:tc>
                  <a:txBody>
                    <a:bodyPr wrap="square"/>
                    <a:lstStyle/>
                    <a:p>
                      <a:pPr algn="l"/>
                      <a:r>
                        <a:rPr sz="1250" b="1">
                          <a:solidFill>
                            <a:srgbClr val="000000"/>
                          </a:solidFill>
                          <a:latin typeface="游ゴシック"/>
                          <a:ea typeface="游ゴシック"/>
                        </a:rPr>
                        <a:t>その賦課金が18倍になった</a:t>
                      </a:r>
                    </a:p>
                  </a:txBody>
                  <a:tcPr marL="45720" marR="45720" marT="18288" marB="18288" anchor="ctr">
                    <a:noFill/>
                  </a:tcPr>
                </a:tc>
                <a:tc>
                  <a:txBody>
                    <a:bodyPr wrap="square"/>
                    <a:lstStyle/>
                    <a:p>
                      <a:pPr algn="l"/>
                      <a:r>
                        <a:rPr sz="1250" b="1">
                          <a:solidFill>
                            <a:srgbClr val="000000"/>
                          </a:solidFill>
                          <a:latin typeface="游ゴシック"/>
                          <a:ea typeface="游ゴシック"/>
                        </a:rPr>
                        <a:t>1,210円 → 22,990円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p.15</a:t>
                      </a:r>
                    </a:p>
                  </a:txBody>
                  <a:tcPr marL="45720" marR="45720" marT="18288" marB="18288" anchor="ctr">
                    <a:noFill/>
                  </a:tcPr>
                </a:tc>
                <a:tc>
                  <a:txBody>
                    <a:bodyPr wrap="square"/>
                    <a:lstStyle/>
                    <a:p>
                      <a:pPr algn="l"/>
                      <a:r>
                        <a:rPr sz="1250" b="0">
                          <a:solidFill>
                            <a:srgbClr val="000000"/>
                          </a:solidFill>
                          <a:latin typeface="游ゴシック"/>
                          <a:ea typeface="游ゴシック"/>
                        </a:rPr>
                        <a:t>補助は出るが一時的</a:t>
                      </a:r>
                    </a:p>
                  </a:txBody>
                  <a:tcPr marL="45720" marR="45720" marT="18288" marB="18288" anchor="ctr">
                    <a:noFill/>
                  </a:tcPr>
                </a:tc>
                <a:tc>
                  <a:txBody>
                    <a:bodyPr wrap="square"/>
                    <a:lstStyle/>
                    <a:p>
                      <a:pPr algn="l"/>
                      <a:r>
                        <a:rPr sz="1250" b="0">
                          <a:solidFill>
                            <a:srgbClr val="000000"/>
                          </a:solidFill>
                          <a:latin typeface="游ゴシック"/>
                          <a:ea typeface="游ゴシック"/>
                        </a:rPr>
                        <a:t>7月使用分から再開（3.5〜4.5円）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p.16</a:t>
                      </a:r>
                    </a:p>
                  </a:txBody>
                  <a:tcPr marL="45720" marR="45720" marT="18288" marB="18288" anchor="ctr">
                    <a:noFill/>
                  </a:tcPr>
                </a:tc>
                <a:tc>
                  <a:txBody>
                    <a:bodyPr wrap="square"/>
                    <a:lstStyle/>
                    <a:p>
                      <a:pPr algn="l"/>
                      <a:r>
                        <a:rPr sz="1250" b="0">
                          <a:solidFill>
                            <a:srgbClr val="000000"/>
                          </a:solidFill>
                          <a:latin typeface="游ゴシック"/>
                          <a:ea typeface="游ゴシック"/>
                        </a:rPr>
                        <a:t>もう上がり始めている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2月比で約4.9円の負担増</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p.17</a:t>
                      </a:r>
                    </a:p>
                  </a:txBody>
                  <a:tcPr marL="45720" marR="45720" marT="18288" marB="18288" anchor="ctr">
                    <a:noFill/>
                  </a:tcPr>
                </a:tc>
                <a:tc>
                  <a:txBody>
                    <a:bodyPr wrap="square"/>
                    <a:lstStyle/>
                    <a:p>
                      <a:pPr algn="l"/>
                      <a:r>
                        <a:rPr sz="1250" b="1">
                          <a:solidFill>
                            <a:srgbClr val="000000"/>
                          </a:solidFill>
                          <a:latin typeface="游ゴシック"/>
                          <a:ea typeface="游ゴシック"/>
                        </a:rPr>
                        <a:t>生涯ではこれだけ払う</a:t>
                      </a:r>
                    </a:p>
                  </a:txBody>
                  <a:tcPr marL="45720" marR="45720" marT="18288" marB="18288" anchor="ctr">
                    <a:noFill/>
                  </a:tcPr>
                </a:tc>
                <a:tc>
                  <a:txBody>
                    <a:bodyPr wrap="square"/>
                    <a:lstStyle/>
                    <a:p>
                      <a:pPr algn="l"/>
                      <a:r>
                        <a:rPr sz="1250" b="1">
                          <a:solidFill>
                            <a:srgbClr val="000000"/>
                          </a:solidFill>
                          <a:latin typeface="游ゴシック"/>
                          <a:ea typeface="游ゴシック"/>
                        </a:rPr>
                        <a:t>月2万円で30年 720万円</a:t>
                      </a:r>
                    </a:p>
                  </a:txBody>
                  <a:tcPr marL="45720" marR="45720" marT="18288" marB="18288" anchor="ctr">
                    <a:noFill/>
                  </a:tcPr>
                </a:tc>
              </a:tr>
            </a:tbl>
          </a:graphicData>
        </a:graphic>
      </p:graphicFrame>
      <p:sp>
        <p:nvSpPr>
          <p:cNvPr id="7" name="Rectangle 6"/>
          <p:cNvSpPr/>
          <p:nvPr/>
        </p:nvSpPr>
        <p:spPr>
          <a:xfrm>
            <a:off x="411480" y="5623560"/>
            <a:ext cx="9098280" cy="73152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000000"/>
                </a:solidFill>
                <a:latin typeface="HGPｺﾞｼｯｸE"/>
                <a:ea typeface="HGPｺﾞｼｯｸE"/>
              </a:rPr>
              <a:t>太字の3ページ（p.9・p.14・p.17）だけは、資料を見ずに言えるようにしてください。</a:t>
            </a:r>
          </a:p>
          <a:p>
            <a:pPr algn="l">
              <a:spcAft>
                <a:spcPts val="500"/>
              </a:spcAft>
            </a:pPr>
            <a:r>
              <a:rPr sz="1500" b="0">
                <a:solidFill>
                  <a:srgbClr val="000000"/>
                </a:solidFill>
                <a:latin typeface="HGPｺﾞｼｯｸE"/>
                <a:ea typeface="HGPｺﾞｼｯｸE"/>
              </a:rPr>
              <a:t>残り6ページも必ずめくります。1ページ20〜30秒、裏づけとして通すだけで構いません。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②　災害対策</a:t>
            </a:r>
          </a:p>
        </p:txBody>
      </p:sp>
      <p:sp>
        <p:nvSpPr>
          <p:cNvPr id="6" name="Rectangle 5"/>
          <p:cNvSpPr/>
          <p:nvPr/>
        </p:nvSpPr>
        <p:spPr>
          <a:xfrm>
            <a:off x="411480" y="2011680"/>
            <a:ext cx="452628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p.18・p.19（2ページ）＋ 事例</a:t>
            </a:r>
          </a:p>
        </p:txBody>
      </p:sp>
      <p:sp>
        <p:nvSpPr>
          <p:cNvPr id="7" name="Rectangle 6"/>
          <p:cNvSpPr/>
          <p:nvPr/>
        </p:nvSpPr>
        <p:spPr>
          <a:xfrm>
            <a:off x="5120640" y="2011680"/>
            <a:ext cx="438912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3分以内</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「いつ起きてもおかしくない」と思ってもらう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・長く話すほど失敗します。商談の雰囲気が暗くなるためです</a:t>
            </a:r>
          </a:p>
          <a:p>
            <a:pPr algn="l">
              <a:spcAft>
                <a:spcPts val="600"/>
              </a:spcAft>
            </a:pPr>
            <a:r>
              <a:rPr sz="1500" b="0">
                <a:solidFill>
                  <a:srgbClr val="000000"/>
                </a:solidFill>
                <a:latin typeface="HGPｺﾞｼｯｸE"/>
                <a:ea typeface="HGPｺﾞｼｯｸE"/>
              </a:rPr>
              <a:t>・主語は必ず「事実」と「第三者」。お客様の家族を想像させない</a:t>
            </a:r>
          </a:p>
          <a:p>
            <a:pPr algn="l">
              <a:spcAft>
                <a:spcPts val="600"/>
              </a:spcAft>
            </a:pPr>
            <a:r>
              <a:rPr sz="1500" b="0">
                <a:solidFill>
                  <a:srgbClr val="000000"/>
                </a:solidFill>
                <a:latin typeface="HGPｺﾞｼｯｸE"/>
                <a:ea typeface="HGPｺﾞｼｯｸE"/>
              </a:rPr>
              <a:t>・2ページめくって、事例を1本話したら、すぐ次へ抜ける</a:t>
            </a:r>
          </a:p>
          <a:p>
            <a:pPr algn="l">
              <a:spcAft>
                <a:spcPts val="600"/>
              </a:spcAft>
            </a:pPr>
            <a:r>
              <a:rPr sz="1500" b="0">
                <a:solidFill>
                  <a:srgbClr val="000000"/>
                </a:solidFill>
                <a:latin typeface="HGPｺﾞｼｯｸE"/>
                <a:ea typeface="HGPｺﾞｼｯｸE"/>
              </a:rPr>
              <a:t>・「うちの地域は災害が来ない」と言われたら、否定せず事実で包み込む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p.18　政府機関にも予測するのが困難な地震情報</a:t>
            </a:r>
          </a:p>
        </p:txBody>
      </p:sp>
      <p:pic>
        <p:nvPicPr>
          <p:cNvPr id="6" name="Picture 5" descr="ab18.jpg"/>
          <p:cNvPicPr>
            <a:picLocks noChangeAspect="1"/>
          </p:cNvPicPr>
          <p:nvPr/>
        </p:nvPicPr>
        <p:blipFill>
          <a:blip r:embed="rId2"/>
          <a:stretch>
            <a:fillRect/>
          </a:stretch>
        </p:blipFill>
        <p:spPr>
          <a:xfrm>
            <a:off x="411480" y="1755648"/>
            <a:ext cx="4434840" cy="2682483"/>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p.18　予測が困難な地震情報</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「いつ災害が起こるか分からないですね」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表の数字は読まない。赤枠の「札幌市」だけを指す</a:t>
            </a:r>
          </a:p>
          <a:p>
            <a:pPr algn="l">
              <a:spcAft>
                <a:spcPts val="600"/>
              </a:spcAft>
            </a:pPr>
            <a:r>
              <a:rPr sz="1300" b="0">
                <a:solidFill>
                  <a:srgbClr val="000000"/>
                </a:solidFill>
                <a:latin typeface="HGPｺﾞｼｯｸE"/>
                <a:ea typeface="HGPｺﾞｼｯｸE"/>
              </a:rPr>
              <a:t>「日本で最も権威のある地震調査委員会のデータです」</a:t>
            </a:r>
          </a:p>
          <a:p>
            <a:pPr algn="l">
              <a:spcAft>
                <a:spcPts val="600"/>
              </a:spcAft>
            </a:pPr>
            <a:r>
              <a:rPr sz="1300" b="0">
                <a:solidFill>
                  <a:srgbClr val="000000"/>
                </a:solidFill>
                <a:latin typeface="HGPｺﾞｼｯｸE"/>
                <a:ea typeface="HGPｺﾞｼｯｸE"/>
              </a:rPr>
              <a:t>「2018年6月の発表で、札幌が全国で最下位でした」</a:t>
            </a:r>
          </a:p>
          <a:p>
            <a:pPr algn="l">
              <a:spcAft>
                <a:spcPts val="600"/>
              </a:spcAft>
            </a:pPr>
            <a:r>
              <a:rPr sz="1300" b="1">
                <a:solidFill>
                  <a:srgbClr val="FF0000"/>
                </a:solidFill>
                <a:latin typeface="HGPｺﾞｼｯｸE"/>
                <a:ea typeface="HGPｺﾞｼｯｸE"/>
              </a:rPr>
              <a:t>「ところが3か月後に、胆振東部地震が起きています」</a:t>
            </a:r>
          </a:p>
          <a:p>
            <a:pPr algn="l">
              <a:spcAft>
                <a:spcPts val="600"/>
              </a:spcAft>
            </a:pPr>
            <a:r>
              <a:rPr sz="1300" b="0">
                <a:solidFill>
                  <a:srgbClr val="000000"/>
                </a:solidFill>
                <a:latin typeface="HGPｺﾞｼｯｸE"/>
                <a:ea typeface="HGPｺﾞｼｯｸE"/>
              </a:rPr>
              <a:t>狙いは「うちの地域は地震来ないから」を潰すこと</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専門家ですら、いつ「もしものこと」が起きるのか分からない状況です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最後は「どこで起きるかは分からないですよね？」と質問で終える。断定で終えない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p.19　自然災害とともに停電被害はたくさん出ている</a:t>
            </a:r>
          </a:p>
        </p:txBody>
      </p:sp>
      <p:pic>
        <p:nvPicPr>
          <p:cNvPr id="6" name="Picture 5" descr="ab19.jpg"/>
          <p:cNvPicPr>
            <a:picLocks noChangeAspect="1"/>
          </p:cNvPicPr>
          <p:nvPr/>
        </p:nvPicPr>
        <p:blipFill>
          <a:blip r:embed="rId2"/>
          <a:stretch>
            <a:fillRect/>
          </a:stretch>
        </p:blipFill>
        <p:spPr>
          <a:xfrm>
            <a:off x="411480" y="1755648"/>
            <a:ext cx="4434840" cy="2682483"/>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p.19　自然災害と停電被害</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「停電時も電気が使えた方が安心です」</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家のアイコンの数で「規模」を見せる。件数は1つだけ言う</a:t>
            </a:r>
          </a:p>
          <a:p>
            <a:pPr algn="l">
              <a:spcAft>
                <a:spcPts val="600"/>
              </a:spcAft>
            </a:pPr>
            <a:r>
              <a:rPr sz="1300" b="0">
                <a:solidFill>
                  <a:srgbClr val="000000"/>
                </a:solidFill>
                <a:latin typeface="HGPｺﾞｼｯｸE"/>
                <a:ea typeface="HGPｺﾞｼｯｸE"/>
              </a:rPr>
              <a:t>「北海道の地震は約300万戸、日本初のブラックアウト」</a:t>
            </a:r>
          </a:p>
          <a:p>
            <a:pPr algn="l">
              <a:spcAft>
                <a:spcPts val="600"/>
              </a:spcAft>
            </a:pPr>
            <a:r>
              <a:rPr sz="1300" b="0">
                <a:solidFill>
                  <a:srgbClr val="000000"/>
                </a:solidFill>
                <a:latin typeface="HGPｺﾞｼｯｸE"/>
                <a:ea typeface="HGPｺﾞｼｯｸE"/>
              </a:rPr>
              <a:t>「復旧まで2週間かかった地域もありました」</a:t>
            </a:r>
          </a:p>
          <a:p>
            <a:pPr algn="l">
              <a:spcAft>
                <a:spcPts val="600"/>
              </a:spcAft>
            </a:pPr>
            <a:r>
              <a:rPr sz="1300" b="1">
                <a:solidFill>
                  <a:srgbClr val="FF0000"/>
                </a:solidFill>
                <a:latin typeface="HGPｺﾞｼｯｸE"/>
                <a:ea typeface="HGPｺﾞｼｯｸE"/>
              </a:rPr>
              <a:t>YES取り「停電のとき、お母さまが避難所に行くのは心配ですよね？」</a:t>
            </a:r>
          </a:p>
          <a:p>
            <a:pPr algn="l">
              <a:spcAft>
                <a:spcPts val="600"/>
              </a:spcAft>
            </a:pPr>
            <a:r>
              <a:rPr sz="1300" b="0">
                <a:solidFill>
                  <a:srgbClr val="000000"/>
                </a:solidFill>
                <a:latin typeface="HGPｺﾞｼｯｸE"/>
                <a:ea typeface="HGPｺﾞｼｯｸE"/>
              </a:rPr>
              <a:t>食料は備蓄できるが、電気は備蓄できないと添える</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南海トラフなど「これから」の話を膨らませない。1行触れて終わり</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このあとに「ページのない1本」を挟みます</a:t>
            </a:r>
          </a:p>
        </p:txBody>
      </p:sp>
      <p:sp>
        <p:nvSpPr>
          <p:cNvPr id="6" name="Rectangle 5"/>
          <p:cNvSpPr/>
          <p:nvPr/>
        </p:nvSpPr>
        <p:spPr>
          <a:xfrm>
            <a:off x="411480" y="1755648"/>
            <a:ext cx="4526280" cy="17830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300"/>
              </a:spcAft>
            </a:pPr>
            <a:r>
              <a:rPr sz="1600" b="1">
                <a:solidFill>
                  <a:srgbClr val="000000"/>
                </a:solidFill>
                <a:latin typeface="HGPｺﾞｼｯｸE"/>
                <a:ea typeface="HGPｺﾞｼｯｸE"/>
              </a:rPr>
              <a:t>アプローチブックには</a:t>
            </a:r>
          </a:p>
          <a:p>
            <a:pPr algn="ctr">
              <a:spcAft>
                <a:spcPts val="1000"/>
              </a:spcAft>
            </a:pPr>
            <a:r>
              <a:rPr sz="1600" b="1">
                <a:solidFill>
                  <a:srgbClr val="FF0000"/>
                </a:solidFill>
                <a:latin typeface="HGPｺﾞｼｯｸE"/>
                <a:ea typeface="HGPｺﾞｼｯｸE"/>
              </a:rPr>
              <a:t>「備えるとどうなるか」のページがありません</a:t>
            </a:r>
          </a:p>
          <a:p>
            <a:pPr algn="l">
              <a:spcAft>
                <a:spcPts val="500"/>
              </a:spcAft>
            </a:pPr>
            <a:r>
              <a:rPr sz="1400" b="0">
                <a:solidFill>
                  <a:srgbClr val="000000"/>
                </a:solidFill>
                <a:latin typeface="HGPｺﾞｼｯｸE"/>
                <a:ea typeface="HGPｺﾞｼｯｸE"/>
              </a:rPr>
              <a:t>印刷された一般論では「うちの場合は？」に答えられないからです。</a:t>
            </a:r>
          </a:p>
        </p:txBody>
      </p:sp>
      <p:sp>
        <p:nvSpPr>
          <p:cNvPr id="7" name="Rectangle 6"/>
          <p:cNvSpPr/>
          <p:nvPr/>
        </p:nvSpPr>
        <p:spPr>
          <a:xfrm>
            <a:off x="5120640" y="1755648"/>
            <a:ext cx="438912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600" b="1">
                <a:solidFill>
                  <a:srgbClr val="000000"/>
                </a:solidFill>
                <a:latin typeface="HGPｺﾞｼｯｸE"/>
                <a:ea typeface="HGPｺﾞｼｯｸE"/>
              </a:rPr>
              <a:t>だから事例で話します</a:t>
            </a:r>
          </a:p>
          <a:p>
            <a:pPr algn="l">
              <a:spcAft>
                <a:spcPts val="300"/>
              </a:spcAft>
            </a:pPr>
            <a:r>
              <a:rPr sz="1400" b="0">
                <a:solidFill>
                  <a:srgbClr val="000000"/>
                </a:solidFill>
                <a:latin typeface="HGPｺﾞｼｯｸE"/>
                <a:ea typeface="HGPｺﾞｼｯｸE"/>
              </a:rPr>
              <a:t>✕「停電しても安心ですよ」</a:t>
            </a:r>
          </a:p>
          <a:p>
            <a:pPr algn="l">
              <a:spcAft>
                <a:spcPts val="800"/>
              </a:spcAft>
            </a:pPr>
            <a:r>
              <a:rPr sz="1200" b="0">
                <a:solidFill>
                  <a:srgbClr val="595959"/>
                </a:solidFill>
                <a:latin typeface="HGPｺﾞｼｯｸE"/>
                <a:ea typeface="HGPｺﾞｼｯｸE"/>
              </a:rPr>
              <a:t>　← 自分の意見。刺さらない</a:t>
            </a:r>
          </a:p>
          <a:p>
            <a:pPr algn="l">
              <a:spcAft>
                <a:spcPts val="500"/>
              </a:spcAft>
            </a:pPr>
            <a:r>
              <a:rPr sz="1400" b="1">
                <a:solidFill>
                  <a:srgbClr val="000000"/>
                </a:solidFill>
                <a:latin typeface="HGPｺﾞｼｯｸE"/>
                <a:ea typeface="HGPｺﾞｼｯｸE"/>
              </a:rPr>
              <a:t>○「実際に〇〇市のA様が、台風の停電で3日間、冷蔵庫と照明を動かせたそうです」</a:t>
            </a:r>
          </a:p>
        </p:txBody>
      </p:sp>
      <p:graphicFrame>
        <p:nvGraphicFramePr>
          <p:cNvPr id="8" name="Table 7"/>
          <p:cNvGraphicFramePr>
            <a:graphicFrameLocks noGrp="1"/>
          </p:cNvGraphicFramePr>
          <p:nvPr/>
        </p:nvGraphicFramePr>
        <p:xfrm>
          <a:off x="411480" y="3657600"/>
          <a:ext cx="9098280" cy="1810512"/>
        </p:xfrm>
        <a:graphic>
          <a:graphicData uri="http://schemas.openxmlformats.org/drawingml/2006/table">
            <a:tbl>
              <a:tblPr firstRow="1">
                <a:tableStyleId>{5C22544A-7EE6-4342-B048-85BDC9FD1C3A}</a:tableStyleId>
              </a:tblPr>
              <a:tblGrid>
                <a:gridCol w="1645920"/>
                <a:gridCol w="2926080"/>
                <a:gridCol w="4526280"/>
              </a:tblGrid>
              <a:tr h="274320">
                <a:tc>
                  <a:txBody>
                    <a:bodyPr wrap="square"/>
                    <a:lstStyle/>
                    <a:p>
                      <a:pPr algn="ctr"/>
                      <a:r>
                        <a:rPr sz="1150" b="1">
                          <a:solidFill>
                            <a:srgbClr val="FFFFFF"/>
                          </a:solidFill>
                          <a:latin typeface="游ゴシック"/>
                          <a:ea typeface="游ゴシック"/>
                        </a:rPr>
                        <a:t>事例の材料</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中身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URL</a:t>
                      </a:r>
                    </a:p>
                  </a:txBody>
                  <a:tcPr marL="45720" marR="45720" marT="18288" marB="18288" anchor="ctr">
                    <a:solidFill>
                      <a:srgbClr val="000000"/>
                    </a:solidFill>
                  </a:tcPr>
                </a:tc>
              </a:tr>
              <a:tr h="384048">
                <a:tc>
                  <a:txBody>
                    <a:bodyPr wrap="square"/>
                    <a:lstStyle/>
                    <a:p>
                      <a:pPr algn="l"/>
                      <a:r>
                        <a:rPr sz="1150" b="0">
                          <a:solidFill>
                            <a:srgbClr val="000000"/>
                          </a:solidFill>
                          <a:latin typeface="游ゴシック"/>
                          <a:ea typeface="游ゴシック"/>
                        </a:rPr>
                        <a:t>自社の施工事例</a:t>
                      </a:r>
                    </a:p>
                  </a:txBody>
                  <a:tcPr marL="45720" marR="45720" marT="18288" marB="18288" anchor="ctr">
                    <a:noFill/>
                  </a:tcPr>
                </a:tc>
                <a:tc>
                  <a:txBody>
                    <a:bodyPr wrap="square"/>
                    <a:lstStyle/>
                    <a:p>
                      <a:pPr algn="l"/>
                      <a:r>
                        <a:rPr sz="1150" b="0">
                          <a:solidFill>
                            <a:srgbClr val="000000"/>
                          </a:solidFill>
                          <a:latin typeface="游ゴシック"/>
                          <a:ea typeface="游ゴシック"/>
                        </a:rPr>
                        <a:t>いちばん強い。地域が近いほど効く</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Panasonic</a:t>
                      </a:r>
                    </a:p>
                  </a:txBody>
                  <a:tcPr marL="45720" marR="45720" marT="18288" marB="18288" anchor="ctr">
                    <a:noFill/>
                  </a:tcPr>
                </a:tc>
                <a:tc>
                  <a:txBody>
                    <a:bodyPr wrap="square"/>
                    <a:lstStyle/>
                    <a:p>
                      <a:pPr algn="l"/>
                      <a:r>
                        <a:rPr sz="1150" b="0">
                          <a:solidFill>
                            <a:srgbClr val="000000"/>
                          </a:solidFill>
                          <a:latin typeface="游ゴシック"/>
                          <a:ea typeface="游ゴシック"/>
                        </a:rPr>
                        <a:t>動画＋テキストの記事</a:t>
                      </a:r>
                    </a:p>
                  </a:txBody>
                  <a:tcPr marL="45720" marR="45720" marT="18288" marB="18288" anchor="ctr">
                    <a:noFill/>
                  </a:tcPr>
                </a:tc>
                <a:tc>
                  <a:txBody>
                    <a:bodyPr wrap="square"/>
                    <a:lstStyle/>
                    <a:p>
                      <a:pPr algn="l"/>
                      <a:r>
                        <a:rPr sz="1150" b="0">
                          <a:solidFill>
                            <a:srgbClr val="000000"/>
                          </a:solidFill>
                          <a:latin typeface="游ゴシック"/>
                          <a:ea typeface="游ゴシック"/>
                        </a:rPr>
                        <a:t>https://sumai.panasonic.jp/chikuden/</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SmartStar</a:t>
                      </a:r>
                    </a:p>
                  </a:txBody>
                  <a:tcPr marL="45720" marR="45720" marT="18288" marB="18288" anchor="ctr">
                    <a:noFill/>
                  </a:tcPr>
                </a:tc>
                <a:tc>
                  <a:txBody>
                    <a:bodyPr wrap="square"/>
                    <a:lstStyle/>
                    <a:p>
                      <a:pPr algn="l"/>
                      <a:r>
                        <a:rPr sz="1150" b="0">
                          <a:solidFill>
                            <a:srgbClr val="000000"/>
                          </a:solidFill>
                          <a:latin typeface="游ゴシック"/>
                          <a:ea typeface="游ゴシック"/>
                        </a:rPr>
                        <a:t>災害時の活用に特化した動画</a:t>
                      </a:r>
                    </a:p>
                  </a:txBody>
                  <a:tcPr marL="45720" marR="45720" marT="18288" marB="18288" anchor="ctr">
                    <a:noFill/>
                  </a:tcPr>
                </a:tc>
                <a:tc>
                  <a:txBody>
                    <a:bodyPr wrap="square"/>
                    <a:lstStyle/>
                    <a:p>
                      <a:pPr algn="l"/>
                      <a:r>
                        <a:rPr sz="1150" b="0">
                          <a:solidFill>
                            <a:srgbClr val="000000"/>
                          </a:solidFill>
                          <a:latin typeface="游ゴシック"/>
                          <a:ea typeface="游ゴシック"/>
                        </a:rPr>
                        <a:t>https://www.smartstar.jp/voice/</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ニチコン</a:t>
                      </a:r>
                    </a:p>
                  </a:txBody>
                  <a:tcPr marL="45720" marR="45720" marT="18288" marB="18288" anchor="ctr">
                    <a:noFill/>
                  </a:tcPr>
                </a:tc>
                <a:tc>
                  <a:txBody>
                    <a:bodyPr wrap="square"/>
                    <a:lstStyle/>
                    <a:p>
                      <a:pPr algn="l"/>
                      <a:r>
                        <a:rPr sz="1150" b="0">
                          <a:solidFill>
                            <a:srgbClr val="000000"/>
                          </a:solidFill>
                          <a:latin typeface="游ゴシック"/>
                          <a:ea typeface="游ゴシック"/>
                        </a:rPr>
                        <a:t>販売店にフィットしたコンテンツ</a:t>
                      </a:r>
                    </a:p>
                  </a:txBody>
                  <a:tcPr marL="45720" marR="45720" marT="18288" marB="18288" anchor="ctr">
                    <a:noFill/>
                  </a:tcPr>
                </a:tc>
                <a:tc>
                  <a:txBody>
                    <a:bodyPr wrap="square"/>
                    <a:lstStyle/>
                    <a:p>
                      <a:pPr algn="l"/>
                      <a:r>
                        <a:rPr sz="1150" b="0">
                          <a:solidFill>
                            <a:srgbClr val="000000"/>
                          </a:solidFill>
                          <a:latin typeface="游ゴシック"/>
                          <a:ea typeface="游ゴシック"/>
                        </a:rPr>
                        <a:t>https://www.nichicon.co.jp/products/ess/about/voice.html</a:t>
                      </a:r>
                    </a:p>
                  </a:txBody>
                  <a:tcPr marL="45720" marR="45720" marT="18288" marB="18288" anchor="ctr">
                    <a:noFill/>
                  </a:tcPr>
                </a:tc>
              </a:tr>
            </a:tbl>
          </a:graphicData>
        </a:graphic>
      </p:graphicFrame>
      <p:sp>
        <p:nvSpPr>
          <p:cNvPr id="9" name="Rectangle 8"/>
          <p:cNvSpPr/>
          <p:nvPr/>
        </p:nvSpPr>
        <p:spPr>
          <a:xfrm>
            <a:off x="411480" y="5623560"/>
            <a:ext cx="9098280" cy="713232"/>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FF0000"/>
                </a:solidFill>
                <a:latin typeface="HGPｺﾞｼｯｸE"/>
                <a:ea typeface="HGPｺﾞｼｯｸE"/>
              </a:rPr>
              <a:t>②全体で3分。時計を見て測ってください。</a:t>
            </a:r>
          </a:p>
          <a:p>
            <a:pPr algn="l">
              <a:spcAft>
                <a:spcPts val="500"/>
              </a:spcAft>
            </a:pPr>
            <a:r>
              <a:rPr sz="1400" b="0">
                <a:solidFill>
                  <a:srgbClr val="000000"/>
                </a:solidFill>
                <a:latin typeface="HGPｺﾞｼｯｸE"/>
                <a:ea typeface="HGPｺﾞｼｯｸE"/>
              </a:rPr>
              <a:t>p.18が1分、p.19が1分、事例が1分。これを超えると、そのあとの話が入らなくなります。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必要性訴求パートの時間配分（商談での目安）</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 研修の時間割ではありません。お客様との商談のうち、①②に使えるのは約25分です</a:t>
            </a:r>
          </a:p>
        </p:txBody>
      </p:sp>
      <p:sp>
        <p:nvSpPr>
          <p:cNvPr id="7" name="Rectangle 6"/>
          <p:cNvSpPr/>
          <p:nvPr/>
        </p:nvSpPr>
        <p:spPr>
          <a:xfrm>
            <a:off x="411480" y="2121408"/>
            <a:ext cx="17830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導入</a:t>
            </a:r>
          </a:p>
        </p:txBody>
      </p:sp>
      <p:sp>
        <p:nvSpPr>
          <p:cNvPr id="8" name="Rectangle 7"/>
          <p:cNvSpPr/>
          <p:nvPr/>
        </p:nvSpPr>
        <p:spPr>
          <a:xfrm>
            <a:off x="2286000" y="2121408"/>
            <a:ext cx="713232" cy="658368"/>
          </a:xfrm>
          <a:prstGeom prst="rect">
            <a:avLst/>
          </a:prstGeom>
          <a:solidFill>
            <a:srgbClr val="F2F2F2"/>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2分</a:t>
            </a:r>
          </a:p>
        </p:txBody>
      </p:sp>
      <p:sp>
        <p:nvSpPr>
          <p:cNvPr id="9" name="TextBox 8"/>
          <p:cNvSpPr txBox="1"/>
          <p:nvPr/>
        </p:nvSpPr>
        <p:spPr>
          <a:xfrm>
            <a:off x="6400800" y="2121408"/>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検針票の実額を聞く</a:t>
            </a:r>
          </a:p>
        </p:txBody>
      </p:sp>
      <p:sp>
        <p:nvSpPr>
          <p:cNvPr id="10" name="Rectangle 9"/>
          <p:cNvSpPr/>
          <p:nvPr/>
        </p:nvSpPr>
        <p:spPr>
          <a:xfrm>
            <a:off x="411480" y="2907791"/>
            <a:ext cx="1783080" cy="65836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① 電気代</a:t>
            </a:r>
          </a:p>
        </p:txBody>
      </p:sp>
      <p:sp>
        <p:nvSpPr>
          <p:cNvPr id="11" name="Rectangle 10"/>
          <p:cNvSpPr/>
          <p:nvPr/>
        </p:nvSpPr>
        <p:spPr>
          <a:xfrm>
            <a:off x="2286000" y="2907791"/>
            <a:ext cx="3840480" cy="658368"/>
          </a:xfrm>
          <a:prstGeom prst="rect">
            <a:avLst/>
          </a:prstGeom>
          <a:solidFill>
            <a:srgbClr val="EAF1D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20分</a:t>
            </a:r>
          </a:p>
        </p:txBody>
      </p:sp>
      <p:sp>
        <p:nvSpPr>
          <p:cNvPr id="12" name="TextBox 11"/>
          <p:cNvSpPr txBox="1"/>
          <p:nvPr/>
        </p:nvSpPr>
        <p:spPr>
          <a:xfrm>
            <a:off x="6400800" y="2907791"/>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p.9 〜 p.17（9ページ）</a:t>
            </a:r>
          </a:p>
        </p:txBody>
      </p:sp>
      <p:sp>
        <p:nvSpPr>
          <p:cNvPr id="13" name="Rectangle 12"/>
          <p:cNvSpPr/>
          <p:nvPr/>
        </p:nvSpPr>
        <p:spPr>
          <a:xfrm>
            <a:off x="411480" y="3694176"/>
            <a:ext cx="1783080" cy="65836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② 災害対策</a:t>
            </a:r>
          </a:p>
        </p:txBody>
      </p:sp>
      <p:sp>
        <p:nvSpPr>
          <p:cNvPr id="14" name="Rectangle 13"/>
          <p:cNvSpPr/>
          <p:nvPr/>
        </p:nvSpPr>
        <p:spPr>
          <a:xfrm>
            <a:off x="2286000" y="3694176"/>
            <a:ext cx="896112" cy="658368"/>
          </a:xfrm>
          <a:prstGeom prst="rect">
            <a:avLst/>
          </a:prstGeom>
          <a:solidFill>
            <a:srgbClr val="FFF2CC"/>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3分</a:t>
            </a:r>
          </a:p>
        </p:txBody>
      </p:sp>
      <p:sp>
        <p:nvSpPr>
          <p:cNvPr id="15" name="TextBox 14"/>
          <p:cNvSpPr txBox="1"/>
          <p:nvPr/>
        </p:nvSpPr>
        <p:spPr>
          <a:xfrm>
            <a:off x="6400800" y="3694176"/>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p.18・p.19 ＋ 事例1本</a:t>
            </a:r>
          </a:p>
        </p:txBody>
      </p:sp>
      <p:sp>
        <p:nvSpPr>
          <p:cNvPr id="16" name="Rectangle 15"/>
          <p:cNvSpPr/>
          <p:nvPr/>
        </p:nvSpPr>
        <p:spPr>
          <a:xfrm>
            <a:off x="411480" y="4480560"/>
            <a:ext cx="1783080" cy="658368"/>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③ 経済メリット</a:t>
            </a:r>
          </a:p>
        </p:txBody>
      </p:sp>
      <p:sp>
        <p:nvSpPr>
          <p:cNvPr id="17" name="Rectangle 16"/>
          <p:cNvSpPr/>
          <p:nvPr/>
        </p:nvSpPr>
        <p:spPr>
          <a:xfrm>
            <a:off x="2286000" y="4480560"/>
            <a:ext cx="2926080" cy="658368"/>
          </a:xfrm>
          <a:prstGeom prst="rect">
            <a:avLst/>
          </a:prstGeom>
          <a:solidFill>
            <a:srgbClr val="EDEDE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次回</a:t>
            </a:r>
          </a:p>
        </p:txBody>
      </p:sp>
      <p:sp>
        <p:nvSpPr>
          <p:cNvPr id="18" name="TextBox 17"/>
          <p:cNvSpPr txBox="1"/>
          <p:nvPr/>
        </p:nvSpPr>
        <p:spPr>
          <a:xfrm>
            <a:off x="6400800" y="4480560"/>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p.20・p.21 ＋ シミュレーション</a:t>
            </a:r>
          </a:p>
        </p:txBody>
      </p:sp>
      <p:sp>
        <p:nvSpPr>
          <p:cNvPr id="19" name="Rectangle 18"/>
          <p:cNvSpPr/>
          <p:nvPr/>
        </p:nvSpPr>
        <p:spPr>
          <a:xfrm>
            <a:off x="411480" y="5358384"/>
            <a:ext cx="4389120" cy="9692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時間が押したときに削る順番</a:t>
            </a:r>
          </a:p>
          <a:p>
            <a:pPr algn="l">
              <a:spcAft>
                <a:spcPts val="300"/>
              </a:spcAft>
            </a:pPr>
            <a:r>
              <a:rPr sz="1400" b="1">
                <a:solidFill>
                  <a:srgbClr val="FF0000"/>
                </a:solidFill>
                <a:latin typeface="HGPｺﾞｼｯｸE"/>
                <a:ea typeface="HGPｺﾞｼｯｸE"/>
              </a:rPr>
              <a:t>p.16 → p.12 → p.11 → p.15 → p.10 → p.13</a:t>
            </a:r>
          </a:p>
          <a:p>
            <a:pPr algn="l">
              <a:spcAft>
                <a:spcPts val="500"/>
              </a:spcAft>
            </a:pPr>
            <a:r>
              <a:rPr sz="1300" b="0">
                <a:solidFill>
                  <a:srgbClr val="000000"/>
                </a:solidFill>
                <a:latin typeface="HGPｺﾞｼｯｸE"/>
                <a:ea typeface="HGPｺﾞｼｯｸE"/>
              </a:rPr>
              <a:t>p.9・p.14・p.17 は削らない</a:t>
            </a:r>
          </a:p>
        </p:txBody>
      </p:sp>
      <p:sp>
        <p:nvSpPr>
          <p:cNvPr id="20" name="Rectangle 19"/>
          <p:cNvSpPr/>
          <p:nvPr/>
        </p:nvSpPr>
        <p:spPr>
          <a:xfrm>
            <a:off x="5120640" y="5358384"/>
            <a:ext cx="4389120" cy="969264"/>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いちばん多い失敗</a:t>
            </a:r>
          </a:p>
          <a:p>
            <a:pPr algn="l">
              <a:spcAft>
                <a:spcPts val="300"/>
              </a:spcAft>
            </a:pPr>
            <a:r>
              <a:rPr sz="1400" b="0">
                <a:solidFill>
                  <a:srgbClr val="000000"/>
                </a:solidFill>
                <a:latin typeface="HGPｺﾞｼｯｸE"/>
                <a:ea typeface="HGPｺﾞｼｯｸE"/>
              </a:rPr>
              <a:t>①で30分以上かけてしまい、</a:t>
            </a:r>
          </a:p>
          <a:p>
            <a:pPr algn="l">
              <a:spcAft>
                <a:spcPts val="500"/>
              </a:spcAft>
            </a:pPr>
            <a:r>
              <a:rPr sz="1400" b="1">
                <a:solidFill>
                  <a:srgbClr val="000000"/>
                </a:solidFill>
                <a:latin typeface="HGPｺﾞｼｯｸE"/>
                <a:ea typeface="HGPｺﾞｼｯｸE"/>
              </a:rPr>
              <a:t>②の災害対策が飛んでしまう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めくり方のNG集</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ロープレで実際に多い5つです。自分に当てはまるものに印をつけてください</a:t>
            </a:r>
          </a:p>
        </p:txBody>
      </p:sp>
      <p:graphicFrame>
        <p:nvGraphicFramePr>
          <p:cNvPr id="7" name="Table 6"/>
          <p:cNvGraphicFramePr>
            <a:graphicFrameLocks noGrp="1"/>
          </p:cNvGraphicFramePr>
          <p:nvPr/>
        </p:nvGraphicFramePr>
        <p:xfrm>
          <a:off x="411480" y="2103120"/>
          <a:ext cx="9098280" cy="3694176"/>
        </p:xfrm>
        <a:graphic>
          <a:graphicData uri="http://schemas.openxmlformats.org/drawingml/2006/table">
            <a:tbl>
              <a:tblPr firstRow="1">
                <a:tableStyleId>{5C22544A-7EE6-4342-B048-85BDC9FD1C3A}</a:tableStyleId>
              </a:tblPr>
              <a:tblGrid>
                <a:gridCol w="2560320"/>
                <a:gridCol w="3291840"/>
                <a:gridCol w="3246120"/>
              </a:tblGrid>
              <a:tr h="310896">
                <a:tc>
                  <a:txBody>
                    <a:bodyPr wrap="square"/>
                    <a:lstStyle/>
                    <a:p>
                      <a:pPr algn="ctr"/>
                      <a:r>
                        <a:rPr sz="1250" b="1">
                          <a:solidFill>
                            <a:srgbClr val="FFFFFF"/>
                          </a:solidFill>
                          <a:latin typeface="游ゴシック"/>
                          <a:ea typeface="游ゴシック"/>
                        </a:rPr>
                        <a:t>✕ やりがちなこと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なぜまずいか</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 こうする</a:t>
                      </a:r>
                    </a:p>
                  </a:txBody>
                  <a:tcPr marL="45720" marR="45720" marT="18288" marB="18288" anchor="ctr">
                    <a:solidFill>
                      <a:srgbClr val="000000"/>
                    </a:solidFill>
                  </a:tcPr>
                </a:tc>
              </a:tr>
              <a:tr h="676656">
                <a:tc>
                  <a:txBody>
                    <a:bodyPr wrap="square"/>
                    <a:lstStyle/>
                    <a:p>
                      <a:pPr algn="l"/>
                      <a:r>
                        <a:rPr sz="1250" b="1">
                          <a:solidFill>
                            <a:srgbClr val="000000"/>
                          </a:solidFill>
                          <a:latin typeface="游ゴシック"/>
                          <a:ea typeface="游ゴシック"/>
                        </a:rPr>
                        <a:t>リード文を全部読み上げる</a:t>
                      </a:r>
                    </a:p>
                  </a:txBody>
                  <a:tcPr marL="45720" marR="45720" marT="18288" marB="18288" anchor="ctr">
                    <a:noFill/>
                  </a:tcPr>
                </a:tc>
                <a:tc>
                  <a:txBody>
                    <a:bodyPr wrap="square"/>
                    <a:lstStyle/>
                    <a:p>
                      <a:pPr algn="l"/>
                      <a:r>
                        <a:rPr sz="1250" b="0">
                          <a:solidFill>
                            <a:srgbClr val="000000"/>
                          </a:solidFill>
                          <a:latin typeface="游ゴシック"/>
                          <a:ea typeface="游ゴシック"/>
                        </a:rPr>
                        <a:t>読める文字を読まれると、聞くのをやめる</a:t>
                      </a:r>
                    </a:p>
                  </a:txBody>
                  <a:tcPr marL="45720" marR="45720" marT="18288" marB="18288" anchor="ctr">
                    <a:noFill/>
                  </a:tcPr>
                </a:tc>
                <a:tc>
                  <a:txBody>
                    <a:bodyPr wrap="square"/>
                    <a:lstStyle/>
                    <a:p>
                      <a:pPr algn="l"/>
                      <a:r>
                        <a:rPr sz="1250" b="1">
                          <a:solidFill>
                            <a:srgbClr val="000000"/>
                          </a:solidFill>
                          <a:latin typeface="游ゴシック"/>
                          <a:ea typeface="游ゴシック"/>
                        </a:rPr>
                        <a:t>要点を1文に縮めて、自分の言葉で言う</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グラフの棒を端から順に説明する</a:t>
                      </a:r>
                    </a:p>
                  </a:txBody>
                  <a:tcPr marL="45720" marR="45720" marT="18288" marB="18288" anchor="ctr">
                    <a:noFill/>
                  </a:tcPr>
                </a:tc>
                <a:tc>
                  <a:txBody>
                    <a:bodyPr wrap="square"/>
                    <a:lstStyle/>
                    <a:p>
                      <a:pPr algn="l"/>
                      <a:r>
                        <a:rPr sz="1250" b="0">
                          <a:solidFill>
                            <a:srgbClr val="000000"/>
                          </a:solidFill>
                          <a:latin typeface="游ゴシック"/>
                          <a:ea typeface="游ゴシック"/>
                        </a:rPr>
                        <a:t>数字が多すぎて、どれが重要か分からない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指でさして、数字は1ページ1つだけ</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全国平均のまま話す</a:t>
                      </a:r>
                    </a:p>
                  </a:txBody>
                  <a:tcPr marL="45720" marR="45720" marT="18288" marB="18288" anchor="ctr">
                    <a:noFill/>
                  </a:tcPr>
                </a:tc>
                <a:tc>
                  <a:txBody>
                    <a:bodyPr wrap="square"/>
                    <a:lstStyle/>
                    <a:p>
                      <a:pPr algn="l"/>
                      <a:r>
                        <a:rPr sz="1250" b="0">
                          <a:solidFill>
                            <a:srgbClr val="000000"/>
                          </a:solidFill>
                          <a:latin typeface="游ゴシック"/>
                          <a:ea typeface="游ゴシック"/>
                        </a:rPr>
                        <a:t>「うちは違う」と思われ、他人事になる</a:t>
                      </a:r>
                    </a:p>
                  </a:txBody>
                  <a:tcPr marL="45720" marR="45720" marT="18288" marB="18288" anchor="ctr">
                    <a:noFill/>
                  </a:tcPr>
                </a:tc>
                <a:tc>
                  <a:txBody>
                    <a:bodyPr wrap="square"/>
                    <a:lstStyle/>
                    <a:p>
                      <a:pPr algn="l"/>
                      <a:r>
                        <a:rPr sz="1250" b="1">
                          <a:solidFill>
                            <a:srgbClr val="000000"/>
                          </a:solidFill>
                          <a:latin typeface="游ゴシック"/>
                          <a:ea typeface="游ゴシック"/>
                        </a:rPr>
                        <a:t>検針票の実額に置き換えて話す</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緑帯を飛ばして次のページへ</a:t>
                      </a:r>
                    </a:p>
                  </a:txBody>
                  <a:tcPr marL="45720" marR="45720" marT="18288" marB="18288" anchor="ctr">
                    <a:noFill/>
                  </a:tcPr>
                </a:tc>
                <a:tc>
                  <a:txBody>
                    <a:bodyPr wrap="square"/>
                    <a:lstStyle/>
                    <a:p>
                      <a:pPr algn="l"/>
                      <a:r>
                        <a:rPr sz="1250" b="0">
                          <a:solidFill>
                            <a:srgbClr val="000000"/>
                          </a:solidFill>
                          <a:latin typeface="游ゴシック"/>
                          <a:ea typeface="游ゴシック"/>
                        </a:rPr>
                        <a:t>結論が無いまま進むので、何も残らない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緑帯は必ず声に出して言い切る</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災害の話を5分以上する</a:t>
                      </a:r>
                    </a:p>
                  </a:txBody>
                  <a:tcPr marL="45720" marR="45720" marT="18288" marB="18288" anchor="ctr">
                    <a:noFill/>
                  </a:tcPr>
                </a:tc>
                <a:tc>
                  <a:txBody>
                    <a:bodyPr wrap="square"/>
                    <a:lstStyle/>
                    <a:p>
                      <a:pPr algn="l"/>
                      <a:r>
                        <a:rPr sz="1250" b="0">
                          <a:solidFill>
                            <a:srgbClr val="000000"/>
                          </a:solidFill>
                          <a:latin typeface="游ゴシック"/>
                          <a:ea typeface="游ゴシック"/>
                        </a:rPr>
                        <a:t>場が暗くなり、そのあとの提案が入らない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3分で抜ける。事実と第三者で話す</a:t>
                      </a:r>
                    </a:p>
                  </a:txBody>
                  <a:tcPr marL="45720" marR="45720" marT="18288" marB="18288" anchor="ctr">
                    <a:noFill/>
                  </a:tcPr>
                </a:tc>
              </a:tr>
            </a:tbl>
          </a:graphicData>
        </a:graphic>
      </p:graphicFrame>
      <p:sp>
        <p:nvSpPr>
          <p:cNvPr id="8" name="Rectangle 7"/>
          <p:cNvSpPr/>
          <p:nvPr/>
        </p:nvSpPr>
        <p:spPr>
          <a:xfrm>
            <a:off x="411480" y="5760720"/>
            <a:ext cx="909828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共通しているのは「資料を読んでいる」状態。資料は読むものではなく、指すものです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通し練習：p.9 から p.19 まで、6分で通す</a:t>
            </a:r>
          </a:p>
        </p:txBody>
      </p:sp>
      <p:sp>
        <p:nvSpPr>
          <p:cNvPr id="6" name="Rectangle 5"/>
          <p:cNvSpPr/>
          <p:nvPr/>
        </p:nvSpPr>
        <p:spPr>
          <a:xfrm>
            <a:off x="411480" y="1755648"/>
            <a:ext cx="909828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400" b="1">
                <a:solidFill>
                  <a:srgbClr val="595959"/>
                </a:solidFill>
                <a:latin typeface="HGPｺﾞｼｯｸE"/>
                <a:ea typeface="HGPｺﾞｼｯｸE"/>
              </a:rPr>
              <a:t>進め方（合計18分）</a:t>
            </a:r>
          </a:p>
          <a:p>
            <a:pPr algn="l">
              <a:spcAft>
                <a:spcPts val="400"/>
              </a:spcAft>
            </a:pPr>
            <a:r>
              <a:rPr sz="1400" b="0">
                <a:solidFill>
                  <a:srgbClr val="000000"/>
                </a:solidFill>
                <a:latin typeface="HGPｺﾞｼｯｸE"/>
                <a:ea typeface="HGPｺﾞｼｯｸE"/>
              </a:rPr>
              <a:t>・2人1組。営業役とお客様役。1本6分 → フィードバック3分 → 交代してもう1本</a:t>
            </a:r>
          </a:p>
          <a:p>
            <a:pPr algn="l">
              <a:spcAft>
                <a:spcPts val="400"/>
              </a:spcAft>
            </a:pPr>
            <a:r>
              <a:rPr sz="1400" b="0">
                <a:solidFill>
                  <a:srgbClr val="000000"/>
                </a:solidFill>
                <a:latin typeface="HGPｺﾞｼｯｸE"/>
                <a:ea typeface="HGPｺﾞｼｯｸE"/>
              </a:rPr>
              <a:t>・営業役はアプローチブックを持ち、p.9を開いた状態から始めます</a:t>
            </a:r>
          </a:p>
          <a:p>
            <a:pPr algn="l">
              <a:spcAft>
                <a:spcPts val="400"/>
              </a:spcAft>
            </a:pPr>
            <a:r>
              <a:rPr sz="1400" b="0">
                <a:solidFill>
                  <a:srgbClr val="000000"/>
                </a:solidFill>
                <a:latin typeface="HGPｺﾞｼｯｸE"/>
                <a:ea typeface="HGPｺﾞｼｯｸE"/>
              </a:rPr>
              <a:t>・お客様役は「月18,000円」という設定。最初に必ず聞かれるので答えてください</a:t>
            </a:r>
          </a:p>
          <a:p>
            <a:pPr algn="l">
              <a:spcAft>
                <a:spcPts val="400"/>
              </a:spcAft>
            </a:pPr>
            <a:r>
              <a:rPr sz="1400" b="0">
                <a:solidFill>
                  <a:srgbClr val="000000"/>
                </a:solidFill>
                <a:latin typeface="HGPｺﾞｼｯｸE"/>
                <a:ea typeface="HGPｺﾞｼｯｸE"/>
              </a:rPr>
              <a:t>・ゴールは p.19 まで到達すること。途中で止まったページを覚えておいてください</a:t>
            </a:r>
          </a:p>
        </p:txBody>
      </p:sp>
      <p:sp>
        <p:nvSpPr>
          <p:cNvPr id="7" name="Rectangle 6"/>
          <p:cNvSpPr/>
          <p:nvPr/>
        </p:nvSpPr>
        <p:spPr>
          <a:xfrm>
            <a:off x="411480" y="3182112"/>
            <a:ext cx="4389120" cy="14173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お客様役が見るところ</a:t>
            </a:r>
          </a:p>
          <a:p>
            <a:pPr algn="l">
              <a:spcAft>
                <a:spcPts val="400"/>
              </a:spcAft>
            </a:pPr>
            <a:r>
              <a:rPr sz="1300" b="0">
                <a:solidFill>
                  <a:srgbClr val="000000"/>
                </a:solidFill>
                <a:latin typeface="HGPｺﾞｼｯｸE"/>
                <a:ea typeface="HGPｺﾞｼｯｸE"/>
              </a:rPr>
              <a:t>・自分が何回しゃべったか</a:t>
            </a:r>
          </a:p>
          <a:p>
            <a:pPr algn="l">
              <a:spcAft>
                <a:spcPts val="400"/>
              </a:spcAft>
            </a:pPr>
            <a:r>
              <a:rPr sz="1300" b="0">
                <a:solidFill>
                  <a:srgbClr val="000000"/>
                </a:solidFill>
                <a:latin typeface="HGPｺﾞｼｯｸE"/>
                <a:ea typeface="HGPｺﾞｼｯｸE"/>
              </a:rPr>
              <a:t>・「読まれている」と感じた場面</a:t>
            </a:r>
          </a:p>
          <a:p>
            <a:pPr algn="l">
              <a:spcAft>
                <a:spcPts val="500"/>
              </a:spcAft>
            </a:pPr>
            <a:r>
              <a:rPr sz="1300" b="0">
                <a:solidFill>
                  <a:srgbClr val="000000"/>
                </a:solidFill>
                <a:latin typeface="HGPｺﾞｼｯｸE"/>
                <a:ea typeface="HGPｺﾞｼｯｸE"/>
              </a:rPr>
              <a:t>・数字が多すぎて追えなくなった場面</a:t>
            </a:r>
          </a:p>
        </p:txBody>
      </p:sp>
      <p:sp>
        <p:nvSpPr>
          <p:cNvPr id="8" name="Rectangle 7"/>
          <p:cNvSpPr/>
          <p:nvPr/>
        </p:nvSpPr>
        <p:spPr>
          <a:xfrm>
            <a:off x="5120640" y="3182112"/>
            <a:ext cx="4389120" cy="1417320"/>
          </a:xfrm>
          <a:prstGeom prst="rect">
            <a:avLst/>
          </a:prstGeom>
          <a:solidFill>
            <a:srgbClr val="DEEBF7"/>
          </a:solidFill>
          <a:ln w="12700">
            <a:solidFill>
              <a:srgbClr val="4B8FC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講師が机間で見るところ</a:t>
            </a:r>
          </a:p>
          <a:p>
            <a:pPr algn="l">
              <a:spcAft>
                <a:spcPts val="400"/>
              </a:spcAft>
            </a:pPr>
            <a:r>
              <a:rPr sz="1300" b="0">
                <a:solidFill>
                  <a:srgbClr val="000000"/>
                </a:solidFill>
                <a:latin typeface="HGPｺﾞｼｯｸE"/>
                <a:ea typeface="HGPｺﾞｼｯｸE"/>
              </a:rPr>
              <a:t>・発言比率 6：4 になっているか</a:t>
            </a:r>
          </a:p>
          <a:p>
            <a:pPr algn="l">
              <a:spcAft>
                <a:spcPts val="400"/>
              </a:spcAft>
            </a:pPr>
            <a:r>
              <a:rPr sz="1300" b="0">
                <a:solidFill>
                  <a:srgbClr val="000000"/>
                </a:solidFill>
                <a:latin typeface="HGPｺﾞｼｯｸE"/>
                <a:ea typeface="HGPｺﾞｼｯｸE"/>
              </a:rPr>
              <a:t>・緑帯を言い切れているか</a:t>
            </a:r>
          </a:p>
          <a:p>
            <a:pPr algn="l">
              <a:spcAft>
                <a:spcPts val="500"/>
              </a:spcAft>
            </a:pPr>
            <a:r>
              <a:rPr sz="1300" b="0">
                <a:solidFill>
                  <a:srgbClr val="000000"/>
                </a:solidFill>
                <a:latin typeface="HGPｺﾞｼｯｸE"/>
                <a:ea typeface="HGPｺﾞｼｯｸE"/>
              </a:rPr>
              <a:t>・太陽光だけ／蓄電池だけの話になっていないか</a:t>
            </a:r>
          </a:p>
        </p:txBody>
      </p:sp>
      <p:sp>
        <p:nvSpPr>
          <p:cNvPr id="9" name="Rectangle 8"/>
          <p:cNvSpPr/>
          <p:nvPr/>
        </p:nvSpPr>
        <p:spPr>
          <a:xfrm>
            <a:off x="411480" y="4718304"/>
            <a:ext cx="9098280" cy="9144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500" b="1">
                <a:solidFill>
                  <a:srgbClr val="000000"/>
                </a:solidFill>
                <a:latin typeface="HGPｺﾞｼｯｸE"/>
                <a:ea typeface="HGPｺﾞｼｯｸE"/>
              </a:rPr>
              <a:t>フィードバックの型</a:t>
            </a:r>
          </a:p>
          <a:p>
            <a:pPr algn="l">
              <a:spcAft>
                <a:spcPts val="500"/>
              </a:spcAft>
            </a:pPr>
            <a:r>
              <a:rPr sz="1400" b="1">
                <a:solidFill>
                  <a:srgbClr val="000000"/>
                </a:solidFill>
                <a:latin typeface="HGPｺﾞｼｯｸE"/>
                <a:ea typeface="HGPｺﾞｼｯｸE"/>
              </a:rPr>
              <a:t>① 良かったページを1つ、ページ番号で言う　② 直すのは1人1つだけ　③ 人ではなくページを指摘する</a:t>
            </a:r>
          </a:p>
        </p:txBody>
      </p:sp>
      <p:sp>
        <p:nvSpPr>
          <p:cNvPr id="10" name="Rectangle 9"/>
          <p:cNvSpPr/>
          <p:nvPr/>
        </p:nvSpPr>
        <p:spPr>
          <a:xfrm>
            <a:off x="411480" y="5760720"/>
            <a:ext cx="9098280" cy="56692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止まったページが、そのまま宿題です。1本目で全部回れる人はほとんどいません</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セルフチェックシート</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ロープレのあとに記入し、できていない項目を次回までの宿題にしてください</a:t>
            </a:r>
          </a:p>
        </p:txBody>
      </p:sp>
      <p:graphicFrame>
        <p:nvGraphicFramePr>
          <p:cNvPr id="7" name="Table 6"/>
          <p:cNvGraphicFramePr>
            <a:graphicFrameLocks noGrp="1"/>
          </p:cNvGraphicFramePr>
          <p:nvPr/>
        </p:nvGraphicFramePr>
        <p:xfrm>
          <a:off x="411480" y="2103120"/>
          <a:ext cx="5806439" cy="3511296"/>
        </p:xfrm>
        <a:graphic>
          <a:graphicData uri="http://schemas.openxmlformats.org/drawingml/2006/table">
            <a:tbl>
              <a:tblPr firstRow="1">
                <a:tableStyleId>{5C22544A-7EE6-4342-B048-85BDC9FD1C3A}</a:tableStyleId>
              </a:tblPr>
              <a:tblGrid>
                <a:gridCol w="3977639"/>
                <a:gridCol w="914400"/>
                <a:gridCol w="914400"/>
              </a:tblGrid>
              <a:tr h="310896">
                <a:tc>
                  <a:txBody>
                    <a:bodyPr wrap="square"/>
                    <a:lstStyle/>
                    <a:p>
                      <a:pPr algn="ctr"/>
                      <a:r>
                        <a:rPr sz="1300" b="1">
                          <a:solidFill>
                            <a:srgbClr val="FFFFFF"/>
                          </a:solidFill>
                          <a:latin typeface="游ゴシック"/>
                          <a:ea typeface="游ゴシック"/>
                        </a:rPr>
                        <a:t>確認すること</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今日</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次回</a:t>
                      </a:r>
                    </a:p>
                  </a:txBody>
                  <a:tcPr marL="45720" marR="45720" marT="18288" marB="18288" anchor="ctr">
                    <a:solidFill>
                      <a:srgbClr val="000000"/>
                    </a:solidFill>
                  </a:tcPr>
                </a:tc>
              </a:tr>
              <a:tr h="457200">
                <a:tc>
                  <a:txBody>
                    <a:bodyPr wrap="square"/>
                    <a:lstStyle/>
                    <a:p>
                      <a:pPr algn="l"/>
                      <a:r>
                        <a:rPr sz="1300" b="0">
                          <a:solidFill>
                            <a:srgbClr val="000000"/>
                          </a:solidFill>
                          <a:latin typeface="游ゴシック"/>
                          <a:ea typeface="游ゴシック"/>
                        </a:rPr>
                        <a:t>資料を見ずに、p.9の結論一文が言えた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p.14の「1,210円 → 22,990円」が言えた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p.17でお客様の実額の列を指せた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②災害を3分以内で抜けられた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p.18・p.19を事実と第三者だけで話せた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11ページを13分で通せた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お客様の発言が4割あった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bl>
          </a:graphicData>
        </a:graphic>
      </p:graphicFrame>
      <p:sp>
        <p:nvSpPr>
          <p:cNvPr id="8" name="Rectangle 7"/>
          <p:cNvSpPr/>
          <p:nvPr/>
        </p:nvSpPr>
        <p:spPr>
          <a:xfrm>
            <a:off x="6446520" y="2103120"/>
            <a:ext cx="3063240" cy="196596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合格ライン</a:t>
            </a:r>
          </a:p>
          <a:p>
            <a:pPr algn="l">
              <a:spcAft>
                <a:spcPts val="600"/>
              </a:spcAft>
            </a:pPr>
            <a:r>
              <a:rPr sz="2600" b="1">
                <a:solidFill>
                  <a:srgbClr val="FF0000"/>
                </a:solidFill>
                <a:latin typeface="HGPｺﾞｼｯｸE"/>
                <a:ea typeface="HGPｺﾞｼｯｸE"/>
              </a:rPr>
              <a:t>7項目中 5つ</a:t>
            </a:r>
          </a:p>
          <a:p>
            <a:pPr algn="l">
              <a:spcAft>
                <a:spcPts val="200"/>
              </a:spcAft>
            </a:pPr>
            <a:r>
              <a:rPr sz="1300" b="1">
                <a:solidFill>
                  <a:srgbClr val="000000"/>
                </a:solidFill>
                <a:latin typeface="HGPｺﾞｼｯｸE"/>
                <a:ea typeface="HGPｺﾞｼｯｸE"/>
              </a:rPr>
              <a:t>うち、上から3つは必須です</a:t>
            </a:r>
          </a:p>
          <a:p>
            <a:pPr algn="l">
              <a:spcAft>
                <a:spcPts val="500"/>
              </a:spcAft>
            </a:pPr>
            <a:r>
              <a:rPr sz="1200" b="0">
                <a:solidFill>
                  <a:srgbClr val="595959"/>
                </a:solidFill>
                <a:latin typeface="HGPｺﾞｼｯｸE"/>
                <a:ea typeface="HGPｺﾞｼｯｸE"/>
              </a:rPr>
              <a:t>（p.9・p.14・p.17）</a:t>
            </a:r>
          </a:p>
        </p:txBody>
      </p:sp>
      <p:sp>
        <p:nvSpPr>
          <p:cNvPr id="9" name="Rectangle 8"/>
          <p:cNvSpPr/>
          <p:nvPr/>
        </p:nvSpPr>
        <p:spPr>
          <a:xfrm>
            <a:off x="6446520" y="4206240"/>
            <a:ext cx="3063240" cy="18836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500" b="1">
                <a:solidFill>
                  <a:srgbClr val="000000"/>
                </a:solidFill>
                <a:latin typeface="HGPｺﾞｼｯｸE"/>
                <a:ea typeface="HGPｺﾞｼｯｸE"/>
              </a:rPr>
              <a:t>次回までの宿題</a:t>
            </a:r>
          </a:p>
          <a:p>
            <a:pPr algn="l">
              <a:spcAft>
                <a:spcPts val="300"/>
              </a:spcAft>
            </a:pPr>
            <a:r>
              <a:rPr sz="1300" b="0">
                <a:solidFill>
                  <a:srgbClr val="000000"/>
                </a:solidFill>
                <a:latin typeface="HGPｺﾞｼｯｸE"/>
                <a:ea typeface="HGPｺﾞｼｯｸE"/>
              </a:rPr>
              <a:t>できなかった項目を1つ選び、</a:t>
            </a:r>
          </a:p>
          <a:p>
            <a:pPr algn="l">
              <a:spcAft>
                <a:spcPts val="300"/>
              </a:spcAft>
            </a:pPr>
            <a:r>
              <a:rPr sz="1300" b="0">
                <a:solidFill>
                  <a:srgbClr val="000000"/>
                </a:solidFill>
                <a:latin typeface="HGPｺﾞｼｯｸE"/>
                <a:ea typeface="HGPｺﾞｼｯｸE"/>
              </a:rPr>
              <a:t>そのページだけを10回、</a:t>
            </a:r>
          </a:p>
          <a:p>
            <a:pPr algn="l">
              <a:spcAft>
                <a:spcPts val="700"/>
              </a:spcAft>
            </a:pPr>
            <a:r>
              <a:rPr sz="1300" b="0">
                <a:solidFill>
                  <a:srgbClr val="000000"/>
                </a:solidFill>
                <a:latin typeface="HGPｺﾞｼｯｸE"/>
                <a:ea typeface="HGPｺﾞｼｯｸE"/>
              </a:rPr>
              <a:t>声に出して読んでください。</a:t>
            </a:r>
          </a:p>
          <a:p>
            <a:pPr algn="l">
              <a:spcAft>
                <a:spcPts val="500"/>
              </a:spcAft>
            </a:pPr>
            <a:r>
              <a:rPr sz="1300" b="1">
                <a:solidFill>
                  <a:srgbClr val="FF0000"/>
                </a:solidFill>
                <a:latin typeface="HGPｺﾞｼｯｸE"/>
                <a:ea typeface="HGPｺﾞｼｯｸE"/>
              </a:rPr>
              <a:t>翌日には50％忘れます。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98448"/>
            <a:ext cx="9098280" cy="50292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このパートで持ち帰ってほしい3つ</a:t>
            </a:r>
          </a:p>
        </p:txBody>
      </p:sp>
      <p:sp>
        <p:nvSpPr>
          <p:cNvPr id="6" name="Rectangle 5"/>
          <p:cNvSpPr/>
          <p:nvPr/>
        </p:nvSpPr>
        <p:spPr>
          <a:xfrm>
            <a:off x="411480" y="181051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1</a:t>
            </a:r>
          </a:p>
        </p:txBody>
      </p:sp>
      <p:sp>
        <p:nvSpPr>
          <p:cNvPr id="7" name="Rectangle 6"/>
          <p:cNvSpPr/>
          <p:nvPr/>
        </p:nvSpPr>
        <p:spPr>
          <a:xfrm>
            <a:off x="1170432" y="181051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資料は読むものではなく、指すもの</a:t>
            </a:r>
          </a:p>
          <a:p>
            <a:pPr algn="l">
              <a:spcAft>
                <a:spcPts val="500"/>
              </a:spcAft>
            </a:pPr>
            <a:r>
              <a:rPr sz="1400" b="0">
                <a:solidFill>
                  <a:srgbClr val="000000"/>
                </a:solidFill>
                <a:latin typeface="HGPｺﾞｼｯｸE"/>
                <a:ea typeface="HGPｺﾞｼｯｸE"/>
              </a:rPr>
              <a:t>リード文は読まない。数字は1ページ1つだけ指す。残りはお客様に聞かせない。</a:t>
            </a:r>
          </a:p>
        </p:txBody>
      </p:sp>
      <p:sp>
        <p:nvSpPr>
          <p:cNvPr id="8" name="Rectangle 7"/>
          <p:cNvSpPr/>
          <p:nvPr/>
        </p:nvSpPr>
        <p:spPr>
          <a:xfrm>
            <a:off x="411480" y="3136391"/>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2</a:t>
            </a:r>
          </a:p>
        </p:txBody>
      </p:sp>
      <p:sp>
        <p:nvSpPr>
          <p:cNvPr id="9" name="Rectangle 8"/>
          <p:cNvSpPr/>
          <p:nvPr/>
        </p:nvSpPr>
        <p:spPr>
          <a:xfrm>
            <a:off x="1170432" y="3136391"/>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緑帯の結論は、必ず声に出して言い切る</a:t>
            </a:r>
          </a:p>
          <a:p>
            <a:pPr algn="l">
              <a:spcAft>
                <a:spcPts val="500"/>
              </a:spcAft>
            </a:pPr>
            <a:r>
              <a:rPr sz="1400" b="0">
                <a:solidFill>
                  <a:srgbClr val="000000"/>
                </a:solidFill>
                <a:latin typeface="HGPｺﾞｼｯｸE"/>
                <a:ea typeface="HGPｺﾞｼｯｸE"/>
              </a:rPr>
              <a:t>11ページ分の緑帯が、そのまま必要性訴求のトークスクリプトです。</a:t>
            </a:r>
          </a:p>
        </p:txBody>
      </p:sp>
      <p:sp>
        <p:nvSpPr>
          <p:cNvPr id="10" name="Rectangle 9"/>
          <p:cNvSpPr/>
          <p:nvPr/>
        </p:nvSpPr>
        <p:spPr>
          <a:xfrm>
            <a:off x="411480" y="446227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3</a:t>
            </a:r>
          </a:p>
        </p:txBody>
      </p:sp>
      <p:sp>
        <p:nvSpPr>
          <p:cNvPr id="11" name="Rectangle 10"/>
          <p:cNvSpPr/>
          <p:nvPr/>
        </p:nvSpPr>
        <p:spPr>
          <a:xfrm>
            <a:off x="1170432" y="446227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全国平均ではなく、お客様の検針票の実額で話す</a:t>
            </a:r>
          </a:p>
          <a:p>
            <a:pPr algn="l">
              <a:spcAft>
                <a:spcPts val="500"/>
              </a:spcAft>
            </a:pPr>
            <a:r>
              <a:rPr sz="1400" b="0">
                <a:solidFill>
                  <a:srgbClr val="000000"/>
                </a:solidFill>
                <a:latin typeface="HGPｺﾞｼｯｸE"/>
                <a:ea typeface="HGPｺﾞｼｯｸE"/>
              </a:rPr>
              <a:t>最初に月額を聞く。以降の数字はすべてそこから計算し直す。</a:t>
            </a:r>
          </a:p>
        </p:txBody>
      </p:sp>
      <p:sp>
        <p:nvSpPr>
          <p:cNvPr id="12" name="Rectangle 11"/>
          <p:cNvSpPr/>
          <p:nvPr/>
        </p:nvSpPr>
        <p:spPr>
          <a:xfrm>
            <a:off x="411480" y="5815584"/>
            <a:ext cx="9098280" cy="512064"/>
          </a:xfrm>
          <a:prstGeom prst="rect">
            <a:avLst/>
          </a:prstGeom>
          <a:noFill/>
          <a:ln w="2222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次回は③経済メリット。今日ここで作った"危機感"が、その土台になります</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