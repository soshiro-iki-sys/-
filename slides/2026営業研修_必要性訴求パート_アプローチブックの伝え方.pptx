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200" r:id="rId32"/>
    <p:sldId id="1201" r:id="rId33"/>
    <p:sldId id="1202" r:id="rId34"/>
    <p:sldId id="1203" r:id="rId35"/>
    <p:sldId id="1204" r:id="rId36"/>
    <p:sldId id="1205" r:id="rId37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・営業テクニックを覚える会ではなく、アプローチブックをめくれるようになる会だと宣言する</a:t>
            </a:r>
          </a:p>
          <a:p>
            <a:r>
              <a:t>・「資料に書いてあることを読む」のではなく「資料を使って言わせる」のが目的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・「資料を読み上げる」と「資料を使って言わせる」の違いを、講師が実演して見せる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・3つとも「アプローチブックの扱い方」の話であって、話術の話ではないことを強調する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株式会社山岸様　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C0504D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>
                <a:solidFill>
                  <a:srgbClr val="FFFFFF"/>
                </a:solidFill>
                <a:latin typeface="BIZ UDPゴシック"/>
                <a:ea typeface="BIZ UDPゴシック"/>
              </a:rPr>
              <a:t>株式会社山岸　御中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BIZ UDPゴシック"/>
                <a:ea typeface="BIZ UDPゴシック"/>
              </a:rPr>
              <a:t>必要性訴求パート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BIZ UDPゴシック"/>
                <a:ea typeface="BIZ UDPゴシック"/>
              </a:rPr>
              <a:t>アプローチブックの伝え方</a:t>
            </a:r>
          </a:p>
          <a:p>
            <a:pPr algn="l"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2026年度　所要60分　株式会社船井総合研究所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このパートのゴール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0000"/>
                </a:solidFill>
                <a:latin typeface="HGPｺﾞｼｯｸE"/>
                <a:ea typeface="HGPｺﾞｼｯｸE"/>
              </a:rPr>
              <a:t>アプローチブック p.9〜p.21 を、自分の言葉でめくれるようになる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57400"/>
            <a:ext cx="9098280" cy="26974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この1時間が終わったときの「できる状態」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各ページで「何を言うか」が、資料を見なくても口から出る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各ページの「結論の一文」を、そのまま言い切れる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お客様から引き出したい反応を、質問で取りにいける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p.9からp.21まで、15分で止まらずに通せる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9834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このパートで扱うもの</a:t>
            </a:r>
          </a:p>
          <a:p>
            <a:pPr algn="ctr">
              <a:spcAft>
                <a:spcPts val="5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 p.9〜p.21　＋　シミュレーション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必要性訴求とは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必要性を訴求する3つの切り口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566928" cy="1097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783080"/>
            <a:ext cx="6537960" cy="1097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電気代が高騰している ⇒ 払わなくていい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使うページ：p.9〜p.17（7ページ）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057400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約20分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035808"/>
            <a:ext cx="566928" cy="1097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035808"/>
            <a:ext cx="6537960" cy="1097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災害対策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使うページ：p.18・p.19（2ページ）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10127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3分以内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288536"/>
            <a:ext cx="566928" cy="10972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288536"/>
            <a:ext cx="6537960" cy="10972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使うページ：p.20・p.21 ＋ シミュレーション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562856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約15分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577840"/>
            <a:ext cx="90982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このパートの基本設計は「下げてから上げる」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①②でネガティブな現状を自分事にしてもらい、③で解決策を出します。順番は入れ替えません。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アプローチブックの地図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07008"/>
            <a:ext cx="9098280" cy="34747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p.9〜p.21で、どのページで何を言うか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91640"/>
          <a:ext cx="9372600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1051560"/>
                <a:gridCol w="3246120"/>
                <a:gridCol w="37947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切り口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見せるもの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引き出す反応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①電気代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電気料金の推移（2010〜2025年）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10年で5.5万円も上がっているのですね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p.10・p.12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自由化しても下がらない／全国的な値上げ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全国的に上がっているのですね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p.11・p.13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電気代の内訳と再エネ賦課金とは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こんなものを払っていたのですね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再エネ賦課金の推移（13年で18倍）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賦課金で電気代が上がるのですね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p.15・p.16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燃料調整費の上昇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これからも上がりそうですね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生涯に支払う電気代（早見表）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30年でそんなにも払うのですね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②災害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予測が困難な地震情報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いつ災害が起こるか分からないですね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p.19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停電被害の実績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備えておいた方が安心ですね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（なし）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自社・メーカーの事例で語る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停電時も電気が使えた方が安心です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③経済メリット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p.20・p.21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自給自足への転換と、その使い方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自給自足した方が良いですね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（資料の外）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思ったより減るんですね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870448"/>
            <a:ext cx="9372600" cy="43891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太字が「必ず時間をかけるページ」。それ以外は流して構いません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伝え方の型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全ページ共通：1ページを「4ステップ」でめくる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1810512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見出しを読む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（約5秒）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ページ上部の見出しを、そのまま読み上げる。ここは変えない。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80360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2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2880360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リード文は読まない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（約15秒）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小さい文字のリード文は読み上げず、要点を自分の言葉で1文に縮めて言う。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950208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3950208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図の中の数字を1つだけ指す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（約30秒）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図の全部を説明しない。指でさして、いちばん大きい数字を1つだけ口に出す。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020056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08760" y="5020056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緑帯の結論を言い切り、質問を返す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（約20秒）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下の緑帯をそのまま言い切る。そのあと質問を投げて、お客様に言わせる。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053328"/>
            <a:ext cx="9098280" cy="384048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1ページ約70秒。13ページ通して約15分。これが「めくるだけ」の標準ペースです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①　電気代が高騰している ⇒ 払わなくていい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p.9 〜 p.17（7ページ）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約20分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「このままではまずい」と自分事で思ってもらう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・メインは p.9・p.14・p.17 の3ページ。ここに時間をかける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・残りの4ページ（p.10〜13・15・16）は流してよい。根拠の補強に使う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・いちばん最初に、お客様の検針票の実額を聞く。そこから全部の数字を置き換える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・「全国平均では」で終わらせない。必ず「〇〇様の場合は」に変換する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p.9　直近10年間、過去最高水準の電気料金になっています</a:t>
            </a:r>
          </a:p>
        </p:txBody>
      </p:sp>
      <p:pic>
        <p:nvPicPr>
          <p:cNvPr id="6" name="Picture 5" descr="ab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p.9　電気料金の推移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「10年間で5.5万円も電気代は上がっているのですね」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グラフ全体は説明せず、右端の¥180,675だけを指す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「2010年は約12万円でした。それが2025年には18万円です」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「震災を境に、15年で約5.5万円上がりました」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先に「〇〇様は月いくらですか？」と聞いてから開く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電気料金は2011年以降45％、約5.5万円も上昇している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グラフの棒を1本ずつ読み上げると、お客様は数字を追えなくなります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p.10・p.12　「自分の地域だけではない」を作る2ページ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この2ページは流して構いません。p.9の裏づけとして、20秒ずつで抜けます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66543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p.10　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「電力自由化」でも電気代は下がらなかった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15184"/>
            <a:ext cx="438912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2016年4月に電力小売が自由化され、会社を選べるようになった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単価は 2016年 21円/kWh → 2025年 32円/kWh。11円上がっている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「政府が法改正までしたのに、下がらなかったんです」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64608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制度のねらいに反して、電気代はむしろ高くなっている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066543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p.12　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電気料金が上がる理由：全国的な値上げ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615184"/>
            <a:ext cx="438912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各電力会社の値上げ幅を見せる（北陸42％・九州38％・関西29％…）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東北電力は2023年6月1日から平均25.47％の値上げ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「〇〇様の地域だけの話ではありません」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4864608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新単価を確認すると、10円以上も値上げしている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614416"/>
            <a:ext cx="9098280" cy="694944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引き出す反応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「法改正をしても電気代は上がっているのですね」／「全国的に上昇しているのですね」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p.11・p.13　「なぜ上がるのか」の答えを渡す2ページ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55648"/>
            <a:ext cx="9098280" cy="91440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p.11の計算式（この式は暗記してください）</a:t>
            </a:r>
          </a:p>
          <a:p>
            <a:pPr algn="ctr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電気料金 ＝ 基本料金 ＋ 電力量料金（単価 × 使用量 ± 燃料費調整）＋ 再エネ賦課金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16352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p.11　高騰の原因は2つの料金単価の上昇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64992"/>
            <a:ext cx="43891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3つの内訳を、上から順に指でなぞる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「量を減らしても、単価が上がれば電気代は上がる」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「請求額は見ても、内訳まで見る方はいません」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48656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毎月の支払料金は見ても、内訳まで見る人はいません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816352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p.13　再エネ賦課金とは何か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364992"/>
            <a:ext cx="43891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再エネで発電した電気を電力会社が買い取るため、消費者から集めるお金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国が定める割高な価格での買い取りが義務づけられ、その原資を負担している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「いま4.18円/kWh。使った分だけ自動で増えます」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5248656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全国民が電気代とともに再エネ賦課金を負担しています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53328"/>
            <a:ext cx="9098280" cy="38404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ここで「賦課金」という言葉を初めて出す。次のp.14がこのパートの山場です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p.14　再エネ賦課金は値上がりし続けています</a:t>
            </a:r>
          </a:p>
        </p:txBody>
      </p:sp>
      <p:pic>
        <p:nvPicPr>
          <p:cNvPr id="6" name="Picture 5" descr="ab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p.14　再エネ賦課金の推移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「再エネ賦課金が上昇することで、電気代が上昇するのですね」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左端と右端の2本だけを指す。途中の棒は説明しない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「2012年は年1,210円。2026年は22,990円です」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「13年で18倍。使った分だけ自動で増えます」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言い切ったら、必ず緑帯の一文で裏返す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裏返せば、太陽光を導入している方は続々とお得になっています！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2023年だけ下がって見えます。聞かれたら「燃料費高騰による一時的な措置」と即答する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p.15・p.16　「これからも上がる」を作る2ページ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ここは「過去」ではなく「これから」の話。時間は合わせて1分で抜けます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中東情勢の悪化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939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402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ホルムズ海峡封鎖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227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90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原油・LNGが高騰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515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978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3か月平均で算定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5803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2か月後に反映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944368"/>
            <a:ext cx="4389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p.15で言うこと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「燃料の値段は、3か月平均で計算して2か月後の請求に乗ります」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「つまり、今の値上がりはこれから請求に出てきます」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政府の電気・ガス料金支援は2026年3月使用分で終了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944368"/>
            <a:ext cx="4389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p.16で言うこと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東北電力の燃料調整単価（2026年）を見せる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2月 −13.26円 → 6月 −8.36円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「マイナス調整が5.1円減った＝1kWhあたり5.1円上がったということです」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983480"/>
            <a:ext cx="9098280" cy="56692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ホルムズ海峡封鎖は電気代高騰にも影響を及ぼします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669280"/>
            <a:ext cx="9098280" cy="658368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このページの役割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p.9〜p.14は「過去の実績」。p.15・16で初めて「これからも上がる」に変わります。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p.17　生涯に支払うことになる電気代は400万円を超えます</a:t>
            </a:r>
          </a:p>
        </p:txBody>
      </p:sp>
      <p:pic>
        <p:nvPicPr>
          <p:cNvPr id="6" name="Picture 5" descr="ab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p.17　生涯に支払う電気代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「30年間でそんなにも電気代を払わないといけないのですね」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表の全部を見せず、お客様の金額の列だけを指でなぞる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「〇〇様は月18,000円でしたね。この列です」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「1年21万円、10年216万円、30年648万円です」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ここまでが①のゴール。金額の解決策はまだ出さない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月々の電気代が2万円なら、30年間の負担額は700万円以上になります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「だから太陽光を」とすぐ言わない。ここは危機感を置いて、一度止まります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①のまとめ：7ページで言い切ること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3675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/>
                <a:gridCol w="42062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一言でいうと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言い切る数字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過去10年で上がった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45％・約5.5万円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自由化しても下がらなかった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21円 → 32円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上がる理由は単価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（計算式）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全国どこでも上がっている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北陸42％・九州38％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賦課金というものがある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4.18円/kWh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その賦課金が18倍になった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1,210円 → 22,990円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p.15・16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これからも上がる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2月比で5.1円の負担増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生涯ではこれだけ払う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30年で700万円以上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623560"/>
            <a:ext cx="9098280" cy="7315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太字の3ページ（p.9・p.14・p.17）だけは、資料を見ずに言えるようにしてください。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残り4ページは、聞かれたときに開ければ十分です。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②　災害対策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p.18・p.19（2ページ）＋ 事例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3分以内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「いつ起きてもおかしくない」と思ってもらう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・長く話すほど失敗します。商談の雰囲気が暗くなるためです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・主語は必ず「事実」と「第三者」。お客様の家族を想像させない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・2ページめくって、事例を1本話したら、すぐ次へ抜ける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・「うちの地域は災害が来ない」と言われたら、否定せず事実で包み込む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p.18　政府機関にも予測するのが困難な地震情報</a:t>
            </a:r>
          </a:p>
        </p:txBody>
      </p:sp>
      <p:pic>
        <p:nvPicPr>
          <p:cNvPr id="6" name="Picture 5" descr="ab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p.18　予測が困難な地震情報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「いつ災害が起こるか分からないですね」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表の数字は読まない。赤枠の「札幌市」だけを指す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「日本で最も権威のある地震調査委員会のデータです」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「2018年6月の発表で、札幌が全国で最下位でした」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「ところが3か月後に、胆振東部地震が起きています」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専門家ですら、いつ「もしものこと」が起きるのか分からない状況です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最後は「どこで起きるかは分からないですよね？」と質問で終える。断定で終えない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p.19　自然災害とともに停電被害はたくさん出ている</a:t>
            </a:r>
          </a:p>
        </p:txBody>
      </p:sp>
      <p:pic>
        <p:nvPicPr>
          <p:cNvPr id="6" name="Picture 5" descr="ab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p.19　自然災害と停電被害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「備えておいた方が安心ですね」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家のアイコンの数で「規模」を見せる。件数は1つだけ言う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「北海道の地震では約300万戸。日本初のブラックアウト」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「復旧まで2週間かかった地域もありました」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食料は備蓄できるが、電気だけは備蓄できないと添える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災害大国だからこそ、もしもの時には備える必要があるのです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南海トラフなど「これから」の話を膨らませない。1行触れて終わり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このあとに「ページのない1本」を挟みます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4526280" cy="17830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アプローチブックには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「備えるとどうなるか」のページがありません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印刷された一般論では「うちの場合は？」に答えられないからです。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55648"/>
            <a:ext cx="4389120" cy="17830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だから事例で話します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✕「停電しても安心ですよ」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　← 自分の意見。刺さらない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○「実際に〇〇市のA様が、台風の停電で3日間、冷蔵庫と照明を動かせたそうです」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703320"/>
          <a:ext cx="9098278" cy="1609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4519"/>
                <a:gridCol w="3246120"/>
                <a:gridCol w="397763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事例の材料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中身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URL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自社の施工事例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いちばん強い。地域が近いほど効く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Panasonic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動画＋テキストの記事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https://sumai.panasonic.jp/chikuden/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SmartStar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災害時の活用に特化した動画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https://www.smartstar.jp/voice/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623560"/>
            <a:ext cx="9098280" cy="713232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②全体で3分。時計を見て測ってください。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p.18が1分、p.19が1分、事例が1分。これを超えると、そのあとの話が入らなくなります。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③　経済メリット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p.20・p.21 ＋ シミュレーション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約15分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「自分の家ならいくら減るか」を具体的に持ち帰ってもらう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・①②で作ったネガを、ここで初めて解決策に変えます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・p.20・p.21は「仕組みの説明」。ここが曖昧だとシミュレーションが伝わりません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・シミュレーションは金額の大きさで勝とうとしない。前提条件を先に言う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・見積り（総額）はこのパートでは出しません。それは金額訴求の役割です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p.20・p.21　仕組みを説明して、シミュレーションに渡す</a:t>
            </a:r>
          </a:p>
        </p:txBody>
      </p:sp>
      <p:pic>
        <p:nvPicPr>
          <p:cNvPr id="6" name="Picture 5" descr="ab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p.21　太陽光発電・蓄電池の使い方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755648"/>
            <a:ext cx="4343400" cy="1325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p.20で言うこと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「電気代の上昇と災害。この2つへの答えが、自分で作って自分で使うことです」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結論：電気代を削減するために、自給自足が求められます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3218688"/>
            <a:ext cx="4343400" cy="19019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p.21で言うこと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図を左から順に指でなぞる：朝は買う → 昼は作って使う・貯める → 夜は貯めた電気を使う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「売電15円より、買う電気30円の方が高い。だから売らずに使うんです」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ここが曖昧だと、次のシミュレーションが伝わりません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具体的なシミュレーションを見ていきましょう！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この一文で資料を閉じ、シミュレーションを開きます。ここが切り替えの合図です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シミュレーションは「どこを読むか」だけ教える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数字が多い資料です。お客様に見せるのは2か所だけにしてください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66543"/>
            <a:ext cx="4389120" cy="365760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487168"/>
          <a:ext cx="43891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691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14,429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310128"/>
            <a:ext cx="4389120" cy="82296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9,573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319 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066543"/>
            <a:ext cx="4389120" cy="365760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FIT期間終了後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0" y="2487168"/>
          <a:ext cx="43891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691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12,686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0" y="3310128"/>
            <a:ext cx="4389120" cy="82296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11,316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377 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315968"/>
            <a:ext cx="4389120" cy="14173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✕ 見せてはいけないところ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いちばん上の「分割支払額 24,002円」を先に見せると、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そこで思考が止まります。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4315968"/>
            <a:ext cx="4389120" cy="141732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○ 見せるところ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「毎月の実質負担額」と「1日あたり」の2か所だけ。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「1日319円。缶コーヒー2本分です」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85216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1日あたりの金額まで落として、初めて判断できる数字になる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伝え方は2通り。お客様を見て選びます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37360"/>
            <a:ext cx="4389120" cy="43891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伝え方①　ローン返済額を含めたトータル金額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231136"/>
          <a:ext cx="438912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1371600"/>
                <a:gridCol w="12801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ローン中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完済後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＋ ローンの分割額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22,000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23,000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224528"/>
            <a:ext cx="438912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・長期で考えられる方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・完済後の姿に価値を感じる方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返済中は支出が増えます。隠さないこと。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737360"/>
            <a:ext cx="4389120" cy="43891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伝え方②　電気代の減収分のみ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0" y="2231136"/>
          <a:ext cx="4389120" cy="1444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1097280"/>
                <a:gridCol w="15544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金額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削減額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1年 ¥168,000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 ¥1,680,000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30年 ¥5,040,000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20640" y="4224528"/>
            <a:ext cx="438912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・現金一括で検討される方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・月々の支出が増えることに抵抗がある方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①で反応が鈍かったら②に切り替える。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623560"/>
            <a:ext cx="9098280" cy="713232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どちらも同じ事実を、別の枠組みで見せているだけです。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お客様の反応を見て、途中で切り替えて構いません。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FF0000"/>
                </a:solidFill>
                <a:latin typeface="HGPｺﾞｼｯｸE"/>
                <a:ea typeface="HGPｺﾞｼｯｸE"/>
              </a:rPr>
              <a:t>前提：シミュレーションは疑われています</a:t>
            </a:r>
          </a:p>
        </p:txBody>
      </p:sp>
      <p:pic>
        <p:nvPicPr>
          <p:cNvPr id="6" name="Picture 5" descr="sim_tru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892040" cy="2981983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46320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595959"/>
                </a:solidFill>
                <a:latin typeface="HGPｺﾞｼｯｸE"/>
                <a:ea typeface="HGPｺﾞｼｯｸE"/>
              </a:rPr>
              <a:t>出典：エネがえる運営事務局調べ（国際航業株式会社）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577840" y="1755648"/>
            <a:ext cx="3931920" cy="132588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経済効果シミュレーションの信憑性を</a:t>
            </a:r>
          </a:p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疑ったことがある人</a:t>
            </a:r>
          </a:p>
          <a:p>
            <a:pPr algn="ctr">
              <a:spcAft>
                <a:spcPts val="500"/>
              </a:spcAft>
            </a:pPr>
            <a:r>
              <a:rPr sz="3200" b="1">
                <a:solidFill>
                  <a:srgbClr val="FF0000"/>
                </a:solidFill>
                <a:latin typeface="HGPｺﾞｼｯｸE"/>
                <a:ea typeface="HGPｺﾞｼｯｸE"/>
              </a:rPr>
              <a:t>75.4 ％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3246120"/>
            <a:ext cx="39319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だから、こう伝えます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・金額の大きさで勝とうとしない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・前提条件を先に口で言う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（電気使用量・単価・設置容量）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・お客様の検針票の実額から出発する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「盛っていない」ことが伝わる方が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金額より効きます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532120"/>
            <a:ext cx="9098280" cy="7772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言い方の例</a:t>
            </a:r>
          </a:p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「この数字は、〇〇様の検針票の18,000円から計算しています。盛った数字ではありません」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このパートでは「全体の金額」を出しません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011680"/>
          <a:ext cx="9098279" cy="2468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931920"/>
                <a:gridCol w="3977639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このパート（必要性訴求）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次のパート（金額訴求）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目的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「電気代がいくら減るか」を納得してもらう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「毎月いくら払うか」を払える形にする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出す数字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削減額（月14,000円／30年504万円）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月々の支払額・概算見積・総額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使う道具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アプローチブック＋シミュレーション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シミュレーション＋概算見積＋カタログ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9098280" cy="11887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なぜ分けるのか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「いくら得か」が腹落ちしていない状態で「いくら払うか」を出すと、支払額だけが記憶に残ります。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このパートは「得の大きさ」を作りきるところまでです。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必要性訴求パートの時間配分（商談での目安）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※ 研修の時間割ではありません。お客様との商談1時間のうち、この部分に使えるのは約40分です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1783080" cy="6583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導入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21408"/>
            <a:ext cx="713232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2分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21408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検針票の実額を聞く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07791"/>
            <a:ext cx="178308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① 電気代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907791"/>
            <a:ext cx="3840480" cy="658368"/>
          </a:xfrm>
          <a:prstGeom prst="rect">
            <a:avLst/>
          </a:prstGeom>
          <a:solidFill>
            <a:srgbClr val="EAF1D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20分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07791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p.9 〜 p.17（7ページ）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94176"/>
            <a:ext cx="178308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② 災害対策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694176"/>
            <a:ext cx="896112" cy="658368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3分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94176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p.18・p.19 ＋ 事例1本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80560"/>
            <a:ext cx="17830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③ 経済メリット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4480560"/>
            <a:ext cx="2926080" cy="658368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15分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80560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p.20・p.21 ＋ シミュレーション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394960"/>
            <a:ext cx="43891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時間が押したときに削る順番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p.15・16 → p.10・p.12 → p.11・p.13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p.9・p.14・p.17・p.21 は削らない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5394960"/>
            <a:ext cx="4389120" cy="9144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いちばん多い失敗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①で30分以上かけてしまい、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③のシミュレーションが駆け足になる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めくり方のNG集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ロープレで実際に多い5つです。自分に当てはまるものに印をつけてください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03120"/>
          <a:ext cx="9098280" cy="369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3291840"/>
                <a:gridCol w="32461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✕ やりがちなこと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なぜまずいか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○ こうする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リード文を全部読み上げる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読める文字を読まれると、聞くのをやめる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要点を1文に縮めて、自分の言葉で言う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グラフの棒を端から順に説明する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数字が多すぎて、どれが重要か分からない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指でさして、数字は1ページ1つだけ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全国平均のまま話す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「うちは違う」と思われ、他人事になる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検針票の実額に置き換えて話す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緑帯を飛ばして次のページへ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結論が無いまま進むので、何も残らない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緑帯は必ず声に出して言い切る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災害の話を5分以上する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場が暗くなり、そのあとの提案が入らない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3分で抜ける。事実と第三者で話す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60720"/>
            <a:ext cx="9098280" cy="56692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共通しているのは「資料を読んでいる」状態。資料は読むものではなく、指すものです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通し練習：p.9 から、5分で行けるところまで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9098280" cy="1325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進め方（合計11分）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・2人1組。営業役とお客様役。営業役だけ1本（5分）やります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・営業役はアプローチブックを持ち、p.9を開いた状態から始めます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・お客様役は「月18,000円」という設定。最初に必ず聞かれるので答えてください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・そのあとフィードバック3分 → 役を交代してもう1本（時間があれば）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182112"/>
            <a:ext cx="4389120" cy="141732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お客様役が見るところ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・自分が何回しゃべったか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・「読まれている」と感じた場面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・数字が多すぎて追えなくなった場面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182112"/>
            <a:ext cx="4389120" cy="1417320"/>
          </a:xfrm>
          <a:prstGeom prst="rect">
            <a:avLst/>
          </a:prstGeom>
          <a:solidFill>
            <a:srgbClr val="DEEBF7"/>
          </a:solidFill>
          <a:ln w="12700">
            <a:solidFill>
              <a:srgbClr val="4B8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講師が机間で見るところ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・発言比率 6：4 になっているか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・緑帯を言い切れているか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・太陽光だけ／蓄電池だけの話になっていないか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718304"/>
            <a:ext cx="9098280" cy="9144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フィードバックの型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① 良かったページを1つ、ページ番号で言う　② 直すのは1人1つだけ　③ 人ではなくページを指摘する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760720"/>
            <a:ext cx="9098280" cy="56692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5分で13ページは回りません。回りきらなかったページが、そのまま宿題です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セルフチェックシート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ロープレのあとに記入し、できていない項目を次回までの宿題にしてください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03120"/>
          <a:ext cx="5806439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39"/>
                <a:gridCol w="91440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確認すること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今日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次回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資料を見ずに、p.9の結論一文が言えた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p.14の「1,210円 → 22,990円」が言えた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p.17でお客様の実額の列を指せた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②災害を3分以内で抜けられた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p.21で「売電15円・買電30円」を言えた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シミュレーションで前提条件を先に言えた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13ページを15分で通せた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お客様の発言が4割あった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46520" y="2103120"/>
            <a:ext cx="3063240" cy="196596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合格ライン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8項目中 6つ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うち、上から3つは必須です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（p.9・p.14・p.17）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4206240"/>
            <a:ext cx="3063240" cy="18836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次回までの宿題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できなかった項目を1つ選び、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そのページだけを10回、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声に出して読んでください。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翌日には50％忘れます。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このパートで持ち帰ってほしい3つ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65960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0432" y="1965960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資料は読むものではなく、指すもの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リード文は読まない。数字は1ページ1つだけ指す。残りはお客様に聞かせない。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37560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32" y="3337560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緑帯の結論は、必ず声に出して言い切る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13ページ分の緑帯が、そのまま必要性訴求のトークスクリプトです。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709160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" y="4709160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全国平均ではなく、お客様の検針票の実額で話す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最初に月額を聞く。以降の数字はすべてそこから計算し直す。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760720"/>
            <a:ext cx="9098280" cy="566928"/>
          </a:xfrm>
          <a:prstGeom prst="rect">
            <a:avLst/>
          </a:prstGeom>
          <a:noFill/>
          <a:ln w="222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次のパートは「時期訴求・金額訴求」。ここで作った"得の大きさ"が土台になります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