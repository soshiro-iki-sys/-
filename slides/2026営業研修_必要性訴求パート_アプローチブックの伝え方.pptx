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3.jpg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0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702" r:id="rId2"/>
  </p:sldMasterIdLst>
  <p:notesMasterIdLst>
    <p:notesMasterId r:id="rId74"/>
  </p:notesMasterIdLst>
  <p:handoutMasterIdLst>
    <p:handoutMasterId r:id="rId75"/>
  </p:handoutMasterIdLst>
  <p:sldIdLst>
    <p:sldId id="344" r:id="rId3"/>
    <p:sldId id="1179" r:id="rId11"/>
    <p:sldId id="1180" r:id="rId12"/>
    <p:sldId id="1181" r:id="rId13"/>
    <p:sldId id="1182" r:id="rId14"/>
    <p:sldId id="1183" r:id="rId15"/>
    <p:sldId id="1184" r:id="rId16"/>
    <p:sldId id="1185" r:id="rId17"/>
    <p:sldId id="1186" r:id="rId18"/>
    <p:sldId id="1187" r:id="rId19"/>
    <p:sldId id="1188" r:id="rId20"/>
    <p:sldId id="1189" r:id="rId21"/>
    <p:sldId id="1190" r:id="rId22"/>
    <p:sldId id="1191" r:id="rId23"/>
    <p:sldId id="1192" r:id="rId24"/>
    <p:sldId id="1193" r:id="rId25"/>
    <p:sldId id="1194" r:id="rId26"/>
    <p:sldId id="1195" r:id="rId27"/>
    <p:sldId id="1196" r:id="rId28"/>
    <p:sldId id="1197" r:id="rId29"/>
    <p:sldId id="1198" r:id="rId30"/>
    <p:sldId id="1199" r:id="rId31"/>
    <p:sldId id="1200" r:id="rId32"/>
    <p:sldId id="1201" r:id="rId33"/>
    <p:sldId id="1202" r:id="rId34"/>
    <p:sldId id="1203" r:id="rId35"/>
    <p:sldId id="1204" r:id="rId36"/>
    <p:sldId id="1205" r:id="rId37"/>
    <p:sldId id="1206" r:id="rId38"/>
    <p:sldId id="1178" r:id="rId73"/>
  </p:sldIdLst>
  <p:sldSz cx="9906000" cy="6858000" type="A4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DE1"/>
    <a:srgbClr val="362A2A"/>
    <a:srgbClr val="9BBB59"/>
    <a:srgbClr val="FB43D4"/>
    <a:srgbClr val="E85504"/>
    <a:srgbClr val="0066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83" autoAdjust="0"/>
    <p:restoredTop sz="96343" autoAdjust="0"/>
  </p:normalViewPr>
  <p:slideViewPr>
    <p:cSldViewPr showGuides="1">
      <p:cViewPr varScale="1">
        <p:scale>
          <a:sx n="82" d="100"/>
          <a:sy n="82" d="100"/>
        </p:scale>
        <p:origin x="1694" y="72"/>
      </p:cViewPr>
      <p:guideLst>
        <p:guide orient="horz" pos="845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01" d="100"/>
          <a:sy n="101" d="100"/>
        </p:scale>
        <p:origin x="3246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73" Type="http://schemas.openxmlformats.org/officeDocument/2006/relationships/slide" Target="slides/slide900.xml"/><Relationship Id="rId74" Type="http://schemas.openxmlformats.org/officeDocument/2006/relationships/notesMaster" Target="notesMasters/notesMaster1.xml"/><Relationship Id="rId75" Type="http://schemas.openxmlformats.org/officeDocument/2006/relationships/handoutMaster" Target="handoutMasters/handout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18830" cy="495029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4" y="2"/>
            <a:ext cx="2918830" cy="495029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r">
              <a:defRPr sz="1200"/>
            </a:lvl1pPr>
          </a:lstStyle>
          <a:p>
            <a:fld id="{695728E3-876B-4768-9AB0-7D988C1247DF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2" y="9371288"/>
            <a:ext cx="2918830" cy="495028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4" y="9371288"/>
            <a:ext cx="2918830" cy="495028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r">
              <a:defRPr sz="1200"/>
            </a:lvl1pPr>
          </a:lstStyle>
          <a:p>
            <a:fld id="{E00352D2-49C1-4968-AB3E-0C456C91C2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3722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r">
              <a:defRPr sz="1200"/>
            </a:lvl1pPr>
          </a:lstStyle>
          <a:p>
            <a:fld id="{A8D18B60-6E12-48B8-B760-06957378EDAD}" type="datetimeFigureOut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48" tIns="47425" rIns="94848" bIns="47425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3578" y="4686501"/>
            <a:ext cx="5388610" cy="4439841"/>
          </a:xfrm>
          <a:prstGeom prst="rect">
            <a:avLst/>
          </a:prstGeom>
        </p:spPr>
        <p:txBody>
          <a:bodyPr vert="horz" lIns="94848" tIns="47425" rIns="94848" bIns="47425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2" y="9371285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15374" y="9371285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r">
              <a:defRPr sz="1200"/>
            </a:lvl1pPr>
          </a:lstStyle>
          <a:p>
            <a:fld id="{B76C3785-4774-4B27-AA13-6B236C476115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6C3785-4774-4B27-AA13-6B236C476115}" type="slidenum">
              <a:rPr kumimoji="1" lang="ja-JP" altLang="en-US" smtClean="0"/>
              <a:pPr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2633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・冒頭で「今日は話し方の研修ではなく、アプローチブックのめくり方の研修です」と宣言する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・営業テクニックを覚える会ではなく、アプローチブックをめくれるようになる会だと宣言する</a:t>
            </a:r>
          </a:p>
          <a:p>
            <a:r>
              <a:t>・「資料に書いてあることを読む」のではなく「資料を使って言わせる」のが目的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・「資料を読み上げる」と「資料を使って言わせる」の違いを、講師が実演して見せる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・3つとも「アプローチブックの扱い方」の話であって、話術の話ではないことを強調する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DEDC6-F80D-48C2-B138-00A27E7F2E65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4A63-54DC-4F0A-84AB-53668F1114D2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4A45F-A8A8-4DDE-B673-AED63056AB36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F025A-80F9-47C5-83D6-D2A5A3B97719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BD1E-31C5-4520-B82E-04337BC9ED08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DA76A-BB70-46AD-B592-B57DADC28816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97B68-78AE-4B40-9B77-32E3BBE4C65E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1A2F7-89F4-4CBB-9F6E-BD9D54E64EE6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CFBB6-5FCD-4CD1-A658-5A106B94C497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7A81-3346-464B-A479-530443E8B95D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2015-3E19-41F4-BCCA-3D5A7443FCC4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768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2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6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097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5"/>
            <a:ext cx="4206531" cy="223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853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853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853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4"/>
            <a:ext cx="2228850" cy="365125"/>
          </a:xfrm>
        </p:spPr>
        <p:txBody>
          <a:bodyPr/>
          <a:lstStyle>
            <a:lvl1pPr>
              <a:defRPr sz="975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6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2" cy="605918"/>
          </a:xfrm>
        </p:spPr>
        <p:txBody>
          <a:bodyPr>
            <a:noAutofit/>
          </a:bodyPr>
          <a:lstStyle>
            <a:lvl1pPr algn="ctr">
              <a:defRPr sz="2925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8" y="-3521490"/>
            <a:ext cx="11734664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2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4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8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4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9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70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70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70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70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タイトル（目次と対応させてください。）</a:t>
            </a:r>
            <a:endParaRPr kumimoji="1" lang="en-US" altLang="ja-JP" sz="1097" dirty="0"/>
          </a:p>
          <a:p>
            <a:pPr algn="ctr"/>
            <a:r>
              <a:rPr kumimoji="1" lang="ja-JP" altLang="en-US" sz="1097" dirty="0"/>
              <a:t>フォント：メイリオ見出し</a:t>
            </a:r>
            <a:endParaRPr kumimoji="1" lang="en-US" altLang="ja-JP" sz="1097" dirty="0"/>
          </a:p>
          <a:p>
            <a:pPr algn="ctr"/>
            <a:r>
              <a:rPr lang="ja-JP" altLang="en-US" sz="1097" dirty="0"/>
              <a:t>サイズ：</a:t>
            </a:r>
            <a:r>
              <a:rPr lang="en-US" altLang="ja-JP" sz="1097" dirty="0"/>
              <a:t>48</a:t>
            </a:r>
          </a:p>
          <a:p>
            <a:pPr algn="ctr"/>
            <a:r>
              <a:rPr lang="ja-JP" altLang="en-US" sz="1097" dirty="0"/>
              <a:t>ボールド</a:t>
            </a:r>
            <a:endParaRPr lang="en-US" altLang="ja-JP" sz="1097" dirty="0"/>
          </a:p>
          <a:p>
            <a:pPr algn="ctr"/>
            <a:r>
              <a:rPr lang="ja-JP" altLang="en-US" sz="1097" dirty="0"/>
              <a:t>真ん中寄せ</a:t>
            </a:r>
            <a:endParaRPr kumimoji="1" lang="en-US" altLang="ja-JP" sz="1097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0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小見出し</a:t>
            </a:r>
            <a:endParaRPr kumimoji="1" lang="en-US" altLang="ja-JP" sz="1097" dirty="0"/>
          </a:p>
          <a:p>
            <a:pPr algn="ctr"/>
            <a:r>
              <a:rPr kumimoji="1" lang="ja-JP" altLang="en-US" sz="1097" dirty="0"/>
              <a:t>フォント：メイリオ本文</a:t>
            </a:r>
            <a:endParaRPr kumimoji="1" lang="en-US" altLang="ja-JP" sz="1097" dirty="0"/>
          </a:p>
          <a:p>
            <a:pPr algn="ctr"/>
            <a:r>
              <a:rPr lang="ja-JP" altLang="en-US" sz="1097" dirty="0"/>
              <a:t>サイズ：</a:t>
            </a:r>
            <a:r>
              <a:rPr lang="en-US" altLang="ja-JP" sz="1097" dirty="0"/>
              <a:t>32</a:t>
            </a:r>
          </a:p>
          <a:p>
            <a:pPr algn="ctr"/>
            <a:r>
              <a:rPr lang="ja-JP" altLang="en-US" sz="1097" dirty="0"/>
              <a:t>ボールド</a:t>
            </a:r>
            <a:endParaRPr lang="en-US" altLang="ja-JP" sz="1097" dirty="0"/>
          </a:p>
          <a:p>
            <a:pPr algn="ctr"/>
            <a:r>
              <a:rPr kumimoji="1" lang="ja-JP" altLang="en-US" sz="1097" dirty="0"/>
              <a:t>左寄せ</a:t>
            </a:r>
            <a:endParaRPr kumimoji="1" lang="en-US" altLang="ja-JP" sz="1097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0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本文</a:t>
            </a:r>
            <a:endParaRPr kumimoji="1" lang="en-US" altLang="ja-JP" sz="1097" dirty="0"/>
          </a:p>
          <a:p>
            <a:pPr algn="ctr"/>
            <a:r>
              <a:rPr kumimoji="1" lang="ja-JP" altLang="en-US" sz="1097" dirty="0"/>
              <a:t>フォント：メイリオ本文</a:t>
            </a:r>
            <a:endParaRPr kumimoji="1" lang="en-US" altLang="ja-JP" sz="1097" dirty="0"/>
          </a:p>
          <a:p>
            <a:pPr algn="ctr"/>
            <a:r>
              <a:rPr lang="ja-JP" altLang="en-US" sz="1097" dirty="0"/>
              <a:t>サイズ：</a:t>
            </a:r>
            <a:r>
              <a:rPr lang="en-US" altLang="ja-JP" sz="1097" dirty="0"/>
              <a:t>18</a:t>
            </a:r>
          </a:p>
          <a:p>
            <a:pPr algn="ctr"/>
            <a:r>
              <a:rPr kumimoji="1" lang="ja-JP" altLang="en-US" sz="1097" dirty="0"/>
              <a:t>左寄せ</a:t>
            </a:r>
            <a:endParaRPr kumimoji="1" lang="en-US" altLang="ja-JP" sz="1097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70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76209500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84438440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63855536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91745856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4846923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43734206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2173626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40315447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1834291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1114061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9192423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82875826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15744121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42167933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26300916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97072234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22503225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7873026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07982605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57752799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65757162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1737084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9467632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7827395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5174241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6451614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1173428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46275752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1582251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57635899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04416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52193495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522076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98557532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54557753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7133986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</p:spTree>
    <p:extLst>
      <p:ext uri="{BB962C8B-B14F-4D97-AF65-F5344CB8AC3E}">
        <p14:creationId xmlns:p14="http://schemas.microsoft.com/office/powerpoint/2010/main" val="389747795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65194846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21340339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06490185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 userDrawn="1"/>
        </p:nvSpPr>
        <p:spPr>
          <a:xfrm>
            <a:off x="34397" y="6634602"/>
            <a:ext cx="3240360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l" defTabSz="74295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65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Copyright </a:t>
            </a:r>
            <a:r>
              <a:rPr lang="ja-JP" altLang="en-US" sz="65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65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Funai Consulting Inc.</a:t>
            </a:r>
            <a:r>
              <a:rPr lang="ja-JP" altLang="en-US" sz="650" baseline="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650" baseline="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All Rights Reserved.</a:t>
            </a:r>
            <a:endParaRPr kumimoji="1" lang="ja-JP" altLang="en-US" sz="650" kern="1200" dirty="0">
              <a:solidFill>
                <a:schemeClr val="tx1"/>
              </a:solidFill>
              <a:latin typeface="Lucida Calligraphy" pitchFamily="66" charset="0"/>
              <a:ea typeface="Arial Unicode MS" pitchFamily="50" charset="-128"/>
              <a:cs typeface="Arial Unicode MS" pitchFamily="50" charset="-128"/>
            </a:endParaRP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3797300" y="6592269"/>
            <a:ext cx="2311400" cy="365125"/>
          </a:xfrm>
          <a:prstGeom prst="rect">
            <a:avLst/>
          </a:prstGeom>
        </p:spPr>
        <p:txBody>
          <a:bodyPr vert="horz" lIns="74295" tIns="37148" rIns="74295" bIns="37148" rtlCol="0" anchor="ctr"/>
          <a:lstStyle>
            <a:lvl1pPr algn="ctr">
              <a:defRPr sz="900">
                <a:solidFill>
                  <a:schemeClr val="bg1"/>
                </a:solidFill>
                <a:latin typeface="HGSｺﾞｼｯｸM" pitchFamily="50" charset="-128"/>
                <a:ea typeface="HGSｺﾞｼｯｸM" pitchFamily="50" charset="-128"/>
              </a:defRPr>
            </a:lvl1pPr>
          </a:lstStyle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82566-0BE5-4691-A89E-B3D89F8502D1}" type="slidenum">
              <a:rPr kumimoji="1" lang="ja-JP" altLang="en-US" sz="731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731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2" name="タイトル 1"/>
          <p:cNvSpPr>
            <a:spLocks noGrp="1"/>
          </p:cNvSpPr>
          <p:nvPr>
            <p:ph type="ctrTitle"/>
          </p:nvPr>
        </p:nvSpPr>
        <p:spPr>
          <a:xfrm>
            <a:off x="-2" y="8468"/>
            <a:ext cx="8949798" cy="620688"/>
          </a:xfrm>
        </p:spPr>
        <p:txBody>
          <a:bodyPr>
            <a:normAutofit/>
          </a:bodyPr>
          <a:lstStyle>
            <a:lvl1pPr>
              <a:defRPr sz="26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pic>
        <p:nvPicPr>
          <p:cNvPr id="8" name="Picture 1" descr="C:\Users\F2034\Pictures\6.会社データ(ロゴ・サイン）\パターンC(タグ無し）\パターンC(タグ無し）カラー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87351" y="68626"/>
            <a:ext cx="979838" cy="504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510598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9067-D5A7-4D20-AE49-915E5BDB9F4F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8E823636-1305-4F53-9866-547E7D8CE7E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38150" y="3403600"/>
            <a:ext cx="8979346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図 6" descr="パターンA_カラー.jpg">
            <a:extLst>
              <a:ext uri="{FF2B5EF4-FFF2-40B4-BE49-F238E27FC236}">
                <a16:creationId xmlns:a16="http://schemas.microsoft.com/office/drawing/2014/main" id="{3DBCC9CD-6C0C-47EC-80E8-87633DBE3D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193360" y="6453336"/>
            <a:ext cx="1512168" cy="263485"/>
          </a:xfrm>
          <a:prstGeom prst="rect">
            <a:avLst/>
          </a:prstGeom>
        </p:spPr>
      </p:pic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4AFCC08E-3E46-4DAF-AB38-B8819EC7D9A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04528" y="2564904"/>
            <a:ext cx="5545138" cy="719138"/>
          </a:xfrm>
        </p:spPr>
        <p:txBody>
          <a:bodyPr>
            <a:noAutofit/>
          </a:bodyPr>
          <a:lstStyle>
            <a:lvl1pPr marL="0" indent="0">
              <a:buNone/>
              <a:defRPr sz="4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〇月度お打合せ資料</a:t>
            </a:r>
          </a:p>
        </p:txBody>
      </p:sp>
      <p:sp>
        <p:nvSpPr>
          <p:cNvPr id="10" name="コンテンツ プレースホルダー 8">
            <a:extLst>
              <a:ext uri="{FF2B5EF4-FFF2-40B4-BE49-F238E27FC236}">
                <a16:creationId xmlns:a16="http://schemas.microsoft.com/office/drawing/2014/main" id="{28B2D2FF-C2AA-40BF-9A54-68583069E68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04528" y="2085777"/>
            <a:ext cx="5545138" cy="719138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株式会社御中</a:t>
            </a:r>
          </a:p>
        </p:txBody>
      </p:sp>
      <p:sp>
        <p:nvSpPr>
          <p:cNvPr id="11" name="コンテンツ プレースホルダー 8">
            <a:extLst>
              <a:ext uri="{FF2B5EF4-FFF2-40B4-BE49-F238E27FC236}">
                <a16:creationId xmlns:a16="http://schemas.microsoft.com/office/drawing/2014/main" id="{ECF04A37-370B-4768-A875-EF9C667848E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36976" y="3433465"/>
            <a:ext cx="5545138" cy="719138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日付</a:t>
            </a:r>
          </a:p>
        </p:txBody>
      </p:sp>
    </p:spTree>
    <p:extLst>
      <p:ext uri="{BB962C8B-B14F-4D97-AF65-F5344CB8AC3E}">
        <p14:creationId xmlns:p14="http://schemas.microsoft.com/office/powerpoint/2010/main" val="149912360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アジェン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AEF3C9B-15A5-4754-B97A-474B280C6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9477-32A0-4799-AD80-C098563D5CC0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D5602E-9916-437E-9C25-C8047E09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B43BD0A-BD54-4DF0-A3BE-6D3FA31F9069}"/>
              </a:ext>
            </a:extLst>
          </p:cNvPr>
          <p:cNvSpPr txBox="1"/>
          <p:nvPr userDrawn="1"/>
        </p:nvSpPr>
        <p:spPr>
          <a:xfrm>
            <a:off x="-15552" y="44624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50" charset="-128"/>
              </a:rPr>
              <a:t>本日のお打合せ内容</a:t>
            </a:r>
            <a:endParaRPr kumimoji="1" lang="ja-JP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1EA3A4F-1EF2-4A9E-BD1F-DE9A3E01A425}"/>
              </a:ext>
            </a:extLst>
          </p:cNvPr>
          <p:cNvSpPr/>
          <p:nvPr userDrawn="1"/>
        </p:nvSpPr>
        <p:spPr>
          <a:xfrm>
            <a:off x="69725" y="666126"/>
            <a:ext cx="2592000" cy="29237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お打合せ事項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7B66B0E-B525-4135-A640-3C5077DFBABA}"/>
              </a:ext>
            </a:extLst>
          </p:cNvPr>
          <p:cNvSpPr/>
          <p:nvPr userDrawn="1"/>
        </p:nvSpPr>
        <p:spPr>
          <a:xfrm>
            <a:off x="72749" y="3911838"/>
            <a:ext cx="2592000" cy="29237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次回お打合せ日程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0CE6683-2EEC-4A4B-B2A1-E385C7062BF3}"/>
              </a:ext>
            </a:extLst>
          </p:cNvPr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" descr="C:\Users\F2034\Pictures\6.会社データ(ロゴ・サイン）\パターンC(タグ無し）\パターンC(タグ無し）カラー.png">
            <a:extLst>
              <a:ext uri="{FF2B5EF4-FFF2-40B4-BE49-F238E27FC236}">
                <a16:creationId xmlns:a16="http://schemas.microsoft.com/office/drawing/2014/main" id="{8872FC31-1813-49E9-8E6B-E9B5CED7B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41432" y="68626"/>
            <a:ext cx="979838" cy="504000"/>
          </a:xfrm>
          <a:prstGeom prst="rect">
            <a:avLst/>
          </a:prstGeom>
          <a:noFill/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C1EA9E4-A15B-418D-B69C-E609A5DDD9EC}"/>
              </a:ext>
            </a:extLst>
          </p:cNvPr>
          <p:cNvSpPr/>
          <p:nvPr userDrawn="1"/>
        </p:nvSpPr>
        <p:spPr>
          <a:xfrm>
            <a:off x="0" y="6678000"/>
            <a:ext cx="9906000" cy="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78DDC5E-044B-4C3D-BEA8-24AF979B3258}"/>
              </a:ext>
            </a:extLst>
          </p:cNvPr>
          <p:cNvSpPr txBox="1"/>
          <p:nvPr userDrawn="1"/>
        </p:nvSpPr>
        <p:spPr>
          <a:xfrm>
            <a:off x="6609184" y="6649964"/>
            <a:ext cx="3240360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r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Copyright</a:t>
            </a:r>
            <a:r>
              <a:rPr lang="ja-JP" altLang="en-US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Funai Consulting Inc.</a:t>
            </a:r>
            <a:r>
              <a:rPr lang="ja-JP" altLang="en-US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All Rights Reserved.</a:t>
            </a:r>
            <a:endParaRPr kumimoji="1" lang="ja-JP" altLang="en-US" sz="800" kern="1200" dirty="0">
              <a:solidFill>
                <a:schemeClr val="bg1"/>
              </a:solidFill>
              <a:latin typeface="Lucida Calligraphy" pitchFamily="66" charset="0"/>
              <a:ea typeface="Arial Unicode MS" pitchFamily="50" charset="-128"/>
              <a:cs typeface="Arial Unicode MS" pitchFamily="50" charset="-128"/>
            </a:endParaRPr>
          </a:p>
        </p:txBody>
      </p:sp>
      <p:sp>
        <p:nvSpPr>
          <p:cNvPr id="15" name="スライド番号プレースホルダ 5">
            <a:extLst>
              <a:ext uri="{FF2B5EF4-FFF2-40B4-BE49-F238E27FC236}">
                <a16:creationId xmlns:a16="http://schemas.microsoft.com/office/drawing/2014/main" id="{52F86702-B75D-40EF-96B7-30E910044692}"/>
              </a:ext>
            </a:extLst>
          </p:cNvPr>
          <p:cNvSpPr txBox="1">
            <a:spLocks/>
          </p:cNvSpPr>
          <p:nvPr userDrawn="1"/>
        </p:nvSpPr>
        <p:spPr>
          <a:xfrm>
            <a:off x="3797300" y="659226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  <a:latin typeface="HGSｺﾞｼｯｸM" pitchFamily="50" charset="-128"/>
                <a:ea typeface="HGSｺﾞｼｯｸM" pitchFamily="50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82566-0BE5-4691-A89E-B3D89F8502D1}" type="slidenum">
              <a:rPr kumimoji="1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SｺﾞｼｯｸM" pitchFamily="50" charset="-128"/>
                <a:ea typeface="HGSｺﾞｼｯｸM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SｺﾞｼｯｸM" pitchFamily="50" charset="-128"/>
              <a:ea typeface="HGSｺﾞｼｯｸM" pitchFamily="50" charset="-128"/>
              <a:cs typeface="+mn-cs"/>
            </a:endParaRPr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8C66AEEA-90B1-4FF5-983E-12E09DD675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9500" y="1129818"/>
            <a:ext cx="5505450" cy="1792288"/>
          </a:xfrm>
        </p:spPr>
        <p:txBody>
          <a:bodyPr>
            <a:normAutofit/>
          </a:bodyPr>
          <a:lstStyle>
            <a:lvl1pPr marL="0" indent="0">
              <a:buFont typeface="+mj-ea"/>
              <a:buNone/>
              <a:defRPr sz="2400" b="1"/>
            </a:lvl1pPr>
          </a:lstStyle>
          <a:p>
            <a:pPr lvl="0"/>
            <a:r>
              <a:rPr kumimoji="1" lang="ja-JP" altLang="en-US" dirty="0"/>
              <a:t>①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②</a:t>
            </a:r>
            <a:endParaRPr kumimoji="1" lang="en-US" altLang="ja-JP" dirty="0"/>
          </a:p>
        </p:txBody>
      </p:sp>
      <p:sp>
        <p:nvSpPr>
          <p:cNvPr id="20" name="テキスト プレースホルダー 16">
            <a:extLst>
              <a:ext uri="{FF2B5EF4-FFF2-40B4-BE49-F238E27FC236}">
                <a16:creationId xmlns:a16="http://schemas.microsoft.com/office/drawing/2014/main" id="{347F4DAF-2DE1-4CC8-9835-4DFC642B51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500" y="4374514"/>
            <a:ext cx="5505450" cy="1792288"/>
          </a:xfrm>
        </p:spPr>
        <p:txBody>
          <a:bodyPr>
            <a:normAutofit/>
          </a:bodyPr>
          <a:lstStyle>
            <a:lvl1pPr marL="0" indent="0">
              <a:buFont typeface="+mj-ea"/>
              <a:buNone/>
              <a:defRPr sz="1800" b="1"/>
            </a:lvl1pPr>
          </a:lstStyle>
          <a:p>
            <a:pPr lvl="0"/>
            <a:r>
              <a:rPr kumimoji="1" lang="en-US" altLang="ja-JP" dirty="0"/>
              <a:t>2024</a:t>
            </a:r>
            <a:r>
              <a:rPr kumimoji="1" lang="ja-JP" altLang="en-US" dirty="0"/>
              <a:t>年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961619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3600E18-DBF4-4DED-A3E8-EBDE8D9EA3B5}"/>
              </a:ext>
            </a:extLst>
          </p:cNvPr>
          <p:cNvSpPr/>
          <p:nvPr userDrawn="1"/>
        </p:nvSpPr>
        <p:spPr bwMode="auto">
          <a:xfrm>
            <a:off x="272480" y="332656"/>
            <a:ext cx="9454650" cy="62646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2">
                <a:lumMod val="75000"/>
              </a:schemeClr>
            </a:solidFill>
            <a:miter lim="800000"/>
            <a:headEnd/>
            <a:tailEnd/>
          </a:ln>
        </p:spPr>
        <p:txBody>
          <a:bodyPr wrap="none" rtlCol="0" anchor="t"/>
          <a:lstStyle/>
          <a:p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2"/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   </a:t>
            </a:r>
          </a:p>
          <a:p>
            <a:pPr lvl="2"/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4EF40AA-2D98-4C1A-9B75-77B4B1EC2A46}"/>
              </a:ext>
            </a:extLst>
          </p:cNvPr>
          <p:cNvSpPr/>
          <p:nvPr userDrawn="1"/>
        </p:nvSpPr>
        <p:spPr bwMode="auto">
          <a:xfrm>
            <a:off x="128464" y="188640"/>
            <a:ext cx="2592288" cy="432048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決定事項</a:t>
            </a:r>
          </a:p>
        </p:txBody>
      </p:sp>
    </p:spTree>
    <p:extLst>
      <p:ext uri="{BB962C8B-B14F-4D97-AF65-F5344CB8AC3E}">
        <p14:creationId xmlns:p14="http://schemas.microsoft.com/office/powerpoint/2010/main" val="2542922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アジェン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0CE6683-2EEC-4A4B-B2A1-E385C7062BF3}"/>
              </a:ext>
            </a:extLst>
          </p:cNvPr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" descr="C:\Users\F2034\Pictures\6.会社データ(ロゴ・サイン）\パターンC(タグ無し）\パターンC(タグ無し）カラー.png">
            <a:extLst>
              <a:ext uri="{FF2B5EF4-FFF2-40B4-BE49-F238E27FC236}">
                <a16:creationId xmlns:a16="http://schemas.microsoft.com/office/drawing/2014/main" id="{8872FC31-1813-49E9-8E6B-E9B5CED7B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41432" y="68626"/>
            <a:ext cx="979838" cy="504000"/>
          </a:xfrm>
          <a:prstGeom prst="rect">
            <a:avLst/>
          </a:prstGeom>
          <a:noFill/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C1EA9E4-A15B-418D-B69C-E609A5DDD9EC}"/>
              </a:ext>
            </a:extLst>
          </p:cNvPr>
          <p:cNvSpPr/>
          <p:nvPr userDrawn="1"/>
        </p:nvSpPr>
        <p:spPr>
          <a:xfrm>
            <a:off x="0" y="6678000"/>
            <a:ext cx="9906000" cy="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78DDC5E-044B-4C3D-BEA8-24AF979B3258}"/>
              </a:ext>
            </a:extLst>
          </p:cNvPr>
          <p:cNvSpPr txBox="1"/>
          <p:nvPr userDrawn="1"/>
        </p:nvSpPr>
        <p:spPr>
          <a:xfrm>
            <a:off x="6609184" y="6649964"/>
            <a:ext cx="3240360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r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Copyright</a:t>
            </a:r>
            <a:r>
              <a:rPr lang="ja-JP" altLang="en-US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Funai Consulting Inc.</a:t>
            </a:r>
            <a:r>
              <a:rPr lang="ja-JP" altLang="en-US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All Rights Reserved.</a:t>
            </a:r>
            <a:endParaRPr kumimoji="1" lang="ja-JP" altLang="en-US" sz="800" kern="1200" dirty="0">
              <a:solidFill>
                <a:schemeClr val="bg1"/>
              </a:solidFill>
              <a:latin typeface="Lucida Calligraphy" pitchFamily="66" charset="0"/>
              <a:ea typeface="Arial Unicode MS" pitchFamily="50" charset="-128"/>
              <a:cs typeface="Arial Unicode MS" pitchFamily="50" charset="-128"/>
            </a:endParaRPr>
          </a:p>
        </p:txBody>
      </p:sp>
      <p:sp>
        <p:nvSpPr>
          <p:cNvPr id="15" name="スライド番号プレースホルダ 5">
            <a:extLst>
              <a:ext uri="{FF2B5EF4-FFF2-40B4-BE49-F238E27FC236}">
                <a16:creationId xmlns:a16="http://schemas.microsoft.com/office/drawing/2014/main" id="{52F86702-B75D-40EF-96B7-30E910044692}"/>
              </a:ext>
            </a:extLst>
          </p:cNvPr>
          <p:cNvSpPr txBox="1">
            <a:spLocks/>
          </p:cNvSpPr>
          <p:nvPr userDrawn="1"/>
        </p:nvSpPr>
        <p:spPr>
          <a:xfrm>
            <a:off x="3797300" y="659226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  <a:latin typeface="HGSｺﾞｼｯｸM" pitchFamily="50" charset="-128"/>
                <a:ea typeface="HGSｺﾞｼｯｸM" pitchFamily="50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82566-0BE5-4691-A89E-B3D89F8502D1}" type="slidenum">
              <a:rPr kumimoji="1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SｺﾞｼｯｸM" pitchFamily="50" charset="-128"/>
                <a:ea typeface="HGSｺﾞｼｯｸM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SｺﾞｼｯｸM" pitchFamily="50" charset="-128"/>
              <a:ea typeface="HGSｺﾞｼｯｸM" pitchFamily="50" charset="-128"/>
              <a:cs typeface="+mn-cs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4B55609-F8C4-4A71-A410-286691A672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0472" y="68627"/>
            <a:ext cx="3960812" cy="552062"/>
          </a:xfr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9062224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EC131-7E93-4E21-A3A0-1A53928AA2CA}" type="datetime1">
              <a:rPr kumimoji="1" lang="ja-JP" altLang="en-US" smtClean="0"/>
              <a:t>2026/5/20</a:t>
            </a:fld>
            <a:endParaRPr kumimoji="1"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538144" y="6491969"/>
            <a:ext cx="2311400" cy="365125"/>
          </a:xfrm>
        </p:spPr>
        <p:txBody>
          <a:bodyPr/>
          <a:lstStyle/>
          <a:p>
            <a:fld id="{619B85A0-BB21-4C42-9028-BB80073B34CD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718939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/>
        </p:nvSpPr>
        <p:spPr>
          <a:xfrm>
            <a:off x="0" y="6642000"/>
            <a:ext cx="9906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2DF90-A6ED-4A10-B24A-8E192E896765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7594600" y="656743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23687FF-647B-4F7E-A20E-637EB01FA9DF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0" y="0"/>
            <a:ext cx="9906000" cy="5486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0" y="271681"/>
            <a:ext cx="338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200" b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株式会社山岸様　住宅用太陽光・蓄電池研修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59477-32A0-4799-AD80-C098563D5CC0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8" name="Text Box 16"/>
          <p:cNvSpPr txBox="1">
            <a:spLocks noChangeArrowheads="1"/>
          </p:cNvSpPr>
          <p:nvPr userDrawn="1"/>
        </p:nvSpPr>
        <p:spPr bwMode="auto">
          <a:xfrm>
            <a:off x="6048044" y="6677175"/>
            <a:ext cx="3934883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ja-JP" sz="900" dirty="0">
                <a:ea typeface="ＭＳ Ｐゴシック" pitchFamily="50" charset="-128"/>
              </a:rPr>
              <a:t>Copyright</a:t>
            </a:r>
            <a:r>
              <a:rPr lang="ja-JP" altLang="en-US" sz="900" dirty="0">
                <a:ea typeface="ＭＳ Ｐゴシック" pitchFamily="50" charset="-128"/>
              </a:rPr>
              <a:t>　</a:t>
            </a:r>
            <a:r>
              <a:rPr lang="en-US" altLang="ja-JP" sz="900" dirty="0" err="1">
                <a:ea typeface="ＭＳ Ｐゴシック" pitchFamily="50" charset="-128"/>
              </a:rPr>
              <a:t>Funai</a:t>
            </a:r>
            <a:r>
              <a:rPr lang="en-US" altLang="ja-JP" sz="900" dirty="0">
                <a:ea typeface="ＭＳ Ｐゴシック" pitchFamily="50" charset="-128"/>
              </a:rPr>
              <a:t> Consulting Co.ltd</a:t>
            </a:r>
            <a:r>
              <a:rPr lang="ja-JP" altLang="en-US" sz="900" dirty="0">
                <a:ea typeface="ＭＳ Ｐゴシック" pitchFamily="50" charset="-128"/>
              </a:rPr>
              <a:t>　　禁転載・禁複写</a:t>
            </a: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3797300" y="660290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51D2E0-CC30-4DAC-88BB-E6AB37505372}" type="slidenum">
              <a:rPr kumimoji="1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682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4C9A310-3AB5-49FE-B1F9-2C427DCC18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6" t="1834" r="3141" b="3667"/>
          <a:stretch/>
        </p:blipFill>
        <p:spPr>
          <a:xfrm>
            <a:off x="-15552" y="-27384"/>
            <a:ext cx="9921552" cy="6888954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50DF95E-7A9A-442E-9966-946D2B47649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C0504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CD832A5-E759-420F-B835-DF29A241CBFB}"/>
              </a:ext>
            </a:extLst>
          </p:cNvPr>
          <p:cNvSpPr txBox="1"/>
          <p:nvPr/>
        </p:nvSpPr>
        <p:spPr>
          <a:xfrm>
            <a:off x="288032" y="1988840"/>
            <a:ext cx="9619052" cy="29238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BIZ UDPゴシック"/>
                <a:ea typeface="BIZ UDPゴシック"/>
              </a:rPr>
              <a:t>株式会社山岸　御中</a:t>
            </a:r>
            <a:endParaRPr lang="en-US" altLang="ja-JP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BIZ UDPゴシック"/>
                <a:ea typeface="BIZ UDPゴシック"/>
              </a:rPr>
              <a:t>必要性訴求パート</a:t>
            </a:r>
          </a:p>
          <a:p>
            <a:pPr algn="l"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BIZ UDPゴシック"/>
                <a:ea typeface="BIZ UDPゴシック"/>
              </a:rPr>
              <a:t>アプローチブックの伝え方</a:t>
            </a:r>
          </a:p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BIZ UDPゴシック"/>
                <a:ea typeface="BIZ UDPゴシック"/>
              </a:rPr>
              <a:t>〜太陽光＋蓄電池セット販売〜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71E207B-1CE8-4FD8-B86D-32251E1C4C12}"/>
              </a:ext>
            </a:extLst>
          </p:cNvPr>
          <p:cNvSpPr txBox="1"/>
          <p:nvPr/>
        </p:nvSpPr>
        <p:spPr>
          <a:xfrm>
            <a:off x="4664968" y="4471938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BIZ UDPゴシック"/>
                <a:ea typeface="BIZ UDPゴシック"/>
              </a:rPr>
              <a:t>2026年度　所要60分　株式会社船井総合研究所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B7CC725-B595-4742-A8BF-D882BB45AE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388" y="5736453"/>
            <a:ext cx="2309225" cy="47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79866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本日の進め方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00000"/>
                </a:solidFill>
                <a:latin typeface="HGPｺﾞｼｯｸE"/>
                <a:ea typeface="HGPｺﾞｼｯｸE"/>
              </a:rPr>
              <a:t>60分間の進め方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83080"/>
          <a:ext cx="9098280" cy="30540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4114800"/>
                <a:gridCol w="2606040"/>
                <a:gridCol w="14630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時間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内容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ページ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スライド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5分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オリエンテーション（ゴール・地図・伝え方の型）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P3〜P6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18分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 電気代が高騰している ⇒ 払わなくていい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p.9〜p.17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P7〜P14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6分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② 災害対策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p.18・p.19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P15〜P18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15分</a:t>
                      </a:r>
                    </a:p>
                  </a:txBody>
                  <a:tcPr marL="45720" marR="45720" marT="18288" marB="18288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③ 経済メリット（＋シミュレーション）</a:t>
                      </a:r>
                    </a:p>
                  </a:txBody>
                  <a:tcPr marL="45720" marR="45720" marT="18288" marB="18288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p.20・p.21</a:t>
                      </a:r>
                    </a:p>
                  </a:txBody>
                  <a:tcPr marL="45720" marR="45720" marT="18288" marB="18288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P19〜P24</a:t>
                      </a:r>
                    </a:p>
                  </a:txBody>
                  <a:tcPr marL="45720" marR="45720" marT="18288" marB="18288" anchor="ctr">
                    <a:solidFill>
                      <a:srgbClr val="DEEB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11分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通し練習（ペアロープレ）とセルフチェック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p.9〜p.21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P25〜P28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5分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まとめ・質疑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P29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5074920"/>
            <a:ext cx="438912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持ち物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・アプローチブック（1人1冊）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・直近の検針票（自宅のもので構いません）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5074920"/>
            <a:ext cx="4389120" cy="123444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この1時間でやらないこと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・話法やクロージングの練習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・金額（見積・総額）の出し方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このパートのゴール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98448"/>
            <a:ext cx="905256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0000"/>
                </a:solidFill>
                <a:latin typeface="HGPｺﾞｼｯｸE"/>
                <a:ea typeface="HGPｺﾞｼｯｸE"/>
              </a:rPr>
              <a:t>アプローチブック p.9〜p.21 を、自分の言葉でめくれるようになる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057400"/>
            <a:ext cx="9098280" cy="269748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この1時間が終わったときの「できる状態」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HGPｺﾞｼｯｸE"/>
                <a:ea typeface="HGPｺﾞｼｯｸE"/>
              </a:rPr>
              <a:t>①　各ページで「何を言うか」が、資料を見なくても口から出る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HGPｺﾞｼｯｸE"/>
                <a:ea typeface="HGPｺﾞｼｯｸE"/>
              </a:rPr>
              <a:t>②　各ページの「結論の一文」を、そのまま言い切れる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HGPｺﾞｼｯｸE"/>
                <a:ea typeface="HGPｺﾞｼｯｸE"/>
              </a:rPr>
              <a:t>③　お客様から引き出したい反応を、質問で取りにいける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000000"/>
                </a:solidFill>
                <a:latin typeface="HGPｺﾞｼｯｸE"/>
                <a:ea typeface="HGPｺﾞｼｯｸE"/>
              </a:rPr>
              <a:t>④　p.9からp.21まで、15分で止まらずに通せる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983480"/>
            <a:ext cx="9098280" cy="96012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595959"/>
                </a:solidFill>
                <a:latin typeface="HGPｺﾞｼｯｸE"/>
                <a:ea typeface="HGPｺﾞｼｯｸE"/>
              </a:rPr>
              <a:t>このパートで扱うもの</a:t>
            </a:r>
          </a:p>
          <a:p>
            <a:pPr algn="ctr">
              <a:spcAft>
                <a:spcPts val="500"/>
              </a:spcAft>
            </a:pPr>
            <a:r>
              <a:rPr sz="2100" b="1">
                <a:solidFill>
                  <a:srgbClr val="000000"/>
                </a:solidFill>
                <a:latin typeface="HGPｺﾞｼｯｸE"/>
                <a:ea typeface="HGPｺﾞｼｯｸE"/>
              </a:rPr>
              <a:t>アプローチブック p.9〜p.21　＋　シミュレーション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必要性訴求とは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00000"/>
                </a:solidFill>
                <a:latin typeface="HGPｺﾞｼｯｸE"/>
                <a:ea typeface="HGPｺﾞｼｯｸE"/>
              </a:rPr>
              <a:t>必要性を訴求する3つの切り口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83080"/>
            <a:ext cx="566928" cy="109728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600" b="1">
                <a:solidFill>
                  <a:srgbClr val="000000"/>
                </a:solidFill>
                <a:latin typeface="HGPｺﾞｼｯｸE"/>
                <a:ea typeface="HGPｺﾞｼｯｸE"/>
              </a:rPr>
              <a:t>①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783080"/>
            <a:ext cx="6537960" cy="109728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000000"/>
                </a:solidFill>
                <a:latin typeface="HGPｺﾞｼｯｸE"/>
                <a:ea typeface="HGPｺﾞｼｯｸE"/>
              </a:rPr>
              <a:t>電気代が高騰している ⇒ 払わなくていい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使うページ：p.9〜p.17（7ページ）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057400"/>
            <a:ext cx="1737360" cy="54864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HGPｺﾞｼｯｸE"/>
                <a:ea typeface="HGPｺﾞｼｯｸE"/>
              </a:rPr>
              <a:t>約20分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035808"/>
            <a:ext cx="566928" cy="10972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600" b="1">
                <a:solidFill>
                  <a:srgbClr val="000000"/>
                </a:solidFill>
                <a:latin typeface="HGPｺﾞｼｯｸE"/>
                <a:ea typeface="HGPｺﾞｼｯｸE"/>
              </a:rPr>
              <a:t>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035808"/>
            <a:ext cx="6537960" cy="10972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000000"/>
                </a:solidFill>
                <a:latin typeface="HGPｺﾞｼｯｸE"/>
                <a:ea typeface="HGPｺﾞｼｯｸE"/>
              </a:rPr>
              <a:t>災害対策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使うページ：p.18・p.19（2ページ）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310127"/>
            <a:ext cx="1737360" cy="54864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HGPｺﾞｼｯｸE"/>
                <a:ea typeface="HGPｺﾞｼｯｸE"/>
              </a:rPr>
              <a:t>3分以内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288536"/>
            <a:ext cx="566928" cy="109728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600" b="1">
                <a:solidFill>
                  <a:srgbClr val="000000"/>
                </a:solidFill>
                <a:latin typeface="HGPｺﾞｼｯｸE"/>
                <a:ea typeface="HGPｺﾞｼｯｸE"/>
              </a:rPr>
              <a:t>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288536"/>
            <a:ext cx="6537960" cy="109728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000000"/>
                </a:solidFill>
                <a:latin typeface="HGPｺﾞｼｯｸE"/>
                <a:ea typeface="HGPｺﾞｼｯｸE"/>
              </a:rPr>
              <a:t>経済メリット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使うページ：p.20・p.21 ＋ シミュレーション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562856"/>
            <a:ext cx="1737360" cy="54864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HGPｺﾞｼｯｸE"/>
                <a:ea typeface="HGPｺﾞｼｯｸE"/>
              </a:rPr>
              <a:t>約15分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577840"/>
            <a:ext cx="9098280" cy="731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0000"/>
                </a:solidFill>
                <a:latin typeface="HGPｺﾞｼｯｸE"/>
                <a:ea typeface="HGPｺﾞｼｯｸE"/>
              </a:rPr>
              <a:t>このパートの基本設計は「下げてから上げる」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①②でネガティブな現状を自分事にしてもらい、③で解決策を出します。順番は入れ替えません。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アプローチブックの地図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07008"/>
            <a:ext cx="9098280" cy="34747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00000"/>
                </a:solidFill>
                <a:latin typeface="HGPｺﾞｼｯｸE"/>
                <a:ea typeface="HGPｺﾞｼｯｸE"/>
              </a:rPr>
              <a:t>p.9〜p.21で、どのページで何を言うか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691640"/>
          <a:ext cx="9372600" cy="4114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/>
                <a:gridCol w="1051560"/>
                <a:gridCol w="3246120"/>
                <a:gridCol w="379476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切り口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ページ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見せるもの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引き出す反応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①電気代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p.9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電気料金の推移（2010〜2025年）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10年で5.5万円も上がっているのですね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p.10・p.12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自由化しても下がらない／全国的な値上げ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全国的に上がっているのですね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p.11・p.13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電気代の内訳と再エネ賦課金とは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こんなものを払っていたのですね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p.14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再エネ賦課金の推移（13年で18倍）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賦課金で電気代が上がるのですね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p.15・p.16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燃料調整費の上昇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これからも上がりそうですね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p.17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生涯に支払う電気代（早見表）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30年でそんなにも払うのですね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②災害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p.18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予測が困難な地震情報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いつ災害が起こるか分からないですね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p.19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停電被害の実績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備えておいた方が安心ですね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（なし）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自社・メーカーの事例で語る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停電時も電気が使えた方が安心です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③経済メリット</a:t>
                      </a:r>
                    </a:p>
                  </a:txBody>
                  <a:tcPr marL="45720" marR="45720" marT="18288" marB="18288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p.20・p.21</a:t>
                      </a:r>
                    </a:p>
                  </a:txBody>
                  <a:tcPr marL="45720" marR="45720" marT="18288" marB="18288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自給自足への転換と、その使い方</a:t>
                      </a:r>
                    </a:p>
                  </a:txBody>
                  <a:tcPr marL="45720" marR="45720" marT="18288" marB="18288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自給自足した方が良いですね</a:t>
                      </a:r>
                    </a:p>
                  </a:txBody>
                  <a:tcPr marL="45720" marR="45720" marT="18288" marB="18288" anchor="ctr">
                    <a:solidFill>
                      <a:srgbClr val="DEEB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（資料の外）</a:t>
                      </a:r>
                    </a:p>
                  </a:txBody>
                  <a:tcPr marL="45720" marR="45720" marT="18288" marB="18288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シミュレーション</a:t>
                      </a:r>
                    </a:p>
                  </a:txBody>
                  <a:tcPr marL="45720" marR="45720" marT="18288" marB="18288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思ったより減るんですね</a:t>
                      </a:r>
                    </a:p>
                  </a:txBody>
                  <a:tcPr marL="45720" marR="45720" marT="18288" marB="18288"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5870448"/>
            <a:ext cx="9372600" cy="438912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太字が「必ず時間をかけるページ」。それ以外は流して構いません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伝え方の型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全ページ共通：1ページを「4ステップ」でめくる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10512"/>
            <a:ext cx="1005840" cy="9601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1810512"/>
            <a:ext cx="800100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見出しを読む</a:t>
            </a:r>
            <a:r>
              <a:rPr sz="1300" b="0">
                <a:solidFill>
                  <a:srgbClr val="595959"/>
                </a:solidFill>
                <a:latin typeface="HGPｺﾞｼｯｸE"/>
                <a:ea typeface="HGPｺﾞｼｯｸE"/>
              </a:rPr>
              <a:t>　（約5秒）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ページ上部の見出しを、そのまま読み上げる。ここは変えない。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880360"/>
            <a:ext cx="1005840" cy="9601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STEP 2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2880360"/>
            <a:ext cx="800100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リード文は読まない</a:t>
            </a:r>
            <a:r>
              <a:rPr sz="1300" b="0">
                <a:solidFill>
                  <a:srgbClr val="595959"/>
                </a:solidFill>
                <a:latin typeface="HGPｺﾞｼｯｸE"/>
                <a:ea typeface="HGPｺﾞｼｯｸE"/>
              </a:rPr>
              <a:t>　（約15秒）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小さい文字のリード文は読み上げず、要点を自分の言葉で1文に縮めて言う。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950208"/>
            <a:ext cx="1005840" cy="9601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STEP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3950208"/>
            <a:ext cx="800100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図の中の数字を1つだけ指す</a:t>
            </a:r>
            <a:r>
              <a:rPr sz="1300" b="0">
                <a:solidFill>
                  <a:srgbClr val="595959"/>
                </a:solidFill>
                <a:latin typeface="HGPｺﾞｼｯｸE"/>
                <a:ea typeface="HGPｺﾞｼｯｸE"/>
              </a:rPr>
              <a:t>　（約30秒）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図の全部を説明しない。指でさして、いちばん大きい数字を1つだけ口に出す。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020056"/>
            <a:ext cx="1005840" cy="9601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STEP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5020056"/>
            <a:ext cx="800100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緑帯の結論を言い切り、質問を返す</a:t>
            </a:r>
            <a:r>
              <a:rPr sz="1300" b="0">
                <a:solidFill>
                  <a:srgbClr val="595959"/>
                </a:solidFill>
                <a:latin typeface="HGPｺﾞｼｯｸE"/>
                <a:ea typeface="HGPｺﾞｼｯｸE"/>
              </a:rPr>
              <a:t>　（約20秒）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下の緑帯をそのまま言い切る。そのあと質問を投げて、お客様に言わせる。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6053328"/>
            <a:ext cx="9098280" cy="384048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1ページ約70秒。13ページ通して約15分。これが「めくるだけ」の標準ペースです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① 電気代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9098280" cy="5029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000000"/>
                </a:solidFill>
                <a:latin typeface="HGPｺﾞｼｯｸE"/>
                <a:ea typeface="HGPｺﾞｼｯｸE"/>
              </a:rPr>
              <a:t>①　電気代が高騰している ⇒ 払わなくていい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011680"/>
            <a:ext cx="4526280" cy="11887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使うページ</a:t>
            </a:r>
          </a:p>
          <a:p>
            <a:pPr algn="l"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HGPｺﾞｼｯｸE"/>
                <a:ea typeface="HGPｺﾞｼｯｸE"/>
              </a:rPr>
              <a:t>p.9 〜 p.17（7ページ）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2011680"/>
            <a:ext cx="4389120" cy="11887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かける時間</a:t>
            </a:r>
          </a:p>
          <a:p>
            <a:pPr algn="l"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HGPｺﾞｼｯｸE"/>
                <a:ea typeface="HGPｺﾞｼｯｸE"/>
              </a:rPr>
              <a:t>約20分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383280"/>
            <a:ext cx="9098280" cy="96012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この切り口のゴール</a:t>
            </a:r>
          </a:p>
          <a:p>
            <a:pPr algn="ctr">
              <a:spcAft>
                <a:spcPts val="500"/>
              </a:spcAft>
            </a:pPr>
            <a:r>
              <a:rPr sz="2000" b="1">
                <a:solidFill>
                  <a:srgbClr val="FF0000"/>
                </a:solidFill>
                <a:latin typeface="HGPｺﾞｼｯｸE"/>
                <a:ea typeface="HGPｺﾞｼｯｸE"/>
              </a:rPr>
              <a:t>「このままではまずい」と自分事で思ってもらう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572000"/>
            <a:ext cx="9098280" cy="1691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めくるときのポイント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・メインは p.9・p.14・p.17 の3ページ。ここに時間をかける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・残りの4ページ（p.10〜13・15・16）は流してよい。根拠の補強に使う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・いちばん最初に、お客様の検針票の実額を聞く。そこから全部の数字を置き換える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・「全国平均では」で終わらせない。必ず「〇〇様の場合は」に変換する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① 電気代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p.9　直近10年間、過去最高水準の電気料金になっています</a:t>
            </a:r>
          </a:p>
        </p:txBody>
      </p:sp>
      <p:pic>
        <p:nvPicPr>
          <p:cNvPr id="6" name="Picture 5" descr="ab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5648"/>
            <a:ext cx="4434840" cy="3069416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882896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アプローチブック p.9　電気料金の推移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755648"/>
            <a:ext cx="4343400" cy="102412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070C0"/>
                </a:solidFill>
                <a:latin typeface="HGPｺﾞｼｯｸE"/>
                <a:ea typeface="HGPｺﾞｼｯｸE"/>
              </a:rPr>
              <a:t>引き出す反応（お客様の台詞）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「10年間で5.5万円も電気代は上がっているのですね」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2926080"/>
            <a:ext cx="434340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このページで言うこと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グラフ全体は説明せず、右端の¥180,675だけを指す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「2010年は約12万円でした。それが2025年には18万円です」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「震災を境に、15年で約5.5万円上がりました」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先に「〇〇様は月いくらですか？」と聞いてから開く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303520"/>
            <a:ext cx="909828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緑帯の結論（そのまま言い切る）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電気料金は2011年以降45％、約5.5万円も上昇している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925312"/>
            <a:ext cx="9098280" cy="45720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注意　</a:t>
            </a: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グラフの棒を1本ずつ読み上げると、お客様は数字を追えなくなります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① 電気代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p.10・p.12　「自分の地域だけではない」を作る2ページ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00784"/>
            <a:ext cx="9098280" cy="29260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この2ページは流して構いません。p.9の裏づけとして、20秒ずつで抜けます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66543"/>
            <a:ext cx="4389120" cy="45720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0000"/>
                </a:solidFill>
                <a:latin typeface="HGPｺﾞｼｯｸE"/>
                <a:ea typeface="HGPｺﾞｼｯｸE"/>
              </a:rPr>
              <a:t>p.10　</a:t>
            </a: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「電力自由化」でも電気代は下がらなかった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615184"/>
            <a:ext cx="4389120" cy="2148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このページで言うこと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2016年4月に電力小売が自由化され、会社を選べるようになった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単価は 2016年 21円/kWh → 2025年 32円/kWh。11円上がっている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「政府が法改正までしたのに、下がらなかったんです」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864608"/>
            <a:ext cx="4389120" cy="658368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制度のねらいに反して、電気代はむしろ高くなっている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2066543"/>
            <a:ext cx="4389120" cy="45720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0000"/>
                </a:solidFill>
                <a:latin typeface="HGPｺﾞｼｯｸE"/>
                <a:ea typeface="HGPｺﾞｼｯｸE"/>
              </a:rPr>
              <a:t>p.12　</a:t>
            </a: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電気料金が上がる理由：全国的な値上げ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615184"/>
            <a:ext cx="4389120" cy="2148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このページで言うこと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各電力会社の値上げ幅を見せる（北陸42％・九州38％・関西29％…）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東北電力は2023年6月1日から平均25.47％の値上げ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「〇〇様の地域だけの話ではありません」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4864608"/>
            <a:ext cx="4389120" cy="658368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新単価を確認すると、10円以上も値上げしている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614416"/>
            <a:ext cx="9098280" cy="694944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引き出す反応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「法改正をしても電気代は上がっているのですね」／「全国的に上昇しているのですね」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① 電気代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p.11・p.13　「なぜ上がるのか」の答えを渡す2ページ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55648"/>
            <a:ext cx="909828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0C0"/>
                </a:solidFill>
                <a:latin typeface="HGPｺﾞｼｯｸE"/>
                <a:ea typeface="HGPｺﾞｼｯｸE"/>
              </a:rPr>
              <a:t>p.11の計算式（この式は暗記してください）</a:t>
            </a:r>
          </a:p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電気料金 ＝ 基本料金 ＋ 電力量料金（単価 × 使用量 ± 燃料費調整）＋ 再エネ賦課金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816352"/>
            <a:ext cx="4389120" cy="45720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p.11　高騰の原因は2つの料金単価の上昇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364992"/>
            <a:ext cx="4389120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3つの内訳を、上から順に指でなぞる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「量を減らしても、単価が上がれば電気代は上がる」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「請求額は見ても、内訳まで見る方はいません」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5248656"/>
            <a:ext cx="4389120" cy="658368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毎月の支払料金は見ても、内訳まで見る人はいません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2816352"/>
            <a:ext cx="4389120" cy="45720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p.13　再エネ賦課金とは何か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3364992"/>
            <a:ext cx="4389120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再エネで発電した電気を電力会社が買い取るため、消費者から集めるお金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国が定める割高な価格での買い取りが義務づけられ、その原資を負担している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「いま4.18円/kWh。使った分だけ自動で増えます」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5248656"/>
            <a:ext cx="4389120" cy="658368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全国民が電気代とともに再エネ賦課金を負担しています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053328"/>
            <a:ext cx="9098280" cy="384048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ここで「賦課金」という言葉を初めて出す。次のp.14がこのパートの山場です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① 電気代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p.14　再エネ賦課金は値上がりし続けています</a:t>
            </a:r>
          </a:p>
        </p:txBody>
      </p:sp>
      <p:pic>
        <p:nvPicPr>
          <p:cNvPr id="6" name="Picture 5" descr="ab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5648"/>
            <a:ext cx="4434840" cy="3069416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882896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アプローチブック p.14　再エネ賦課金の推移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755648"/>
            <a:ext cx="4343400" cy="102412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070C0"/>
                </a:solidFill>
                <a:latin typeface="HGPｺﾞｼｯｸE"/>
                <a:ea typeface="HGPｺﾞｼｯｸE"/>
              </a:rPr>
              <a:t>引き出す反応（お客様の台詞）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「再エネ賦課金が上昇することで、電気代が上昇するのですね」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2926080"/>
            <a:ext cx="434340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このページで言うこと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左端と右端の2本だけを指す。途中の棒は説明しない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「2012年は年1,210円。2026年は22,990円です」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「13年で18倍。使った分だけ自動で増えます」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言い切ったら、必ず緑帯の一文で裏返す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303520"/>
            <a:ext cx="909828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緑帯の結論（そのまま言い切る）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裏返せば、太陽光を導入している方は続々とお得になっています！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925312"/>
            <a:ext cx="9098280" cy="45720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注意　</a:t>
            </a: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2023年だけ下がって見えます。聞かれたら「燃料費高騰による一時的な措置」と即答する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① 電気代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p.15・p.16　「これからも上がる」を作る2ページ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00784"/>
            <a:ext cx="9098280" cy="29260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ここは「過去」ではなく「これから」の話。時間は合わせて1分で抜けます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84831"/>
            <a:ext cx="1645920" cy="658368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  <a:latin typeface="HGPｺﾞｼｯｸE"/>
                <a:ea typeface="HGPｺﾞｼｯｸE"/>
              </a:rPr>
              <a:t>中東情勢の悪化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93976" y="2304288"/>
            <a:ext cx="109728" cy="219456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40280" y="2084831"/>
            <a:ext cx="1645920" cy="658368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  <a:latin typeface="HGPｺﾞｼｯｸE"/>
                <a:ea typeface="HGPｺﾞｼｯｸE"/>
              </a:rPr>
              <a:t>ホルムズ海峡封鎖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22776" y="2304288"/>
            <a:ext cx="109728" cy="219456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9080" y="2084831"/>
            <a:ext cx="1645920" cy="658368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  <a:latin typeface="HGPｺﾞｼｯｸE"/>
                <a:ea typeface="HGPｺﾞｼｯｸE"/>
              </a:rPr>
              <a:t>原油・LNGが高騰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51576" y="2304288"/>
            <a:ext cx="109728" cy="219456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2084831"/>
            <a:ext cx="1645920" cy="658368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  <a:latin typeface="HGPｺﾞｼｯｸE"/>
                <a:ea typeface="HGPｺﾞｼｯｸE"/>
              </a:rPr>
              <a:t>3か月平均で算定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580376" y="2304288"/>
            <a:ext cx="109728" cy="219456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2084831"/>
            <a:ext cx="1645920" cy="658368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  <a:latin typeface="HGPｺﾞｼｯｸE"/>
                <a:ea typeface="HGPｺﾞｼｯｸE"/>
              </a:rPr>
              <a:t>2か月後に反映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944368"/>
            <a:ext cx="4389120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595959"/>
                </a:solidFill>
                <a:latin typeface="HGPｺﾞｼｯｸE"/>
                <a:ea typeface="HGPｺﾞｼｯｸE"/>
              </a:rPr>
              <a:t>p.15で言うこと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「燃料の値段は、3か月平均で計算して2か月後の請求に乗ります」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「つまり、今の値上がりはこれから請求に出てきます」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政府の電気・ガス料金支援は2026年3月使用分で終了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2944368"/>
            <a:ext cx="4389120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595959"/>
                </a:solidFill>
                <a:latin typeface="HGPｺﾞｼｯｸE"/>
                <a:ea typeface="HGPｺﾞｼｯｸE"/>
              </a:rPr>
              <a:t>p.16で言うこと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東北電力の燃料調整単価（2026年）を見せる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2月 −13.26円 → 6月 −8.36円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「マイナス調整が5.1円減った＝1kWhあたり5.1円上がったということです」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983480"/>
            <a:ext cx="9098280" cy="566928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緑帯の結論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ホルムズ海峡封鎖は電気代高騰にも影響を及ぼします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669280"/>
            <a:ext cx="9098280" cy="658368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このページの役割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p.9〜p.14は「過去の実績」。p.15・16で初めて「これからも上がる」に変わります。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① 電気代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p.17　生涯に支払うことになる電気代は400万円を超えます</a:t>
            </a:r>
          </a:p>
        </p:txBody>
      </p:sp>
      <p:pic>
        <p:nvPicPr>
          <p:cNvPr id="6" name="Picture 5" descr="ab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5648"/>
            <a:ext cx="4434840" cy="3069416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882896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アプローチブック p.17　生涯に支払う電気代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755648"/>
            <a:ext cx="4343400" cy="102412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070C0"/>
                </a:solidFill>
                <a:latin typeface="HGPｺﾞｼｯｸE"/>
                <a:ea typeface="HGPｺﾞｼｯｸE"/>
              </a:rPr>
              <a:t>引き出す反応（お客様の台詞）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「30年間でそんなにも電気代を払わないといけないのですね」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2926080"/>
            <a:ext cx="434340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このページで言うこと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表の全部を見せず、お客様の金額の列だけを指でなぞる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「〇〇様は月18,000円でしたね。この列です」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「1年21万円、10年216万円、30年648万円です」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ここまでが①のゴール。金額の解決策はまだ出さない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303520"/>
            <a:ext cx="909828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緑帯の結論（そのまま言い切る）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月々の電気代が2万円なら、30年間の負担額は700万円以上になります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925312"/>
            <a:ext cx="9098280" cy="45720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注意　</a:t>
            </a: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「だから太陽光を」とすぐ言わない。ここは危機感を置いて、一度止まります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① 電気代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①のまとめ：7ページで言い切ること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83080"/>
          <a:ext cx="9098280" cy="3675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4440"/>
                <a:gridCol w="4206240"/>
                <a:gridCol w="36576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ページ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一言でいうと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言い切る数字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p.9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過去10年で上がった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45％・約5.5万円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自由化しても下がらなかった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21円 → 32円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上がる理由は単価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（計算式）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全国どこでも上がっている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北陸42％・九州38％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p.13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賦課金というものがある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4.18円/kWh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その賦課金が18倍になった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1,210円 → 22,990円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p.15・16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これからも上がる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2月比で5.1円の負担増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p.17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生涯ではこれだけ払う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30年で700万円以上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5623560"/>
            <a:ext cx="9098280" cy="7315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太字の3ページ（p.9・p.14・p.17）だけは、資料を見ずに言えるようにしてください。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残り4ページは、聞かれたときに開ければ十分です。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② 災害対策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9098280" cy="5029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000000"/>
                </a:solidFill>
                <a:latin typeface="HGPｺﾞｼｯｸE"/>
                <a:ea typeface="HGPｺﾞｼｯｸE"/>
              </a:rPr>
              <a:t>②　災害対策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011680"/>
            <a:ext cx="4526280" cy="118872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使うページ</a:t>
            </a:r>
          </a:p>
          <a:p>
            <a:pPr algn="l"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HGPｺﾞｼｯｸE"/>
                <a:ea typeface="HGPｺﾞｼｯｸE"/>
              </a:rPr>
              <a:t>p.18・p.19（2ページ）＋ 事例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2011680"/>
            <a:ext cx="4389120" cy="118872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かける時間</a:t>
            </a:r>
          </a:p>
          <a:p>
            <a:pPr algn="l"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HGPｺﾞｼｯｸE"/>
                <a:ea typeface="HGPｺﾞｼｯｸE"/>
              </a:rPr>
              <a:t>3分以内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383280"/>
            <a:ext cx="9098280" cy="96012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この切り口のゴール</a:t>
            </a:r>
          </a:p>
          <a:p>
            <a:pPr algn="ctr">
              <a:spcAft>
                <a:spcPts val="500"/>
              </a:spcAft>
            </a:pPr>
            <a:r>
              <a:rPr sz="2000" b="1">
                <a:solidFill>
                  <a:srgbClr val="FF0000"/>
                </a:solidFill>
                <a:latin typeface="HGPｺﾞｼｯｸE"/>
                <a:ea typeface="HGPｺﾞｼｯｸE"/>
              </a:rPr>
              <a:t>「いつ起きてもおかしくない」と思ってもらう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572000"/>
            <a:ext cx="9098280" cy="1691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めくるときのポイント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・長く話すほど失敗します。商談の雰囲気が暗くなるためです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・主語は必ず「事実」と「第三者」。お客様の家族を想像させない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・2ページめくって、事例を1本話したら、すぐ次へ抜ける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・「うちの地域は災害が来ない」と言われたら、否定せず事実で包み込む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② 災害対策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p.18　政府機関にも予測するのが困難な地震情報</a:t>
            </a:r>
          </a:p>
        </p:txBody>
      </p:sp>
      <p:pic>
        <p:nvPicPr>
          <p:cNvPr id="6" name="Picture 5" descr="ab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5648"/>
            <a:ext cx="4434840" cy="3069416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882896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アプローチブック p.18　予測が困難な地震情報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755648"/>
            <a:ext cx="4343400" cy="102412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070C0"/>
                </a:solidFill>
                <a:latin typeface="HGPｺﾞｼｯｸE"/>
                <a:ea typeface="HGPｺﾞｼｯｸE"/>
              </a:rPr>
              <a:t>引き出す反応（お客様の台詞）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「いつ災害が起こるか分からないですね」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2926080"/>
            <a:ext cx="434340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このページで言うこと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表の数字は読まない。赤枠の「札幌市」だけを指す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「日本で最も権威のある地震調査委員会のデータです」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「2018年6月の発表で、札幌が全国で最下位でした」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「ところが3か月後に、胆振東部地震が起きています」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303520"/>
            <a:ext cx="909828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緑帯の結論（そのまま言い切る）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専門家ですら、いつ「もしものこと」が起きるのか分からない状況です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925312"/>
            <a:ext cx="9098280" cy="45720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注意　</a:t>
            </a: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最後は「どこで起きるかは分からないですよね？」と質問で終える。断定で終えない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② 災害対策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p.19　自然災害とともに停電被害はたくさん出ている</a:t>
            </a:r>
          </a:p>
        </p:txBody>
      </p:sp>
      <p:pic>
        <p:nvPicPr>
          <p:cNvPr id="6" name="Picture 5" descr="ab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5648"/>
            <a:ext cx="4434840" cy="3069416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882896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アプローチブック p.19　自然災害と停電被害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755648"/>
            <a:ext cx="4343400" cy="102412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070C0"/>
                </a:solidFill>
                <a:latin typeface="HGPｺﾞｼｯｸE"/>
                <a:ea typeface="HGPｺﾞｼｯｸE"/>
              </a:rPr>
              <a:t>引き出す反応（お客様の台詞）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「備えておいた方が安心ですね」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2926080"/>
            <a:ext cx="434340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このページで言うこと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家のアイコンの数で「規模」を見せる。件数は1つだけ言う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「北海道の地震では約300万戸。日本初のブラックアウト」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「復旧まで2週間かかった地域もありました」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食料は備蓄できるが、電気だけは備蓄できないと添える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303520"/>
            <a:ext cx="909828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緑帯の結論（そのまま言い切る）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災害大国だからこそ、もしもの時には備える必要があるのです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925312"/>
            <a:ext cx="9098280" cy="45720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注意　</a:t>
            </a: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南海トラフなど「これから」の話を膨らませない。1行触れて終わり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② 災害対策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このあとに「ページのない1本」を挟みます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4526280" cy="17830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アプローチブックには</a:t>
            </a:r>
          </a:p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0000"/>
                </a:solidFill>
                <a:latin typeface="HGPｺﾞｼｯｸE"/>
                <a:ea typeface="HGPｺﾞｼｯｸE"/>
              </a:rPr>
              <a:t>「備えるとどうなるか」のページがありません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印刷された一般論では「うちの場合は？」に答えられないからです。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755648"/>
            <a:ext cx="4389120" cy="178308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だから事例で話します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✕「停電しても安心ですよ」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  <a:latin typeface="HGPｺﾞｼｯｸE"/>
                <a:ea typeface="HGPｺﾞｼｯｸE"/>
              </a:rPr>
              <a:t>　← 自分の意見。刺さらない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○「実際に〇〇市のA様が、台風の停電で3日間、冷蔵庫と照明を動かせたそうです」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3703320"/>
          <a:ext cx="9098278" cy="1609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4519"/>
                <a:gridCol w="3246120"/>
                <a:gridCol w="3977639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事例の材料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中身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URL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自社の施工事例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いちばん強い。地域が近いほど効く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Panasonic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動画＋テキストの記事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https://sumai.panasonic.jp/chikuden/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SmartStar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災害時の活用に特化した動画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https://www.smartstar.jp/voice/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5623560"/>
            <a:ext cx="9098280" cy="713232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0000"/>
                </a:solidFill>
                <a:latin typeface="HGPｺﾞｼｯｸE"/>
                <a:ea typeface="HGPｺﾞｼｯｸE"/>
              </a:rPr>
              <a:t>②全体で3分。時計を見て測ってください。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p.18が1分、p.19が1分、事例が1分。これを超えると、そのあとの話が入らなくなります。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③ 経済メリット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9098280" cy="5029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000000"/>
                </a:solidFill>
                <a:latin typeface="HGPｺﾞｼｯｸE"/>
                <a:ea typeface="HGPｺﾞｼｯｸE"/>
              </a:rPr>
              <a:t>③　経済メリット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011680"/>
            <a:ext cx="4526280" cy="118872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使うページ</a:t>
            </a:r>
          </a:p>
          <a:p>
            <a:pPr algn="l"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HGPｺﾞｼｯｸE"/>
                <a:ea typeface="HGPｺﾞｼｯｸE"/>
              </a:rPr>
              <a:t>p.20・p.21 ＋ シミュレーション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2011680"/>
            <a:ext cx="4389120" cy="118872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かける時間</a:t>
            </a:r>
          </a:p>
          <a:p>
            <a:pPr algn="l"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HGPｺﾞｼｯｸE"/>
                <a:ea typeface="HGPｺﾞｼｯｸE"/>
              </a:rPr>
              <a:t>約15分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383280"/>
            <a:ext cx="9098280" cy="96012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この切り口のゴール</a:t>
            </a:r>
          </a:p>
          <a:p>
            <a:pPr algn="ctr">
              <a:spcAft>
                <a:spcPts val="500"/>
              </a:spcAft>
            </a:pPr>
            <a:r>
              <a:rPr sz="2000" b="1">
                <a:solidFill>
                  <a:srgbClr val="FF0000"/>
                </a:solidFill>
                <a:latin typeface="HGPｺﾞｼｯｸE"/>
                <a:ea typeface="HGPｺﾞｼｯｸE"/>
              </a:rPr>
              <a:t>「自分の家ならいくら減るか」を具体的に持ち帰ってもらう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572000"/>
            <a:ext cx="9098280" cy="1691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めくるときのポイント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・①②で作ったネガを、ここで初めて解決策に変えます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・p.20・p.21は「仕組みの説明」。ここが曖昧だとシミュレーションが伝わりません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・シミュレーションは金額の大きさで勝とうとしない。前提条件を先に言う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・見積り（総額）はこのパートでは出しません。それは金額訴求の役割です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③ 経済メリット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p.20・p.21　仕組みを説明して、シミュレーションに渡す</a:t>
            </a:r>
          </a:p>
        </p:txBody>
      </p:sp>
      <p:pic>
        <p:nvPicPr>
          <p:cNvPr id="6" name="Picture 5" descr="ab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5648"/>
            <a:ext cx="4434840" cy="3069416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882896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アプローチブック p.21　太陽光発電・蓄電池の使い方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0" y="1755648"/>
            <a:ext cx="4343400" cy="1325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p.20で言うこと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「電気代の上昇と災害。この2つへの答えが、自分で作って自分で使うことです」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  <a:latin typeface="HGPｺﾞｼｯｸE"/>
                <a:ea typeface="HGPｺﾞｼｯｸE"/>
              </a:rPr>
              <a:t>結論：電気代を削減するために、自給自足が求められます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3218688"/>
            <a:ext cx="4343400" cy="19019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p.21で言うこと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図を左から順に指でなぞる：朝は買う → 昼は作って使う・貯める → 夜は貯めた電気を使う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「売電15円より、買う電気30円の方が高い。だから売らずに使うんです」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ここが曖昧だと、次のシミュレーションが伝わりません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303520"/>
            <a:ext cx="909828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緑帯の結論（そのまま言い切る）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具体的なシミュレーションを見ていきましょう！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925312"/>
            <a:ext cx="9098280" cy="45720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この一文で資料を閉じ、シミュレーションを開きます。ここが切り替えの合図です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③ 経済メリット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シミュレーションは「どこを読むか」だけ教える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00784"/>
            <a:ext cx="9098280" cy="29260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数字が多い資料です。お客様に見せるのは2か所だけにしてください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66543"/>
            <a:ext cx="4389120" cy="365760"/>
          </a:xfrm>
          <a:prstGeom prst="rect">
            <a:avLst/>
          </a:prstGeom>
          <a:solidFill>
            <a:srgbClr val="D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FIT期間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2487168"/>
          <a:ext cx="438912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7480"/>
                <a:gridCol w="16916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毎月の分割支払額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24,002 円/月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 実質光熱費削減額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14,429 円/月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3310128"/>
            <a:ext cx="4389120" cy="82296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＝ 毎月の実質負担額　</a:t>
            </a:r>
            <a:r>
              <a:rPr sz="2400" b="1">
                <a:solidFill>
                  <a:srgbClr val="FF0000"/>
                </a:solidFill>
                <a:latin typeface="HGPｺﾞｼｯｸE"/>
                <a:ea typeface="HGPｺﾞｼｯｸE"/>
              </a:rPr>
              <a:t>9,573</a:t>
            </a: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 円/月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（1日あたり 約 319 円）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2066543"/>
            <a:ext cx="4389120" cy="365760"/>
          </a:xfrm>
          <a:prstGeom prst="rect">
            <a:avLst/>
          </a:prstGeom>
          <a:solidFill>
            <a:srgbClr val="D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FIT期間終了後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20640" y="2487168"/>
          <a:ext cx="438912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7480"/>
                <a:gridCol w="16916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毎月の分割支払額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24,002 円/月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 実質光熱費削減額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12,686 円/月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120640" y="3310128"/>
            <a:ext cx="4389120" cy="82296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＝ 毎月の実質負担額　</a:t>
            </a:r>
            <a:r>
              <a:rPr sz="2400" b="1">
                <a:solidFill>
                  <a:srgbClr val="FF0000"/>
                </a:solidFill>
                <a:latin typeface="HGPｺﾞｼｯｸE"/>
                <a:ea typeface="HGPｺﾞｼｯｸE"/>
              </a:rPr>
              <a:t>11,316</a:t>
            </a: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 円/月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（1日あたり 約 377 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315968"/>
            <a:ext cx="4389120" cy="141732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✕ 見せてはいけないところ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いちばん上の「分割支払額 24,002円」を先に見せると、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そこで思考が止まります。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4315968"/>
            <a:ext cx="4389120" cy="1417320"/>
          </a:xfrm>
          <a:prstGeom prst="rect">
            <a:avLst/>
          </a:prstGeom>
          <a:solidFill>
            <a:srgbClr val="EAF1DD"/>
          </a:solidFill>
          <a:ln w="12700">
            <a:solidFill>
              <a:srgbClr val="70A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○ 見せるところ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「毎月の実質負担額」と「1日あたり」の2か所だけ。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「1日319円。缶コーヒー2本分です」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852160"/>
            <a:ext cx="909828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1日あたりの金額まで落として、初めて判断できる数字になる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③ 経済メリット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伝え方は2通り。お客様を見て選びます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4389120" cy="43891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伝え方①　ローン返済額を含めたトータル金額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231136"/>
          <a:ext cx="438912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1371600"/>
                <a:gridCol w="128016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（例）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ローン中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完済後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もともとの電気代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15,000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15,000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＋ ローンの分割額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22,000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 電気代削減額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−14,000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−14,000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支出合計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23,000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1,000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4224528"/>
            <a:ext cx="438912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向いているお客様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・長期で考えられる方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・完済後の姿に価値を感じる方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返済中は支出が増えます。隠さないこと。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737360"/>
            <a:ext cx="4389120" cy="43891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伝え方②　電気代の減収分のみ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120640" y="2231136"/>
          <a:ext cx="4389120" cy="14447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1097280"/>
                <a:gridCol w="15544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（例）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金額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削減額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もともとの電気代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15,000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1年 ¥168,000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 電気代削減額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14,000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10年 ¥1,680,000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支出合計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1,000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30年 ¥5,040,000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120640" y="4224528"/>
            <a:ext cx="438912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向いているお客様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・現金一括で検討される方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・月々の支出が増えることに抵抗がある方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①で反応が鈍かったら②に切り替える。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623560"/>
            <a:ext cx="9098280" cy="713232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どちらも同じ事実を、別の枠組みで見せているだけです。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お客様の反応を見て、途中で切り替えて構いません。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③ 経済メリット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FF0000"/>
                </a:solidFill>
                <a:latin typeface="HGPｺﾞｼｯｸE"/>
                <a:ea typeface="HGPｺﾞｼｯｸE"/>
              </a:rPr>
              <a:t>前提：シミュレーションは疑われています</a:t>
            </a:r>
          </a:p>
        </p:txBody>
      </p:sp>
      <p:pic>
        <p:nvPicPr>
          <p:cNvPr id="6" name="Picture 5" descr="sim_tru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5648"/>
            <a:ext cx="4892040" cy="2981983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846320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95959"/>
                </a:solidFill>
                <a:latin typeface="HGPｺﾞｼｯｸE"/>
                <a:ea typeface="HGPｺﾞｼｯｸE"/>
              </a:rPr>
              <a:t>出典：エネがえる運営事務局調べ（国際航業株式会社）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755648"/>
            <a:ext cx="3931920" cy="132588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経済効果シミュレーションの信憑性を</a:t>
            </a:r>
          </a:p>
          <a:p>
            <a:pPr algn="ctr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疑ったことがある人</a:t>
            </a:r>
          </a:p>
          <a:p>
            <a:pPr algn="ctr">
              <a:spcAft>
                <a:spcPts val="500"/>
              </a:spcAft>
            </a:pPr>
            <a:r>
              <a:rPr sz="3200" b="1">
                <a:solidFill>
                  <a:srgbClr val="FF0000"/>
                </a:solidFill>
                <a:latin typeface="HGPｺﾞｼｯｸE"/>
                <a:ea typeface="HGPｺﾞｼｯｸE"/>
              </a:rPr>
              <a:t>75.4 ％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3246120"/>
            <a:ext cx="3931920" cy="2103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だから、こう伝えます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・金額の大きさで勝とうとしない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・前提条件を先に口で言う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HGPｺﾞｼｯｸE"/>
                <a:ea typeface="HGPｺﾞｼｯｸE"/>
              </a:rPr>
              <a:t>　（電気使用量・単価・設置容量）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・お客様の検針票の実額から出発する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「盛っていない」ことが伝わる方が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金額より効きます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532120"/>
            <a:ext cx="9098280" cy="77724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言い方の例</a:t>
            </a:r>
          </a:p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「この数字は、〇〇様の検針票の18,000円から計算しています。盛った数字ではありません」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③ 経済メリット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9098280" cy="5029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F0000"/>
                </a:solidFill>
                <a:latin typeface="HGPｺﾞｼｯｸE"/>
                <a:ea typeface="HGPｺﾞｼｯｸE"/>
              </a:rPr>
              <a:t>このパートでは「全体の金額」を出しません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2011680"/>
          <a:ext cx="909827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3931920"/>
                <a:gridCol w="3977639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このパート（必要性訴求）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次のパート（金額訴求）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目的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「電気代がいくら減るか」を納得してもらう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「毎月いくら払うか」を払える形にする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出す数字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削減額（月14,000円／30年504万円）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月々の支払額・概算見積・総額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使う道具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アプローチブック＋シミュレーション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シミュレーション＋概算見積＋カタログ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4709160"/>
            <a:ext cx="9098280" cy="11887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なぜ分けるのか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「いくら得か」が腹落ちしていない状態で「いくら払うか」を出すと、支払額だけが記憶に残ります。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このパートは「得の大きさ」を作りきるところまでです。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通しで使う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必要性訴求パートの時間配分（商談での目安）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00784"/>
            <a:ext cx="9098280" cy="29260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※ 研修の時間割ではありません。お客様との商談1時間のうち、この部分に使えるのは約40分です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121408"/>
            <a:ext cx="1783080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導入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121408"/>
            <a:ext cx="713232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F0000"/>
                </a:solidFill>
                <a:latin typeface="HGPｺﾞｼｯｸE"/>
                <a:ea typeface="HGPｺﾞｼｯｸE"/>
              </a:rPr>
              <a:t>2分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21408"/>
            <a:ext cx="3108960" cy="65836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検針票の実額を聞く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907791"/>
            <a:ext cx="1783080" cy="658368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① 電気代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907791"/>
            <a:ext cx="3840480" cy="658368"/>
          </a:xfrm>
          <a:prstGeom prst="rect">
            <a:avLst/>
          </a:prstGeom>
          <a:solidFill>
            <a:srgbClr val="EAF1DD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F0000"/>
                </a:solidFill>
                <a:latin typeface="HGPｺﾞｼｯｸE"/>
                <a:ea typeface="HGPｺﾞｼｯｸE"/>
              </a:rPr>
              <a:t>20分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07791"/>
            <a:ext cx="3108960" cy="65836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p.9 〜 p.17（7ページ）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94176"/>
            <a:ext cx="1783080" cy="658368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② 災害対策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694176"/>
            <a:ext cx="896112" cy="658368"/>
          </a:xfrm>
          <a:prstGeom prst="rect">
            <a:avLst/>
          </a:prstGeom>
          <a:solidFill>
            <a:srgbClr val="FFF2CC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F0000"/>
                </a:solidFill>
                <a:latin typeface="HGPｺﾞｼｯｸE"/>
                <a:ea typeface="HGPｺﾞｼｯｸE"/>
              </a:rPr>
              <a:t>3分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94176"/>
            <a:ext cx="3108960" cy="65836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p.18・p.19 ＋ 事例1本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480560"/>
            <a:ext cx="1783080" cy="65836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③ 経済メリット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480560"/>
            <a:ext cx="2926080" cy="658368"/>
          </a:xfrm>
          <a:prstGeom prst="rect">
            <a:avLst/>
          </a:prstGeom>
          <a:solidFill>
            <a:srgbClr val="DEEBF7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F0000"/>
                </a:solidFill>
                <a:latin typeface="HGPｺﾞｼｯｸE"/>
                <a:ea typeface="HGPｺﾞｼｯｸE"/>
              </a:rPr>
              <a:t>15分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3108960" cy="65836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p.20・p.21 ＋ シミュレーション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394960"/>
            <a:ext cx="438912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時間が押したときに削る順番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p.15・16 → p.10・p.12 → p.11・p.13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p.9・p.14・p.17・p.21 は削らない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5394960"/>
            <a:ext cx="4389120" cy="91440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0000"/>
                </a:solidFill>
                <a:latin typeface="HGPｺﾞｼｯｸE"/>
                <a:ea typeface="HGPｺﾞｼｯｸE"/>
              </a:rPr>
              <a:t>いちばん多い失敗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①で30分以上かけてしまい、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③のシミュレーションが駆け足になる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通しで使う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めくり方のNG集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00784"/>
            <a:ext cx="9098280" cy="29260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ロープレで実際に多い5つです。自分に当てはまるものに印をつけてください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103120"/>
          <a:ext cx="9098280" cy="36941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0320"/>
                <a:gridCol w="3291840"/>
                <a:gridCol w="324612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✕ やりがちなこと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なぜまずいか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○ こうする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リード文を全部読み上げる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読める文字を読まれると、聞くのをやめる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要点を1文に縮めて、自分の言葉で言う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グラフの棒を端から順に説明する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数字が多すぎて、どれが重要か分からない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指でさして、数字は1ページ1つだけ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全国平均のまま話す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「うちは違う」と思われ、他人事になる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検針票の実額に置き換えて話す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緑帯を飛ばして次のページへ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結論が無いまま進むので、何も残らない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緑帯は必ず声に出して言い切る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災害の話を5分以上する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場が暗くなり、そのあとの提案が入らない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3分で抜ける。事実と第三者で話す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5760720"/>
            <a:ext cx="9098280" cy="566928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共通しているのは「資料を読んでいる」状態。資料は読むものではなく、指すものです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通しで使う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通し練習：p.9 から、5分で行けるところまで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9098280" cy="1325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95959"/>
                </a:solidFill>
                <a:latin typeface="HGPｺﾞｼｯｸE"/>
                <a:ea typeface="HGPｺﾞｼｯｸE"/>
              </a:rPr>
              <a:t>進め方（合計11分）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・2人1組。営業役とお客様役。営業役だけ1本（5分）やります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・営業役はアプローチブックを持ち、p.9を開いた状態から始めます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・お客様役は「月18,000円」という設定。最初に必ず聞かれるので答えてください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・そのあとフィードバック3分 → 役を交代してもう1本（時間があれば）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182112"/>
            <a:ext cx="4389120" cy="1417320"/>
          </a:xfrm>
          <a:prstGeom prst="rect">
            <a:avLst/>
          </a:prstGeom>
          <a:solidFill>
            <a:srgbClr val="EAF1DD"/>
          </a:solidFill>
          <a:ln w="12700">
            <a:solidFill>
              <a:srgbClr val="70A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お客様役が見るところ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・自分が何回しゃべったか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・「読まれている」と感じた場面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・数字が多すぎて追えなくなった場面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3182112"/>
            <a:ext cx="4389120" cy="1417320"/>
          </a:xfrm>
          <a:prstGeom prst="rect">
            <a:avLst/>
          </a:prstGeom>
          <a:solidFill>
            <a:srgbClr val="DEEBF7"/>
          </a:solidFill>
          <a:ln w="12700">
            <a:solidFill>
              <a:srgbClr val="4B8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講師が机間で見るところ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・発言比率 6：4 になっているか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・緑帯を言い切れているか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・太陽光だけ／蓄電池だけの話になっていないか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718304"/>
            <a:ext cx="9098280" cy="91440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フィードバックの型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① 良かったページを1つ、ページ番号で言う　② 直すのは1人1つだけ　③ 人ではなくページを指摘する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760720"/>
            <a:ext cx="9098280" cy="566928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5分で13ページは回りません。回りきらなかったページが、そのまま宿題です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通しで使う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セルフチェックシート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00784"/>
            <a:ext cx="9098280" cy="29260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ロープレのあとに記入し、できていない項目を次回までの宿題にしてください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103120"/>
          <a:ext cx="5806439" cy="3968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77639"/>
                <a:gridCol w="914400"/>
                <a:gridCol w="9144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確認すること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今日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次回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資料を見ずに、p.9の結論一文が言えた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p.14の「1,210円 → 22,990円」が言えた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p.17でお客様の実額の列を指せた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②災害を3分以内で抜けられた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p.21で「売電15円・買電30円」を言えた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シミュレーションで前提条件を先に言えた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13ページを15分で通せた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お客様の発言が4割あった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46520" y="2103120"/>
            <a:ext cx="3063240" cy="1965960"/>
          </a:xfrm>
          <a:prstGeom prst="rect">
            <a:avLst/>
          </a:prstGeom>
          <a:solidFill>
            <a:srgbClr val="EAF1DD"/>
          </a:solidFill>
          <a:ln w="12700">
            <a:solidFill>
              <a:srgbClr val="70A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合格ライン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F0000"/>
                </a:solidFill>
                <a:latin typeface="HGPｺﾞｼｯｸE"/>
                <a:ea typeface="HGPｺﾞｼｯｸE"/>
              </a:rPr>
              <a:t>8項目中 6つ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うち、上から3つは必須です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595959"/>
                </a:solidFill>
                <a:latin typeface="HGPｺﾞｼｯｸE"/>
                <a:ea typeface="HGPｺﾞｼｯｸE"/>
              </a:rPr>
              <a:t>（p.9・p.14・p.17）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4206240"/>
            <a:ext cx="3063240" cy="18836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次回までの宿題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できなかった項目を1つ選び、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そのページだけを10回、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声に出して読んでください。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翌日には50％忘れます。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98448"/>
            <a:ext cx="9098280" cy="5029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00000"/>
                </a:solidFill>
                <a:latin typeface="HGPｺﾞｼｯｸE"/>
                <a:ea typeface="HGPｺﾞｼｯｸE"/>
              </a:rPr>
              <a:t>このパートで持ち帰ってほしい3つ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65960"/>
            <a:ext cx="658368" cy="123444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HGPｺﾞｼｯｸE"/>
                <a:ea typeface="HGPｺﾞｼｯｸE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" y="1965960"/>
            <a:ext cx="8339327" cy="123444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0000"/>
                </a:solidFill>
                <a:latin typeface="HGPｺﾞｼｯｸE"/>
                <a:ea typeface="HGPｺﾞｼｯｸE"/>
              </a:rPr>
              <a:t>資料は読むものではなく、指すもの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リード文は読まない。数字は1ページ1つだけ指す。残りはお客様に聞かせない。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337560"/>
            <a:ext cx="658368" cy="123444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HGPｺﾞｼｯｸE"/>
                <a:ea typeface="HGPｺﾞｼｯｸE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32" y="3337560"/>
            <a:ext cx="8339327" cy="123444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0000"/>
                </a:solidFill>
                <a:latin typeface="HGPｺﾞｼｯｸE"/>
                <a:ea typeface="HGPｺﾞｼｯｸE"/>
              </a:rPr>
              <a:t>緑帯の結論は、必ず声に出して言い切る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13ページ分の緑帯が、そのまま必要性訴求のトークスクリプトです。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709160"/>
            <a:ext cx="658368" cy="123444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HGPｺﾞｼｯｸE"/>
                <a:ea typeface="HGPｺﾞｼｯｸE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70432" y="4709160"/>
            <a:ext cx="8339327" cy="123444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0000"/>
                </a:solidFill>
                <a:latin typeface="HGPｺﾞｼｯｸE"/>
                <a:ea typeface="HGPｺﾞｼｯｸE"/>
              </a:rPr>
              <a:t>全国平均ではなく、お客様の検針票の実額で話す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最初に月額を聞く。以降の数字はすべてそこから計算し直す。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760720"/>
            <a:ext cx="9098280" cy="566928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次のパートは「時期訴求・金額訴求」。ここで作った"得の大きさ"が土台になります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119793" y="470959"/>
            <a:ext cx="9666414" cy="216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この度は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【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㈱船井総合研究所　住宅用太陽光・蓄電池の売り方マスター研修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】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にご参加いただき、誠にありがとうございました。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１．講座及びテキストに関するお問い合わせは、下記までお願いいたします。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２．本テキストの著作権は、引用部分を除き、全て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(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株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)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船井総合研究所に帰属しています。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３．本セミナーで入手したテキスト、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DVD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、その他の文書等は許可なく複製を作成すること、また二次利用することを禁止します。</a:t>
            </a:r>
            <a:b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４．本セミナーの内容と同じ、または類似した研修の開催や、第三者に行わせることを禁じます。</a:t>
            </a:r>
            <a:b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５．録音、録画、撮影などの行為はお断りします。</a:t>
            </a:r>
            <a:b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６．本セミナーで入手したテキストおよび資料等をＳＮＳ等を通じて第三者に開示することを禁じます。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７．なお、上記３～６の事項が発覚した場合、本人または法人に対して損害賠償を行う場合があります。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８．当社ではセミナー中の様子を撮影し、当社の宣伝に使用することがあります。あらかじめご了承ください。　　　　 　   　　　　　　　　　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92512" y="2926534"/>
            <a:ext cx="9702351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66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株式会社船井総合研究所</a:t>
            </a:r>
            <a:endParaRPr kumimoji="1" lang="en-US" altLang="ja-JP" sz="22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『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住宅用太陽光・蓄電池の売り方マスター研修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』</a:t>
            </a:r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92512" y="4641034"/>
            <a:ext cx="9702351" cy="195631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66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1397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2026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年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１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1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月発行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著　者　 ：　株式会社船井総合研究所　　専門工事支援部 北 隆人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発行所　：　株式会社船井総合研究所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【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大阪本社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】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　　　　　　　　　　　　　　　　　　　　　　　　　　　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【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東京本社（サステナグローススクエア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TOKYO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）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】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〒５４１－００４１　大阪市中央区北浜４－４－１０　　　　　　　〒１０４－００２８　東京都中央区八重洲二丁目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2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番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1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号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　　　　　　　　　　　　　　　　　　　　　　　　　　　　　　　　　　　　　　　　　　　　　　東京ミッドタウン八重洲 八重洲セントラルタワー 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35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階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ＴＥＬ　０６－６２３２－０２７１（代表）　　　　　　　　　　　　　　　　　ＴＥＬ：０３－４３５６－０２７１（通）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E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・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Mail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　 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takato-kita@funaisoken.co.jp</a:t>
            </a:r>
            <a:endParaRPr kumimoji="1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2512" y="4069534"/>
            <a:ext cx="9702351" cy="571500"/>
          </a:xfrm>
          <a:prstGeom prst="rect">
            <a:avLst/>
          </a:prstGeom>
          <a:solidFill>
            <a:srgbClr val="7030A0"/>
          </a:solidFill>
          <a:ln w="19050">
            <a:solidFill>
              <a:srgbClr val="000066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機密情報／無断転用禁止　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474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お気に入り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お気に入り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【ソーラープロジェクト大社様】2024年11月度お打ち合わせ資料 .pptx" id="{F2A59035-B9C3-4A75-B90B-5E71CD3F6C43}" vid="{552278E5-979D-4048-BBE5-2AFDF89082E8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25900</TotalTime>
  <Words>6897</Words>
  <Application>Microsoft Office PowerPoint</Application>
  <PresentationFormat>A4 210 x 297 mm</PresentationFormat>
  <Paragraphs>716</Paragraphs>
  <Slides>71</Slides>
  <Notes>32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71</vt:i4>
      </vt:variant>
    </vt:vector>
  </HeadingPairs>
  <TitlesOfParts>
    <vt:vector size="88" baseType="lpstr">
      <vt:lpstr>BIZ UDPゴシック</vt:lpstr>
      <vt:lpstr>Google Sans Text</vt:lpstr>
      <vt:lpstr>HGPｺﾞｼｯｸE</vt:lpstr>
      <vt:lpstr>HGP創英角ｺﾞｼｯｸUB</vt:lpstr>
      <vt:lpstr>HGP明朝E</vt:lpstr>
      <vt:lpstr>HGSｺﾞｼｯｸM</vt:lpstr>
      <vt:lpstr>Meiryo UI</vt:lpstr>
      <vt:lpstr>メイリオ</vt:lpstr>
      <vt:lpstr>游ゴシック</vt:lpstr>
      <vt:lpstr>游ゴシック体</vt:lpstr>
      <vt:lpstr>Arial</vt:lpstr>
      <vt:lpstr>Calibri</vt:lpstr>
      <vt:lpstr>Lucida Calligraphy</vt:lpstr>
      <vt:lpstr>Monotype Corsiva</vt:lpstr>
      <vt:lpstr>Wingdings</vt:lpstr>
      <vt:lpstr>Office テーマ</vt:lpstr>
      <vt:lpstr>1_Office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船井総合研究所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F2038</dc:creator>
  <cp:lastModifiedBy>Ryusho Sameshima</cp:lastModifiedBy>
  <cp:revision>713</cp:revision>
  <cp:lastPrinted>2025-11-06T11:25:07Z</cp:lastPrinted>
  <dcterms:created xsi:type="dcterms:W3CDTF">2017-03-26T07:08:56Z</dcterms:created>
  <dcterms:modified xsi:type="dcterms:W3CDTF">2026-05-20T08:32:28Z</dcterms:modified>
</cp:coreProperties>
</file>