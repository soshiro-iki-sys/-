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jpg" ContentType="image/pn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48" r:id="rId1"/>
    <p:sldMasterId id="2147483702" r:id="rId2"/>
  </p:sldMasterIdLst>
  <p:notesMasterIdLst>
    <p:notesMasterId r:id="rId74"/>
  </p:notesMasterIdLst>
  <p:handoutMasterIdLst>
    <p:handoutMasterId r:id="rId75"/>
  </p:handoutMasterIdLst>
  <p:sldIdLst>
    <p:sldId id="344" r:id="rId3"/>
    <p:sldId id="1179" r:id="rId11"/>
    <p:sldId id="1180" r:id="rId12"/>
    <p:sldId id="1181" r:id="rId13"/>
    <p:sldId id="1182" r:id="rId14"/>
    <p:sldId id="1183" r:id="rId15"/>
    <p:sldId id="1184" r:id="rId16"/>
    <p:sldId id="1185" r:id="rId17"/>
    <p:sldId id="1186" r:id="rId18"/>
    <p:sldId id="1187" r:id="rId19"/>
    <p:sldId id="1188" r:id="rId20"/>
    <p:sldId id="1189" r:id="rId21"/>
    <p:sldId id="1190" r:id="rId22"/>
    <p:sldId id="1191" r:id="rId23"/>
    <p:sldId id="1192" r:id="rId24"/>
    <p:sldId id="1193" r:id="rId25"/>
    <p:sldId id="1194" r:id="rId26"/>
    <p:sldId id="1195" r:id="rId27"/>
    <p:sldId id="1196" r:id="rId28"/>
    <p:sldId id="1197" r:id="rId29"/>
    <p:sldId id="1198" r:id="rId30"/>
    <p:sldId id="1199" r:id="rId31"/>
    <p:sldId id="1200" r:id="rId32"/>
    <p:sldId id="1201" r:id="rId33"/>
    <p:sldId id="1202" r:id="rId34"/>
    <p:sldId id="1203" r:id="rId35"/>
    <p:sldId id="1178" r:id="rId73"/>
  </p:sldIdLst>
  <p:sldSz cx="9906000" cy="6858000" type="A4"/>
  <p:notesSz cx="6735763" cy="9866313"/>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845" userDrawn="1">
          <p15:clr>
            <a:srgbClr val="A4A3A4"/>
          </p15:clr>
        </p15:guide>
        <p15:guide id="2" pos="312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DE1"/>
    <a:srgbClr val="362A2A"/>
    <a:srgbClr val="9BBB59"/>
    <a:srgbClr val="FB43D4"/>
    <a:srgbClr val="E85504"/>
    <a:srgbClr val="006600"/>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6583" autoAdjust="0"/>
    <p:restoredTop sz="96343" autoAdjust="0"/>
  </p:normalViewPr>
  <p:slideViewPr>
    <p:cSldViewPr showGuides="1">
      <p:cViewPr varScale="1">
        <p:scale>
          <a:sx n="82" d="100"/>
          <a:sy n="82" d="100"/>
        </p:scale>
        <p:origin x="1694" y="72"/>
      </p:cViewPr>
      <p:guideLst>
        <p:guide orient="horz" pos="845"/>
        <p:guide pos="3120"/>
      </p:guideLst>
    </p:cSldViewPr>
  </p:slideViewPr>
  <p:notesTextViewPr>
    <p:cViewPr>
      <p:scale>
        <a:sx n="3" d="2"/>
        <a:sy n="3" d="2"/>
      </p:scale>
      <p:origin x="0" y="0"/>
    </p:cViewPr>
  </p:notesTextViewPr>
  <p:notesViewPr>
    <p:cSldViewPr>
      <p:cViewPr varScale="1">
        <p:scale>
          <a:sx n="101" d="100"/>
          <a:sy n="101" d="100"/>
        </p:scale>
        <p:origin x="324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73" Type="http://schemas.openxmlformats.org/officeDocument/2006/relationships/slide" Target="slides/slide900.xml"/><Relationship Id="rId74" Type="http://schemas.openxmlformats.org/officeDocument/2006/relationships/notesMaster" Target="notesMasters/notesMaster1.xml"/><Relationship Id="rId75" Type="http://schemas.openxmlformats.org/officeDocument/2006/relationships/handoutMaster" Target="handoutMasters/handout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2" y="2"/>
            <a:ext cx="2918830" cy="495029"/>
          </a:xfrm>
          <a:prstGeom prst="rect">
            <a:avLst/>
          </a:prstGeom>
        </p:spPr>
        <p:txBody>
          <a:bodyPr vert="horz" lIns="94848" tIns="47425" rIns="94848" bIns="47425"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15374" y="2"/>
            <a:ext cx="2918830" cy="495029"/>
          </a:xfrm>
          <a:prstGeom prst="rect">
            <a:avLst/>
          </a:prstGeom>
        </p:spPr>
        <p:txBody>
          <a:bodyPr vert="horz" lIns="94848" tIns="47425" rIns="94848" bIns="47425" rtlCol="0"/>
          <a:lstStyle>
            <a:lvl1pPr algn="r">
              <a:defRPr sz="1200"/>
            </a:lvl1pPr>
          </a:lstStyle>
          <a:p>
            <a:fld id="{695728E3-876B-4768-9AB0-7D988C1247DF}" type="datetimeFigureOut">
              <a:rPr kumimoji="1" lang="ja-JP" altLang="en-US" smtClean="0"/>
              <a:t>2026/5/20</a:t>
            </a:fld>
            <a:endParaRPr kumimoji="1" lang="ja-JP" altLang="en-US"/>
          </a:p>
        </p:txBody>
      </p:sp>
      <p:sp>
        <p:nvSpPr>
          <p:cNvPr id="4" name="フッター プレースホルダー 3"/>
          <p:cNvSpPr>
            <a:spLocks noGrp="1"/>
          </p:cNvSpPr>
          <p:nvPr>
            <p:ph type="ftr" sz="quarter" idx="2"/>
          </p:nvPr>
        </p:nvSpPr>
        <p:spPr>
          <a:xfrm>
            <a:off x="2" y="9371288"/>
            <a:ext cx="2918830" cy="495028"/>
          </a:xfrm>
          <a:prstGeom prst="rect">
            <a:avLst/>
          </a:prstGeom>
        </p:spPr>
        <p:txBody>
          <a:bodyPr vert="horz" lIns="94848" tIns="47425" rIns="94848" bIns="47425"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15374" y="9371288"/>
            <a:ext cx="2918830" cy="495028"/>
          </a:xfrm>
          <a:prstGeom prst="rect">
            <a:avLst/>
          </a:prstGeom>
        </p:spPr>
        <p:txBody>
          <a:bodyPr vert="horz" lIns="94848" tIns="47425" rIns="94848" bIns="47425" rtlCol="0" anchor="b"/>
          <a:lstStyle>
            <a:lvl1pPr algn="r">
              <a:defRPr sz="1200"/>
            </a:lvl1pPr>
          </a:lstStyle>
          <a:p>
            <a:fld id="{E00352D2-49C1-4968-AB3E-0C456C91C264}" type="slidenum">
              <a:rPr kumimoji="1" lang="ja-JP" altLang="en-US" smtClean="0"/>
              <a:t>‹#›</a:t>
            </a:fld>
            <a:endParaRPr kumimoji="1" lang="ja-JP" altLang="en-US"/>
          </a:p>
        </p:txBody>
      </p:sp>
    </p:spTree>
    <p:extLst>
      <p:ext uri="{BB962C8B-B14F-4D97-AF65-F5344CB8AC3E}">
        <p14:creationId xmlns:p14="http://schemas.microsoft.com/office/powerpoint/2010/main" val="2303722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2" y="0"/>
            <a:ext cx="2918830" cy="493316"/>
          </a:xfrm>
          <a:prstGeom prst="rect">
            <a:avLst/>
          </a:prstGeom>
        </p:spPr>
        <p:txBody>
          <a:bodyPr vert="horz" lIns="94848" tIns="47425" rIns="94848" bIns="47425" rtlCol="0"/>
          <a:lstStyle>
            <a:lvl1pPr algn="l">
              <a:defRPr sz="1200"/>
            </a:lvl1pPr>
          </a:lstStyle>
          <a:p>
            <a:endParaRPr kumimoji="1" lang="ja-JP" altLang="en-US"/>
          </a:p>
        </p:txBody>
      </p:sp>
      <p:sp>
        <p:nvSpPr>
          <p:cNvPr id="3" name="日付プレースホルダ 2"/>
          <p:cNvSpPr>
            <a:spLocks noGrp="1"/>
          </p:cNvSpPr>
          <p:nvPr>
            <p:ph type="dt" idx="1"/>
          </p:nvPr>
        </p:nvSpPr>
        <p:spPr>
          <a:xfrm>
            <a:off x="3815374" y="0"/>
            <a:ext cx="2918830" cy="493316"/>
          </a:xfrm>
          <a:prstGeom prst="rect">
            <a:avLst/>
          </a:prstGeom>
        </p:spPr>
        <p:txBody>
          <a:bodyPr vert="horz" lIns="94848" tIns="47425" rIns="94848" bIns="47425" rtlCol="0"/>
          <a:lstStyle>
            <a:lvl1pPr algn="r">
              <a:defRPr sz="1200"/>
            </a:lvl1pPr>
          </a:lstStyle>
          <a:p>
            <a:fld id="{A8D18B60-6E12-48B8-B760-06957378EDAD}" type="datetimeFigureOut">
              <a:rPr kumimoji="1" lang="ja-JP" altLang="en-US" smtClean="0"/>
              <a:pPr/>
              <a:t>2026/5/20</a:t>
            </a:fld>
            <a:endParaRPr kumimoji="1" lang="ja-JP" altLang="en-US"/>
          </a:p>
        </p:txBody>
      </p:sp>
      <p:sp>
        <p:nvSpPr>
          <p:cNvPr id="4" name="スライド イメージ プレースホルダ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4848" tIns="47425" rIns="94848" bIns="47425" rtlCol="0" anchor="ctr"/>
          <a:lstStyle/>
          <a:p>
            <a:endParaRPr lang="ja-JP" altLang="en-US"/>
          </a:p>
        </p:txBody>
      </p:sp>
      <p:sp>
        <p:nvSpPr>
          <p:cNvPr id="5" name="ノート プレースホルダ 4"/>
          <p:cNvSpPr>
            <a:spLocks noGrp="1"/>
          </p:cNvSpPr>
          <p:nvPr>
            <p:ph type="body" sz="quarter" idx="3"/>
          </p:nvPr>
        </p:nvSpPr>
        <p:spPr>
          <a:xfrm>
            <a:off x="673578" y="4686501"/>
            <a:ext cx="5388610" cy="4439841"/>
          </a:xfrm>
          <a:prstGeom prst="rect">
            <a:avLst/>
          </a:prstGeom>
        </p:spPr>
        <p:txBody>
          <a:bodyPr vert="horz" lIns="94848" tIns="47425" rIns="94848" bIns="47425" rtlCol="0">
            <a:normAutofit/>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 5"/>
          <p:cNvSpPr>
            <a:spLocks noGrp="1"/>
          </p:cNvSpPr>
          <p:nvPr>
            <p:ph type="ftr" sz="quarter" idx="4"/>
          </p:nvPr>
        </p:nvSpPr>
        <p:spPr>
          <a:xfrm>
            <a:off x="2" y="9371285"/>
            <a:ext cx="2918830" cy="493316"/>
          </a:xfrm>
          <a:prstGeom prst="rect">
            <a:avLst/>
          </a:prstGeom>
        </p:spPr>
        <p:txBody>
          <a:bodyPr vert="horz" lIns="94848" tIns="47425" rIns="94848" bIns="47425" rtlCol="0" anchor="b"/>
          <a:lstStyle>
            <a:lvl1pPr algn="l">
              <a:defRPr sz="1200"/>
            </a:lvl1pPr>
          </a:lstStyle>
          <a:p>
            <a:endParaRPr kumimoji="1" lang="ja-JP" altLang="en-US"/>
          </a:p>
        </p:txBody>
      </p:sp>
      <p:sp>
        <p:nvSpPr>
          <p:cNvPr id="7" name="スライド番号プレースホルダ 6"/>
          <p:cNvSpPr>
            <a:spLocks noGrp="1"/>
          </p:cNvSpPr>
          <p:nvPr>
            <p:ph type="sldNum" sz="quarter" idx="5"/>
          </p:nvPr>
        </p:nvSpPr>
        <p:spPr>
          <a:xfrm>
            <a:off x="3815374" y="9371285"/>
            <a:ext cx="2918830" cy="493316"/>
          </a:xfrm>
          <a:prstGeom prst="rect">
            <a:avLst/>
          </a:prstGeom>
        </p:spPr>
        <p:txBody>
          <a:bodyPr vert="horz" lIns="94848" tIns="47425" rIns="94848" bIns="47425" rtlCol="0" anchor="b"/>
          <a:lstStyle>
            <a:lvl1pPr algn="r">
              <a:defRPr sz="1200"/>
            </a:lvl1pPr>
          </a:lstStyle>
          <a:p>
            <a:fld id="{B76C3785-4774-4B27-AA13-6B236C476115}" type="slidenum">
              <a:rPr kumimoji="1" lang="ja-JP" altLang="en-US" smtClean="0"/>
              <a:pPr/>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B76C3785-4774-4B27-AA13-6B236C476115}" type="slidenum">
              <a:rPr kumimoji="1" lang="ja-JP" altLang="en-US" smtClean="0"/>
              <a:pPr/>
              <a:t>0</a:t>
            </a:fld>
            <a:endParaRPr kumimoji="1" lang="ja-JP" altLang="en-US"/>
          </a:p>
        </p:txBody>
      </p:sp>
    </p:spTree>
    <p:extLst>
      <p:ext uri="{BB962C8B-B14F-4D97-AF65-F5344CB8AC3E}">
        <p14:creationId xmlns:p14="http://schemas.microsoft.com/office/powerpoint/2010/main" val="2482633127"/>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・営業テクニックを覚える会ではなく、アプローチブックをめくれるようになる会だと宣言する</a:t>
            </a:r>
          </a:p>
          <a:p>
            <a:r>
              <a:t>・「資料に書いてあることを読む」のではなく「資料を使って言わせる」のが目的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・「資料を読み上げる」と「資料を使って言わせる」の違いを、講師が実演して見せる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・初めての人はこのページを覚えなくてよい。「ネガが出たら戻るページがある」とだけ伝える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・3つとも「アプローチブックの扱い方」の話であって、話術の話ではないことを強調する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e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6"/>
            <a:ext cx="8420100" cy="1470025"/>
          </a:xfrm>
          <a:prstGeom prst="rect">
            <a:avLst/>
          </a:prstGeom>
        </p:spPr>
        <p:txBody>
          <a:bodyPr/>
          <a:lstStyle/>
          <a:p>
            <a:r>
              <a:rPr kumimoji="1" lang="ja-JP" altLang="en-US"/>
              <a:t>マスタ タイトルの書式設定</a:t>
            </a:r>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 サブタイトルの書式設定</a:t>
            </a:r>
          </a:p>
        </p:txBody>
      </p:sp>
      <p:sp>
        <p:nvSpPr>
          <p:cNvPr id="4" name="日付プレースホルダ 3"/>
          <p:cNvSpPr>
            <a:spLocks noGrp="1"/>
          </p:cNvSpPr>
          <p:nvPr>
            <p:ph type="dt" sz="half" idx="10"/>
          </p:nvPr>
        </p:nvSpPr>
        <p:spPr/>
        <p:txBody>
          <a:bodyPr/>
          <a:lstStyle/>
          <a:p>
            <a:fld id="{CD1DEDC6-F80D-48C2-B138-00A27E7F2E65}"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コンテンツ プレースホルダ 2"/>
          <p:cNvSpPr>
            <a:spLocks noGrp="1"/>
          </p:cNvSpPr>
          <p:nvPr>
            <p:ph idx="1"/>
          </p:nvPr>
        </p:nvSpPr>
        <p:spPr>
          <a:xfrm>
            <a:off x="495300" y="1600201"/>
            <a:ext cx="8915400" cy="4525963"/>
          </a:xfrm>
          <a:prstGeom prst="rect">
            <a:avLst/>
          </a:prstGeom>
        </p:spPr>
        <p:txBody>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22064A63-54DC-4F0A-84AB-53668F1114D2}"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506" y="4406901"/>
            <a:ext cx="8420100" cy="1362075"/>
          </a:xfrm>
          <a:prstGeom prst="rect">
            <a:avLst/>
          </a:prstGeom>
        </p:spPr>
        <p:txBody>
          <a:bodyPr anchor="t"/>
          <a:lstStyle>
            <a:lvl1pPr algn="l">
              <a:defRPr sz="4000" b="1" cap="all"/>
            </a:lvl1pPr>
          </a:lstStyle>
          <a:p>
            <a:r>
              <a:rPr kumimoji="1" lang="ja-JP" altLang="en-US"/>
              <a:t>マスタ タイトルの書式設定</a:t>
            </a:r>
          </a:p>
        </p:txBody>
      </p:sp>
      <p:sp>
        <p:nvSpPr>
          <p:cNvPr id="3" name="テキスト プレースホルダ 2"/>
          <p:cNvSpPr>
            <a:spLocks noGrp="1"/>
          </p:cNvSpPr>
          <p:nvPr>
            <p:ph type="body" idx="1"/>
          </p:nvPr>
        </p:nvSpPr>
        <p:spPr>
          <a:xfrm>
            <a:off x="782506" y="2906713"/>
            <a:ext cx="8420100" cy="1500187"/>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 テキストの書式設定</a:t>
            </a:r>
          </a:p>
        </p:txBody>
      </p:sp>
      <p:sp>
        <p:nvSpPr>
          <p:cNvPr id="4" name="日付プレースホルダ 3"/>
          <p:cNvSpPr>
            <a:spLocks noGrp="1"/>
          </p:cNvSpPr>
          <p:nvPr>
            <p:ph type="dt" sz="half" idx="10"/>
          </p:nvPr>
        </p:nvSpPr>
        <p:spPr/>
        <p:txBody>
          <a:bodyPr/>
          <a:lstStyle/>
          <a:p>
            <a:fld id="{0FD4A45F-A8A8-4DDE-B673-AED63056AB36}"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コンテンツ プレースホルダ 2"/>
          <p:cNvSpPr>
            <a:spLocks noGrp="1"/>
          </p:cNvSpPr>
          <p:nvPr>
            <p:ph sz="half" idx="1"/>
          </p:nvPr>
        </p:nvSpPr>
        <p:spPr>
          <a:xfrm>
            <a:off x="536575" y="1600201"/>
            <a:ext cx="4746625"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 3"/>
          <p:cNvSpPr>
            <a:spLocks noGrp="1"/>
          </p:cNvSpPr>
          <p:nvPr>
            <p:ph sz="half" idx="2"/>
          </p:nvPr>
        </p:nvSpPr>
        <p:spPr>
          <a:xfrm>
            <a:off x="5448300" y="1600201"/>
            <a:ext cx="4746625"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 4"/>
          <p:cNvSpPr>
            <a:spLocks noGrp="1"/>
          </p:cNvSpPr>
          <p:nvPr>
            <p:ph type="dt" sz="half" idx="10"/>
          </p:nvPr>
        </p:nvSpPr>
        <p:spPr/>
        <p:txBody>
          <a:bodyPr/>
          <a:lstStyle/>
          <a:p>
            <a:fld id="{A35F025A-80F9-47C5-83D6-D2A5A3B97719}"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lvl1pPr>
              <a:defRPr/>
            </a:lvl1pPr>
          </a:lstStyle>
          <a:p>
            <a:r>
              <a:rPr kumimoji="1" lang="ja-JP" altLang="en-US"/>
              <a:t>マスタ タイトルの書式設定</a:t>
            </a:r>
          </a:p>
        </p:txBody>
      </p:sp>
      <p:sp>
        <p:nvSpPr>
          <p:cNvPr id="3" name="テキスト プレースホルダ 2"/>
          <p:cNvSpPr>
            <a:spLocks noGrp="1"/>
          </p:cNvSpPr>
          <p:nvPr>
            <p:ph type="body" idx="1"/>
          </p:nvPr>
        </p:nvSpPr>
        <p:spPr>
          <a:xfrm>
            <a:off x="495300" y="1535113"/>
            <a:ext cx="4376870"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4" name="コンテンツ プレースホルダ 3"/>
          <p:cNvSpPr>
            <a:spLocks noGrp="1"/>
          </p:cNvSpPr>
          <p:nvPr>
            <p:ph sz="half" idx="2"/>
          </p:nvPr>
        </p:nvSpPr>
        <p:spPr>
          <a:xfrm>
            <a:off x="495300" y="2174875"/>
            <a:ext cx="4376870"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 4"/>
          <p:cNvSpPr>
            <a:spLocks noGrp="1"/>
          </p:cNvSpPr>
          <p:nvPr>
            <p:ph type="body" sz="quarter" idx="3"/>
          </p:nvPr>
        </p:nvSpPr>
        <p:spPr>
          <a:xfrm>
            <a:off x="5032111" y="1535113"/>
            <a:ext cx="4378590"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6" name="コンテンツ プレースホルダ 5"/>
          <p:cNvSpPr>
            <a:spLocks noGrp="1"/>
          </p:cNvSpPr>
          <p:nvPr>
            <p:ph sz="quarter" idx="4"/>
          </p:nvPr>
        </p:nvSpPr>
        <p:spPr>
          <a:xfrm>
            <a:off x="5032111" y="2174875"/>
            <a:ext cx="4378590"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 6"/>
          <p:cNvSpPr>
            <a:spLocks noGrp="1"/>
          </p:cNvSpPr>
          <p:nvPr>
            <p:ph type="dt" sz="half" idx="10"/>
          </p:nvPr>
        </p:nvSpPr>
        <p:spPr/>
        <p:txBody>
          <a:bodyPr/>
          <a:lstStyle/>
          <a:p>
            <a:fld id="{0A49BD1E-31C5-4520-B82E-04337BC9ED08}" type="datetime1">
              <a:rPr kumimoji="1" lang="ja-JP" altLang="en-US" smtClean="0"/>
              <a:pPr/>
              <a:t>2026/5/20</a:t>
            </a:fld>
            <a:endParaRPr kumimoji="1" lang="ja-JP" altLang="en-US"/>
          </a:p>
        </p:txBody>
      </p:sp>
      <p:sp>
        <p:nvSpPr>
          <p:cNvPr id="8" name="フッター プレースホルダ 7"/>
          <p:cNvSpPr>
            <a:spLocks noGrp="1"/>
          </p:cNvSpPr>
          <p:nvPr>
            <p:ph type="ftr" sz="quarter" idx="11"/>
          </p:nvPr>
        </p:nvSpPr>
        <p:spPr/>
        <p:txBody>
          <a:bodyPr/>
          <a:lstStyle/>
          <a:p>
            <a:endParaRPr kumimoji="1" lang="ja-JP" altLang="en-US"/>
          </a:p>
        </p:txBody>
      </p:sp>
      <p:sp>
        <p:nvSpPr>
          <p:cNvPr id="9" name="スライド番号プレースホルダ 8"/>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日付プレースホルダ 2"/>
          <p:cNvSpPr>
            <a:spLocks noGrp="1"/>
          </p:cNvSpPr>
          <p:nvPr>
            <p:ph type="dt" sz="half" idx="10"/>
          </p:nvPr>
        </p:nvSpPr>
        <p:spPr/>
        <p:txBody>
          <a:bodyPr/>
          <a:lstStyle/>
          <a:p>
            <a:fld id="{638DA76A-BB70-46AD-B592-B57DADC28816}" type="datetime1">
              <a:rPr kumimoji="1" lang="ja-JP" altLang="en-US" smtClean="0"/>
              <a:pPr/>
              <a:t>2026/5/20</a:t>
            </a:fld>
            <a:endParaRPr kumimoji="1" lang="ja-JP" altLang="en-US"/>
          </a:p>
        </p:txBody>
      </p:sp>
      <p:sp>
        <p:nvSpPr>
          <p:cNvPr id="4" name="フッター プレースホルダ 3"/>
          <p:cNvSpPr>
            <a:spLocks noGrp="1"/>
          </p:cNvSpPr>
          <p:nvPr>
            <p:ph type="ftr" sz="quarter" idx="11"/>
          </p:nvPr>
        </p:nvSpPr>
        <p:spPr/>
        <p:txBody>
          <a:bodyPr/>
          <a:lstStyle/>
          <a:p>
            <a:endParaRPr kumimoji="1" lang="ja-JP" altLang="en-US"/>
          </a:p>
        </p:txBody>
      </p:sp>
      <p:sp>
        <p:nvSpPr>
          <p:cNvPr id="5" name="スライド番号プレースホルダ 4"/>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p:txBody>
          <a:bodyPr/>
          <a:lstStyle/>
          <a:p>
            <a:fld id="{19297B68-78AE-4B40-9B77-32E3BBE4C65E}" type="datetime1">
              <a:rPr kumimoji="1" lang="ja-JP" altLang="en-US" smtClean="0"/>
              <a:pPr/>
              <a:t>2026/5/20</a:t>
            </a:fld>
            <a:endParaRPr kumimoji="1" lang="ja-JP" altLang="en-US"/>
          </a:p>
        </p:txBody>
      </p:sp>
      <p:sp>
        <p:nvSpPr>
          <p:cNvPr id="3" name="フッター プレースホルダ 2"/>
          <p:cNvSpPr>
            <a:spLocks noGrp="1"/>
          </p:cNvSpPr>
          <p:nvPr>
            <p:ph type="ftr" sz="quarter" idx="11"/>
          </p:nvPr>
        </p:nvSpPr>
        <p:spPr/>
        <p:txBody>
          <a:bodyPr/>
          <a:lstStyle/>
          <a:p>
            <a:endParaRPr kumimoji="1" lang="ja-JP" altLang="en-US"/>
          </a:p>
        </p:txBody>
      </p:sp>
      <p:sp>
        <p:nvSpPr>
          <p:cNvPr id="4" name="スライド番号プレースホルダ 3"/>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3050"/>
            <a:ext cx="3259006" cy="1162050"/>
          </a:xfrm>
          <a:prstGeom prst="rect">
            <a:avLst/>
          </a:prstGeom>
        </p:spPr>
        <p:txBody>
          <a:bodyPr anchor="b"/>
          <a:lstStyle>
            <a:lvl1pPr algn="l">
              <a:defRPr sz="2000" b="1"/>
            </a:lvl1pPr>
          </a:lstStyle>
          <a:p>
            <a:r>
              <a:rPr kumimoji="1" lang="ja-JP" altLang="en-US"/>
              <a:t>マスタ タイトルの書式設定</a:t>
            </a:r>
          </a:p>
        </p:txBody>
      </p:sp>
      <p:sp>
        <p:nvSpPr>
          <p:cNvPr id="3" name="コンテンツ プレースホルダ 2"/>
          <p:cNvSpPr>
            <a:spLocks noGrp="1"/>
          </p:cNvSpPr>
          <p:nvPr>
            <p:ph idx="1"/>
          </p:nvPr>
        </p:nvSpPr>
        <p:spPr>
          <a:xfrm>
            <a:off x="3872971" y="273051"/>
            <a:ext cx="5537729"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 3"/>
          <p:cNvSpPr>
            <a:spLocks noGrp="1"/>
          </p:cNvSpPr>
          <p:nvPr>
            <p:ph type="body" sz="half" idx="2"/>
          </p:nvPr>
        </p:nvSpPr>
        <p:spPr>
          <a:xfrm>
            <a:off x="495300" y="1435101"/>
            <a:ext cx="3259006"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5" name="日付プレースホルダ 4"/>
          <p:cNvSpPr>
            <a:spLocks noGrp="1"/>
          </p:cNvSpPr>
          <p:nvPr>
            <p:ph type="dt" sz="half" idx="10"/>
          </p:nvPr>
        </p:nvSpPr>
        <p:spPr/>
        <p:txBody>
          <a:bodyPr/>
          <a:lstStyle/>
          <a:p>
            <a:fld id="{5581A2F7-89F4-4CBB-9F6E-BD9D54E64EE6}"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941645" y="4800600"/>
            <a:ext cx="5943600" cy="566738"/>
          </a:xfrm>
          <a:prstGeom prst="rect">
            <a:avLst/>
          </a:prstGeom>
        </p:spPr>
        <p:txBody>
          <a:bodyPr anchor="b"/>
          <a:lstStyle>
            <a:lvl1pPr algn="l">
              <a:defRPr sz="2000" b="1"/>
            </a:lvl1pPr>
          </a:lstStyle>
          <a:p>
            <a:r>
              <a:rPr kumimoji="1" lang="ja-JP" altLang="en-US"/>
              <a:t>マスタ タイトルの書式設定</a:t>
            </a:r>
          </a:p>
        </p:txBody>
      </p:sp>
      <p:sp>
        <p:nvSpPr>
          <p:cNvPr id="3" name="図プレースホルダ 2"/>
          <p:cNvSpPr>
            <a:spLocks noGrp="1"/>
          </p:cNvSpPr>
          <p:nvPr>
            <p:ph type="pic" idx="1"/>
          </p:nvPr>
        </p:nvSpPr>
        <p:spPr>
          <a:xfrm>
            <a:off x="1941645" y="612775"/>
            <a:ext cx="59436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 3"/>
          <p:cNvSpPr>
            <a:spLocks noGrp="1"/>
          </p:cNvSpPr>
          <p:nvPr>
            <p:ph type="body" sz="half" idx="2"/>
          </p:nvPr>
        </p:nvSpPr>
        <p:spPr>
          <a:xfrm>
            <a:off x="1941645" y="5367338"/>
            <a:ext cx="59436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5" name="日付プレースホルダ 4"/>
          <p:cNvSpPr>
            <a:spLocks noGrp="1"/>
          </p:cNvSpPr>
          <p:nvPr>
            <p:ph type="dt" sz="half" idx="10"/>
          </p:nvPr>
        </p:nvSpPr>
        <p:spPr/>
        <p:txBody>
          <a:bodyPr/>
          <a:lstStyle/>
          <a:p>
            <a:fld id="{3F0CFBB6-5FCD-4CD1-A658-5A106B94C497}"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縦書きテキスト プレースホルダ 2"/>
          <p:cNvSpPr>
            <a:spLocks noGrp="1"/>
          </p:cNvSpPr>
          <p:nvPr>
            <p:ph type="body" orient="vert" idx="1"/>
          </p:nvPr>
        </p:nvSpPr>
        <p:spPr>
          <a:xfrm>
            <a:off x="495300" y="1600201"/>
            <a:ext cx="8915400" cy="4525963"/>
          </a:xfrm>
          <a:prstGeom prst="rect">
            <a:avLst/>
          </a:prstGeom>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B0EC7A81-3346-464B-A479-530443E8B95D}"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7780337" y="274639"/>
            <a:ext cx="2414588" cy="5851525"/>
          </a:xfrm>
          <a:prstGeom prst="rect">
            <a:avLst/>
          </a:prstGeom>
        </p:spPr>
        <p:txBody>
          <a:bodyPr vert="eaVert"/>
          <a:lstStyle/>
          <a:p>
            <a:r>
              <a:rPr kumimoji="1" lang="ja-JP" altLang="en-US"/>
              <a:t>マスタ タイトルの書式設定</a:t>
            </a:r>
          </a:p>
        </p:txBody>
      </p:sp>
      <p:sp>
        <p:nvSpPr>
          <p:cNvPr id="3" name="縦書きテキスト プレースホルダ 2"/>
          <p:cNvSpPr>
            <a:spLocks noGrp="1"/>
          </p:cNvSpPr>
          <p:nvPr>
            <p:ph type="body" orient="vert" idx="1"/>
          </p:nvPr>
        </p:nvSpPr>
        <p:spPr>
          <a:xfrm>
            <a:off x="536575" y="274639"/>
            <a:ext cx="7078663" cy="5851525"/>
          </a:xfrm>
          <a:prstGeom prst="rect">
            <a:avLst/>
          </a:prstGeom>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CF472015-3E19-41F4-BCCA-3D5A7443FCC4}"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縦書きタイトルと縦書きテキスト">
    <p:spTree>
      <p:nvGrpSpPr>
        <p:cNvPr id="1" name=""/>
        <p:cNvGrpSpPr/>
        <p:nvPr/>
      </p:nvGrpSpPr>
      <p:grpSpPr>
        <a:xfrm>
          <a:off x="0" y="0"/>
          <a:ext cx="0" cy="0"/>
          <a:chOff x="0" y="0"/>
          <a:chExt cx="0" cy="0"/>
        </a:xfrm>
      </p:grpSpPr>
      <p:sp>
        <p:nvSpPr>
          <p:cNvPr id="7" name="正方形/長方形 6"/>
          <p:cNvSpPr/>
          <p:nvPr userDrawn="1"/>
        </p:nvSpPr>
        <p:spPr>
          <a:xfrm>
            <a:off x="0" y="0"/>
            <a:ext cx="9906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2607685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2"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6"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097"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7" name="Text Box 31"/>
          <p:cNvSpPr txBox="1">
            <a:spLocks noChangeArrowheads="1"/>
          </p:cNvSpPr>
          <p:nvPr userDrawn="1"/>
        </p:nvSpPr>
        <p:spPr bwMode="auto">
          <a:xfrm>
            <a:off x="42215" y="6580035"/>
            <a:ext cx="4206531" cy="223587"/>
          </a:xfrm>
          <a:prstGeom prst="rect">
            <a:avLst/>
          </a:prstGeom>
          <a:noFill/>
          <a:ln w="9525">
            <a:noFill/>
            <a:miter lim="800000"/>
            <a:headEnd/>
            <a:tailEnd/>
          </a:ln>
          <a:effectLst/>
        </p:spPr>
        <p:txBody>
          <a:bodyPr wrap="square">
            <a:spAutoFit/>
          </a:bodyPr>
          <a:lstStyle/>
          <a:p>
            <a:pPr>
              <a:defRPr/>
            </a:pPr>
            <a:r>
              <a:rPr lang="en-US" altLang="ja-JP" sz="853" b="1" dirty="0" err="1">
                <a:solidFill>
                  <a:schemeClr val="bg1"/>
                </a:solidFill>
                <a:latin typeface="Monotype Corsiva" pitchFamily="66" charset="0"/>
                <a:ea typeface="HGP創英角ｺﾞｼｯｸUB" pitchFamily="50" charset="-128"/>
              </a:rPr>
              <a:t>Copyright©Funai</a:t>
            </a:r>
            <a:r>
              <a:rPr lang="en-US" altLang="ja-JP" sz="853" b="1" dirty="0">
                <a:solidFill>
                  <a:schemeClr val="bg1"/>
                </a:solidFill>
                <a:latin typeface="Monotype Corsiva" pitchFamily="66" charset="0"/>
                <a:ea typeface="HGP創英角ｺﾞｼｯｸUB" pitchFamily="50" charset="-128"/>
              </a:rPr>
              <a:t> Consulting Incorporated </a:t>
            </a:r>
            <a:r>
              <a:rPr lang="ja-JP" altLang="en-US" sz="853" b="1" dirty="0">
                <a:solidFill>
                  <a:schemeClr val="bg1"/>
                </a:solidFill>
                <a:latin typeface="Monotype Corsiva" pitchFamily="66" charset="0"/>
                <a:ea typeface="HGP創英角ｺﾞｼｯｸUB" pitchFamily="50" charset="-128"/>
              </a:rPr>
              <a:t>　　（</a:t>
            </a:r>
            <a:r>
              <a:rPr lang="en-US" altLang="ja-JP" sz="853" b="1" dirty="0" err="1">
                <a:solidFill>
                  <a:schemeClr val="bg1"/>
                </a:solidFill>
                <a:latin typeface="Monotype Corsiva" pitchFamily="66" charset="0"/>
                <a:ea typeface="HGP創英角ｺﾞｼｯｸUB" pitchFamily="50" charset="-128"/>
              </a:rPr>
              <a:t>Funai</a:t>
            </a:r>
            <a:r>
              <a:rPr lang="en-US" altLang="ja-JP" sz="853" b="1" dirty="0">
                <a:solidFill>
                  <a:schemeClr val="bg1"/>
                </a:solidFill>
                <a:latin typeface="Monotype Corsiva" pitchFamily="66" charset="0"/>
                <a:ea typeface="HGP創英角ｺﾞｼｯｸUB" pitchFamily="50" charset="-128"/>
              </a:rPr>
              <a:t> Consulting</a:t>
            </a:r>
            <a:r>
              <a:rPr lang="ja-JP" altLang="en-US" sz="853" b="1" dirty="0">
                <a:solidFill>
                  <a:schemeClr val="bg1"/>
                </a:solidFill>
                <a:latin typeface="Monotype Corsiva" pitchFamily="66" charset="0"/>
                <a:ea typeface="HGP創英角ｺﾞｼｯｸUB" pitchFamily="50" charset="-128"/>
              </a:rPr>
              <a:t> </a:t>
            </a:r>
            <a:r>
              <a:rPr lang="en-US" altLang="ja-JP" sz="853" b="1" dirty="0">
                <a:solidFill>
                  <a:schemeClr val="bg1"/>
                </a:solidFill>
                <a:latin typeface="Monotype Corsiva" pitchFamily="66" charset="0"/>
                <a:ea typeface="HGP創英角ｺﾞｼｯｸUB" pitchFamily="50" charset="-128"/>
              </a:rPr>
              <a:t>Inc.</a:t>
            </a:r>
            <a:r>
              <a:rPr lang="ja-JP" altLang="en-US" sz="853" b="1" dirty="0">
                <a:solidFill>
                  <a:schemeClr val="bg1"/>
                </a:solidFill>
                <a:latin typeface="Monotype Corsiva" pitchFamily="66" charset="0"/>
                <a:ea typeface="HGP創英角ｺﾞｼｯｸUB" pitchFamily="50" charset="-128"/>
              </a:rPr>
              <a:t>）</a:t>
            </a:r>
            <a:endParaRPr lang="en-US" altLang="ja-JP" sz="853"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4"/>
            <a:ext cx="2228850" cy="365125"/>
          </a:xfrm>
        </p:spPr>
        <p:txBody>
          <a:bodyPr/>
          <a:lstStyle>
            <a:lvl1pPr>
              <a:defRPr sz="975"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6"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4" name="タイトル 1"/>
          <p:cNvSpPr>
            <a:spLocks noGrp="1"/>
          </p:cNvSpPr>
          <p:nvPr>
            <p:ph type="title"/>
          </p:nvPr>
        </p:nvSpPr>
        <p:spPr>
          <a:xfrm>
            <a:off x="255770" y="245205"/>
            <a:ext cx="9378222" cy="605918"/>
          </a:xfrm>
        </p:spPr>
        <p:txBody>
          <a:bodyPr>
            <a:noAutofit/>
          </a:bodyPr>
          <a:lstStyle>
            <a:lvl1pPr algn="ctr">
              <a:defRPr sz="2925"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7" name="正方形/長方形 36"/>
          <p:cNvSpPr/>
          <p:nvPr userDrawn="1"/>
        </p:nvSpPr>
        <p:spPr>
          <a:xfrm>
            <a:off x="-200668" y="-3521490"/>
            <a:ext cx="11734664"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8" name="正方形/長方形 37"/>
          <p:cNvSpPr/>
          <p:nvPr userDrawn="1"/>
        </p:nvSpPr>
        <p:spPr>
          <a:xfrm>
            <a:off x="9918182"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7" name="楕円 26"/>
          <p:cNvSpPr/>
          <p:nvPr userDrawn="1"/>
        </p:nvSpPr>
        <p:spPr>
          <a:xfrm>
            <a:off x="10081668" y="4975634"/>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8" name="楕円 27"/>
          <p:cNvSpPr/>
          <p:nvPr userDrawn="1"/>
        </p:nvSpPr>
        <p:spPr>
          <a:xfrm>
            <a:off x="10081668" y="3641508"/>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9" name="楕円 28"/>
          <p:cNvSpPr/>
          <p:nvPr userDrawn="1"/>
        </p:nvSpPr>
        <p:spPr>
          <a:xfrm>
            <a:off x="10081668" y="2307384"/>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0" name="楕円 29"/>
          <p:cNvSpPr/>
          <p:nvPr userDrawn="1"/>
        </p:nvSpPr>
        <p:spPr>
          <a:xfrm>
            <a:off x="10081668" y="973259"/>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1" name="四角形吹き出し 30"/>
          <p:cNvSpPr/>
          <p:nvPr userDrawn="1"/>
        </p:nvSpPr>
        <p:spPr>
          <a:xfrm>
            <a:off x="10657070"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文字の色</a:t>
            </a:r>
          </a:p>
        </p:txBody>
      </p:sp>
      <p:sp>
        <p:nvSpPr>
          <p:cNvPr id="32" name="四角形吹き出し 31"/>
          <p:cNvSpPr/>
          <p:nvPr userDrawn="1"/>
        </p:nvSpPr>
        <p:spPr>
          <a:xfrm>
            <a:off x="10657070"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やじるしなどの図形の色</a:t>
            </a:r>
          </a:p>
        </p:txBody>
      </p:sp>
      <p:sp>
        <p:nvSpPr>
          <p:cNvPr id="33" name="四角形吹き出し 32"/>
          <p:cNvSpPr/>
          <p:nvPr userDrawn="1"/>
        </p:nvSpPr>
        <p:spPr>
          <a:xfrm>
            <a:off x="10657070"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ベースの色</a:t>
            </a:r>
          </a:p>
        </p:txBody>
      </p:sp>
      <p:sp>
        <p:nvSpPr>
          <p:cNvPr id="34" name="四角形吹き出し 33"/>
          <p:cNvSpPr/>
          <p:nvPr userDrawn="1"/>
        </p:nvSpPr>
        <p:spPr>
          <a:xfrm>
            <a:off x="10657070"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タイトル（目次と対応させてください。）</a:t>
            </a:r>
            <a:endParaRPr kumimoji="1" lang="en-US" altLang="ja-JP" sz="1097" dirty="0"/>
          </a:p>
          <a:p>
            <a:pPr algn="ctr"/>
            <a:r>
              <a:rPr kumimoji="1" lang="ja-JP" altLang="en-US" sz="1097" dirty="0"/>
              <a:t>フォント：メイリオ見出し</a:t>
            </a:r>
            <a:endParaRPr kumimoji="1" lang="en-US" altLang="ja-JP" sz="1097" dirty="0"/>
          </a:p>
          <a:p>
            <a:pPr algn="ctr"/>
            <a:r>
              <a:rPr lang="ja-JP" altLang="en-US" sz="1097" dirty="0"/>
              <a:t>サイズ：</a:t>
            </a:r>
            <a:r>
              <a:rPr lang="en-US" altLang="ja-JP" sz="1097" dirty="0"/>
              <a:t>48</a:t>
            </a:r>
          </a:p>
          <a:p>
            <a:pPr algn="ctr"/>
            <a:r>
              <a:rPr lang="ja-JP" altLang="en-US" sz="1097" dirty="0"/>
              <a:t>ボールド</a:t>
            </a:r>
            <a:endParaRPr lang="en-US" altLang="ja-JP" sz="1097" dirty="0"/>
          </a:p>
          <a:p>
            <a:pPr algn="ctr"/>
            <a:r>
              <a:rPr lang="ja-JP" altLang="en-US" sz="1097" dirty="0"/>
              <a:t>真ん中寄せ</a:t>
            </a:r>
            <a:endParaRPr kumimoji="1" lang="en-US" altLang="ja-JP" sz="1097" dirty="0"/>
          </a:p>
        </p:txBody>
      </p:sp>
      <p:sp>
        <p:nvSpPr>
          <p:cNvPr id="45" name="四角形吹き出し 44"/>
          <p:cNvSpPr/>
          <p:nvPr userDrawn="1"/>
        </p:nvSpPr>
        <p:spPr>
          <a:xfrm>
            <a:off x="-2933550"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小見出し</a:t>
            </a:r>
            <a:endParaRPr kumimoji="1" lang="en-US" altLang="ja-JP" sz="1097" dirty="0"/>
          </a:p>
          <a:p>
            <a:pPr algn="ctr"/>
            <a:r>
              <a:rPr kumimoji="1" lang="ja-JP" altLang="en-US" sz="1097" dirty="0"/>
              <a:t>フォント：メイリオ本文</a:t>
            </a:r>
            <a:endParaRPr kumimoji="1" lang="en-US" altLang="ja-JP" sz="1097" dirty="0"/>
          </a:p>
          <a:p>
            <a:pPr algn="ctr"/>
            <a:r>
              <a:rPr lang="ja-JP" altLang="en-US" sz="1097" dirty="0"/>
              <a:t>サイズ：</a:t>
            </a:r>
            <a:r>
              <a:rPr lang="en-US" altLang="ja-JP" sz="1097" dirty="0"/>
              <a:t>32</a:t>
            </a:r>
          </a:p>
          <a:p>
            <a:pPr algn="ctr"/>
            <a:r>
              <a:rPr lang="ja-JP" altLang="en-US" sz="1097" dirty="0"/>
              <a:t>ボールド</a:t>
            </a:r>
            <a:endParaRPr lang="en-US" altLang="ja-JP" sz="1097" dirty="0"/>
          </a:p>
          <a:p>
            <a:pPr algn="ctr"/>
            <a:r>
              <a:rPr kumimoji="1" lang="ja-JP" altLang="en-US" sz="1097" dirty="0"/>
              <a:t>左寄せ</a:t>
            </a:r>
            <a:endParaRPr kumimoji="1" lang="en-US" altLang="ja-JP" sz="1097" dirty="0"/>
          </a:p>
        </p:txBody>
      </p:sp>
      <p:sp>
        <p:nvSpPr>
          <p:cNvPr id="46" name="四角形吹き出し 45"/>
          <p:cNvSpPr/>
          <p:nvPr userDrawn="1"/>
        </p:nvSpPr>
        <p:spPr>
          <a:xfrm>
            <a:off x="-2933550"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本文</a:t>
            </a:r>
            <a:endParaRPr kumimoji="1" lang="en-US" altLang="ja-JP" sz="1097" dirty="0"/>
          </a:p>
          <a:p>
            <a:pPr algn="ctr"/>
            <a:r>
              <a:rPr kumimoji="1" lang="ja-JP" altLang="en-US" sz="1097" dirty="0"/>
              <a:t>フォント：メイリオ本文</a:t>
            </a:r>
            <a:endParaRPr kumimoji="1" lang="en-US" altLang="ja-JP" sz="1097" dirty="0"/>
          </a:p>
          <a:p>
            <a:pPr algn="ctr"/>
            <a:r>
              <a:rPr lang="ja-JP" altLang="en-US" sz="1097" dirty="0"/>
              <a:t>サイズ：</a:t>
            </a:r>
            <a:r>
              <a:rPr lang="en-US" altLang="ja-JP" sz="1097" dirty="0"/>
              <a:t>18</a:t>
            </a:r>
          </a:p>
          <a:p>
            <a:pPr algn="ctr"/>
            <a:r>
              <a:rPr kumimoji="1" lang="ja-JP" altLang="en-US" sz="1097" dirty="0"/>
              <a:t>左寄せ</a:t>
            </a:r>
            <a:endParaRPr kumimoji="1" lang="en-US" altLang="ja-JP" sz="1097" dirty="0"/>
          </a:p>
        </p:txBody>
      </p:sp>
      <p:sp>
        <p:nvSpPr>
          <p:cNvPr id="23" name="四角形吹き出し 22"/>
          <p:cNvSpPr/>
          <p:nvPr userDrawn="1"/>
        </p:nvSpPr>
        <p:spPr>
          <a:xfrm>
            <a:off x="10657070"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この赤ガイド線内に収まるように作成してください</a:t>
            </a:r>
          </a:p>
        </p:txBody>
      </p:sp>
    </p:spTree>
    <p:extLst>
      <p:ext uri="{BB962C8B-B14F-4D97-AF65-F5344CB8AC3E}">
        <p14:creationId xmlns:p14="http://schemas.microsoft.com/office/powerpoint/2010/main" val="1762095009"/>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84438440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63855536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91745856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4846923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437342069"/>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21736269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40315447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1834291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1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11140612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1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91924230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1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82875826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1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15744121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1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42167933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1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26300916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97072234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22503225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7873026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1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07982605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2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7752799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2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65757162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2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17370845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2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94676324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2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78273959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2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51742415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2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645161495"/>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11734280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46275752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2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15822512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3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57635899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3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044164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3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52193495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3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22076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3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98557532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3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4557753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3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7133986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3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Tree>
    <p:extLst>
      <p:ext uri="{BB962C8B-B14F-4D97-AF65-F5344CB8AC3E}">
        <p14:creationId xmlns:p14="http://schemas.microsoft.com/office/powerpoint/2010/main" val="389747795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3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65194846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3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21340339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4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06490185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2_タイトル スライド">
    <p:spTree>
      <p:nvGrpSpPr>
        <p:cNvPr id="1" name=""/>
        <p:cNvGrpSpPr/>
        <p:nvPr/>
      </p:nvGrpSpPr>
      <p:grpSpPr>
        <a:xfrm>
          <a:off x="0" y="0"/>
          <a:ext cx="0" cy="0"/>
          <a:chOff x="0" y="0"/>
          <a:chExt cx="0" cy="0"/>
        </a:xfrm>
      </p:grpSpPr>
      <p:cxnSp>
        <p:nvCxnSpPr>
          <p:cNvPr id="7" name="直線コネクタ 6"/>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10" name="テキスト ボックス 9"/>
          <p:cNvSpPr txBox="1"/>
          <p:nvPr userDrawn="1"/>
        </p:nvSpPr>
        <p:spPr>
          <a:xfrm>
            <a:off x="34397" y="6634602"/>
            <a:ext cx="3240360" cy="216024"/>
          </a:xfrm>
          <a:prstGeom prst="rect">
            <a:avLst/>
          </a:prstGeom>
          <a:noFill/>
        </p:spPr>
        <p:txBody>
          <a:bodyPr wrap="square" lIns="0" tIns="0" rIns="0" bIns="0" rtlCol="0" anchor="ctr">
            <a:noAutofit/>
          </a:bodyPr>
          <a:lstStyle/>
          <a:p>
            <a:pPr marL="0" marR="0" indent="0" algn="l" defTabSz="742950" rtl="0" eaLnBrk="1" fontAlgn="base" latinLnBrk="0" hangingPunct="1">
              <a:lnSpc>
                <a:spcPct val="125000"/>
              </a:lnSpc>
              <a:spcBef>
                <a:spcPct val="0"/>
              </a:spcBef>
              <a:spcAft>
                <a:spcPct val="0"/>
              </a:spcAft>
              <a:buClrTx/>
              <a:buSzTx/>
              <a:buFontTx/>
              <a:buNone/>
              <a:tabLst/>
              <a:defRPr/>
            </a:pPr>
            <a:r>
              <a:rPr lang="en-US" altLang="ja-JP" sz="650" dirty="0">
                <a:solidFill>
                  <a:schemeClr val="tx1"/>
                </a:solidFill>
                <a:latin typeface="Lucida Calligraphy" pitchFamily="66" charset="0"/>
                <a:ea typeface="Arial Unicode MS" pitchFamily="50" charset="-128"/>
                <a:cs typeface="Arial Unicode MS" pitchFamily="50" charset="-128"/>
              </a:rPr>
              <a:t>Copyright </a:t>
            </a:r>
            <a:r>
              <a:rPr lang="ja-JP" altLang="en-US" sz="650" dirty="0">
                <a:solidFill>
                  <a:schemeClr val="tx1"/>
                </a:solidFill>
                <a:latin typeface="Lucida Calligraphy" pitchFamily="66" charset="0"/>
                <a:ea typeface="Arial Unicode MS" pitchFamily="50" charset="-128"/>
                <a:cs typeface="Arial Unicode MS" pitchFamily="50" charset="-128"/>
              </a:rPr>
              <a:t> </a:t>
            </a:r>
            <a:r>
              <a:rPr lang="en-US" altLang="ja-JP" sz="650" dirty="0">
                <a:solidFill>
                  <a:schemeClr val="tx1"/>
                </a:solidFill>
                <a:latin typeface="Lucida Calligraphy" pitchFamily="66" charset="0"/>
                <a:ea typeface="Arial Unicode MS" pitchFamily="50" charset="-128"/>
                <a:cs typeface="Arial Unicode MS" pitchFamily="50" charset="-128"/>
              </a:rPr>
              <a:t>Funai Consulting Inc.</a:t>
            </a:r>
            <a:r>
              <a:rPr lang="ja-JP" altLang="en-US" sz="650" baseline="0" dirty="0">
                <a:solidFill>
                  <a:schemeClr val="tx1"/>
                </a:solidFill>
                <a:latin typeface="Lucida Calligraphy" pitchFamily="66" charset="0"/>
                <a:ea typeface="Arial Unicode MS" pitchFamily="50" charset="-128"/>
                <a:cs typeface="Arial Unicode MS" pitchFamily="50" charset="-128"/>
              </a:rPr>
              <a:t> </a:t>
            </a:r>
            <a:r>
              <a:rPr lang="en-US" altLang="ja-JP" sz="650" baseline="0" dirty="0">
                <a:solidFill>
                  <a:schemeClr val="tx1"/>
                </a:solidFill>
                <a:latin typeface="Lucida Calligraphy" pitchFamily="66" charset="0"/>
                <a:ea typeface="Arial Unicode MS" pitchFamily="50" charset="-128"/>
                <a:cs typeface="Arial Unicode MS" pitchFamily="50" charset="-128"/>
              </a:rPr>
              <a:t>All Rights Reserved.</a:t>
            </a:r>
            <a:endParaRPr kumimoji="1" lang="ja-JP" altLang="en-US" sz="650" kern="1200" dirty="0">
              <a:solidFill>
                <a:schemeClr val="tx1"/>
              </a:solidFill>
              <a:latin typeface="Lucida Calligraphy" pitchFamily="66" charset="0"/>
              <a:ea typeface="Arial Unicode MS" pitchFamily="50" charset="-128"/>
              <a:cs typeface="Arial Unicode MS" pitchFamily="50" charset="-128"/>
            </a:endParaRPr>
          </a:p>
        </p:txBody>
      </p:sp>
      <p:sp>
        <p:nvSpPr>
          <p:cNvPr id="11" name="スライド番号プレースホルダ 5"/>
          <p:cNvSpPr txBox="1">
            <a:spLocks/>
          </p:cNvSpPr>
          <p:nvPr userDrawn="1"/>
        </p:nvSpPr>
        <p:spPr>
          <a:xfrm>
            <a:off x="3797300" y="6592269"/>
            <a:ext cx="2311400" cy="365125"/>
          </a:xfrm>
          <a:prstGeom prst="rect">
            <a:avLst/>
          </a:prstGeom>
        </p:spPr>
        <p:txBody>
          <a:bodyPr vert="horz" lIns="74295" tIns="37148" rIns="74295" bIns="37148"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74295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731" b="0" i="0" u="none" strike="noStrike" kern="1200" cap="none" spc="0" normalizeH="0" baseline="0" noProof="0" smtClean="0">
                <a:ln>
                  <a:noFill/>
                </a:ln>
                <a:solidFill>
                  <a:schemeClr val="tx1"/>
                </a:solidFill>
                <a:effectLst/>
                <a:uLnTx/>
                <a:uFillTx/>
                <a:latin typeface="Meiryo UI" panose="020B0604030504040204" pitchFamily="50" charset="-128"/>
                <a:ea typeface="Meiryo UI" panose="020B0604030504040204" pitchFamily="50" charset="-128"/>
                <a:cs typeface="+mn-cs"/>
              </a:rPr>
              <a:pPr marL="0" marR="0" lvl="0" indent="0" algn="ctr" defTabSz="742950" rtl="0" eaLnBrk="1" fontAlgn="auto" latinLnBrk="0" hangingPunct="1">
                <a:lnSpc>
                  <a:spcPct val="100000"/>
                </a:lnSpc>
                <a:spcBef>
                  <a:spcPts val="0"/>
                </a:spcBef>
                <a:spcAft>
                  <a:spcPts val="0"/>
                </a:spcAft>
                <a:buClrTx/>
                <a:buSzTx/>
                <a:buFontTx/>
                <a:buNone/>
                <a:tabLst/>
                <a:defRPr/>
              </a:pPr>
              <a:t>‹#›</a:t>
            </a:fld>
            <a:endParaRPr kumimoji="1" lang="ja-JP" altLang="en-US" sz="731"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2" name="タイトル 1"/>
          <p:cNvSpPr>
            <a:spLocks noGrp="1"/>
          </p:cNvSpPr>
          <p:nvPr>
            <p:ph type="ctrTitle"/>
          </p:nvPr>
        </p:nvSpPr>
        <p:spPr>
          <a:xfrm>
            <a:off x="-2" y="8468"/>
            <a:ext cx="8949798" cy="620688"/>
          </a:xfrm>
        </p:spPr>
        <p:txBody>
          <a:bodyPr>
            <a:normAutofit/>
          </a:bodyPr>
          <a:lstStyle>
            <a:lvl1pPr>
              <a:defRPr sz="2600" b="1">
                <a:latin typeface="Meiryo UI" panose="020B0604030504040204" pitchFamily="50" charset="-128"/>
                <a:ea typeface="Meiryo UI" panose="020B0604030504040204" pitchFamily="50" charset="-128"/>
              </a:defRPr>
            </a:lvl1pPr>
          </a:lstStyle>
          <a:p>
            <a:r>
              <a:rPr kumimoji="1" lang="ja-JP" altLang="en-US"/>
              <a:t>マスタ タイトルの書式設定</a:t>
            </a:r>
          </a:p>
        </p:txBody>
      </p:sp>
      <p:pic>
        <p:nvPicPr>
          <p:cNvPr id="8" name="Picture 1" descr="C:\Users\F2034\Pictures\6.会社データ(ロゴ・サイン）\パターンC(タグ無し）\パターンC(タグ無し）カラー.png"/>
          <p:cNvPicPr>
            <a:picLocks noChangeAspect="1" noChangeArrowheads="1"/>
          </p:cNvPicPr>
          <p:nvPr userDrawn="1"/>
        </p:nvPicPr>
        <p:blipFill>
          <a:blip r:embed="rId2" cstate="print"/>
          <a:srcRect/>
          <a:stretch>
            <a:fillRect/>
          </a:stretch>
        </p:blipFill>
        <p:spPr bwMode="auto">
          <a:xfrm>
            <a:off x="8887351" y="68626"/>
            <a:ext cx="979838" cy="504000"/>
          </a:xfrm>
          <a:prstGeom prst="rect">
            <a:avLst/>
          </a:prstGeom>
          <a:noFill/>
        </p:spPr>
      </p:pic>
    </p:spTree>
    <p:extLst>
      <p:ext uri="{BB962C8B-B14F-4D97-AF65-F5344CB8AC3E}">
        <p14:creationId xmlns:p14="http://schemas.microsoft.com/office/powerpoint/2010/main" val="225105981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タイトル">
    <p:spTree>
      <p:nvGrpSpPr>
        <p:cNvPr id="1" name=""/>
        <p:cNvGrpSpPr/>
        <p:nvPr/>
      </p:nvGrpSpPr>
      <p:grpSpPr>
        <a:xfrm>
          <a:off x="0" y="0"/>
          <a:ext cx="0" cy="0"/>
          <a:chOff x="0" y="0"/>
          <a:chExt cx="0" cy="0"/>
        </a:xfrm>
      </p:grpSpPr>
      <p:sp>
        <p:nvSpPr>
          <p:cNvPr id="4" name="日付プレースホルダ 3"/>
          <p:cNvSpPr>
            <a:spLocks noGrp="1"/>
          </p:cNvSpPr>
          <p:nvPr>
            <p:ph type="dt" sz="half" idx="10"/>
          </p:nvPr>
        </p:nvSpPr>
        <p:spPr/>
        <p:txBody>
          <a:bodyPr/>
          <a:lstStyle/>
          <a:p>
            <a:fld id="{291B9067-D5A7-4D20-AE49-915E5BDB9F4F}"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Line 6">
            <a:extLst>
              <a:ext uri="{FF2B5EF4-FFF2-40B4-BE49-F238E27FC236}">
                <a16:creationId xmlns:a16="http://schemas.microsoft.com/office/drawing/2014/main" id="{8E823636-1305-4F53-9866-547E7D8CE7E8}"/>
              </a:ext>
            </a:extLst>
          </p:cNvPr>
          <p:cNvSpPr>
            <a:spLocks noChangeShapeType="1"/>
          </p:cNvSpPr>
          <p:nvPr userDrawn="1"/>
        </p:nvSpPr>
        <p:spPr bwMode="auto">
          <a:xfrm>
            <a:off x="438150" y="3403600"/>
            <a:ext cx="8979346" cy="0"/>
          </a:xfrm>
          <a:prstGeom prst="line">
            <a:avLst/>
          </a:prstGeom>
          <a:noFill/>
          <a:ln w="38100">
            <a:solidFill>
              <a:srgbClr val="808080"/>
            </a:solidFill>
            <a:round/>
            <a:headEnd/>
            <a:tailEnd/>
          </a:ln>
        </p:spPr>
        <p:txBody>
          <a:bodyPr/>
          <a:lstStyle/>
          <a:p>
            <a:endParaRPr lang="ja-JP" altLang="en-US"/>
          </a:p>
        </p:txBody>
      </p:sp>
      <p:pic>
        <p:nvPicPr>
          <p:cNvPr id="7" name="図 6" descr="パターンA_カラー.jpg">
            <a:extLst>
              <a:ext uri="{FF2B5EF4-FFF2-40B4-BE49-F238E27FC236}">
                <a16:creationId xmlns:a16="http://schemas.microsoft.com/office/drawing/2014/main" id="{3DBCC9CD-6C0C-47EC-80E8-87633DBE3D9B}"/>
              </a:ext>
            </a:extLst>
          </p:cNvPr>
          <p:cNvPicPr>
            <a:picLocks noChangeAspect="1"/>
          </p:cNvPicPr>
          <p:nvPr userDrawn="1"/>
        </p:nvPicPr>
        <p:blipFill>
          <a:blip r:embed="rId2" cstate="print"/>
          <a:stretch>
            <a:fillRect/>
          </a:stretch>
        </p:blipFill>
        <p:spPr>
          <a:xfrm>
            <a:off x="8193360" y="6453336"/>
            <a:ext cx="1512168" cy="263485"/>
          </a:xfrm>
          <a:prstGeom prst="rect">
            <a:avLst/>
          </a:prstGeom>
        </p:spPr>
      </p:pic>
      <p:sp>
        <p:nvSpPr>
          <p:cNvPr id="9" name="コンテンツ プレースホルダー 8">
            <a:extLst>
              <a:ext uri="{FF2B5EF4-FFF2-40B4-BE49-F238E27FC236}">
                <a16:creationId xmlns:a16="http://schemas.microsoft.com/office/drawing/2014/main" id="{4AFCC08E-3E46-4DAF-AB38-B8819EC7D9A5}"/>
              </a:ext>
            </a:extLst>
          </p:cNvPr>
          <p:cNvSpPr>
            <a:spLocks noGrp="1"/>
          </p:cNvSpPr>
          <p:nvPr>
            <p:ph sz="quarter" idx="12" hasCustomPrompt="1"/>
          </p:nvPr>
        </p:nvSpPr>
        <p:spPr>
          <a:xfrm>
            <a:off x="704528" y="2564904"/>
            <a:ext cx="5545138" cy="719138"/>
          </a:xfrm>
        </p:spPr>
        <p:txBody>
          <a:bodyPr>
            <a:noAutofit/>
          </a:bodyPr>
          <a:lstStyle>
            <a:lvl1pPr marL="0" indent="0">
              <a:buNone/>
              <a:defRPr sz="4400" b="1"/>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〇月度お打合せ資料</a:t>
            </a:r>
          </a:p>
        </p:txBody>
      </p:sp>
      <p:sp>
        <p:nvSpPr>
          <p:cNvPr id="10" name="コンテンツ プレースホルダー 8">
            <a:extLst>
              <a:ext uri="{FF2B5EF4-FFF2-40B4-BE49-F238E27FC236}">
                <a16:creationId xmlns:a16="http://schemas.microsoft.com/office/drawing/2014/main" id="{28B2D2FF-C2AA-40BF-9A54-68583069E683}"/>
              </a:ext>
            </a:extLst>
          </p:cNvPr>
          <p:cNvSpPr>
            <a:spLocks noGrp="1"/>
          </p:cNvSpPr>
          <p:nvPr>
            <p:ph sz="quarter" idx="13" hasCustomPrompt="1"/>
          </p:nvPr>
        </p:nvSpPr>
        <p:spPr>
          <a:xfrm>
            <a:off x="704528" y="2085777"/>
            <a:ext cx="5545138" cy="719138"/>
          </a:xfrm>
        </p:spPr>
        <p:txBody>
          <a:bodyPr>
            <a:noAutofit/>
          </a:bodyPr>
          <a:lstStyle>
            <a:lvl1pPr marL="0" indent="0">
              <a:buNone/>
              <a:defRPr sz="2400" b="1">
                <a:solidFill>
                  <a:schemeClr val="bg1">
                    <a:lumMod val="5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株式会社御中</a:t>
            </a:r>
          </a:p>
        </p:txBody>
      </p:sp>
      <p:sp>
        <p:nvSpPr>
          <p:cNvPr id="11" name="コンテンツ プレースホルダー 8">
            <a:extLst>
              <a:ext uri="{FF2B5EF4-FFF2-40B4-BE49-F238E27FC236}">
                <a16:creationId xmlns:a16="http://schemas.microsoft.com/office/drawing/2014/main" id="{ECF04A37-370B-4768-A875-EF9C667848E9}"/>
              </a:ext>
            </a:extLst>
          </p:cNvPr>
          <p:cNvSpPr>
            <a:spLocks noGrp="1"/>
          </p:cNvSpPr>
          <p:nvPr>
            <p:ph sz="quarter" idx="14" hasCustomPrompt="1"/>
          </p:nvPr>
        </p:nvSpPr>
        <p:spPr>
          <a:xfrm>
            <a:off x="4736976" y="3433465"/>
            <a:ext cx="5545138" cy="719138"/>
          </a:xfrm>
        </p:spPr>
        <p:txBody>
          <a:bodyPr>
            <a:noAutofit/>
          </a:bodyPr>
          <a:lstStyle>
            <a:lvl1pPr marL="0" indent="0">
              <a:buNone/>
              <a:defRPr sz="2400" b="1">
                <a:solidFill>
                  <a:schemeClr val="bg1">
                    <a:lumMod val="5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日付</a:t>
            </a:r>
          </a:p>
        </p:txBody>
      </p:sp>
    </p:spTree>
    <p:extLst>
      <p:ext uri="{BB962C8B-B14F-4D97-AF65-F5344CB8AC3E}">
        <p14:creationId xmlns:p14="http://schemas.microsoft.com/office/powerpoint/2010/main" val="149912360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アジェンダ">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8AEF3C9B-15A5-4754-B97A-474B280C6C7E}"/>
              </a:ext>
            </a:extLst>
          </p:cNvPr>
          <p:cNvSpPr>
            <a:spLocks noGrp="1"/>
          </p:cNvSpPr>
          <p:nvPr>
            <p:ph type="dt" sz="half" idx="10"/>
          </p:nvPr>
        </p:nvSpPr>
        <p:spPr/>
        <p:txBody>
          <a:bodyPr/>
          <a:lstStyle/>
          <a:p>
            <a:fld id="{5ED59477-32A0-4799-AD80-C098563D5CC0}" type="datetime1">
              <a:rPr kumimoji="1" lang="ja-JP" altLang="en-US" smtClean="0"/>
              <a:pPr/>
              <a:t>2026/5/20</a:t>
            </a:fld>
            <a:endParaRPr kumimoji="1" lang="ja-JP" altLang="en-US"/>
          </a:p>
        </p:txBody>
      </p:sp>
      <p:sp>
        <p:nvSpPr>
          <p:cNvPr id="4" name="フッター プレースホルダー 3">
            <a:extLst>
              <a:ext uri="{FF2B5EF4-FFF2-40B4-BE49-F238E27FC236}">
                <a16:creationId xmlns:a16="http://schemas.microsoft.com/office/drawing/2014/main" id="{2CD5602E-9916-437E-9C25-C8047E099BE4}"/>
              </a:ext>
            </a:extLst>
          </p:cNvPr>
          <p:cNvSpPr>
            <a:spLocks noGrp="1"/>
          </p:cNvSpPr>
          <p:nvPr>
            <p:ph type="ftr" sz="quarter" idx="11"/>
          </p:nvPr>
        </p:nvSpPr>
        <p:spPr/>
        <p:txBody>
          <a:bodyPr/>
          <a:lstStyle/>
          <a:p>
            <a:endParaRPr kumimoji="1" lang="ja-JP" altLang="en-US"/>
          </a:p>
        </p:txBody>
      </p:sp>
      <p:sp>
        <p:nvSpPr>
          <p:cNvPr id="5" name="テキスト ボックス 4">
            <a:extLst>
              <a:ext uri="{FF2B5EF4-FFF2-40B4-BE49-F238E27FC236}">
                <a16:creationId xmlns:a16="http://schemas.microsoft.com/office/drawing/2014/main" id="{6B43BD0A-BD54-4DF0-A3BE-6D3FA31F9069}"/>
              </a:ext>
            </a:extLst>
          </p:cNvPr>
          <p:cNvSpPr txBox="1"/>
          <p:nvPr userDrawn="1"/>
        </p:nvSpPr>
        <p:spPr>
          <a:xfrm>
            <a:off x="-15552" y="44624"/>
            <a:ext cx="6408712" cy="523220"/>
          </a:xfrm>
          <a:prstGeom prst="rect">
            <a:avLst/>
          </a:prstGeom>
          <a:noFill/>
        </p:spPr>
        <p:txBody>
          <a:bodyPr wrap="square" rtlCol="0">
            <a:spAutoFit/>
          </a:bodyPr>
          <a:lstStyle/>
          <a:p>
            <a:r>
              <a:rPr lang="ja-JP" altLang="en-US" sz="2800" b="1" dirty="0">
                <a:solidFill>
                  <a:schemeClr val="tx1">
                    <a:lumMod val="95000"/>
                    <a:lumOff val="5000"/>
                  </a:schemeClr>
                </a:solidFill>
                <a:latin typeface="Meiryo UI" panose="020B0604030504040204" pitchFamily="50" charset="-128"/>
                <a:ea typeface="Meiryo UI" panose="020B0604030504040204" pitchFamily="50" charset="-128"/>
                <a:cs typeface="メイリオ" pitchFamily="50" charset="-128"/>
              </a:rPr>
              <a:t>本日のお打合せ内容</a:t>
            </a:r>
            <a:endParaRPr kumimoji="1" lang="ja-JP" altLang="en-US" sz="2800" b="1" dirty="0">
              <a:solidFill>
                <a:schemeClr val="tx1">
                  <a:lumMod val="95000"/>
                  <a:lumOff val="5000"/>
                </a:schemeClr>
              </a:solidFill>
              <a:latin typeface="Meiryo UI" panose="020B0604030504040204" pitchFamily="50" charset="-128"/>
              <a:ea typeface="Meiryo UI" panose="020B0604030504040204" pitchFamily="50" charset="-128"/>
              <a:cs typeface="メイリオ" pitchFamily="50" charset="-128"/>
            </a:endParaRPr>
          </a:p>
        </p:txBody>
      </p:sp>
      <p:sp>
        <p:nvSpPr>
          <p:cNvPr id="6" name="正方形/長方形 5">
            <a:extLst>
              <a:ext uri="{FF2B5EF4-FFF2-40B4-BE49-F238E27FC236}">
                <a16:creationId xmlns:a16="http://schemas.microsoft.com/office/drawing/2014/main" id="{C1EA3A4F-1EF2-4A9E-BD1F-DE9A3E01A425}"/>
              </a:ext>
            </a:extLst>
          </p:cNvPr>
          <p:cNvSpPr/>
          <p:nvPr userDrawn="1"/>
        </p:nvSpPr>
        <p:spPr>
          <a:xfrm>
            <a:off x="69725" y="666126"/>
            <a:ext cx="2592000" cy="292374"/>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Meiryo UI" panose="020B0604030504040204" pitchFamily="50" charset="-128"/>
                <a:ea typeface="Meiryo UI" panose="020B0604030504040204" pitchFamily="50" charset="-128"/>
              </a:rPr>
              <a:t>お打合せ事項</a:t>
            </a:r>
            <a:endParaRPr kumimoji="1" lang="ja-JP" altLang="en-US" sz="1600" b="1" dirty="0">
              <a:latin typeface="Meiryo UI" panose="020B0604030504040204" pitchFamily="50" charset="-128"/>
              <a:ea typeface="Meiryo UI" panose="020B0604030504040204" pitchFamily="50" charset="-128"/>
            </a:endParaRPr>
          </a:p>
        </p:txBody>
      </p:sp>
      <p:sp>
        <p:nvSpPr>
          <p:cNvPr id="8" name="正方形/長方形 7">
            <a:extLst>
              <a:ext uri="{FF2B5EF4-FFF2-40B4-BE49-F238E27FC236}">
                <a16:creationId xmlns:a16="http://schemas.microsoft.com/office/drawing/2014/main" id="{E7B66B0E-B525-4135-A640-3C5077DFBABA}"/>
              </a:ext>
            </a:extLst>
          </p:cNvPr>
          <p:cNvSpPr/>
          <p:nvPr userDrawn="1"/>
        </p:nvSpPr>
        <p:spPr>
          <a:xfrm>
            <a:off x="72749" y="3911838"/>
            <a:ext cx="2592000" cy="292374"/>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Meiryo UI" panose="020B0604030504040204" pitchFamily="50" charset="-128"/>
                <a:ea typeface="Meiryo UI" panose="020B0604030504040204" pitchFamily="50" charset="-128"/>
              </a:rPr>
              <a:t>次回お打合せ日程</a:t>
            </a:r>
            <a:endParaRPr kumimoji="1" lang="ja-JP" altLang="en-US" sz="1600" b="1" dirty="0">
              <a:latin typeface="Meiryo UI" panose="020B0604030504040204" pitchFamily="50" charset="-128"/>
              <a:ea typeface="Meiryo UI" panose="020B0604030504040204" pitchFamily="50" charset="-128"/>
            </a:endParaRPr>
          </a:p>
        </p:txBody>
      </p:sp>
      <p:cxnSp>
        <p:nvCxnSpPr>
          <p:cNvPr id="11" name="直線コネクタ 10">
            <a:extLst>
              <a:ext uri="{FF2B5EF4-FFF2-40B4-BE49-F238E27FC236}">
                <a16:creationId xmlns:a16="http://schemas.microsoft.com/office/drawing/2014/main" id="{F0CE6683-2EEC-4A4B-B2A1-E385C7062BF3}"/>
              </a:ext>
            </a:extLst>
          </p:cNvPr>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pic>
        <p:nvPicPr>
          <p:cNvPr id="12" name="Picture 1" descr="C:\Users\F2034\Pictures\6.会社データ(ロゴ・サイン）\パターンC(タグ無し）\パターンC(タグ無し）カラー.png">
            <a:extLst>
              <a:ext uri="{FF2B5EF4-FFF2-40B4-BE49-F238E27FC236}">
                <a16:creationId xmlns:a16="http://schemas.microsoft.com/office/drawing/2014/main" id="{8872FC31-1813-49E9-8E6B-E9B5CED7B01D}"/>
              </a:ext>
            </a:extLst>
          </p:cNvPr>
          <p:cNvPicPr>
            <a:picLocks noChangeAspect="1" noChangeArrowheads="1"/>
          </p:cNvPicPr>
          <p:nvPr userDrawn="1"/>
        </p:nvPicPr>
        <p:blipFill>
          <a:blip r:embed="rId2" cstate="print"/>
          <a:srcRect/>
          <a:stretch>
            <a:fillRect/>
          </a:stretch>
        </p:blipFill>
        <p:spPr bwMode="auto">
          <a:xfrm>
            <a:off x="8841432" y="68626"/>
            <a:ext cx="979838" cy="504000"/>
          </a:xfrm>
          <a:prstGeom prst="rect">
            <a:avLst/>
          </a:prstGeom>
          <a:noFill/>
        </p:spPr>
      </p:pic>
      <p:sp>
        <p:nvSpPr>
          <p:cNvPr id="13" name="正方形/長方形 12">
            <a:extLst>
              <a:ext uri="{FF2B5EF4-FFF2-40B4-BE49-F238E27FC236}">
                <a16:creationId xmlns:a16="http://schemas.microsoft.com/office/drawing/2014/main" id="{AC1EA9E4-A15B-418D-B69C-E609A5DDD9EC}"/>
              </a:ext>
            </a:extLst>
          </p:cNvPr>
          <p:cNvSpPr/>
          <p:nvPr userDrawn="1"/>
        </p:nvSpPr>
        <p:spPr>
          <a:xfrm>
            <a:off x="0" y="6678000"/>
            <a:ext cx="9906000" cy="18000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78DDC5E-044B-4C3D-BEA8-24AF979B3258}"/>
              </a:ext>
            </a:extLst>
          </p:cNvPr>
          <p:cNvSpPr txBox="1"/>
          <p:nvPr userDrawn="1"/>
        </p:nvSpPr>
        <p:spPr>
          <a:xfrm>
            <a:off x="6609184" y="6649964"/>
            <a:ext cx="3240360" cy="216024"/>
          </a:xfrm>
          <a:prstGeom prst="rect">
            <a:avLst/>
          </a:prstGeom>
          <a:noFill/>
        </p:spPr>
        <p:txBody>
          <a:bodyPr wrap="square" lIns="0" tIns="0" rIns="0" bIns="0" rtlCol="0" anchor="ctr">
            <a:noAutofit/>
          </a:bodyPr>
          <a:lstStyle/>
          <a:p>
            <a:pPr marL="0" marR="0" indent="0" algn="r" defTabSz="914400" rtl="0" eaLnBrk="1" fontAlgn="base" latinLnBrk="0" hangingPunct="1">
              <a:lnSpc>
                <a:spcPct val="125000"/>
              </a:lnSpc>
              <a:spcBef>
                <a:spcPct val="0"/>
              </a:spcBef>
              <a:spcAft>
                <a:spcPct val="0"/>
              </a:spcAft>
              <a:buClrTx/>
              <a:buSzTx/>
              <a:buFontTx/>
              <a:buNone/>
              <a:tabLst/>
              <a:defRPr/>
            </a:pPr>
            <a:r>
              <a:rPr lang="en-US" altLang="ja-JP" sz="800" dirty="0">
                <a:solidFill>
                  <a:schemeClr val="bg1"/>
                </a:solidFill>
                <a:latin typeface="Lucida Calligraphy" pitchFamily="66" charset="0"/>
                <a:ea typeface="Arial Unicode MS" pitchFamily="50" charset="-128"/>
                <a:cs typeface="Arial Unicode MS" pitchFamily="50" charset="-128"/>
              </a:rPr>
              <a:t>Copyright</a:t>
            </a:r>
            <a:r>
              <a:rPr lang="ja-JP" altLang="en-US" sz="800" dirty="0">
                <a:solidFill>
                  <a:schemeClr val="bg1"/>
                </a:solidFill>
                <a:latin typeface="Lucida Calligraphy" pitchFamily="66" charset="0"/>
                <a:ea typeface="Arial Unicode MS" pitchFamily="50" charset="-128"/>
                <a:cs typeface="Arial Unicode MS" pitchFamily="50" charset="-128"/>
              </a:rPr>
              <a:t> </a:t>
            </a:r>
            <a:r>
              <a:rPr lang="en-US" altLang="ja-JP" sz="800" dirty="0">
                <a:solidFill>
                  <a:schemeClr val="bg1"/>
                </a:solidFill>
                <a:latin typeface="Lucida Calligraphy" pitchFamily="66" charset="0"/>
                <a:ea typeface="Arial Unicode MS" pitchFamily="50" charset="-128"/>
                <a:cs typeface="Arial Unicode MS" pitchFamily="50" charset="-128"/>
              </a:rPr>
              <a:t>Funai Consulting Inc.</a:t>
            </a:r>
            <a:r>
              <a:rPr lang="ja-JP" altLang="en-US" sz="800" baseline="0" dirty="0">
                <a:solidFill>
                  <a:schemeClr val="bg1"/>
                </a:solidFill>
                <a:latin typeface="Lucida Calligraphy" pitchFamily="66" charset="0"/>
                <a:ea typeface="Arial Unicode MS" pitchFamily="50" charset="-128"/>
                <a:cs typeface="Arial Unicode MS" pitchFamily="50" charset="-128"/>
              </a:rPr>
              <a:t> </a:t>
            </a:r>
            <a:r>
              <a:rPr lang="en-US" altLang="ja-JP" sz="800" baseline="0" dirty="0">
                <a:solidFill>
                  <a:schemeClr val="bg1"/>
                </a:solidFill>
                <a:latin typeface="Lucida Calligraphy" pitchFamily="66" charset="0"/>
                <a:ea typeface="Arial Unicode MS" pitchFamily="50" charset="-128"/>
                <a:cs typeface="Arial Unicode MS" pitchFamily="50" charset="-128"/>
              </a:rPr>
              <a:t>All Rights Reserved.</a:t>
            </a:r>
            <a:endParaRPr kumimoji="1" lang="ja-JP" altLang="en-US" sz="800" kern="1200" dirty="0">
              <a:solidFill>
                <a:schemeClr val="bg1"/>
              </a:solidFill>
              <a:latin typeface="Lucida Calligraphy" pitchFamily="66" charset="0"/>
              <a:ea typeface="Arial Unicode MS" pitchFamily="50" charset="-128"/>
              <a:cs typeface="Arial Unicode MS" pitchFamily="50" charset="-128"/>
            </a:endParaRPr>
          </a:p>
        </p:txBody>
      </p:sp>
      <p:sp>
        <p:nvSpPr>
          <p:cNvPr id="15" name="スライド番号プレースホルダ 5">
            <a:extLst>
              <a:ext uri="{FF2B5EF4-FFF2-40B4-BE49-F238E27FC236}">
                <a16:creationId xmlns:a16="http://schemas.microsoft.com/office/drawing/2014/main" id="{52F86702-B75D-40EF-96B7-30E910044692}"/>
              </a:ext>
            </a:extLst>
          </p:cNvPr>
          <p:cNvSpPr txBox="1">
            <a:spLocks/>
          </p:cNvSpPr>
          <p:nvPr userDrawn="1"/>
        </p:nvSpPr>
        <p:spPr>
          <a:xfrm>
            <a:off x="3797300" y="6592267"/>
            <a:ext cx="2311400" cy="365125"/>
          </a:xfrm>
          <a:prstGeom prst="rect">
            <a:avLst/>
          </a:prstGeom>
        </p:spPr>
        <p:txBody>
          <a:bodyPr vert="horz" lIns="91440" tIns="45720" rIns="91440" bIns="45720"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900" b="0" i="0" u="none" strike="noStrike" kern="1200" cap="none" spc="0" normalizeH="0" baseline="0" noProof="0" smtClean="0">
                <a:ln>
                  <a:noFill/>
                </a:ln>
                <a:solidFill>
                  <a:schemeClr val="bg1"/>
                </a:solidFill>
                <a:effectLst/>
                <a:uLnTx/>
                <a:uFillTx/>
                <a:latin typeface="HGSｺﾞｼｯｸM" pitchFamily="50" charset="-128"/>
                <a:ea typeface="HGSｺﾞｼｯｸM" pitchFamily="50" charset="-128"/>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a:ln>
                <a:noFill/>
              </a:ln>
              <a:solidFill>
                <a:schemeClr val="bg1"/>
              </a:solidFill>
              <a:effectLst/>
              <a:uLnTx/>
              <a:uFillTx/>
              <a:latin typeface="HGSｺﾞｼｯｸM" pitchFamily="50" charset="-128"/>
              <a:ea typeface="HGSｺﾞｼｯｸM" pitchFamily="50" charset="-128"/>
              <a:cs typeface="+mn-cs"/>
            </a:endParaRPr>
          </a:p>
        </p:txBody>
      </p:sp>
      <p:sp>
        <p:nvSpPr>
          <p:cNvPr id="17" name="テキスト プレースホルダー 16">
            <a:extLst>
              <a:ext uri="{FF2B5EF4-FFF2-40B4-BE49-F238E27FC236}">
                <a16:creationId xmlns:a16="http://schemas.microsoft.com/office/drawing/2014/main" id="{8C66AEEA-90B1-4FF5-983E-12E09DD675E4}"/>
              </a:ext>
            </a:extLst>
          </p:cNvPr>
          <p:cNvSpPr>
            <a:spLocks noGrp="1"/>
          </p:cNvSpPr>
          <p:nvPr>
            <p:ph type="body" sz="quarter" idx="12" hasCustomPrompt="1"/>
          </p:nvPr>
        </p:nvSpPr>
        <p:spPr>
          <a:xfrm>
            <a:off x="239500" y="1129818"/>
            <a:ext cx="5505450" cy="1792288"/>
          </a:xfrm>
        </p:spPr>
        <p:txBody>
          <a:bodyPr>
            <a:normAutofit/>
          </a:bodyPr>
          <a:lstStyle>
            <a:lvl1pPr marL="0" indent="0">
              <a:buFont typeface="+mj-ea"/>
              <a:buNone/>
              <a:defRPr sz="2400" b="1"/>
            </a:lvl1pPr>
          </a:lstStyle>
          <a:p>
            <a:pPr lvl="0"/>
            <a:r>
              <a:rPr kumimoji="1" lang="ja-JP" altLang="en-US" dirty="0"/>
              <a:t>①</a:t>
            </a:r>
            <a:endParaRPr kumimoji="1" lang="en-US" altLang="ja-JP" dirty="0"/>
          </a:p>
          <a:p>
            <a:pPr lvl="0"/>
            <a:r>
              <a:rPr kumimoji="1" lang="ja-JP" altLang="en-US" dirty="0"/>
              <a:t>②</a:t>
            </a:r>
            <a:endParaRPr kumimoji="1" lang="en-US" altLang="ja-JP" dirty="0"/>
          </a:p>
        </p:txBody>
      </p:sp>
      <p:sp>
        <p:nvSpPr>
          <p:cNvPr id="20" name="テキスト プレースホルダー 16">
            <a:extLst>
              <a:ext uri="{FF2B5EF4-FFF2-40B4-BE49-F238E27FC236}">
                <a16:creationId xmlns:a16="http://schemas.microsoft.com/office/drawing/2014/main" id="{347F4DAF-2DE1-4CC8-9835-4DFC642B513E}"/>
              </a:ext>
            </a:extLst>
          </p:cNvPr>
          <p:cNvSpPr>
            <a:spLocks noGrp="1"/>
          </p:cNvSpPr>
          <p:nvPr>
            <p:ph type="body" sz="quarter" idx="13" hasCustomPrompt="1"/>
          </p:nvPr>
        </p:nvSpPr>
        <p:spPr>
          <a:xfrm>
            <a:off x="239500" y="4374514"/>
            <a:ext cx="5505450" cy="1792288"/>
          </a:xfrm>
        </p:spPr>
        <p:txBody>
          <a:bodyPr>
            <a:normAutofit/>
          </a:bodyPr>
          <a:lstStyle>
            <a:lvl1pPr marL="0" indent="0">
              <a:buFont typeface="+mj-ea"/>
              <a:buNone/>
              <a:defRPr sz="1800" b="1"/>
            </a:lvl1pPr>
          </a:lstStyle>
          <a:p>
            <a:pPr lvl="0"/>
            <a:r>
              <a:rPr kumimoji="1" lang="en-US" altLang="ja-JP" dirty="0"/>
              <a:t>2024</a:t>
            </a:r>
            <a:r>
              <a:rPr kumimoji="1" lang="ja-JP" altLang="en-US" dirty="0"/>
              <a:t>年</a:t>
            </a:r>
            <a:endParaRPr kumimoji="1" lang="en-US" altLang="ja-JP" dirty="0"/>
          </a:p>
        </p:txBody>
      </p:sp>
    </p:spTree>
    <p:extLst>
      <p:ext uri="{BB962C8B-B14F-4D97-AF65-F5344CB8AC3E}">
        <p14:creationId xmlns:p14="http://schemas.microsoft.com/office/powerpoint/2010/main" val="369616197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E3600E18-DBF4-4DED-A3E8-EBDE8D9EA3B5}"/>
              </a:ext>
            </a:extLst>
          </p:cNvPr>
          <p:cNvSpPr/>
          <p:nvPr userDrawn="1"/>
        </p:nvSpPr>
        <p:spPr bwMode="auto">
          <a:xfrm>
            <a:off x="272480" y="332656"/>
            <a:ext cx="9454650" cy="6264696"/>
          </a:xfrm>
          <a:prstGeom prst="rect">
            <a:avLst/>
          </a:prstGeom>
          <a:solidFill>
            <a:schemeClr val="accent1">
              <a:lumMod val="20000"/>
              <a:lumOff val="80000"/>
            </a:schemeClr>
          </a:solidFill>
          <a:ln w="28575">
            <a:solidFill>
              <a:schemeClr val="tx2">
                <a:lumMod val="75000"/>
              </a:schemeClr>
            </a:solidFill>
            <a:miter lim="800000"/>
            <a:headEnd/>
            <a:tailEnd/>
          </a:ln>
        </p:spPr>
        <p:txBody>
          <a:bodyPr wrap="none" rtlCol="0" anchor="t"/>
          <a:lstStyle/>
          <a:p>
            <a:endParaRPr lang="en-US" altLang="ja-JP" sz="1400" dirty="0">
              <a:latin typeface="Meiryo UI" panose="020B0604030504040204" pitchFamily="50" charset="-128"/>
              <a:ea typeface="Meiryo UI" panose="020B0604030504040204" pitchFamily="50" charset="-128"/>
            </a:endParaRPr>
          </a:p>
          <a:p>
            <a:endParaRPr lang="en-US" altLang="ja-JP" sz="1400" dirty="0">
              <a:latin typeface="Meiryo UI" panose="020B0604030504040204" pitchFamily="50" charset="-128"/>
              <a:ea typeface="Meiryo UI" panose="020B0604030504040204" pitchFamily="50" charset="-128"/>
            </a:endParaRPr>
          </a:p>
          <a:p>
            <a:pPr lvl="2"/>
            <a:r>
              <a:rPr lang="ja-JP" altLang="en-US" sz="1600" dirty="0">
                <a:latin typeface="Meiryo UI" panose="020B0604030504040204" pitchFamily="50" charset="-128"/>
                <a:ea typeface="Meiryo UI" panose="020B0604030504040204" pitchFamily="50" charset="-128"/>
              </a:rPr>
              <a:t>   </a:t>
            </a:r>
          </a:p>
          <a:p>
            <a:pPr lvl="2"/>
            <a:endParaRPr lang="en-US" altLang="ja-JP" sz="1400" dirty="0">
              <a:latin typeface="Meiryo UI" panose="020B0604030504040204" pitchFamily="50" charset="-128"/>
              <a:ea typeface="Meiryo UI" panose="020B0604030504040204" pitchFamily="50" charset="-128"/>
            </a:endParaRPr>
          </a:p>
        </p:txBody>
      </p:sp>
      <p:sp>
        <p:nvSpPr>
          <p:cNvPr id="6" name="正方形/長方形 5">
            <a:extLst>
              <a:ext uri="{FF2B5EF4-FFF2-40B4-BE49-F238E27FC236}">
                <a16:creationId xmlns:a16="http://schemas.microsoft.com/office/drawing/2014/main" id="{84EF40AA-2D98-4C1A-9B75-77B4B1EC2A46}"/>
              </a:ext>
            </a:extLst>
          </p:cNvPr>
          <p:cNvSpPr/>
          <p:nvPr userDrawn="1"/>
        </p:nvSpPr>
        <p:spPr bwMode="auto">
          <a:xfrm>
            <a:off x="128464" y="188640"/>
            <a:ext cx="2592288" cy="432048"/>
          </a:xfrm>
          <a:prstGeom prst="rect">
            <a:avLst/>
          </a:prstGeom>
          <a:solidFill>
            <a:schemeClr val="tx2">
              <a:lumMod val="75000"/>
            </a:schemeClr>
          </a:solidFill>
          <a:ln w="9525">
            <a:noFill/>
            <a:miter lim="800000"/>
            <a:headEnd/>
            <a:tailEnd/>
          </a:ln>
        </p:spPr>
        <p:txBody>
          <a:bodyPr wrap="none" rtlCol="0" anchor="ctr"/>
          <a:lstStyle/>
          <a:p>
            <a:pPr algn="ctr"/>
            <a:r>
              <a:rPr kumimoji="1" lang="ja-JP" altLang="en-US" sz="1600" b="1" dirty="0">
                <a:solidFill>
                  <a:schemeClr val="bg1"/>
                </a:solidFill>
                <a:latin typeface="Meiryo UI" panose="020B0604030504040204" pitchFamily="50" charset="-128"/>
                <a:ea typeface="Meiryo UI" panose="020B0604030504040204" pitchFamily="50" charset="-128"/>
              </a:rPr>
              <a:t>決定事項</a:t>
            </a:r>
          </a:p>
        </p:txBody>
      </p:sp>
    </p:spTree>
    <p:extLst>
      <p:ext uri="{BB962C8B-B14F-4D97-AF65-F5344CB8AC3E}">
        <p14:creationId xmlns:p14="http://schemas.microsoft.com/office/powerpoint/2010/main" val="25429222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アジェンダ">
    <p:spTree>
      <p:nvGrpSpPr>
        <p:cNvPr id="1" name=""/>
        <p:cNvGrpSpPr/>
        <p:nvPr/>
      </p:nvGrpSpPr>
      <p:grpSpPr>
        <a:xfrm>
          <a:off x="0" y="0"/>
          <a:ext cx="0" cy="0"/>
          <a:chOff x="0" y="0"/>
          <a:chExt cx="0" cy="0"/>
        </a:xfrm>
      </p:grpSpPr>
      <p:cxnSp>
        <p:nvCxnSpPr>
          <p:cNvPr id="11" name="直線コネクタ 10">
            <a:extLst>
              <a:ext uri="{FF2B5EF4-FFF2-40B4-BE49-F238E27FC236}">
                <a16:creationId xmlns:a16="http://schemas.microsoft.com/office/drawing/2014/main" id="{F0CE6683-2EEC-4A4B-B2A1-E385C7062BF3}"/>
              </a:ext>
            </a:extLst>
          </p:cNvPr>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pic>
        <p:nvPicPr>
          <p:cNvPr id="12" name="Picture 1" descr="C:\Users\F2034\Pictures\6.会社データ(ロゴ・サイン）\パターンC(タグ無し）\パターンC(タグ無し）カラー.png">
            <a:extLst>
              <a:ext uri="{FF2B5EF4-FFF2-40B4-BE49-F238E27FC236}">
                <a16:creationId xmlns:a16="http://schemas.microsoft.com/office/drawing/2014/main" id="{8872FC31-1813-49E9-8E6B-E9B5CED7B01D}"/>
              </a:ext>
            </a:extLst>
          </p:cNvPr>
          <p:cNvPicPr>
            <a:picLocks noChangeAspect="1" noChangeArrowheads="1"/>
          </p:cNvPicPr>
          <p:nvPr userDrawn="1"/>
        </p:nvPicPr>
        <p:blipFill>
          <a:blip r:embed="rId2" cstate="print"/>
          <a:srcRect/>
          <a:stretch>
            <a:fillRect/>
          </a:stretch>
        </p:blipFill>
        <p:spPr bwMode="auto">
          <a:xfrm>
            <a:off x="8841432" y="68626"/>
            <a:ext cx="979838" cy="504000"/>
          </a:xfrm>
          <a:prstGeom prst="rect">
            <a:avLst/>
          </a:prstGeom>
          <a:noFill/>
        </p:spPr>
      </p:pic>
      <p:sp>
        <p:nvSpPr>
          <p:cNvPr id="13" name="正方形/長方形 12">
            <a:extLst>
              <a:ext uri="{FF2B5EF4-FFF2-40B4-BE49-F238E27FC236}">
                <a16:creationId xmlns:a16="http://schemas.microsoft.com/office/drawing/2014/main" id="{AC1EA9E4-A15B-418D-B69C-E609A5DDD9EC}"/>
              </a:ext>
            </a:extLst>
          </p:cNvPr>
          <p:cNvSpPr/>
          <p:nvPr userDrawn="1"/>
        </p:nvSpPr>
        <p:spPr>
          <a:xfrm>
            <a:off x="0" y="6678000"/>
            <a:ext cx="9906000" cy="18000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78DDC5E-044B-4C3D-BEA8-24AF979B3258}"/>
              </a:ext>
            </a:extLst>
          </p:cNvPr>
          <p:cNvSpPr txBox="1"/>
          <p:nvPr userDrawn="1"/>
        </p:nvSpPr>
        <p:spPr>
          <a:xfrm>
            <a:off x="6609184" y="6649964"/>
            <a:ext cx="3240360" cy="216024"/>
          </a:xfrm>
          <a:prstGeom prst="rect">
            <a:avLst/>
          </a:prstGeom>
          <a:noFill/>
        </p:spPr>
        <p:txBody>
          <a:bodyPr wrap="square" lIns="0" tIns="0" rIns="0" bIns="0" rtlCol="0" anchor="ctr">
            <a:noAutofit/>
          </a:bodyPr>
          <a:lstStyle/>
          <a:p>
            <a:pPr marL="0" marR="0" indent="0" algn="r" defTabSz="914400" rtl="0" eaLnBrk="1" fontAlgn="base" latinLnBrk="0" hangingPunct="1">
              <a:lnSpc>
                <a:spcPct val="125000"/>
              </a:lnSpc>
              <a:spcBef>
                <a:spcPct val="0"/>
              </a:spcBef>
              <a:spcAft>
                <a:spcPct val="0"/>
              </a:spcAft>
              <a:buClrTx/>
              <a:buSzTx/>
              <a:buFontTx/>
              <a:buNone/>
              <a:tabLst/>
              <a:defRPr/>
            </a:pPr>
            <a:r>
              <a:rPr lang="en-US" altLang="ja-JP" sz="800" dirty="0">
                <a:solidFill>
                  <a:schemeClr val="bg1"/>
                </a:solidFill>
                <a:latin typeface="Lucida Calligraphy" pitchFamily="66" charset="0"/>
                <a:ea typeface="Arial Unicode MS" pitchFamily="50" charset="-128"/>
                <a:cs typeface="Arial Unicode MS" pitchFamily="50" charset="-128"/>
              </a:rPr>
              <a:t>Copyright</a:t>
            </a:r>
            <a:r>
              <a:rPr lang="ja-JP" altLang="en-US" sz="800" dirty="0">
                <a:solidFill>
                  <a:schemeClr val="bg1"/>
                </a:solidFill>
                <a:latin typeface="Lucida Calligraphy" pitchFamily="66" charset="0"/>
                <a:ea typeface="Arial Unicode MS" pitchFamily="50" charset="-128"/>
                <a:cs typeface="Arial Unicode MS" pitchFamily="50" charset="-128"/>
              </a:rPr>
              <a:t> </a:t>
            </a:r>
            <a:r>
              <a:rPr lang="en-US" altLang="ja-JP" sz="800" dirty="0">
                <a:solidFill>
                  <a:schemeClr val="bg1"/>
                </a:solidFill>
                <a:latin typeface="Lucida Calligraphy" pitchFamily="66" charset="0"/>
                <a:ea typeface="Arial Unicode MS" pitchFamily="50" charset="-128"/>
                <a:cs typeface="Arial Unicode MS" pitchFamily="50" charset="-128"/>
              </a:rPr>
              <a:t>Funai Consulting Inc.</a:t>
            </a:r>
            <a:r>
              <a:rPr lang="ja-JP" altLang="en-US" sz="800" baseline="0" dirty="0">
                <a:solidFill>
                  <a:schemeClr val="bg1"/>
                </a:solidFill>
                <a:latin typeface="Lucida Calligraphy" pitchFamily="66" charset="0"/>
                <a:ea typeface="Arial Unicode MS" pitchFamily="50" charset="-128"/>
                <a:cs typeface="Arial Unicode MS" pitchFamily="50" charset="-128"/>
              </a:rPr>
              <a:t> </a:t>
            </a:r>
            <a:r>
              <a:rPr lang="en-US" altLang="ja-JP" sz="800" baseline="0" dirty="0">
                <a:solidFill>
                  <a:schemeClr val="bg1"/>
                </a:solidFill>
                <a:latin typeface="Lucida Calligraphy" pitchFamily="66" charset="0"/>
                <a:ea typeface="Arial Unicode MS" pitchFamily="50" charset="-128"/>
                <a:cs typeface="Arial Unicode MS" pitchFamily="50" charset="-128"/>
              </a:rPr>
              <a:t>All Rights Reserved.</a:t>
            </a:r>
            <a:endParaRPr kumimoji="1" lang="ja-JP" altLang="en-US" sz="800" kern="1200" dirty="0">
              <a:solidFill>
                <a:schemeClr val="bg1"/>
              </a:solidFill>
              <a:latin typeface="Lucida Calligraphy" pitchFamily="66" charset="0"/>
              <a:ea typeface="Arial Unicode MS" pitchFamily="50" charset="-128"/>
              <a:cs typeface="Arial Unicode MS" pitchFamily="50" charset="-128"/>
            </a:endParaRPr>
          </a:p>
        </p:txBody>
      </p:sp>
      <p:sp>
        <p:nvSpPr>
          <p:cNvPr id="15" name="スライド番号プレースホルダ 5">
            <a:extLst>
              <a:ext uri="{FF2B5EF4-FFF2-40B4-BE49-F238E27FC236}">
                <a16:creationId xmlns:a16="http://schemas.microsoft.com/office/drawing/2014/main" id="{52F86702-B75D-40EF-96B7-30E910044692}"/>
              </a:ext>
            </a:extLst>
          </p:cNvPr>
          <p:cNvSpPr txBox="1">
            <a:spLocks/>
          </p:cNvSpPr>
          <p:nvPr userDrawn="1"/>
        </p:nvSpPr>
        <p:spPr>
          <a:xfrm>
            <a:off x="3797300" y="6592267"/>
            <a:ext cx="2311400" cy="365125"/>
          </a:xfrm>
          <a:prstGeom prst="rect">
            <a:avLst/>
          </a:prstGeom>
        </p:spPr>
        <p:txBody>
          <a:bodyPr vert="horz" lIns="91440" tIns="45720" rIns="91440" bIns="45720"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900" b="0" i="0" u="none" strike="noStrike" kern="1200" cap="none" spc="0" normalizeH="0" baseline="0" noProof="0" smtClean="0">
                <a:ln>
                  <a:noFill/>
                </a:ln>
                <a:solidFill>
                  <a:schemeClr val="bg1"/>
                </a:solidFill>
                <a:effectLst/>
                <a:uLnTx/>
                <a:uFillTx/>
                <a:latin typeface="HGSｺﾞｼｯｸM" pitchFamily="50" charset="-128"/>
                <a:ea typeface="HGSｺﾞｼｯｸM" pitchFamily="50" charset="-128"/>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a:ln>
                <a:noFill/>
              </a:ln>
              <a:solidFill>
                <a:schemeClr val="bg1"/>
              </a:solidFill>
              <a:effectLst/>
              <a:uLnTx/>
              <a:uFillTx/>
              <a:latin typeface="HGSｺﾞｼｯｸM" pitchFamily="50" charset="-128"/>
              <a:ea typeface="HGSｺﾞｼｯｸM" pitchFamily="50" charset="-128"/>
              <a:cs typeface="+mn-cs"/>
            </a:endParaRPr>
          </a:p>
        </p:txBody>
      </p:sp>
      <p:sp>
        <p:nvSpPr>
          <p:cNvPr id="7" name="テキスト プレースホルダー 6">
            <a:extLst>
              <a:ext uri="{FF2B5EF4-FFF2-40B4-BE49-F238E27FC236}">
                <a16:creationId xmlns:a16="http://schemas.microsoft.com/office/drawing/2014/main" id="{84B55609-F8C4-4A71-A410-286691A67269}"/>
              </a:ext>
            </a:extLst>
          </p:cNvPr>
          <p:cNvSpPr>
            <a:spLocks noGrp="1"/>
          </p:cNvSpPr>
          <p:nvPr>
            <p:ph type="body" sz="quarter" idx="10" hasCustomPrompt="1"/>
          </p:nvPr>
        </p:nvSpPr>
        <p:spPr>
          <a:xfrm>
            <a:off x="200472" y="68627"/>
            <a:ext cx="3960812" cy="552062"/>
          </a:xfrm>
        </p:spPr>
        <p:txBody>
          <a:bodyPr>
            <a:normAutofit/>
          </a:bodyPr>
          <a:lstStyle>
            <a:lvl1pPr marL="0" indent="0">
              <a:buNone/>
              <a:defRPr sz="2800" b="1"/>
            </a:lvl1pPr>
          </a:lstStyle>
          <a:p>
            <a:pPr lvl="0"/>
            <a:r>
              <a:rPr kumimoji="1" lang="ja-JP" altLang="en-US" dirty="0"/>
              <a:t>タイトル</a:t>
            </a:r>
          </a:p>
        </p:txBody>
      </p:sp>
    </p:spTree>
    <p:extLst>
      <p:ext uri="{BB962C8B-B14F-4D97-AF65-F5344CB8AC3E}">
        <p14:creationId xmlns:p14="http://schemas.microsoft.com/office/powerpoint/2010/main" val="190622248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 タイトルの書式設定</a:t>
            </a:r>
          </a:p>
        </p:txBody>
      </p:sp>
      <p:sp>
        <p:nvSpPr>
          <p:cNvPr id="3" name="コンテンツ プレースホルダ 2"/>
          <p:cNvSpPr>
            <a:spLocks noGrp="1"/>
          </p:cNvSpPr>
          <p:nvPr>
            <p:ph idx="1"/>
          </p:nvPr>
        </p:nvSpPr>
        <p:spPr>
          <a:xfrm>
            <a:off x="495300" y="1600203"/>
            <a:ext cx="8915400" cy="4525963"/>
          </a:xfrm>
          <a:prstGeom prst="rect">
            <a:avLst/>
          </a:prstGeom>
        </p:spPr>
        <p:txBody>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2E1EC131-7E93-4E21-A3A0-1A53928AA2CA}" type="datetime1">
              <a:rPr kumimoji="1" lang="ja-JP" altLang="en-US" smtClean="0"/>
              <a:t>2026/5/20</a:t>
            </a:fld>
            <a:endParaRPr kumimoji="1" lang="ja-JP" altLang="en-US" dirty="0"/>
          </a:p>
        </p:txBody>
      </p:sp>
      <p:sp>
        <p:nvSpPr>
          <p:cNvPr id="5" name="フッター プレースホルダ 4"/>
          <p:cNvSpPr>
            <a:spLocks noGrp="1"/>
          </p:cNvSpPr>
          <p:nvPr>
            <p:ph type="ftr" sz="quarter" idx="11"/>
          </p:nvPr>
        </p:nvSpPr>
        <p:spPr/>
        <p:txBody>
          <a:bodyPr/>
          <a:lstStyle/>
          <a:p>
            <a:endParaRPr kumimoji="1" lang="ja-JP" altLang="en-US" dirty="0"/>
          </a:p>
        </p:txBody>
      </p:sp>
      <p:sp>
        <p:nvSpPr>
          <p:cNvPr id="6" name="スライド番号プレースホルダ 5"/>
          <p:cNvSpPr>
            <a:spLocks noGrp="1"/>
          </p:cNvSpPr>
          <p:nvPr>
            <p:ph type="sldNum" sz="quarter" idx="12"/>
          </p:nvPr>
        </p:nvSpPr>
        <p:spPr>
          <a:xfrm>
            <a:off x="7538144" y="6491969"/>
            <a:ext cx="2311400" cy="365125"/>
          </a:xfrm>
        </p:spPr>
        <p:txBody>
          <a:bodyPr/>
          <a:lstStyle/>
          <a:p>
            <a:fld id="{619B85A0-BB21-4C42-9028-BB80073B34CD}" type="slidenum">
              <a:rPr kumimoji="1" lang="ja-JP" altLang="en-US" smtClean="0"/>
              <a:pPr/>
              <a:t>‹#›</a:t>
            </a:fld>
            <a:endParaRPr kumimoji="1" lang="ja-JP" altLang="en-US" dirty="0"/>
          </a:p>
        </p:txBody>
      </p:sp>
    </p:spTree>
    <p:extLst>
      <p:ext uri="{BB962C8B-B14F-4D97-AF65-F5344CB8AC3E}">
        <p14:creationId xmlns:p14="http://schemas.microsoft.com/office/powerpoint/2010/main" val="277189390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slideLayout" Target="../slideLayouts/slideLayout55.xml"/><Relationship Id="rId3" Type="http://schemas.openxmlformats.org/officeDocument/2006/relationships/slideLayout" Target="../slideLayouts/slideLayout56.xml"/><Relationship Id="rId4" Type="http://schemas.openxmlformats.org/officeDocument/2006/relationships/slideLayout" Target="../slideLayouts/slideLayout57.xml"/><Relationship Id="rId5" Type="http://schemas.openxmlformats.org/officeDocument/2006/relationships/slideLayout" Target="../slideLayouts/slideLayout58.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正方形/長方形 10"/>
          <p:cNvSpPr/>
          <p:nvPr/>
        </p:nvSpPr>
        <p:spPr>
          <a:xfrm>
            <a:off x="0" y="6642000"/>
            <a:ext cx="9906000" cy="216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日付プレースホル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552DF90-A6ED-4A10-B24A-8E192E896765}" type="datetime1">
              <a:rPr kumimoji="1" lang="ja-JP" altLang="en-US" smtClean="0"/>
              <a:pPr/>
              <a:t>2026/5/20</a:t>
            </a:fld>
            <a:endParaRPr kumimoji="1" lang="ja-JP" altLang="en-US"/>
          </a:p>
        </p:txBody>
      </p:sp>
      <p:sp>
        <p:nvSpPr>
          <p:cNvPr id="5" name="フッター プレースホル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 5"/>
          <p:cNvSpPr>
            <a:spLocks noGrp="1"/>
          </p:cNvSpPr>
          <p:nvPr>
            <p:ph type="sldNum" sz="quarter" idx="4"/>
          </p:nvPr>
        </p:nvSpPr>
        <p:spPr>
          <a:xfrm>
            <a:off x="7594600" y="6567437"/>
            <a:ext cx="2311400" cy="365125"/>
          </a:xfrm>
          <a:prstGeom prst="rect">
            <a:avLst/>
          </a:prstGeom>
        </p:spPr>
        <p:txBody>
          <a:bodyPr vert="horz" lIns="91440" tIns="45720" rIns="91440" bIns="45720" rtlCol="0" anchor="ctr"/>
          <a:lstStyle>
            <a:lvl1pPr algn="r">
              <a:defRPr sz="1200">
                <a:solidFill>
                  <a:schemeClr val="bg1"/>
                </a:solidFill>
              </a:defRPr>
            </a:lvl1pPr>
          </a:lstStyle>
          <a:p>
            <a:fld id="{723687FF-647B-4F7E-A20E-637EB01FA9DF}" type="slidenum">
              <a:rPr lang="ja-JP" altLang="en-US" smtClean="0"/>
              <a:pPr/>
              <a:t>‹#›</a:t>
            </a:fld>
            <a:endParaRPr lang="ja-JP" altLang="en-US" dirty="0"/>
          </a:p>
        </p:txBody>
      </p:sp>
      <p:sp>
        <p:nvSpPr>
          <p:cNvPr id="7" name="正方形/長方形 6"/>
          <p:cNvSpPr/>
          <p:nvPr userDrawn="1"/>
        </p:nvSpPr>
        <p:spPr>
          <a:xfrm>
            <a:off x="0" y="0"/>
            <a:ext cx="9906000" cy="5486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p:cNvSpPr txBox="1"/>
          <p:nvPr userDrawn="1"/>
        </p:nvSpPr>
        <p:spPr>
          <a:xfrm>
            <a:off x="0" y="271681"/>
            <a:ext cx="3384550" cy="276999"/>
          </a:xfrm>
          <a:prstGeom prst="rect">
            <a:avLst/>
          </a:prstGeom>
          <a:noFill/>
        </p:spPr>
        <p:txBody>
          <a:bodyPr wrap="square" rtlCol="0">
            <a:spAutoFit/>
          </a:bodyPr>
          <a:lstStyle/>
          <a:p>
            <a:pPr algn="l"/>
            <a:r>
              <a:rPr kumimoji="1" lang="en-US" altLang="ja-JP" sz="1200" b="0">
                <a:solidFill>
                  <a:schemeClr val="bg1"/>
                </a:solidFill>
                <a:latin typeface="HGP創英角ｺﾞｼｯｸUB" panose="020B0900000000000000" pitchFamily="50" charset="-128"/>
                <a:ea typeface="HGP創英角ｺﾞｼｯｸUB" panose="020B0900000000000000" pitchFamily="50" charset="-128"/>
              </a:rPr>
              <a:t>株式会社山岸様　住宅用太陽光・蓄電池研修</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Lst>
  <p:hf hdr="0" ftr="0" dt="0"/>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kumimoji="1" lang="ja-JP" altLang="en-US"/>
              <a:t>マスタ タイトルの書式設定</a:t>
            </a:r>
          </a:p>
        </p:txBody>
      </p:sp>
      <p:sp>
        <p:nvSpPr>
          <p:cNvPr id="3" name="テキスト プレースホルダ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ED59477-32A0-4799-AD80-C098563D5CC0}" type="datetime1">
              <a:rPr kumimoji="1" lang="ja-JP" altLang="en-US" smtClean="0"/>
              <a:pPr/>
              <a:t>2026/5/20</a:t>
            </a:fld>
            <a:endParaRPr kumimoji="1" lang="ja-JP" altLang="en-US"/>
          </a:p>
        </p:txBody>
      </p:sp>
      <p:sp>
        <p:nvSpPr>
          <p:cNvPr id="5" name="フッター プレースホル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8" name="Text Box 16"/>
          <p:cNvSpPr txBox="1">
            <a:spLocks noChangeArrowheads="1"/>
          </p:cNvSpPr>
          <p:nvPr userDrawn="1"/>
        </p:nvSpPr>
        <p:spPr bwMode="auto">
          <a:xfrm>
            <a:off x="6048044" y="6677175"/>
            <a:ext cx="3934883" cy="230832"/>
          </a:xfrm>
          <a:prstGeom prst="rect">
            <a:avLst/>
          </a:prstGeom>
          <a:noFill/>
          <a:ln w="9525">
            <a:noFill/>
            <a:miter lim="800000"/>
            <a:headEnd/>
            <a:tailEnd/>
          </a:ln>
          <a:effectLst/>
        </p:spPr>
        <p:txBody>
          <a:bodyPr>
            <a:spAutoFit/>
          </a:bodyPr>
          <a:lstStyle/>
          <a:p>
            <a:pPr algn="r">
              <a:spcBef>
                <a:spcPct val="50000"/>
              </a:spcBef>
              <a:defRPr/>
            </a:pPr>
            <a:r>
              <a:rPr lang="en-US" altLang="ja-JP" sz="900" dirty="0">
                <a:ea typeface="ＭＳ Ｐゴシック" pitchFamily="50" charset="-128"/>
              </a:rPr>
              <a:t>Copyright</a:t>
            </a:r>
            <a:r>
              <a:rPr lang="ja-JP" altLang="en-US" sz="900" dirty="0">
                <a:ea typeface="ＭＳ Ｐゴシック" pitchFamily="50" charset="-128"/>
              </a:rPr>
              <a:t>　</a:t>
            </a:r>
            <a:r>
              <a:rPr lang="en-US" altLang="ja-JP" sz="900" dirty="0" err="1">
                <a:ea typeface="ＭＳ Ｐゴシック" pitchFamily="50" charset="-128"/>
              </a:rPr>
              <a:t>Funai</a:t>
            </a:r>
            <a:r>
              <a:rPr lang="en-US" altLang="ja-JP" sz="900" dirty="0">
                <a:ea typeface="ＭＳ Ｐゴシック" pitchFamily="50" charset="-128"/>
              </a:rPr>
              <a:t> Consulting Co.ltd</a:t>
            </a:r>
            <a:r>
              <a:rPr lang="ja-JP" altLang="en-US" sz="900" dirty="0">
                <a:ea typeface="ＭＳ Ｐゴシック" pitchFamily="50" charset="-128"/>
              </a:rPr>
              <a:t>　　禁転載・禁複写</a:t>
            </a:r>
          </a:p>
        </p:txBody>
      </p:sp>
      <p:sp>
        <p:nvSpPr>
          <p:cNvPr id="11" name="スライド番号プレースホルダ 5"/>
          <p:cNvSpPr txBox="1">
            <a:spLocks/>
          </p:cNvSpPr>
          <p:nvPr userDrawn="1"/>
        </p:nvSpPr>
        <p:spPr>
          <a:xfrm>
            <a:off x="3797300" y="6602900"/>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2451D2E0-CC30-4DAC-88BB-E6AB37505372}" type="slidenum">
              <a:rPr kumimoji="1" lang="ja-JP" altLang="en-US" sz="900" b="0" i="0" u="none" strike="noStrike" kern="1200" cap="none" spc="0" normalizeH="0" baseline="0" noProof="0" smtClean="0">
                <a:ln>
                  <a:noFill/>
                </a:ln>
                <a:solidFill>
                  <a:schemeClr val="tx1">
                    <a:tint val="75000"/>
                  </a:schemeClr>
                </a:solidFill>
                <a:effectLst/>
                <a:uLnTx/>
                <a:uFillTx/>
                <a:latin typeface="メイリオ" pitchFamily="50" charset="-128"/>
                <a:ea typeface="メイリオ" pitchFamily="50" charset="-128"/>
                <a:cs typeface="メイリオ" pitchFamily="50" charset="-128"/>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dirty="0">
              <a:ln>
                <a:noFill/>
              </a:ln>
              <a:solidFill>
                <a:schemeClr val="tx1">
                  <a:tint val="75000"/>
                </a:schemeClr>
              </a:solidFill>
              <a:effectLst/>
              <a:uLnTx/>
              <a:uFillTx/>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276823475"/>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Lst>
  <p:hf hdr="0" ftr="0" dt="0"/>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94C9A310-3AB5-49FE-B1F9-2C427DCC1826}"/>
              </a:ext>
            </a:extLst>
          </p:cNvPr>
          <p:cNvPicPr>
            <a:picLocks noChangeAspect="1"/>
          </p:cNvPicPr>
          <p:nvPr/>
        </p:nvPicPr>
        <p:blipFill rotWithShape="1">
          <a:blip r:embed="rId3">
            <a:extLst>
              <a:ext uri="{28A0092B-C50C-407E-A947-70E740481C1C}">
                <a14:useLocalDpi xmlns:a14="http://schemas.microsoft.com/office/drawing/2010/main" val="0"/>
              </a:ext>
            </a:extLst>
          </a:blip>
          <a:srcRect l="3516" t="1834" r="3141" b="3667"/>
          <a:stretch/>
        </p:blipFill>
        <p:spPr>
          <a:xfrm>
            <a:off x="-15552" y="-27384"/>
            <a:ext cx="9921552" cy="6888954"/>
          </a:xfrm>
          <a:prstGeom prst="rect">
            <a:avLst/>
          </a:prstGeom>
        </p:spPr>
      </p:pic>
      <p:sp>
        <p:nvSpPr>
          <p:cNvPr id="5" name="正方形/長方形 4">
            <a:extLst>
              <a:ext uri="{FF2B5EF4-FFF2-40B4-BE49-F238E27FC236}">
                <a16:creationId xmlns:a16="http://schemas.microsoft.com/office/drawing/2014/main" id="{A50DF95E-7A9A-442E-9966-946D2B476491}"/>
              </a:ext>
            </a:extLst>
          </p:cNvPr>
          <p:cNvSpPr/>
          <p:nvPr/>
        </p:nvSpPr>
        <p:spPr>
          <a:xfrm>
            <a:off x="0" y="0"/>
            <a:ext cx="9906000" cy="6858000"/>
          </a:xfrm>
          <a:prstGeom prst="rect">
            <a:avLst/>
          </a:prstGeom>
          <a:solidFill>
            <a:srgbClr val="C0504D">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テキスト ボックス 5">
            <a:extLst>
              <a:ext uri="{FF2B5EF4-FFF2-40B4-BE49-F238E27FC236}">
                <a16:creationId xmlns:a16="http://schemas.microsoft.com/office/drawing/2014/main" id="{2CD832A5-E759-420F-B835-DF29A241CBFB}"/>
              </a:ext>
            </a:extLst>
          </p:cNvPr>
          <p:cNvSpPr txBox="1"/>
          <p:nvPr/>
        </p:nvSpPr>
        <p:spPr>
          <a:xfrm>
            <a:off x="288032" y="1988840"/>
            <a:ext cx="9619052" cy="2923877"/>
          </a:xfrm>
          <a:prstGeom prst="rect">
            <a:avLst/>
          </a:prstGeom>
          <a:noFill/>
        </p:spPr>
        <p:txBody>
          <a:bodyPr wrap="square" lIns="0" rIns="0" rtlCol="0">
            <a:spAutoFit/>
          </a:bodyPr>
          <a:lstStyle/>
          <a:p>
            <a:pPr algn="l">
              <a:spcAft>
                <a:spcPts val="1000"/>
              </a:spcAft>
            </a:pPr>
            <a:r>
              <a:rPr sz="2600" b="1">
                <a:solidFill>
                  <a:srgbClr val="FFFFFF"/>
                </a:solidFill>
                <a:latin typeface="BIZ UDPゴシック"/>
                <a:ea typeface="BIZ UDPゴシック"/>
              </a:rPr>
              <a:t>株式会社山岸　御中</a:t>
            </a:r>
            <a:endParaRPr lang="en-US" altLang="ja-JP" sz="7200" b="1" dirty="0">
              <a:solidFill>
                <a:schemeClr val="bg1"/>
              </a:solidFill>
              <a:effectLst>
                <a:outerShdw blurRad="38100" dist="38100" dir="2700000" algn="tl">
                  <a:srgbClr val="000000">
                    <a:alpha val="43137"/>
                  </a:srgbClr>
                </a:outerShdw>
              </a:effectLst>
              <a:latin typeface="BIZ UDPゴシック" panose="020B0400000000000000" pitchFamily="50" charset="-128"/>
              <a:ea typeface="BIZ UDPゴシック" panose="020B0400000000000000" pitchFamily="50" charset="-128"/>
            </a:endParaRPr>
          </a:p>
          <a:p>
            <a:pPr algn="l">
              <a:spcAft>
                <a:spcPts val="800"/>
              </a:spcAft>
            </a:pPr>
            <a:r>
              <a:rPr sz="4800" b="1">
                <a:solidFill>
                  <a:srgbClr val="FFFFFF"/>
                </a:solidFill>
                <a:latin typeface="BIZ UDPゴシック"/>
                <a:ea typeface="BIZ UDPゴシック"/>
              </a:rPr>
              <a:t>必要性訴求パート</a:t>
            </a:r>
          </a:p>
          <a:p>
            <a:pPr algn="l">
              <a:spcAft>
                <a:spcPts val="1000"/>
              </a:spcAft>
            </a:pPr>
            <a:r>
              <a:rPr sz="3200" b="1">
                <a:solidFill>
                  <a:srgbClr val="FFFFFF"/>
                </a:solidFill>
                <a:latin typeface="BIZ UDPゴシック"/>
                <a:ea typeface="BIZ UDPゴシック"/>
              </a:rPr>
              <a:t>アプローチブックの伝え方</a:t>
            </a:r>
          </a:p>
          <a:p>
            <a:pPr algn="l">
              <a:spcAft>
                <a:spcPts val="500"/>
              </a:spcAft>
            </a:pPr>
            <a:r>
              <a:rPr sz="2200" b="1">
                <a:solidFill>
                  <a:srgbClr val="FFFFFF"/>
                </a:solidFill>
                <a:latin typeface="BIZ UDPゴシック"/>
                <a:ea typeface="BIZ UDPゴシック"/>
              </a:rPr>
              <a:t>〜太陽光＋蓄電池セット販売〜</a:t>
            </a:r>
          </a:p>
        </p:txBody>
      </p:sp>
      <p:sp>
        <p:nvSpPr>
          <p:cNvPr id="7" name="テキスト ボックス 6">
            <a:extLst>
              <a:ext uri="{FF2B5EF4-FFF2-40B4-BE49-F238E27FC236}">
                <a16:creationId xmlns:a16="http://schemas.microsoft.com/office/drawing/2014/main" id="{D71E207B-1CE8-4FD8-B86D-32251E1C4C12}"/>
              </a:ext>
            </a:extLst>
          </p:cNvPr>
          <p:cNvSpPr txBox="1"/>
          <p:nvPr/>
        </p:nvSpPr>
        <p:spPr>
          <a:xfrm>
            <a:off x="4664968" y="4471938"/>
            <a:ext cx="5112568" cy="369332"/>
          </a:xfrm>
          <a:prstGeom prst="rect">
            <a:avLst/>
          </a:prstGeom>
          <a:noFill/>
        </p:spPr>
        <p:txBody>
          <a:bodyPr wrap="square" rtlCol="0">
            <a:spAutoFit/>
          </a:bodyPr>
          <a:lstStyle/>
          <a:p>
            <a:pPr algn="r">
              <a:spcAft>
                <a:spcPts val="500"/>
              </a:spcAft>
            </a:pPr>
            <a:r>
              <a:rPr sz="1400" b="0">
                <a:solidFill>
                  <a:srgbClr val="FFFFFF"/>
                </a:solidFill>
                <a:latin typeface="BIZ UDPゴシック"/>
                <a:ea typeface="BIZ UDPゴシック"/>
              </a:rPr>
              <a:t>2026年度　所要60分　株式会社船井総合研究所</a:t>
            </a:r>
          </a:p>
        </p:txBody>
      </p:sp>
      <p:pic>
        <p:nvPicPr>
          <p:cNvPr id="9" name="図 8">
            <a:extLst>
              <a:ext uri="{FF2B5EF4-FFF2-40B4-BE49-F238E27FC236}">
                <a16:creationId xmlns:a16="http://schemas.microsoft.com/office/drawing/2014/main" id="{1B7CC725-B595-4742-A8BF-D882BB45AE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98388" y="5736453"/>
            <a:ext cx="2309225" cy="473385"/>
          </a:xfrm>
          <a:prstGeom prst="rect">
            <a:avLst/>
          </a:prstGeom>
        </p:spPr>
      </p:pic>
    </p:spTree>
    <p:extLst>
      <p:ext uri="{BB962C8B-B14F-4D97-AF65-F5344CB8AC3E}">
        <p14:creationId xmlns:p14="http://schemas.microsoft.com/office/powerpoint/2010/main" val="14507986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このパートのゴール</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a:t>
            </a:r>
          </a:p>
        </p:txBody>
      </p:sp>
      <p:sp>
        <p:nvSpPr>
          <p:cNvPr id="5" name="TextBox 4"/>
          <p:cNvSpPr txBox="1"/>
          <p:nvPr/>
        </p:nvSpPr>
        <p:spPr>
          <a:xfrm>
            <a:off x="411480" y="1298448"/>
            <a:ext cx="9052560" cy="548640"/>
          </a:xfrm>
          <a:prstGeom prst="rect">
            <a:avLst/>
          </a:prstGeom>
          <a:noFill/>
        </p:spPr>
        <p:txBody>
          <a:bodyPr wrap="square" anchor="t" lIns="0" rIns="0" tIns="18288" bIns="18288">
            <a:spAutoFit/>
          </a:bodyPr>
          <a:lstStyle/>
          <a:p>
            <a:pPr algn="l">
              <a:spcAft>
                <a:spcPts val="500"/>
              </a:spcAft>
            </a:pPr>
            <a:r>
              <a:rPr sz="2100" b="1">
                <a:solidFill>
                  <a:srgbClr val="FF0000"/>
                </a:solidFill>
                <a:latin typeface="HGPｺﾞｼｯｸE"/>
                <a:ea typeface="HGPｺﾞｼｯｸE"/>
              </a:rPr>
              <a:t>アプローチブック p.9〜p.19 を、自分の言葉でめくれるようになる</a:t>
            </a:r>
          </a:p>
        </p:txBody>
      </p:sp>
      <p:sp>
        <p:nvSpPr>
          <p:cNvPr id="6" name="TextBox 5"/>
          <p:cNvSpPr txBox="1"/>
          <p:nvPr/>
        </p:nvSpPr>
        <p:spPr>
          <a:xfrm>
            <a:off x="411480" y="1920240"/>
            <a:ext cx="9098280" cy="310896"/>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この資料は、1ページごとに「基本」と「応用」の2段で書いてあります</a:t>
            </a:r>
          </a:p>
        </p:txBody>
      </p:sp>
      <p:sp>
        <p:nvSpPr>
          <p:cNvPr id="7" name="Rectangle 6"/>
          <p:cNvSpPr/>
          <p:nvPr/>
        </p:nvSpPr>
        <p:spPr>
          <a:xfrm>
            <a:off x="411480" y="2286000"/>
            <a:ext cx="4389120" cy="1920240"/>
          </a:xfrm>
          <a:prstGeom prst="rect">
            <a:avLst/>
          </a:prstGeom>
          <a:solidFill>
            <a:srgbClr val="F2F2F2"/>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400" b="1">
                <a:solidFill>
                  <a:srgbClr val="FFFFFF"/>
                </a:solidFill>
                <a:highlight>
                  <a:srgbClr val="4F6228"/>
                </a:highlight>
                <a:latin typeface="HGPｺﾞｼｯｸE"/>
                <a:ea typeface="HGPｺﾞｼｯｸE"/>
              </a:rPr>
              <a:t>基本</a:t>
            </a:r>
            <a:r>
              <a:rPr sz="1400" b="1">
                <a:solidFill>
                  <a:srgbClr val="000000"/>
                </a:solidFill>
                <a:latin typeface="HGPｺﾞｼｯｸE"/>
                <a:ea typeface="HGPｺﾞｼｯｸE"/>
              </a:rPr>
              <a:t>　初めての方・数回の方</a:t>
            </a:r>
          </a:p>
          <a:p>
            <a:pPr algn="l">
              <a:spcAft>
                <a:spcPts val="700"/>
              </a:spcAft>
            </a:pPr>
            <a:r>
              <a:rPr sz="1400" b="0">
                <a:solidFill>
                  <a:srgbClr val="000000"/>
                </a:solidFill>
                <a:latin typeface="HGPｺﾞｼｯｸE"/>
                <a:ea typeface="HGPｺﾞｼｯｸE"/>
              </a:rPr>
              <a:t>① 資料を見ずに、緑帯の結論を言い切れる</a:t>
            </a:r>
          </a:p>
          <a:p>
            <a:pPr algn="l">
              <a:spcAft>
                <a:spcPts val="700"/>
              </a:spcAft>
            </a:pPr>
            <a:r>
              <a:rPr sz="1400" b="0">
                <a:solidFill>
                  <a:srgbClr val="000000"/>
                </a:solidFill>
                <a:latin typeface="HGPｺﾞｼｯｸE"/>
                <a:ea typeface="HGPｺﾞｼｯｸE"/>
              </a:rPr>
              <a:t>② 1ページで言う数字を1つに絞れる</a:t>
            </a:r>
          </a:p>
          <a:p>
            <a:pPr algn="l">
              <a:spcAft>
                <a:spcPts val="700"/>
              </a:spcAft>
            </a:pPr>
            <a:r>
              <a:rPr sz="1400" b="0">
                <a:solidFill>
                  <a:srgbClr val="000000"/>
                </a:solidFill>
                <a:latin typeface="HGPｺﾞｼｯｸE"/>
                <a:ea typeface="HGPｺﾞｼｯｸE"/>
              </a:rPr>
              <a:t>③ p.9からp.19まで、13分で通せる</a:t>
            </a:r>
          </a:p>
        </p:txBody>
      </p:sp>
      <p:sp>
        <p:nvSpPr>
          <p:cNvPr id="8" name="Rectangle 7"/>
          <p:cNvSpPr/>
          <p:nvPr/>
        </p:nvSpPr>
        <p:spPr>
          <a:xfrm>
            <a:off x="5120640" y="2286000"/>
            <a:ext cx="4389120" cy="192024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400" b="1">
                <a:solidFill>
                  <a:srgbClr val="FFFFFF"/>
                </a:solidFill>
                <a:highlight>
                  <a:srgbClr val="C55A11"/>
                </a:highlight>
                <a:latin typeface="HGPｺﾞｼｯｸE"/>
                <a:ea typeface="HGPｺﾞｼｯｸE"/>
              </a:rPr>
              <a:t>応用</a:t>
            </a:r>
            <a:r>
              <a:rPr sz="1400" b="1">
                <a:solidFill>
                  <a:srgbClr val="000000"/>
                </a:solidFill>
                <a:latin typeface="HGPｺﾞｼｯｸE"/>
                <a:ea typeface="HGPｺﾞｼｯｸE"/>
              </a:rPr>
              <a:t>　契約率を上げたい方</a:t>
            </a:r>
          </a:p>
          <a:p>
            <a:pPr algn="l">
              <a:spcAft>
                <a:spcPts val="700"/>
              </a:spcAft>
            </a:pPr>
            <a:r>
              <a:rPr sz="1400" b="0">
                <a:solidFill>
                  <a:srgbClr val="000000"/>
                </a:solidFill>
                <a:latin typeface="HGPｺﾞｼｯｸE"/>
                <a:ea typeface="HGPｺﾞｼｯｸE"/>
              </a:rPr>
              <a:t>① お客様の実額に数字を置き換えられる</a:t>
            </a:r>
          </a:p>
          <a:p>
            <a:pPr algn="l">
              <a:spcAft>
                <a:spcPts val="700"/>
              </a:spcAft>
            </a:pPr>
            <a:r>
              <a:rPr sz="1400" b="0">
                <a:solidFill>
                  <a:srgbClr val="000000"/>
                </a:solidFill>
                <a:latin typeface="HGPｺﾞｼｯｸE"/>
                <a:ea typeface="HGPｺﾞｼｯｸE"/>
              </a:rPr>
              <a:t>② ネガが出ても、戻るページを選べる</a:t>
            </a:r>
          </a:p>
          <a:p>
            <a:pPr algn="l">
              <a:spcAft>
                <a:spcPts val="700"/>
              </a:spcAft>
            </a:pPr>
            <a:r>
              <a:rPr sz="1400" b="0">
                <a:solidFill>
                  <a:srgbClr val="000000"/>
                </a:solidFill>
                <a:latin typeface="HGPｺﾞｼｯｸE"/>
                <a:ea typeface="HGPｺﾞｼｯｸE"/>
              </a:rPr>
              <a:t>③ テスクロとYES取りを入れられる</a:t>
            </a:r>
          </a:p>
        </p:txBody>
      </p:sp>
      <p:sp>
        <p:nvSpPr>
          <p:cNvPr id="9" name="Rectangle 8"/>
          <p:cNvSpPr/>
          <p:nvPr/>
        </p:nvSpPr>
        <p:spPr>
          <a:xfrm>
            <a:off x="411480" y="4462272"/>
            <a:ext cx="9098280" cy="713232"/>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000" b="1">
                <a:solidFill>
                  <a:srgbClr val="000000"/>
                </a:solidFill>
                <a:latin typeface="HGPｺﾞｼｯｸE"/>
                <a:ea typeface="HGPｺﾞｼｯｸE"/>
              </a:rPr>
              <a:t>扱うのは アプローチブック p.9〜p.19（11ページ）</a:t>
            </a:r>
          </a:p>
        </p:txBody>
      </p:sp>
      <p:sp>
        <p:nvSpPr>
          <p:cNvPr id="10" name="Rectangle 9"/>
          <p:cNvSpPr/>
          <p:nvPr/>
        </p:nvSpPr>
        <p:spPr>
          <a:xfrm>
            <a:off x="411480" y="5413248"/>
            <a:ext cx="9098280" cy="7772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600" b="1">
                <a:solidFill>
                  <a:srgbClr val="000000"/>
                </a:solidFill>
                <a:highlight>
                  <a:srgbClr val="FFFF00"/>
                </a:highlight>
                <a:latin typeface="HGPｺﾞｼｯｸE"/>
                <a:ea typeface="HGPｺﾞｼｯｸE"/>
              </a:rPr>
              <a:t>「基本」だけで商談は成立します。</a:t>
            </a:r>
            <a:r>
              <a:rPr sz="1400" b="0">
                <a:solidFill>
                  <a:srgbClr val="000000"/>
                </a:solidFill>
                <a:latin typeface="HGPｺﾞｼｯｸE"/>
                <a:ea typeface="HGPｺﾞｼｯｸE"/>
              </a:rPr>
              <a:t>　まず基本を全ページ通せるように。「応用」は余力のある人だけ。</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必要性訴求とは</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3</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600" b="1">
                <a:solidFill>
                  <a:srgbClr val="000000"/>
                </a:solidFill>
                <a:latin typeface="HGPｺﾞｼｯｸE"/>
                <a:ea typeface="HGPｺﾞｼｯｸE"/>
              </a:rPr>
              <a:t>必要性を訴求する3つの切り口</a:t>
            </a:r>
          </a:p>
        </p:txBody>
      </p:sp>
      <p:sp>
        <p:nvSpPr>
          <p:cNvPr id="6" name="Rectangle 5"/>
          <p:cNvSpPr/>
          <p:nvPr/>
        </p:nvSpPr>
        <p:spPr>
          <a:xfrm>
            <a:off x="411480" y="1783080"/>
            <a:ext cx="566928" cy="10972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600" b="1">
                <a:solidFill>
                  <a:srgbClr val="000000"/>
                </a:solidFill>
                <a:latin typeface="HGPｺﾞｼｯｸE"/>
                <a:ea typeface="HGPｺﾞｼｯｸE"/>
              </a:rPr>
              <a:t>①</a:t>
            </a:r>
          </a:p>
        </p:txBody>
      </p:sp>
      <p:sp>
        <p:nvSpPr>
          <p:cNvPr id="7" name="Rectangle 6"/>
          <p:cNvSpPr/>
          <p:nvPr/>
        </p:nvSpPr>
        <p:spPr>
          <a:xfrm>
            <a:off x="1097280" y="1783080"/>
            <a:ext cx="6537960" cy="10972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2000" b="1">
                <a:solidFill>
                  <a:srgbClr val="000000"/>
                </a:solidFill>
                <a:latin typeface="HGPｺﾞｼｯｸE"/>
                <a:ea typeface="HGPｺﾞｼｯｸE"/>
              </a:rPr>
              <a:t>電気代が高騰している ⇒ 払わなくていい</a:t>
            </a:r>
          </a:p>
          <a:p>
            <a:pPr algn="l">
              <a:spcAft>
                <a:spcPts val="500"/>
              </a:spcAft>
            </a:pPr>
            <a:r>
              <a:rPr sz="1400" b="0">
                <a:solidFill>
                  <a:srgbClr val="595959"/>
                </a:solidFill>
                <a:latin typeface="HGPｺﾞｼｯｸE"/>
                <a:ea typeface="HGPｺﾞｼｯｸE"/>
              </a:rPr>
              <a:t>使うページ：p.9〜p.17（9ページ）</a:t>
            </a:r>
          </a:p>
        </p:txBody>
      </p:sp>
      <p:sp>
        <p:nvSpPr>
          <p:cNvPr id="8" name="Rectangle 7"/>
          <p:cNvSpPr/>
          <p:nvPr/>
        </p:nvSpPr>
        <p:spPr>
          <a:xfrm>
            <a:off x="7772400" y="2057400"/>
            <a:ext cx="1737360" cy="548640"/>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約20分</a:t>
            </a:r>
          </a:p>
        </p:txBody>
      </p:sp>
      <p:sp>
        <p:nvSpPr>
          <p:cNvPr id="9" name="Rectangle 8"/>
          <p:cNvSpPr/>
          <p:nvPr/>
        </p:nvSpPr>
        <p:spPr>
          <a:xfrm>
            <a:off x="411480" y="3035808"/>
            <a:ext cx="566928" cy="109728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600" b="1">
                <a:solidFill>
                  <a:srgbClr val="000000"/>
                </a:solidFill>
                <a:latin typeface="HGPｺﾞｼｯｸE"/>
                <a:ea typeface="HGPｺﾞｼｯｸE"/>
              </a:rPr>
              <a:t>②</a:t>
            </a:r>
          </a:p>
        </p:txBody>
      </p:sp>
      <p:sp>
        <p:nvSpPr>
          <p:cNvPr id="10" name="Rectangle 9"/>
          <p:cNvSpPr/>
          <p:nvPr/>
        </p:nvSpPr>
        <p:spPr>
          <a:xfrm>
            <a:off x="1097280" y="3035808"/>
            <a:ext cx="6537960" cy="109728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2000" b="1">
                <a:solidFill>
                  <a:srgbClr val="000000"/>
                </a:solidFill>
                <a:latin typeface="HGPｺﾞｼｯｸE"/>
                <a:ea typeface="HGPｺﾞｼｯｸE"/>
              </a:rPr>
              <a:t>災害対策</a:t>
            </a:r>
          </a:p>
          <a:p>
            <a:pPr algn="l">
              <a:spcAft>
                <a:spcPts val="500"/>
              </a:spcAft>
            </a:pPr>
            <a:r>
              <a:rPr sz="1400" b="0">
                <a:solidFill>
                  <a:srgbClr val="595959"/>
                </a:solidFill>
                <a:latin typeface="HGPｺﾞｼｯｸE"/>
                <a:ea typeface="HGPｺﾞｼｯｸE"/>
              </a:rPr>
              <a:t>使うページ：p.18・p.19（2ページ）</a:t>
            </a:r>
          </a:p>
        </p:txBody>
      </p:sp>
      <p:sp>
        <p:nvSpPr>
          <p:cNvPr id="11" name="Rectangle 10"/>
          <p:cNvSpPr/>
          <p:nvPr/>
        </p:nvSpPr>
        <p:spPr>
          <a:xfrm>
            <a:off x="7772400" y="3310127"/>
            <a:ext cx="1737360" cy="548640"/>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3分以内</a:t>
            </a:r>
          </a:p>
        </p:txBody>
      </p:sp>
      <p:sp>
        <p:nvSpPr>
          <p:cNvPr id="12" name="Rectangle 11"/>
          <p:cNvSpPr/>
          <p:nvPr/>
        </p:nvSpPr>
        <p:spPr>
          <a:xfrm>
            <a:off x="411480" y="4288536"/>
            <a:ext cx="566928" cy="1097280"/>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600" b="1">
                <a:solidFill>
                  <a:srgbClr val="595959"/>
                </a:solidFill>
                <a:latin typeface="HGPｺﾞｼｯｸE"/>
                <a:ea typeface="HGPｺﾞｼｯｸE"/>
              </a:rPr>
              <a:t>③</a:t>
            </a:r>
          </a:p>
        </p:txBody>
      </p:sp>
      <p:sp>
        <p:nvSpPr>
          <p:cNvPr id="13" name="Rectangle 12"/>
          <p:cNvSpPr/>
          <p:nvPr/>
        </p:nvSpPr>
        <p:spPr>
          <a:xfrm>
            <a:off x="1097280" y="4288536"/>
            <a:ext cx="6537960" cy="1097280"/>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2000" b="1">
                <a:solidFill>
                  <a:srgbClr val="595959"/>
                </a:solidFill>
                <a:latin typeface="HGPｺﾞｼｯｸE"/>
                <a:ea typeface="HGPｺﾞｼｯｸE"/>
              </a:rPr>
              <a:t>経済メリット</a:t>
            </a:r>
          </a:p>
          <a:p>
            <a:pPr algn="l">
              <a:spcAft>
                <a:spcPts val="500"/>
              </a:spcAft>
            </a:pPr>
            <a:r>
              <a:rPr sz="1400" b="0">
                <a:solidFill>
                  <a:srgbClr val="595959"/>
                </a:solidFill>
                <a:latin typeface="HGPｺﾞｼｯｸE"/>
                <a:ea typeface="HGPｺﾞｼｯｸE"/>
              </a:rPr>
              <a:t>使うページ：p.20・p.21 ＋ シミュレーション</a:t>
            </a:r>
          </a:p>
        </p:txBody>
      </p:sp>
      <p:sp>
        <p:nvSpPr>
          <p:cNvPr id="14" name="Rectangle 13"/>
          <p:cNvSpPr/>
          <p:nvPr/>
        </p:nvSpPr>
        <p:spPr>
          <a:xfrm>
            <a:off x="7772400" y="4562856"/>
            <a:ext cx="1737360" cy="548640"/>
          </a:xfrm>
          <a:prstGeom prst="rect">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次回</a:t>
            </a:r>
          </a:p>
        </p:txBody>
      </p:sp>
      <p:sp>
        <p:nvSpPr>
          <p:cNvPr id="15" name="Rectangle 14"/>
          <p:cNvSpPr/>
          <p:nvPr/>
        </p:nvSpPr>
        <p:spPr>
          <a:xfrm>
            <a:off x="411480" y="5577840"/>
            <a:ext cx="9098280" cy="7315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800" b="1">
                <a:solidFill>
                  <a:srgbClr val="FF0000"/>
                </a:solidFill>
                <a:latin typeface="HGPｺﾞｼｯｸE"/>
                <a:ea typeface="HGPｺﾞｼｯｸE"/>
              </a:rPr>
              <a:t>本日は①と②だけを扱います</a:t>
            </a:r>
          </a:p>
          <a:p>
            <a:pPr algn="l">
              <a:spcAft>
                <a:spcPts val="500"/>
              </a:spcAft>
            </a:pPr>
            <a:r>
              <a:rPr sz="1500" b="0">
                <a:solidFill>
                  <a:srgbClr val="000000"/>
                </a:solidFill>
                <a:latin typeface="HGPｺﾞｼｯｸE"/>
                <a:ea typeface="HGPｺﾞｼｯｸE"/>
              </a:rPr>
              <a:t>①②でネガティブな現状を自分事にしてもらうところまで。③の解決策は次回扱います。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アプローチブックの地図</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4</a:t>
            </a:r>
          </a:p>
        </p:txBody>
      </p:sp>
      <p:sp>
        <p:nvSpPr>
          <p:cNvPr id="5" name="TextBox 4"/>
          <p:cNvSpPr txBox="1"/>
          <p:nvPr/>
        </p:nvSpPr>
        <p:spPr>
          <a:xfrm>
            <a:off x="411480" y="1207008"/>
            <a:ext cx="9098280" cy="347472"/>
          </a:xfrm>
          <a:prstGeom prst="rect">
            <a:avLst/>
          </a:prstGeom>
          <a:noFill/>
        </p:spPr>
        <p:txBody>
          <a:bodyPr wrap="square" anchor="t" lIns="0" rIns="0" tIns="18288" bIns="18288">
            <a:spAutoFit/>
          </a:bodyPr>
          <a:lstStyle/>
          <a:p>
            <a:pPr algn="l">
              <a:spcAft>
                <a:spcPts val="500"/>
              </a:spcAft>
            </a:pPr>
            <a:r>
              <a:rPr sz="2200" b="1">
                <a:solidFill>
                  <a:srgbClr val="000000"/>
                </a:solidFill>
                <a:latin typeface="HGPｺﾞｼｯｸE"/>
                <a:ea typeface="HGPｺﾞｼｯｸE"/>
              </a:rPr>
              <a:t>p.9〜p.19で、どのページで何を言うか</a:t>
            </a:r>
          </a:p>
        </p:txBody>
      </p:sp>
      <p:graphicFrame>
        <p:nvGraphicFramePr>
          <p:cNvPr id="6" name="Table 5"/>
          <p:cNvGraphicFramePr>
            <a:graphicFrameLocks noGrp="1"/>
          </p:cNvGraphicFramePr>
          <p:nvPr/>
        </p:nvGraphicFramePr>
        <p:xfrm>
          <a:off x="274320" y="1609344"/>
          <a:ext cx="9372600" cy="4005072"/>
        </p:xfrm>
        <a:graphic>
          <a:graphicData uri="http://schemas.openxmlformats.org/drawingml/2006/table">
            <a:tbl>
              <a:tblPr firstRow="1">
                <a:tableStyleId>{5C22544A-7EE6-4342-B048-85BDC9FD1C3A}</a:tableStyleId>
              </a:tblPr>
              <a:tblGrid>
                <a:gridCol w="1280160"/>
                <a:gridCol w="1005840"/>
                <a:gridCol w="3291840"/>
                <a:gridCol w="3794760"/>
              </a:tblGrid>
              <a:tr h="274320">
                <a:tc>
                  <a:txBody>
                    <a:bodyPr wrap="square"/>
                    <a:lstStyle/>
                    <a:p>
                      <a:pPr algn="ctr"/>
                      <a:r>
                        <a:rPr sz="1050" b="1">
                          <a:solidFill>
                            <a:srgbClr val="FFFFFF"/>
                          </a:solidFill>
                          <a:latin typeface="游ゴシック"/>
                          <a:ea typeface="游ゴシック"/>
                        </a:rPr>
                        <a:t>切り口</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ページ</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見せるもの</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引き出す反応</a:t>
                      </a:r>
                    </a:p>
                  </a:txBody>
                  <a:tcPr marL="45720" marR="45720" marT="18288" marB="18288" anchor="ctr">
                    <a:solidFill>
                      <a:srgbClr val="000000"/>
                    </a:solidFill>
                  </a:tcPr>
                </a:tc>
              </a:tr>
              <a:tr h="310896">
                <a:tc>
                  <a:txBody>
                    <a:bodyPr wrap="square"/>
                    <a:lstStyle/>
                    <a:p>
                      <a:pPr algn="l"/>
                      <a:r>
                        <a:rPr sz="1050" b="0">
                          <a:solidFill>
                            <a:srgbClr val="000000"/>
                          </a:solidFill>
                          <a:latin typeface="游ゴシック"/>
                          <a:ea typeface="游ゴシック"/>
                        </a:rPr>
                        <a:t>①電気代</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p.9</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電気料金の推移（2010〜2025年）</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10年で5.5万円も上がっているのですね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p.10</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電力自由化でも下がらなかった</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法改正しても上がっているのですね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p.11</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電気料金の内訳（❶❷の単価）</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内訳はこんな感じなんですね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p.12</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全国的な電力単価の値上げ</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全国的に上がっているのですね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p.13</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再エネ賦課金とは何か（4.18円）</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賦課金で電気代が上がるのですね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p.14</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再エネ賦課金の推移（13年で18倍）</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賦課金で電気代が上がるのですね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p.15</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燃料調整費のしくみと政府支援</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これからも上がりそうですね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p.16</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燃料調整単価の実績（北陸電力）</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もう上がり始めているのですね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p.17</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生涯に支払う電気代（700万円超）</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30年でそんなにも払うのですね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②災害</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p.18</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予測が困難な地震情報</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いつ災害が起こるか分からないですね</a:t>
                      </a:r>
                    </a:p>
                  </a:txBody>
                  <a:tcPr marL="45720" marR="45720" marT="18288" marB="18288" anchor="ctr">
                    <a:solidFill>
                      <a:srgbClr val="FFF2CC"/>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p.19</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停電被害の実績</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停電時も電気が使えた方が安心です</a:t>
                      </a:r>
                    </a:p>
                  </a:txBody>
                  <a:tcPr marL="45720" marR="45720" marT="18288" marB="18288" anchor="ctr">
                    <a:solidFill>
                      <a:srgbClr val="FFF2CC"/>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50" b="0">
                          <a:solidFill>
                            <a:srgbClr val="FF0000"/>
                          </a:solidFill>
                          <a:latin typeface="游ゴシック"/>
                          <a:ea typeface="游ゴシック"/>
                        </a:rPr>
                        <a:t>（なし）</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自社・メーカーの事例で語る</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実際に使えた話を聞くと安心ですね</a:t>
                      </a:r>
                    </a:p>
                  </a:txBody>
                  <a:tcPr marL="45720" marR="45720" marT="18288" marB="18288" anchor="ctr">
                    <a:solidFill>
                      <a:srgbClr val="FFF2CC"/>
                    </a:solidFill>
                  </a:tcPr>
                </a:tc>
              </a:tr>
            </a:tbl>
          </a:graphicData>
        </a:graphic>
      </p:graphicFrame>
      <p:sp>
        <p:nvSpPr>
          <p:cNvPr id="7" name="Rectangle 6"/>
          <p:cNvSpPr/>
          <p:nvPr/>
        </p:nvSpPr>
        <p:spPr>
          <a:xfrm>
            <a:off x="274320" y="5907024"/>
            <a:ext cx="9372600" cy="402336"/>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太字が「必ず時間をかけるページ」。それ以外も飛ばさず、1ページずつめくります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伝え方の型</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5</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全ページ共通：1ページを「4ステップ」でめくる</a:t>
            </a:r>
          </a:p>
        </p:txBody>
      </p:sp>
      <p:sp>
        <p:nvSpPr>
          <p:cNvPr id="6" name="Rectangle 5"/>
          <p:cNvSpPr/>
          <p:nvPr/>
        </p:nvSpPr>
        <p:spPr>
          <a:xfrm>
            <a:off x="411480" y="1810512"/>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1</a:t>
            </a:r>
          </a:p>
        </p:txBody>
      </p:sp>
      <p:sp>
        <p:nvSpPr>
          <p:cNvPr id="7" name="Rectangle 6"/>
          <p:cNvSpPr/>
          <p:nvPr/>
        </p:nvSpPr>
        <p:spPr>
          <a:xfrm>
            <a:off x="1508760" y="1810512"/>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見出しを読む</a:t>
            </a:r>
            <a:r>
              <a:rPr sz="1300" b="0">
                <a:solidFill>
                  <a:srgbClr val="595959"/>
                </a:solidFill>
                <a:latin typeface="HGPｺﾞｼｯｸE"/>
                <a:ea typeface="HGPｺﾞｼｯｸE"/>
              </a:rPr>
              <a:t>　（約5秒）</a:t>
            </a:r>
          </a:p>
          <a:p>
            <a:pPr algn="l">
              <a:spcAft>
                <a:spcPts val="0"/>
              </a:spcAft>
            </a:pPr>
            <a:r>
              <a:rPr sz="1400" b="0">
                <a:solidFill>
                  <a:srgbClr val="000000"/>
                </a:solidFill>
                <a:latin typeface="HGPｺﾞｼｯｸE"/>
                <a:ea typeface="HGPｺﾞｼｯｸE"/>
              </a:rPr>
              <a:t>ページ上部の見出しを、そのまま読み上げる。ここは変えない。</a:t>
            </a:r>
          </a:p>
        </p:txBody>
      </p:sp>
      <p:sp>
        <p:nvSpPr>
          <p:cNvPr id="8" name="Rectangle 7"/>
          <p:cNvSpPr/>
          <p:nvPr/>
        </p:nvSpPr>
        <p:spPr>
          <a:xfrm>
            <a:off x="411480" y="2880360"/>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2</a:t>
            </a:r>
          </a:p>
        </p:txBody>
      </p:sp>
      <p:sp>
        <p:nvSpPr>
          <p:cNvPr id="9" name="Rectangle 8"/>
          <p:cNvSpPr/>
          <p:nvPr/>
        </p:nvSpPr>
        <p:spPr>
          <a:xfrm>
            <a:off x="1508760" y="2880360"/>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リード文は読まない</a:t>
            </a:r>
            <a:r>
              <a:rPr sz="1300" b="0">
                <a:solidFill>
                  <a:srgbClr val="595959"/>
                </a:solidFill>
                <a:latin typeface="HGPｺﾞｼｯｸE"/>
                <a:ea typeface="HGPｺﾞｼｯｸE"/>
              </a:rPr>
              <a:t>　（約15秒）</a:t>
            </a:r>
          </a:p>
          <a:p>
            <a:pPr algn="l">
              <a:spcAft>
                <a:spcPts val="0"/>
              </a:spcAft>
            </a:pPr>
            <a:r>
              <a:rPr sz="1400" b="0">
                <a:solidFill>
                  <a:srgbClr val="000000"/>
                </a:solidFill>
                <a:latin typeface="HGPｺﾞｼｯｸE"/>
                <a:ea typeface="HGPｺﾞｼｯｸE"/>
              </a:rPr>
              <a:t>小さい文字のリード文は読み上げず、要点を自分の言葉で1文に縮めて言う。</a:t>
            </a:r>
          </a:p>
        </p:txBody>
      </p:sp>
      <p:sp>
        <p:nvSpPr>
          <p:cNvPr id="10" name="Rectangle 9"/>
          <p:cNvSpPr/>
          <p:nvPr/>
        </p:nvSpPr>
        <p:spPr>
          <a:xfrm>
            <a:off x="411480" y="3950208"/>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3</a:t>
            </a:r>
          </a:p>
        </p:txBody>
      </p:sp>
      <p:sp>
        <p:nvSpPr>
          <p:cNvPr id="11" name="Rectangle 10"/>
          <p:cNvSpPr/>
          <p:nvPr/>
        </p:nvSpPr>
        <p:spPr>
          <a:xfrm>
            <a:off x="1508760" y="3950208"/>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図の中の数字を1つだけ指す</a:t>
            </a:r>
            <a:r>
              <a:rPr sz="1300" b="0">
                <a:solidFill>
                  <a:srgbClr val="595959"/>
                </a:solidFill>
                <a:latin typeface="HGPｺﾞｼｯｸE"/>
                <a:ea typeface="HGPｺﾞｼｯｸE"/>
              </a:rPr>
              <a:t>　（約30秒）</a:t>
            </a:r>
          </a:p>
          <a:p>
            <a:pPr algn="l">
              <a:spcAft>
                <a:spcPts val="0"/>
              </a:spcAft>
            </a:pPr>
            <a:r>
              <a:rPr sz="1400" b="0">
                <a:solidFill>
                  <a:srgbClr val="000000"/>
                </a:solidFill>
                <a:latin typeface="HGPｺﾞｼｯｸE"/>
                <a:ea typeface="HGPｺﾞｼｯｸE"/>
              </a:rPr>
              <a:t>図の全部を説明しない。指でさして、いちばん大きい数字を1つだけ口に出す。</a:t>
            </a:r>
          </a:p>
        </p:txBody>
      </p:sp>
      <p:sp>
        <p:nvSpPr>
          <p:cNvPr id="12" name="Rectangle 11"/>
          <p:cNvSpPr/>
          <p:nvPr/>
        </p:nvSpPr>
        <p:spPr>
          <a:xfrm>
            <a:off x="411480" y="5020056"/>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4</a:t>
            </a:r>
          </a:p>
        </p:txBody>
      </p:sp>
      <p:sp>
        <p:nvSpPr>
          <p:cNvPr id="13" name="Rectangle 12"/>
          <p:cNvSpPr/>
          <p:nvPr/>
        </p:nvSpPr>
        <p:spPr>
          <a:xfrm>
            <a:off x="1508760" y="5020056"/>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緑帯の結論を言い切り、質問を返す</a:t>
            </a:r>
            <a:r>
              <a:rPr sz="1300" b="0">
                <a:solidFill>
                  <a:srgbClr val="595959"/>
                </a:solidFill>
                <a:latin typeface="HGPｺﾞｼｯｸE"/>
                <a:ea typeface="HGPｺﾞｼｯｸE"/>
              </a:rPr>
              <a:t>　（約20秒）</a:t>
            </a:r>
          </a:p>
          <a:p>
            <a:pPr algn="l">
              <a:spcAft>
                <a:spcPts val="0"/>
              </a:spcAft>
            </a:pPr>
            <a:r>
              <a:rPr sz="1400" b="0">
                <a:solidFill>
                  <a:srgbClr val="000000"/>
                </a:solidFill>
                <a:latin typeface="HGPｺﾞｼｯｸE"/>
                <a:ea typeface="HGPｺﾞｼｯｸE"/>
              </a:rPr>
              <a:t>下の緑帯をそのまま言い切る。そのあと質問を投げて、お客様に言わせる。</a:t>
            </a:r>
          </a:p>
        </p:txBody>
      </p:sp>
      <p:sp>
        <p:nvSpPr>
          <p:cNvPr id="14" name="Rectangle 13"/>
          <p:cNvSpPr/>
          <p:nvPr/>
        </p:nvSpPr>
        <p:spPr>
          <a:xfrm>
            <a:off x="411480" y="6053328"/>
            <a:ext cx="9098280" cy="384048"/>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1ページ約70秒。11ページ通して約13分。まずは STEP1 と STEP4 だけでも通せれば合格です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6</a:t>
            </a:r>
          </a:p>
        </p:txBody>
      </p:sp>
      <p:sp>
        <p:nvSpPr>
          <p:cNvPr id="5" name="TextBox 4"/>
          <p:cNvSpPr txBox="1"/>
          <p:nvPr/>
        </p:nvSpPr>
        <p:spPr>
          <a:xfrm>
            <a:off x="411480" y="1325880"/>
            <a:ext cx="9098280" cy="502920"/>
          </a:xfrm>
          <a:prstGeom prst="rect">
            <a:avLst/>
          </a:prstGeom>
          <a:noFill/>
        </p:spPr>
        <p:txBody>
          <a:bodyPr wrap="square" anchor="t" lIns="0" rIns="0" tIns="18288" bIns="18288">
            <a:spAutoFit/>
          </a:bodyPr>
          <a:lstStyle/>
          <a:p>
            <a:pPr algn="l">
              <a:spcAft>
                <a:spcPts val="500"/>
              </a:spcAft>
            </a:pPr>
            <a:r>
              <a:rPr sz="3000" b="1">
                <a:solidFill>
                  <a:srgbClr val="000000"/>
                </a:solidFill>
                <a:latin typeface="HGPｺﾞｼｯｸE"/>
                <a:ea typeface="HGPｺﾞｼｯｸE"/>
              </a:rPr>
              <a:t>①　電気代が高騰している ⇒ 払わなくていい</a:t>
            </a:r>
          </a:p>
        </p:txBody>
      </p:sp>
      <p:sp>
        <p:nvSpPr>
          <p:cNvPr id="6" name="Rectangle 5"/>
          <p:cNvSpPr/>
          <p:nvPr/>
        </p:nvSpPr>
        <p:spPr>
          <a:xfrm>
            <a:off x="411480" y="2011680"/>
            <a:ext cx="4526280" cy="11887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使うページ</a:t>
            </a:r>
          </a:p>
          <a:p>
            <a:pPr algn="l">
              <a:spcAft>
                <a:spcPts val="500"/>
              </a:spcAft>
            </a:pPr>
            <a:r>
              <a:rPr sz="1900" b="1">
                <a:solidFill>
                  <a:srgbClr val="000000"/>
                </a:solidFill>
                <a:latin typeface="HGPｺﾞｼｯｸE"/>
                <a:ea typeface="HGPｺﾞｼｯｸE"/>
              </a:rPr>
              <a:t>p.9 〜 p.17（9ページ）</a:t>
            </a:r>
          </a:p>
        </p:txBody>
      </p:sp>
      <p:sp>
        <p:nvSpPr>
          <p:cNvPr id="7" name="Rectangle 6"/>
          <p:cNvSpPr/>
          <p:nvPr/>
        </p:nvSpPr>
        <p:spPr>
          <a:xfrm>
            <a:off x="5120640" y="2011680"/>
            <a:ext cx="4389120" cy="11887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かける時間</a:t>
            </a:r>
          </a:p>
          <a:p>
            <a:pPr algn="l">
              <a:spcAft>
                <a:spcPts val="500"/>
              </a:spcAft>
            </a:pPr>
            <a:r>
              <a:rPr sz="1900" b="1">
                <a:solidFill>
                  <a:srgbClr val="000000"/>
                </a:solidFill>
                <a:latin typeface="HGPｺﾞｼｯｸE"/>
                <a:ea typeface="HGPｺﾞｼｯｸE"/>
              </a:rPr>
              <a:t>約20分</a:t>
            </a:r>
          </a:p>
        </p:txBody>
      </p:sp>
      <p:sp>
        <p:nvSpPr>
          <p:cNvPr id="8" name="Rectangle 7"/>
          <p:cNvSpPr/>
          <p:nvPr/>
        </p:nvSpPr>
        <p:spPr>
          <a:xfrm>
            <a:off x="411480" y="3383280"/>
            <a:ext cx="9098280" cy="96012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595959"/>
                </a:solidFill>
                <a:latin typeface="HGPｺﾞｼｯｸE"/>
                <a:ea typeface="HGPｺﾞｼｯｸE"/>
              </a:rPr>
              <a:t>この切り口のゴール</a:t>
            </a:r>
          </a:p>
          <a:p>
            <a:pPr algn="ctr">
              <a:spcAft>
                <a:spcPts val="500"/>
              </a:spcAft>
            </a:pPr>
            <a:r>
              <a:rPr sz="2000" b="1">
                <a:solidFill>
                  <a:srgbClr val="FF0000"/>
                </a:solidFill>
                <a:latin typeface="HGPｺﾞｼｯｸE"/>
                <a:ea typeface="HGPｺﾞｼｯｸE"/>
              </a:rPr>
              <a:t>「このままではまずい」と自分事で思ってもらう</a:t>
            </a:r>
          </a:p>
        </p:txBody>
      </p:sp>
      <p:sp>
        <p:nvSpPr>
          <p:cNvPr id="9" name="Rectangle 8"/>
          <p:cNvSpPr/>
          <p:nvPr/>
        </p:nvSpPr>
        <p:spPr>
          <a:xfrm>
            <a:off x="411480" y="4572000"/>
            <a:ext cx="9098280" cy="1691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500" b="1">
                <a:solidFill>
                  <a:srgbClr val="000000"/>
                </a:solidFill>
                <a:latin typeface="HGPｺﾞｼｯｸE"/>
                <a:ea typeface="HGPｺﾞｼｯｸE"/>
              </a:rPr>
              <a:t>めくるときのポイント</a:t>
            </a:r>
          </a:p>
          <a:p>
            <a:pPr algn="l">
              <a:spcAft>
                <a:spcPts val="600"/>
              </a:spcAft>
            </a:pPr>
            <a:r>
              <a:rPr sz="1500" b="0">
                <a:solidFill>
                  <a:srgbClr val="000000"/>
                </a:solidFill>
                <a:latin typeface="HGPｺﾞｼｯｸE"/>
                <a:ea typeface="HGPｺﾞｼｯｸE"/>
              </a:rPr>
              <a:t>・9ページすべてを1ページずつめくる。飛ばすページはありません</a:t>
            </a:r>
          </a:p>
          <a:p>
            <a:pPr algn="l">
              <a:spcAft>
                <a:spcPts val="600"/>
              </a:spcAft>
            </a:pPr>
            <a:r>
              <a:rPr sz="1500" b="0">
                <a:solidFill>
                  <a:srgbClr val="000000"/>
                </a:solidFill>
                <a:latin typeface="HGPｺﾞｼｯｸE"/>
                <a:ea typeface="HGPｺﾞｼｯｸE"/>
              </a:rPr>
              <a:t>・時間をかけるのは p.9・p.14・p.17 の3ページ。残りは各20〜30秒で抜ける</a:t>
            </a:r>
          </a:p>
          <a:p>
            <a:pPr algn="l">
              <a:spcAft>
                <a:spcPts val="600"/>
              </a:spcAft>
            </a:pPr>
            <a:r>
              <a:rPr sz="1500" b="0">
                <a:solidFill>
                  <a:srgbClr val="000000"/>
                </a:solidFill>
                <a:latin typeface="HGPｺﾞｼｯｸE"/>
                <a:ea typeface="HGPｺﾞｼｯｸE"/>
              </a:rPr>
              <a:t>・基本｜各ページの「基本」3行だけ言えば、①は成立します</a:t>
            </a:r>
          </a:p>
          <a:p>
            <a:pPr algn="l">
              <a:spcAft>
                <a:spcPts val="600"/>
              </a:spcAft>
            </a:pPr>
            <a:r>
              <a:rPr sz="1500" b="0">
                <a:solidFill>
                  <a:srgbClr val="000000"/>
                </a:solidFill>
                <a:latin typeface="HGPｺﾞｼｯｸE"/>
                <a:ea typeface="HGPｺﾞｼｯｸE"/>
              </a:rPr>
              <a:t>・応用｜検針票の実額に置き換える／ネガが出たら戻るページを選ぶ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7</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p.9　直近10年間、過去最高水準の電気料金になっています</a:t>
            </a:r>
          </a:p>
        </p:txBody>
      </p:sp>
      <p:pic>
        <p:nvPicPr>
          <p:cNvPr id="6" name="Picture 5" descr="ab09.jpg"/>
          <p:cNvPicPr>
            <a:picLocks noChangeAspect="1"/>
          </p:cNvPicPr>
          <p:nvPr/>
        </p:nvPicPr>
        <p:blipFill>
          <a:blip r:embed="rId2"/>
          <a:stretch>
            <a:fillRect/>
          </a:stretch>
        </p:blipFill>
        <p:spPr>
          <a:xfrm>
            <a:off x="411480" y="1755648"/>
            <a:ext cx="4617720" cy="2793101"/>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p.9　電気料金の推移</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「10年間で5.5万円も電気代は上がっているのですね」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グラフ全体は説明せず、右端の¥180,675だけを指す</a:t>
            </a:r>
          </a:p>
          <a:p>
            <a:pPr algn="l">
              <a:spcAft>
                <a:spcPts val="400"/>
              </a:spcAft>
            </a:pPr>
            <a:r>
              <a:rPr sz="1200" b="0">
                <a:solidFill>
                  <a:srgbClr val="000000"/>
                </a:solidFill>
                <a:latin typeface="HGPｺﾞｼｯｸE"/>
                <a:ea typeface="HGPｺﾞｼｯｸE"/>
              </a:rPr>
              <a:t>「2010年は約12万円。2025年には18万円です」</a:t>
            </a:r>
          </a:p>
          <a:p>
            <a:pPr algn="l">
              <a:spcAft>
                <a:spcPts val="400"/>
              </a:spcAft>
            </a:pPr>
            <a:r>
              <a:rPr sz="1200" b="0">
                <a:solidFill>
                  <a:srgbClr val="000000"/>
                </a:solidFill>
                <a:latin typeface="HGPｺﾞｼｯｸE"/>
                <a:ea typeface="HGPｺﾞｼｯｸE"/>
              </a:rPr>
              <a:t>「震災を境に、15年で約5.5万円上がりました」</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1">
                <a:solidFill>
                  <a:srgbClr val="000000"/>
                </a:solidFill>
                <a:latin typeface="HGPｺﾞｼｯｸE"/>
                <a:ea typeface="HGPｺﾞｼｯｸE"/>
              </a:rPr>
              <a:t>先に「〇〇様は月いくらですか？」と聞き、その額から話す</a:t>
            </a:r>
          </a:p>
          <a:p>
            <a:pPr algn="l">
              <a:spcAft>
                <a:spcPts val="300"/>
              </a:spcAft>
            </a:pPr>
            <a:r>
              <a:rPr sz="1200" b="0">
                <a:solidFill>
                  <a:srgbClr val="000000"/>
                </a:solidFill>
                <a:latin typeface="HGPｺﾞｼｯｸE"/>
                <a:ea typeface="HGPｺﾞｼｯｸE"/>
              </a:rPr>
              <a:t>「検針票が無い」と言われたら口座引き落としを見てもらう</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電気料金は2011年以降45％、約5.5万円も上昇している</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グラフの棒を1本ずつ読み上げると、お客様は数字を追えなくなります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8</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p.10　「電力自由化」でも電気代は上がってしまいました</a:t>
            </a:r>
          </a:p>
        </p:txBody>
      </p:sp>
      <p:pic>
        <p:nvPicPr>
          <p:cNvPr id="6" name="Picture 5" descr="ab10.jpg"/>
          <p:cNvPicPr>
            <a:picLocks noChangeAspect="1"/>
          </p:cNvPicPr>
          <p:nvPr/>
        </p:nvPicPr>
        <p:blipFill>
          <a:blip r:embed="rId2"/>
          <a:stretch>
            <a:fillRect/>
          </a:stretch>
        </p:blipFill>
        <p:spPr>
          <a:xfrm>
            <a:off x="411480" y="1755648"/>
            <a:ext cx="4617720" cy="2771768"/>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p.10　電力自由化の前後と電力量単価</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「政府が電力自由化の法改正をしても電気代は上がっているのですね」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左右の図は流す。下の単価表の2行だけを指す</a:t>
            </a:r>
          </a:p>
          <a:p>
            <a:pPr algn="l">
              <a:spcAft>
                <a:spcPts val="400"/>
              </a:spcAft>
            </a:pPr>
            <a:r>
              <a:rPr sz="1200" b="0">
                <a:solidFill>
                  <a:srgbClr val="000000"/>
                </a:solidFill>
                <a:latin typeface="HGPｺﾞｼｯｸE"/>
                <a:ea typeface="HGPｺﾞｼｯｸE"/>
              </a:rPr>
              <a:t>「2016年4月に電力小売が自由化されました」</a:t>
            </a:r>
          </a:p>
          <a:p>
            <a:pPr algn="l">
              <a:spcAft>
                <a:spcPts val="400"/>
              </a:spcAft>
            </a:pPr>
            <a:r>
              <a:rPr sz="1200" b="0">
                <a:solidFill>
                  <a:srgbClr val="000000"/>
                </a:solidFill>
                <a:latin typeface="HGPｺﾞｼｯｸE"/>
                <a:ea typeface="HGPｺﾞｼｯｸE"/>
              </a:rPr>
              <a:t>「ところが単価は21円→32円。11円の上昇です」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切替済みのお客様にも「それでも単価は上がっています」</a:t>
            </a:r>
          </a:p>
          <a:p>
            <a:pPr algn="l">
              <a:spcAft>
                <a:spcPts val="300"/>
              </a:spcAft>
            </a:pPr>
            <a:r>
              <a:rPr sz="1200" b="1">
                <a:solidFill>
                  <a:srgbClr val="000000"/>
                </a:solidFill>
                <a:latin typeface="HGPｺﾞｼｯｸE"/>
                <a:ea typeface="HGPｺﾞｼｯｸE"/>
              </a:rPr>
              <a:t>狙いは「法改正でも止まらなかった」の一点。長く話さない</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制度のねらいに反し、電気代はむしろ高くなっているのです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新電力の良し悪しの話に持っていかない。「会社を変えても単価は上がる」で止める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9</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p.11　電気代高騰の原因は2つの料金単価が上昇しているから</a:t>
            </a:r>
          </a:p>
        </p:txBody>
      </p:sp>
      <p:pic>
        <p:nvPicPr>
          <p:cNvPr id="6" name="Picture 5" descr="ab11.jpg"/>
          <p:cNvPicPr>
            <a:picLocks noChangeAspect="1"/>
          </p:cNvPicPr>
          <p:nvPr/>
        </p:nvPicPr>
        <p:blipFill>
          <a:blip r:embed="rId2"/>
          <a:stretch>
            <a:fillRect/>
          </a:stretch>
        </p:blipFill>
        <p:spPr>
          <a:xfrm>
            <a:off x="411480" y="1755648"/>
            <a:ext cx="4617720" cy="2771768"/>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p.11　電気料金の内訳</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「電気代の内訳はこんな感じなんですね」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赤枠の❶❷を順に指す。式は読み上げない</a:t>
            </a:r>
          </a:p>
          <a:p>
            <a:pPr algn="l">
              <a:spcAft>
                <a:spcPts val="400"/>
              </a:spcAft>
            </a:pPr>
            <a:r>
              <a:rPr sz="1200" b="0">
                <a:solidFill>
                  <a:srgbClr val="000000"/>
                </a:solidFill>
                <a:latin typeface="HGPｺﾞｼｯｸE"/>
                <a:ea typeface="HGPｺﾞｼｯｸE"/>
              </a:rPr>
              <a:t>「基本料金＋電力量料金＋再エネ賦課金の足し算です」</a:t>
            </a:r>
          </a:p>
          <a:p>
            <a:pPr algn="l">
              <a:spcAft>
                <a:spcPts val="400"/>
              </a:spcAft>
            </a:pPr>
            <a:r>
              <a:rPr sz="1200" b="0">
                <a:solidFill>
                  <a:srgbClr val="000000"/>
                </a:solidFill>
                <a:latin typeface="HGPｺﾞｼｯｸE"/>
                <a:ea typeface="HGPｺﾞｼｯｸE"/>
              </a:rPr>
              <a:t>「上がっているのは❶と❷、2つの単価です」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「節電している」には「上がったのは単価です」と返す</a:t>
            </a:r>
          </a:p>
          <a:p>
            <a:pPr algn="l">
              <a:spcAft>
                <a:spcPts val="300"/>
              </a:spcAft>
            </a:pPr>
            <a:r>
              <a:rPr sz="1200" b="1">
                <a:solidFill>
                  <a:srgbClr val="000000"/>
                </a:solidFill>
                <a:latin typeface="HGPｺﾞｼｯｸE"/>
                <a:ea typeface="HGPｺﾞｼｯｸE"/>
              </a:rPr>
              <a:t>次のp.12が❶、p.13が❷。分岐を予告してから進む</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毎月の支払料金はみても、内訳まで見る人はいません…</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ここで難しい話にしない。「上がっているのは2つの単価」だけ残せば十分です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10</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p.12　電気料金が上昇する理由：①全国的な電力単価の値上げ</a:t>
            </a:r>
          </a:p>
        </p:txBody>
      </p:sp>
      <p:pic>
        <p:nvPicPr>
          <p:cNvPr id="6" name="Picture 5" descr="ab12.jpg"/>
          <p:cNvPicPr>
            <a:picLocks noChangeAspect="1"/>
          </p:cNvPicPr>
          <p:nvPr/>
        </p:nvPicPr>
        <p:blipFill>
          <a:blip r:embed="rId2"/>
          <a:stretch>
            <a:fillRect/>
          </a:stretch>
        </p:blipFill>
        <p:spPr>
          <a:xfrm>
            <a:off x="411480" y="1755648"/>
            <a:ext cx="4617720" cy="2771768"/>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p.12　各電力会社の平均値上げ幅</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「全国的に電気代は上昇しているのですね」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全社を読み上げない。お客様の地域と最高値の2つだけ</a:t>
            </a:r>
          </a:p>
          <a:p>
            <a:pPr algn="l">
              <a:spcAft>
                <a:spcPts val="400"/>
              </a:spcAft>
            </a:pPr>
            <a:r>
              <a:rPr sz="1200" b="0">
                <a:solidFill>
                  <a:srgbClr val="000000"/>
                </a:solidFill>
                <a:latin typeface="HGPｺﾞｼｯｸE"/>
                <a:ea typeface="HGPｺﾞｼｯｸE"/>
              </a:rPr>
              <a:t>「2023年5月に受理、6月使用分から反映済みです」</a:t>
            </a:r>
          </a:p>
          <a:p>
            <a:pPr algn="l">
              <a:spcAft>
                <a:spcPts val="400"/>
              </a:spcAft>
            </a:pPr>
            <a:r>
              <a:rPr sz="1200" b="1">
                <a:solidFill>
                  <a:srgbClr val="000000"/>
                </a:solidFill>
                <a:latin typeface="HGPｺﾞｼｯｸE"/>
                <a:ea typeface="HGPｺﾞｼｯｸE"/>
              </a:rPr>
              <a:t>「〇〇様の地域だけではありません」で締める</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背景「ウクライナ侵攻で火力用の石炭が止まった」に触れる</a:t>
            </a:r>
          </a:p>
          <a:p>
            <a:pPr algn="l">
              <a:spcAft>
                <a:spcPts val="300"/>
              </a:spcAft>
            </a:pPr>
            <a:r>
              <a:rPr sz="1200" b="0">
                <a:solidFill>
                  <a:srgbClr val="000000"/>
                </a:solidFill>
                <a:latin typeface="HGPｺﾞｼｯｸE"/>
                <a:ea typeface="HGPｺﾞｼｯｸE"/>
              </a:rPr>
              <a:t>中部エリアは「2022年12月に値上げ済み」を添える</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中部電力は値上げなしですが、いつ全国の波に巻き込まれるか分かりません</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中部エリアのお客様には、右枠の「2022年12月に大幅値上げ済み」を必ず添える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11</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p.13　電気料金が上昇する理由：②再エネ賦課金の上昇</a:t>
            </a:r>
          </a:p>
        </p:txBody>
      </p:sp>
      <p:pic>
        <p:nvPicPr>
          <p:cNvPr id="6" name="Picture 5" descr="ab13.jpg"/>
          <p:cNvPicPr>
            <a:picLocks noChangeAspect="1"/>
          </p:cNvPicPr>
          <p:nvPr/>
        </p:nvPicPr>
        <p:blipFill>
          <a:blip r:embed="rId2"/>
          <a:stretch>
            <a:fillRect/>
          </a:stretch>
        </p:blipFill>
        <p:spPr>
          <a:xfrm>
            <a:off x="411480" y="1755648"/>
            <a:ext cx="4617720" cy="2771768"/>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p.13　再エネ賦課金のしくみと料金明細</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「再エネ賦課金が上昇することで、電気代が上昇するのですね」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左の説明文は読まない。右の検針票サンプルを指す</a:t>
            </a:r>
          </a:p>
          <a:p>
            <a:pPr algn="l">
              <a:spcAft>
                <a:spcPts val="400"/>
              </a:spcAft>
            </a:pPr>
            <a:r>
              <a:rPr sz="1200" b="0">
                <a:solidFill>
                  <a:srgbClr val="000000"/>
                </a:solidFill>
                <a:latin typeface="HGPｺﾞｼｯｸE"/>
                <a:ea typeface="HGPｺﾞｼｯｸE"/>
              </a:rPr>
              <a:t>「明細の、この小さい行が再エネ賦課金です」</a:t>
            </a:r>
          </a:p>
          <a:p>
            <a:pPr algn="l">
              <a:spcAft>
                <a:spcPts val="400"/>
              </a:spcAft>
            </a:pPr>
            <a:r>
              <a:rPr sz="1200" b="0">
                <a:solidFill>
                  <a:srgbClr val="000000"/>
                </a:solidFill>
                <a:latin typeface="HGPｺﾞｼｯｸE"/>
                <a:ea typeface="HGPｺﾞｼｯｸE"/>
              </a:rPr>
              <a:t>「いま4.18円/kWh。使った分だけ自動で増えます」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「国が決めた割高な価格で買い取る義務がある」まで説明</a:t>
            </a:r>
          </a:p>
          <a:p>
            <a:pPr algn="l">
              <a:spcAft>
                <a:spcPts val="300"/>
              </a:spcAft>
            </a:pPr>
            <a:r>
              <a:rPr sz="1200" b="0">
                <a:solidFill>
                  <a:srgbClr val="000000"/>
                </a:solidFill>
                <a:latin typeface="HGPｺﾞｼｯｸE"/>
                <a:ea typeface="HGPｺﾞｼｯｸE"/>
              </a:rPr>
              <a:t>検針票の電子化で気づいていない方がほとんど、と添える</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全国民が電気料金とともに再エネ賦課金を負担しているのです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制度の良し悪しを論じない。「払っている」という事実だけ置いて、次のp.14へ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12</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p.14　再エネ賦課金は値上がりし続けています</a:t>
            </a:r>
          </a:p>
        </p:txBody>
      </p:sp>
      <p:pic>
        <p:nvPicPr>
          <p:cNvPr id="6" name="Picture 5" descr="ab14.jpg"/>
          <p:cNvPicPr>
            <a:picLocks noChangeAspect="1"/>
          </p:cNvPicPr>
          <p:nvPr/>
        </p:nvPicPr>
        <p:blipFill>
          <a:blip r:embed="rId2"/>
          <a:stretch>
            <a:fillRect/>
          </a:stretch>
        </p:blipFill>
        <p:spPr>
          <a:xfrm>
            <a:off x="411480" y="1755648"/>
            <a:ext cx="4617720" cy="2793101"/>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p.14　再エネ賦課金の推移</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「太陽光を導入した方はお得になっているのですね」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左端と右端の2本だけを指す。途中の棒は説明しない</a:t>
            </a:r>
          </a:p>
          <a:p>
            <a:pPr algn="l">
              <a:spcAft>
                <a:spcPts val="400"/>
              </a:spcAft>
            </a:pPr>
            <a:r>
              <a:rPr sz="1200" b="0">
                <a:solidFill>
                  <a:srgbClr val="000000"/>
                </a:solidFill>
                <a:latin typeface="HGPｺﾞｼｯｸE"/>
                <a:ea typeface="HGPｺﾞｼｯｸE"/>
              </a:rPr>
              <a:t>「2012年は年1,210円。2026年は22,990円です」</a:t>
            </a:r>
          </a:p>
          <a:p>
            <a:pPr algn="l">
              <a:spcAft>
                <a:spcPts val="400"/>
              </a:spcAft>
            </a:pPr>
            <a:r>
              <a:rPr sz="1200" b="0">
                <a:solidFill>
                  <a:srgbClr val="000000"/>
                </a:solidFill>
                <a:latin typeface="HGPｺﾞｼｯｸE"/>
                <a:ea typeface="HGPｺﾞｼｯｸE"/>
              </a:rPr>
              <a:t>「13年で18倍。使った分だけ自動で増えます」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1">
                <a:solidFill>
                  <a:srgbClr val="000000"/>
                </a:solidFill>
                <a:latin typeface="HGPｺﾞｼｯｸE"/>
                <a:ea typeface="HGPｺﾞｼｯｸE"/>
              </a:rPr>
              <a:t>テスクロ「これからも上がりそうですよね？」でYES取り</a:t>
            </a:r>
          </a:p>
          <a:p>
            <a:pPr algn="l">
              <a:spcAft>
                <a:spcPts val="300"/>
              </a:spcAft>
            </a:pPr>
            <a:r>
              <a:rPr sz="1200" b="0">
                <a:solidFill>
                  <a:srgbClr val="000000"/>
                </a:solidFill>
                <a:latin typeface="HGPｺﾞｼｯｸE"/>
                <a:ea typeface="HGPｺﾞｼｯｸE"/>
              </a:rPr>
              <a:t>「少なくとも5円/kWhまで上がる見込み」と足す</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裏返せば、太陽光を導入している方は続々とお得になっています！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2023年だけ下がって見えます。聞かれたら「燃料費高騰による一時的な措置」と即答する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13</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p.15　電気料金が上昇する理由：③燃料調整費の上昇</a:t>
            </a:r>
          </a:p>
        </p:txBody>
      </p:sp>
      <p:pic>
        <p:nvPicPr>
          <p:cNvPr id="6" name="Picture 5" descr="ab15.jpg"/>
          <p:cNvPicPr>
            <a:picLocks noChangeAspect="1"/>
          </p:cNvPicPr>
          <p:nvPr/>
        </p:nvPicPr>
        <p:blipFill>
          <a:blip r:embed="rId2"/>
          <a:stretch>
            <a:fillRect/>
          </a:stretch>
        </p:blipFill>
        <p:spPr>
          <a:xfrm>
            <a:off x="411480" y="1755648"/>
            <a:ext cx="4617720" cy="2771768"/>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p.15　燃料費調整のしくみと政府支援</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「これからも電気代は上がりそうですね」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ここから「過去」ではなく「これから」の話に変わる</a:t>
            </a:r>
          </a:p>
          <a:p>
            <a:pPr algn="l">
              <a:spcAft>
                <a:spcPts val="400"/>
              </a:spcAft>
            </a:pPr>
            <a:r>
              <a:rPr sz="1200" b="0">
                <a:solidFill>
                  <a:srgbClr val="000000"/>
                </a:solidFill>
                <a:latin typeface="HGPｺﾞｼｯｸE"/>
                <a:ea typeface="HGPｺﾞｼｯｸE"/>
              </a:rPr>
              <a:t>「燃料代は3か月平均で計算し、2か月後の請求に乗る」</a:t>
            </a:r>
          </a:p>
          <a:p>
            <a:pPr algn="l">
              <a:spcAft>
                <a:spcPts val="400"/>
              </a:spcAft>
            </a:pPr>
            <a:r>
              <a:rPr sz="1200" b="0">
                <a:solidFill>
                  <a:srgbClr val="000000"/>
                </a:solidFill>
                <a:latin typeface="HGPｺﾞｼｯｸE"/>
                <a:ea typeface="HGPｺﾞｼｯｸE"/>
              </a:rPr>
              <a:t>「政府の補助は7月使用分から再開。ただし一時的です」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補助額「7・9月3.5円、8月4.5円」まで言えるように</a:t>
            </a:r>
          </a:p>
          <a:p>
            <a:pPr algn="l">
              <a:spcAft>
                <a:spcPts val="300"/>
              </a:spcAft>
            </a:pPr>
            <a:r>
              <a:rPr sz="1200" b="0">
                <a:solidFill>
                  <a:srgbClr val="000000"/>
                </a:solidFill>
                <a:latin typeface="HGPｺﾞｼｯｸE"/>
                <a:ea typeface="HGPｺﾞｼｯｸE"/>
              </a:rPr>
              <a:t>第三者話法「補助が切れた後を皆さん考え始めています」</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7月より補助は再開されますが、一時的なため対策が必要です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補助の再開を「よかったですね」で終わらせない。必ず「一時的」に着地する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14</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p.16　燃料調整費は、実際にこれだけ動いています</a:t>
            </a:r>
          </a:p>
        </p:txBody>
      </p:sp>
      <p:pic>
        <p:nvPicPr>
          <p:cNvPr id="6" name="Picture 5" descr="ab16.jpg"/>
          <p:cNvPicPr>
            <a:picLocks noChangeAspect="1"/>
          </p:cNvPicPr>
          <p:nvPr/>
        </p:nvPicPr>
        <p:blipFill>
          <a:blip r:embed="rId2"/>
          <a:stretch>
            <a:fillRect/>
          </a:stretch>
        </p:blipFill>
        <p:spPr>
          <a:xfrm>
            <a:off x="411480" y="1755648"/>
            <a:ext cx="4617720" cy="2771768"/>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p.16　燃料調整単価の推移（北陸電力・低圧）</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「もう実際に上がり始めているのですね」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折れ線は追わない。2月と7月の数字だけを指す</a:t>
            </a:r>
          </a:p>
          <a:p>
            <a:pPr algn="l">
              <a:spcAft>
                <a:spcPts val="400"/>
              </a:spcAft>
            </a:pPr>
            <a:r>
              <a:rPr sz="1200" b="0">
                <a:solidFill>
                  <a:srgbClr val="000000"/>
                </a:solidFill>
                <a:latin typeface="HGPｺﾞｼｯｸE"/>
                <a:ea typeface="HGPｺﾞｼｯｸE"/>
              </a:rPr>
              <a:t>「2月は−12.45円、7月は−7.54円です」</a:t>
            </a:r>
          </a:p>
          <a:p>
            <a:pPr algn="l">
              <a:spcAft>
                <a:spcPts val="400"/>
              </a:spcAft>
            </a:pPr>
            <a:r>
              <a:rPr sz="1200" b="1">
                <a:solidFill>
                  <a:srgbClr val="000000"/>
                </a:solidFill>
                <a:latin typeface="HGPｺﾞｼｯｸE"/>
                <a:ea typeface="HGPｺﾞｼｯｸE"/>
              </a:rPr>
              <a:t>「値引きが4.9円減った＝4.9円の値上げです」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「4月以降ずっとマイナスが縮んでいます」と傾向で押す</a:t>
            </a:r>
          </a:p>
          <a:p>
            <a:pPr algn="l">
              <a:spcAft>
                <a:spcPts val="300"/>
              </a:spcAft>
            </a:pPr>
            <a:r>
              <a:rPr sz="1200" b="0">
                <a:solidFill>
                  <a:srgbClr val="000000"/>
                </a:solidFill>
                <a:latin typeface="HGPｺﾞｼｯｸE"/>
                <a:ea typeface="HGPｺﾞｼｯｸE"/>
              </a:rPr>
              <a:t>数字が苦手そうなら、飛ばしてp.17へ行ってよい</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ホルムズ海峡封鎖は電気代高騰にも影響を及ぼします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マイナスの数字が並ぶページ。「マイナスが小さくなる＝値上げ」を先に言ってから見せる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15</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p.17　生涯に支払うことになる電気代は700万円を超えます</a:t>
            </a:r>
          </a:p>
        </p:txBody>
      </p:sp>
      <p:pic>
        <p:nvPicPr>
          <p:cNvPr id="6" name="Picture 5" descr="ab17.jpg"/>
          <p:cNvPicPr>
            <a:picLocks noChangeAspect="1"/>
          </p:cNvPicPr>
          <p:nvPr/>
        </p:nvPicPr>
        <p:blipFill>
          <a:blip r:embed="rId2"/>
          <a:stretch>
            <a:fillRect/>
          </a:stretch>
        </p:blipFill>
        <p:spPr>
          <a:xfrm>
            <a:off x="411480" y="1755648"/>
            <a:ext cx="4617720" cy="2771768"/>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p.17　生涯に支払う電気代の早見表</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「30年間でそんなにも電気代を払わないといけないのですね」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表の全部を見せず、お客様の金額の列だけを指でなぞる</a:t>
            </a:r>
          </a:p>
          <a:p>
            <a:pPr algn="l">
              <a:spcAft>
                <a:spcPts val="400"/>
              </a:spcAft>
            </a:pPr>
            <a:r>
              <a:rPr sz="1200" b="0">
                <a:solidFill>
                  <a:srgbClr val="000000"/>
                </a:solidFill>
                <a:latin typeface="HGPｺﾞｼｯｸE"/>
                <a:ea typeface="HGPｺﾞｼｯｸE"/>
              </a:rPr>
              <a:t>「〇〇様は月2万円でしたね。黄色いこの列です」</a:t>
            </a:r>
          </a:p>
          <a:p>
            <a:pPr algn="l">
              <a:spcAft>
                <a:spcPts val="400"/>
              </a:spcAft>
            </a:pPr>
            <a:r>
              <a:rPr sz="1200" b="0">
                <a:solidFill>
                  <a:srgbClr val="000000"/>
                </a:solidFill>
                <a:latin typeface="HGPｺﾞｼｯｸE"/>
                <a:ea typeface="HGPｺﾞｼｯｸE"/>
              </a:rPr>
              <a:t>「1年24万円、10年240万円、30年で720万円」</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「一般的なご家庭の例ですが…」と前置きする</a:t>
            </a:r>
          </a:p>
          <a:p>
            <a:pPr algn="l">
              <a:spcAft>
                <a:spcPts val="300"/>
              </a:spcAft>
            </a:pPr>
            <a:r>
              <a:rPr sz="1200" b="1">
                <a:solidFill>
                  <a:srgbClr val="000000"/>
                </a:solidFill>
                <a:latin typeface="HGPｺﾞｼｯｸE"/>
                <a:ea typeface="HGPｺﾞｼｯｸE"/>
              </a:rPr>
              <a:t>YES取り「こんなに払うの勿体ないですよね？」</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月々の電気代が2万円なら、30年間の負担額は700万円以上になります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「だから太陽光を」とすぐ言わない。ここは危機感を置いて、一度止まります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16</a:t>
            </a:r>
          </a:p>
        </p:txBody>
      </p:sp>
      <p:sp>
        <p:nvSpPr>
          <p:cNvPr id="5" name="TextBox 4"/>
          <p:cNvSpPr txBox="1"/>
          <p:nvPr/>
        </p:nvSpPr>
        <p:spPr>
          <a:xfrm>
            <a:off x="411480" y="1243584"/>
            <a:ext cx="694944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よくあるネガと、その切り返し</a:t>
            </a:r>
          </a:p>
        </p:txBody>
      </p:sp>
      <p:sp>
        <p:nvSpPr>
          <p:cNvPr id="6" name="Rectangle 5"/>
          <p:cNvSpPr/>
          <p:nvPr/>
        </p:nvSpPr>
        <p:spPr>
          <a:xfrm>
            <a:off x="7589520" y="1261872"/>
            <a:ext cx="1920240" cy="384048"/>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FFFFFF"/>
                </a:solidFill>
                <a:highlight>
                  <a:srgbClr val="C55A11"/>
                </a:highlight>
                <a:latin typeface="HGPｺﾞｼｯｸE"/>
                <a:ea typeface="HGPｺﾞｼｯｸE"/>
              </a:rPr>
              <a:t>応用</a:t>
            </a:r>
            <a:r>
              <a:rPr sz="1200" b="1">
                <a:solidFill>
                  <a:srgbClr val="595959"/>
                </a:solidFill>
                <a:latin typeface="HGPｺﾞｼｯｸE"/>
                <a:ea typeface="HGPｺﾞｼｯｸE"/>
              </a:rPr>
              <a:t>　経験者向け</a:t>
            </a:r>
          </a:p>
        </p:txBody>
      </p:sp>
      <p:sp>
        <p:nvSpPr>
          <p:cNvPr id="7" name="TextBox 6"/>
          <p:cNvSpPr txBox="1"/>
          <p:nvPr/>
        </p:nvSpPr>
        <p:spPr>
          <a:xfrm>
            <a:off x="411480" y="1719072"/>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①の途中でネガが出たら、潰さずに「該当ページに戻って事実で包み込む」</a:t>
            </a:r>
          </a:p>
        </p:txBody>
      </p:sp>
      <p:graphicFrame>
        <p:nvGraphicFramePr>
          <p:cNvPr id="8" name="Table 7"/>
          <p:cNvGraphicFramePr>
            <a:graphicFrameLocks noGrp="1"/>
          </p:cNvGraphicFramePr>
          <p:nvPr/>
        </p:nvGraphicFramePr>
        <p:xfrm>
          <a:off x="411480" y="2103120"/>
          <a:ext cx="9098280" cy="3127248"/>
        </p:xfrm>
        <a:graphic>
          <a:graphicData uri="http://schemas.openxmlformats.org/drawingml/2006/table">
            <a:tbl>
              <a:tblPr firstRow="1">
                <a:tableStyleId>{5C22544A-7EE6-4342-B048-85BDC9FD1C3A}</a:tableStyleId>
              </a:tblPr>
              <a:tblGrid>
                <a:gridCol w="3017520"/>
                <a:gridCol w="4617720"/>
                <a:gridCol w="1463040"/>
              </a:tblGrid>
              <a:tr h="292608">
                <a:tc>
                  <a:txBody>
                    <a:bodyPr wrap="square"/>
                    <a:lstStyle/>
                    <a:p>
                      <a:pPr algn="ctr"/>
                      <a:r>
                        <a:rPr sz="1250" b="1">
                          <a:solidFill>
                            <a:srgbClr val="FFFFFF"/>
                          </a:solidFill>
                          <a:latin typeface="游ゴシック"/>
                          <a:ea typeface="游ゴシック"/>
                        </a:rPr>
                        <a:t>お客様のネガ</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切り返し方</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戻るページ</a:t>
                      </a:r>
                    </a:p>
                  </a:txBody>
                  <a:tcPr marL="45720" marR="45720" marT="18288" marB="18288" anchor="ctr">
                    <a:solidFill>
                      <a:srgbClr val="000000"/>
                    </a:solidFill>
                  </a:tcPr>
                </a:tc>
              </a:tr>
              <a:tr h="566928">
                <a:tc>
                  <a:txBody>
                    <a:bodyPr wrap="square"/>
                    <a:lstStyle/>
                    <a:p>
                      <a:pPr algn="l"/>
                      <a:r>
                        <a:rPr sz="1250" b="0">
                          <a:solidFill>
                            <a:srgbClr val="000000"/>
                          </a:solidFill>
                          <a:latin typeface="游ゴシック"/>
                          <a:ea typeface="游ゴシック"/>
                        </a:rPr>
                        <a:t>検針票が届かないので分からない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最近は紙ではなくWEBで届いている場合が多いです。電力会社に問い合わせれば、紙の検針票も届きますよ</a:t>
                      </a:r>
                    </a:p>
                  </a:txBody>
                  <a:tcPr marL="45720" marR="45720" marT="18288" marB="18288" anchor="ctr">
                    <a:noFill/>
                  </a:tcPr>
                </a:tc>
                <a:tc>
                  <a:txBody>
                    <a:bodyPr wrap="square"/>
                    <a:lstStyle/>
                    <a:p>
                      <a:pPr algn="l"/>
                      <a:r>
                        <a:rPr sz="1250" b="1">
                          <a:solidFill>
                            <a:srgbClr val="000000"/>
                          </a:solidFill>
                          <a:latin typeface="游ゴシック"/>
                          <a:ea typeface="游ゴシック"/>
                        </a:rPr>
                        <a:t>p.9</a:t>
                      </a:r>
                    </a:p>
                  </a:txBody>
                  <a:tcPr marL="45720" marR="45720" marT="18288" marB="18288" anchor="ctr">
                    <a:noFill/>
                  </a:tcPr>
                </a:tc>
              </a:tr>
              <a:tr h="566928">
                <a:tc>
                  <a:txBody>
                    <a:bodyPr wrap="square"/>
                    <a:lstStyle/>
                    <a:p>
                      <a:pPr algn="l"/>
                      <a:r>
                        <a:rPr sz="1250" b="0">
                          <a:solidFill>
                            <a:srgbClr val="000000"/>
                          </a:solidFill>
                          <a:latin typeface="游ゴシック"/>
                          <a:ea typeface="游ゴシック"/>
                        </a:rPr>
                        <a:t>あまり費用が大きいと感じたことはない</a:t>
                      </a:r>
                    </a:p>
                  </a:txBody>
                  <a:tcPr marL="45720" marR="45720" marT="18288" marB="18288" anchor="ctr">
                    <a:noFill/>
                  </a:tcPr>
                </a:tc>
                <a:tc>
                  <a:txBody>
                    <a:bodyPr wrap="square"/>
                    <a:lstStyle/>
                    <a:p>
                      <a:pPr algn="l"/>
                      <a:r>
                        <a:rPr sz="1250" b="0">
                          <a:solidFill>
                            <a:srgbClr val="000000"/>
                          </a:solidFill>
                          <a:latin typeface="游ゴシック"/>
                          <a:ea typeface="游ゴシック"/>
                        </a:rPr>
                        <a:t>季節によっても変わります</a:t>
                      </a:r>
                    </a:p>
                  </a:txBody>
                  <a:tcPr marL="45720" marR="45720" marT="18288" marB="18288" anchor="ctr">
                    <a:noFill/>
                  </a:tcPr>
                </a:tc>
                <a:tc>
                  <a:txBody>
                    <a:bodyPr wrap="square"/>
                    <a:lstStyle/>
                    <a:p>
                      <a:pPr algn="l"/>
                      <a:r>
                        <a:rPr sz="1250" b="1">
                          <a:solidFill>
                            <a:srgbClr val="000000"/>
                          </a:solidFill>
                          <a:latin typeface="游ゴシック"/>
                          <a:ea typeface="游ゴシック"/>
                        </a:rPr>
                        <a:t>p.9</a:t>
                      </a:r>
                    </a:p>
                  </a:txBody>
                  <a:tcPr marL="45720" marR="45720" marT="18288" marB="18288" anchor="ctr">
                    <a:noFill/>
                  </a:tcPr>
                </a:tc>
              </a:tr>
              <a:tr h="566928">
                <a:tc>
                  <a:txBody>
                    <a:bodyPr wrap="square"/>
                    <a:lstStyle/>
                    <a:p>
                      <a:pPr algn="l"/>
                      <a:r>
                        <a:rPr sz="1250" b="0">
                          <a:solidFill>
                            <a:srgbClr val="000000"/>
                          </a:solidFill>
                          <a:latin typeface="游ゴシック"/>
                          <a:ea typeface="游ゴシック"/>
                        </a:rPr>
                        <a:t>節電対策はそれなりにやっている</a:t>
                      </a:r>
                    </a:p>
                  </a:txBody>
                  <a:tcPr marL="45720" marR="45720" marT="18288" marB="18288" anchor="ctr">
                    <a:noFill/>
                  </a:tcPr>
                </a:tc>
                <a:tc>
                  <a:txBody>
                    <a:bodyPr wrap="square"/>
                    <a:lstStyle/>
                    <a:p>
                      <a:pPr algn="l"/>
                      <a:r>
                        <a:rPr sz="1250" b="1">
                          <a:solidFill>
                            <a:srgbClr val="000000"/>
                          </a:solidFill>
                          <a:latin typeface="游ゴシック"/>
                          <a:ea typeface="游ゴシック"/>
                        </a:rPr>
                        <a:t>こまめな節電は大事ですが、せいぜい1,000円ぐらいです</a:t>
                      </a:r>
                    </a:p>
                  </a:txBody>
                  <a:tcPr marL="45720" marR="45720" marT="18288" marB="18288" anchor="ctr">
                    <a:noFill/>
                  </a:tcPr>
                </a:tc>
                <a:tc>
                  <a:txBody>
                    <a:bodyPr wrap="square"/>
                    <a:lstStyle/>
                    <a:p>
                      <a:pPr algn="l"/>
                      <a:r>
                        <a:rPr sz="1250" b="1">
                          <a:solidFill>
                            <a:srgbClr val="000000"/>
                          </a:solidFill>
                          <a:latin typeface="游ゴシック"/>
                          <a:ea typeface="游ゴシック"/>
                        </a:rPr>
                        <a:t>p.11</a:t>
                      </a:r>
                    </a:p>
                  </a:txBody>
                  <a:tcPr marL="45720" marR="45720" marT="18288" marB="18288" anchor="ctr">
                    <a:noFill/>
                  </a:tcPr>
                </a:tc>
              </a:tr>
              <a:tr h="566928">
                <a:tc>
                  <a:txBody>
                    <a:bodyPr wrap="square"/>
                    <a:lstStyle/>
                    <a:p>
                      <a:pPr algn="l"/>
                      <a:r>
                        <a:rPr sz="1250" b="0">
                          <a:solidFill>
                            <a:srgbClr val="000000"/>
                          </a:solidFill>
                          <a:latin typeface="游ゴシック"/>
                          <a:ea typeface="游ゴシック"/>
                        </a:rPr>
                        <a:t>長く住んでいるので今さら…</a:t>
                      </a:r>
                    </a:p>
                  </a:txBody>
                  <a:tcPr marL="45720" marR="45720" marT="18288" marB="18288" anchor="ctr">
                    <a:noFill/>
                  </a:tcPr>
                </a:tc>
                <a:tc>
                  <a:txBody>
                    <a:bodyPr wrap="square"/>
                    <a:lstStyle/>
                    <a:p>
                      <a:pPr algn="l"/>
                      <a:r>
                        <a:rPr sz="1250" b="0">
                          <a:solidFill>
                            <a:srgbClr val="000000"/>
                          </a:solidFill>
                          <a:latin typeface="游ゴシック"/>
                          <a:ea typeface="游ゴシック"/>
                        </a:rPr>
                        <a:t>平均寿命を考えれば、定年からでも20年は払い続けます</a:t>
                      </a:r>
                    </a:p>
                  </a:txBody>
                  <a:tcPr marL="45720" marR="45720" marT="18288" marB="18288" anchor="ctr">
                    <a:noFill/>
                  </a:tcPr>
                </a:tc>
                <a:tc>
                  <a:txBody>
                    <a:bodyPr wrap="square"/>
                    <a:lstStyle/>
                    <a:p>
                      <a:pPr algn="l"/>
                      <a:r>
                        <a:rPr sz="1250" b="1">
                          <a:solidFill>
                            <a:srgbClr val="000000"/>
                          </a:solidFill>
                          <a:latin typeface="游ゴシック"/>
                          <a:ea typeface="游ゴシック"/>
                        </a:rPr>
                        <a:t>p.17</a:t>
                      </a:r>
                    </a:p>
                  </a:txBody>
                  <a:tcPr marL="45720" marR="45720" marT="18288" marB="18288" anchor="ctr">
                    <a:noFill/>
                  </a:tcPr>
                </a:tc>
              </a:tr>
              <a:tr h="566928">
                <a:tc>
                  <a:txBody>
                    <a:bodyPr wrap="square"/>
                    <a:lstStyle/>
                    <a:p>
                      <a:pPr algn="l"/>
                      <a:r>
                        <a:rPr sz="1250" b="0">
                          <a:solidFill>
                            <a:srgbClr val="000000"/>
                          </a:solidFill>
                          <a:latin typeface="游ゴシック"/>
                          <a:ea typeface="游ゴシック"/>
                        </a:rPr>
                        <a:t>子供が独立すれば減るのでは？</a:t>
                      </a:r>
                    </a:p>
                  </a:txBody>
                  <a:tcPr marL="45720" marR="45720" marT="18288" marB="18288" anchor="ctr">
                    <a:noFill/>
                  </a:tcPr>
                </a:tc>
                <a:tc>
                  <a:txBody>
                    <a:bodyPr wrap="square"/>
                    <a:lstStyle/>
                    <a:p>
                      <a:pPr algn="l"/>
                      <a:r>
                        <a:rPr sz="1250" b="0">
                          <a:solidFill>
                            <a:srgbClr val="000000"/>
                          </a:solidFill>
                          <a:latin typeface="游ゴシック"/>
                          <a:ea typeface="游ゴシック"/>
                        </a:rPr>
                        <a:t>大きくなって部屋も別々になれば、増えていきます</a:t>
                      </a:r>
                    </a:p>
                  </a:txBody>
                  <a:tcPr marL="45720" marR="45720" marT="18288" marB="18288" anchor="ctr">
                    <a:noFill/>
                  </a:tcPr>
                </a:tc>
                <a:tc>
                  <a:txBody>
                    <a:bodyPr wrap="square"/>
                    <a:lstStyle/>
                    <a:p>
                      <a:pPr algn="l"/>
                      <a:r>
                        <a:rPr sz="1250" b="1">
                          <a:solidFill>
                            <a:srgbClr val="000000"/>
                          </a:solidFill>
                          <a:latin typeface="游ゴシック"/>
                          <a:ea typeface="游ゴシック"/>
                        </a:rPr>
                        <a:t>p.17</a:t>
                      </a:r>
                    </a:p>
                  </a:txBody>
                  <a:tcPr marL="45720" marR="45720" marT="18288" marB="18288" anchor="ctr">
                    <a:noFill/>
                  </a:tcPr>
                </a:tc>
              </a:tr>
            </a:tbl>
          </a:graphicData>
        </a:graphic>
      </p:graphicFrame>
      <p:sp>
        <p:nvSpPr>
          <p:cNvPr id="9" name="Rectangle 8"/>
          <p:cNvSpPr/>
          <p:nvPr/>
        </p:nvSpPr>
        <p:spPr>
          <a:xfrm>
            <a:off x="411480" y="5303520"/>
            <a:ext cx="4389120" cy="1005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000000"/>
                </a:solidFill>
                <a:latin typeface="HGPｺﾞｼｯｸE"/>
                <a:ea typeface="HGPｺﾞｼｯｸE"/>
              </a:rPr>
              <a:t>「節電しています」に効く数字</a:t>
            </a:r>
          </a:p>
          <a:p>
            <a:pPr algn="l">
              <a:spcAft>
                <a:spcPts val="300"/>
              </a:spcAft>
            </a:pPr>
            <a:r>
              <a:rPr sz="1300" b="0">
                <a:solidFill>
                  <a:srgbClr val="000000"/>
                </a:solidFill>
                <a:latin typeface="HGPｺﾞｼｯｸE"/>
                <a:ea typeface="HGPｺﾞｼｯｸE"/>
              </a:rPr>
              <a:t>節電で削減できるのは年間505kWh・13,646円が限界</a:t>
            </a:r>
          </a:p>
          <a:p>
            <a:pPr algn="l">
              <a:spcAft>
                <a:spcPts val="500"/>
              </a:spcAft>
            </a:pPr>
            <a:r>
              <a:rPr sz="1300" b="0">
                <a:solidFill>
                  <a:srgbClr val="000000"/>
                </a:solidFill>
                <a:latin typeface="HGPｺﾞｼｯｸE"/>
                <a:ea typeface="HGPｺﾞｼｯｸE"/>
              </a:rPr>
              <a:t>（単価27円換算）。単価の上昇には勝てません。</a:t>
            </a:r>
          </a:p>
        </p:txBody>
      </p:sp>
      <p:sp>
        <p:nvSpPr>
          <p:cNvPr id="10" name="Rectangle 9"/>
          <p:cNvSpPr/>
          <p:nvPr/>
        </p:nvSpPr>
        <p:spPr>
          <a:xfrm>
            <a:off x="5120640" y="5303520"/>
            <a:ext cx="4389120" cy="100584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FF0000"/>
                </a:solidFill>
                <a:latin typeface="HGPｺﾞｼｯｸE"/>
                <a:ea typeface="HGPｺﾞｼｯｸE"/>
              </a:rPr>
              <a:t>切り返しの型</a:t>
            </a:r>
          </a:p>
          <a:p>
            <a:pPr algn="l">
              <a:spcAft>
                <a:spcPts val="300"/>
              </a:spcAft>
            </a:pPr>
            <a:r>
              <a:rPr sz="1300" b="0">
                <a:solidFill>
                  <a:srgbClr val="000000"/>
                </a:solidFill>
                <a:latin typeface="HGPｺﾞｼｯｸE"/>
                <a:ea typeface="HGPｺﾞｼｯｸE"/>
              </a:rPr>
              <a:t>① 否定しない　②「ただ」で受ける</a:t>
            </a:r>
          </a:p>
          <a:p>
            <a:pPr algn="l">
              <a:spcAft>
                <a:spcPts val="500"/>
              </a:spcAft>
            </a:pPr>
            <a:r>
              <a:rPr sz="1300" b="0">
                <a:solidFill>
                  <a:srgbClr val="000000"/>
                </a:solidFill>
                <a:latin typeface="HGPｺﾞｼｯｸE"/>
                <a:ea typeface="HGPｺﾞｼｯｸE"/>
              </a:rPr>
              <a:t>③ 該当ページを開いて事実を見せる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17</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①のまとめ：9ページで言い切ること</a:t>
            </a:r>
          </a:p>
        </p:txBody>
      </p:sp>
      <p:graphicFrame>
        <p:nvGraphicFramePr>
          <p:cNvPr id="6" name="Table 5"/>
          <p:cNvGraphicFramePr>
            <a:graphicFrameLocks noGrp="1"/>
          </p:cNvGraphicFramePr>
          <p:nvPr/>
        </p:nvGraphicFramePr>
        <p:xfrm>
          <a:off x="411480" y="1783080"/>
          <a:ext cx="9098280" cy="3749040"/>
        </p:xfrm>
        <a:graphic>
          <a:graphicData uri="http://schemas.openxmlformats.org/drawingml/2006/table">
            <a:tbl>
              <a:tblPr firstRow="1">
                <a:tableStyleId>{5C22544A-7EE6-4342-B048-85BDC9FD1C3A}</a:tableStyleId>
              </a:tblPr>
              <a:tblGrid>
                <a:gridCol w="1234440"/>
                <a:gridCol w="4206240"/>
                <a:gridCol w="3657600"/>
              </a:tblGrid>
              <a:tr h="292608">
                <a:tc>
                  <a:txBody>
                    <a:bodyPr wrap="square"/>
                    <a:lstStyle/>
                    <a:p>
                      <a:pPr algn="ctr"/>
                      <a:r>
                        <a:rPr sz="1250" b="1">
                          <a:solidFill>
                            <a:srgbClr val="FFFFFF"/>
                          </a:solidFill>
                          <a:latin typeface="游ゴシック"/>
                          <a:ea typeface="游ゴシック"/>
                        </a:rPr>
                        <a:t>ページ</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一言でいうと</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言い切る数字</a:t>
                      </a:r>
                    </a:p>
                  </a:txBody>
                  <a:tcPr marL="45720" marR="45720" marT="18288" marB="18288" anchor="ctr">
                    <a:solidFill>
                      <a:srgbClr val="000000"/>
                    </a:solidFill>
                  </a:tcPr>
                </a:tc>
              </a:tr>
              <a:tr h="384048">
                <a:tc>
                  <a:txBody>
                    <a:bodyPr wrap="square"/>
                    <a:lstStyle/>
                    <a:p>
                      <a:pPr algn="l"/>
                      <a:r>
                        <a:rPr sz="1250" b="1">
                          <a:solidFill>
                            <a:srgbClr val="000000"/>
                          </a:solidFill>
                          <a:latin typeface="游ゴシック"/>
                          <a:ea typeface="游ゴシック"/>
                        </a:rPr>
                        <a:t>p.9</a:t>
                      </a:r>
                    </a:p>
                  </a:txBody>
                  <a:tcPr marL="45720" marR="45720" marT="18288" marB="18288" anchor="ctr">
                    <a:noFill/>
                  </a:tcPr>
                </a:tc>
                <a:tc>
                  <a:txBody>
                    <a:bodyPr wrap="square"/>
                    <a:lstStyle/>
                    <a:p>
                      <a:pPr algn="l"/>
                      <a:r>
                        <a:rPr sz="1250" b="1">
                          <a:solidFill>
                            <a:srgbClr val="000000"/>
                          </a:solidFill>
                          <a:latin typeface="游ゴシック"/>
                          <a:ea typeface="游ゴシック"/>
                        </a:rPr>
                        <a:t>過去10年で上がった</a:t>
                      </a:r>
                    </a:p>
                  </a:txBody>
                  <a:tcPr marL="45720" marR="45720" marT="18288" marB="18288" anchor="ctr">
                    <a:noFill/>
                  </a:tcPr>
                </a:tc>
                <a:tc>
                  <a:txBody>
                    <a:bodyPr wrap="square"/>
                    <a:lstStyle/>
                    <a:p>
                      <a:pPr algn="l"/>
                      <a:r>
                        <a:rPr sz="1250" b="1">
                          <a:solidFill>
                            <a:srgbClr val="000000"/>
                          </a:solidFill>
                          <a:latin typeface="游ゴシック"/>
                          <a:ea typeface="游ゴシック"/>
                        </a:rPr>
                        <a:t>45％・約5.5万円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p.10</a:t>
                      </a:r>
                    </a:p>
                  </a:txBody>
                  <a:tcPr marL="45720" marR="45720" marT="18288" marB="18288" anchor="ctr">
                    <a:noFill/>
                  </a:tcPr>
                </a:tc>
                <a:tc>
                  <a:txBody>
                    <a:bodyPr wrap="square"/>
                    <a:lstStyle/>
                    <a:p>
                      <a:pPr algn="l"/>
                      <a:r>
                        <a:rPr sz="1250" b="0">
                          <a:solidFill>
                            <a:srgbClr val="000000"/>
                          </a:solidFill>
                          <a:latin typeface="游ゴシック"/>
                          <a:ea typeface="游ゴシック"/>
                        </a:rPr>
                        <a:t>自由化しても下がらなかった</a:t>
                      </a:r>
                    </a:p>
                  </a:txBody>
                  <a:tcPr marL="45720" marR="45720" marT="18288" marB="18288" anchor="ctr">
                    <a:noFill/>
                  </a:tcPr>
                </a:tc>
                <a:tc>
                  <a:txBody>
                    <a:bodyPr wrap="square"/>
                    <a:lstStyle/>
                    <a:p>
                      <a:pPr algn="l"/>
                      <a:r>
                        <a:rPr sz="1250" b="0">
                          <a:solidFill>
                            <a:srgbClr val="000000"/>
                          </a:solidFill>
                          <a:latin typeface="游ゴシック"/>
                          <a:ea typeface="游ゴシック"/>
                        </a:rPr>
                        <a:t>21円 → 32円（＋11円）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p.11</a:t>
                      </a:r>
                    </a:p>
                  </a:txBody>
                  <a:tcPr marL="45720" marR="45720" marT="18288" marB="18288" anchor="ctr">
                    <a:noFill/>
                  </a:tcPr>
                </a:tc>
                <a:tc>
                  <a:txBody>
                    <a:bodyPr wrap="square"/>
                    <a:lstStyle/>
                    <a:p>
                      <a:pPr algn="l"/>
                      <a:r>
                        <a:rPr sz="1250" b="0">
                          <a:solidFill>
                            <a:srgbClr val="000000"/>
                          </a:solidFill>
                          <a:latin typeface="游ゴシック"/>
                          <a:ea typeface="游ゴシック"/>
                        </a:rPr>
                        <a:t>上がる理由は2つの単価</a:t>
                      </a:r>
                    </a:p>
                  </a:txBody>
                  <a:tcPr marL="45720" marR="45720" marT="18288" marB="18288" anchor="ctr">
                    <a:noFill/>
                  </a:tcPr>
                </a:tc>
                <a:tc>
                  <a:txBody>
                    <a:bodyPr wrap="square"/>
                    <a:lstStyle/>
                    <a:p>
                      <a:pPr algn="l"/>
                      <a:r>
                        <a:rPr sz="1250" b="0">
                          <a:solidFill>
                            <a:srgbClr val="000000"/>
                          </a:solidFill>
                          <a:latin typeface="游ゴシック"/>
                          <a:ea typeface="游ゴシック"/>
                        </a:rPr>
                        <a:t>（計算式）</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p.12</a:t>
                      </a:r>
                    </a:p>
                  </a:txBody>
                  <a:tcPr marL="45720" marR="45720" marT="18288" marB="18288" anchor="ctr">
                    <a:noFill/>
                  </a:tcPr>
                </a:tc>
                <a:tc>
                  <a:txBody>
                    <a:bodyPr wrap="square"/>
                    <a:lstStyle/>
                    <a:p>
                      <a:pPr algn="l"/>
                      <a:r>
                        <a:rPr sz="1250" b="0">
                          <a:solidFill>
                            <a:srgbClr val="000000"/>
                          </a:solidFill>
                          <a:latin typeface="游ゴシック"/>
                          <a:ea typeface="游ゴシック"/>
                        </a:rPr>
                        <a:t>全国どこでも上がっている</a:t>
                      </a:r>
                    </a:p>
                  </a:txBody>
                  <a:tcPr marL="45720" marR="45720" marT="18288" marB="18288" anchor="ctr">
                    <a:noFill/>
                  </a:tcPr>
                </a:tc>
                <a:tc>
                  <a:txBody>
                    <a:bodyPr wrap="square"/>
                    <a:lstStyle/>
                    <a:p>
                      <a:pPr algn="l"/>
                      <a:r>
                        <a:rPr sz="1250" b="0">
                          <a:solidFill>
                            <a:srgbClr val="000000"/>
                          </a:solidFill>
                          <a:latin typeface="游ゴシック"/>
                          <a:ea typeface="游ゴシック"/>
                        </a:rPr>
                        <a:t>北陸42％・九州38％</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p.13</a:t>
                      </a:r>
                    </a:p>
                  </a:txBody>
                  <a:tcPr marL="45720" marR="45720" marT="18288" marB="18288" anchor="ctr">
                    <a:noFill/>
                  </a:tcPr>
                </a:tc>
                <a:tc>
                  <a:txBody>
                    <a:bodyPr wrap="square"/>
                    <a:lstStyle/>
                    <a:p>
                      <a:pPr algn="l"/>
                      <a:r>
                        <a:rPr sz="1250" b="0">
                          <a:solidFill>
                            <a:srgbClr val="000000"/>
                          </a:solidFill>
                          <a:latin typeface="游ゴシック"/>
                          <a:ea typeface="游ゴシック"/>
                        </a:rPr>
                        <a:t>賦課金というものがある</a:t>
                      </a:r>
                    </a:p>
                  </a:txBody>
                  <a:tcPr marL="45720" marR="45720" marT="18288" marB="18288" anchor="ctr">
                    <a:noFill/>
                  </a:tcPr>
                </a:tc>
                <a:tc>
                  <a:txBody>
                    <a:bodyPr wrap="square"/>
                    <a:lstStyle/>
                    <a:p>
                      <a:pPr algn="l"/>
                      <a:r>
                        <a:rPr sz="1250" b="0">
                          <a:solidFill>
                            <a:srgbClr val="000000"/>
                          </a:solidFill>
                          <a:latin typeface="游ゴシック"/>
                          <a:ea typeface="游ゴシック"/>
                        </a:rPr>
                        <a:t>4.18円/kWh</a:t>
                      </a:r>
                    </a:p>
                  </a:txBody>
                  <a:tcPr marL="45720" marR="45720" marT="18288" marB="18288" anchor="ctr">
                    <a:noFill/>
                  </a:tcPr>
                </a:tc>
              </a:tr>
              <a:tr h="384048">
                <a:tc>
                  <a:txBody>
                    <a:bodyPr wrap="square"/>
                    <a:lstStyle/>
                    <a:p>
                      <a:pPr algn="l"/>
                      <a:r>
                        <a:rPr sz="1250" b="1">
                          <a:solidFill>
                            <a:srgbClr val="000000"/>
                          </a:solidFill>
                          <a:latin typeface="游ゴシック"/>
                          <a:ea typeface="游ゴシック"/>
                        </a:rPr>
                        <a:t>p.14</a:t>
                      </a:r>
                    </a:p>
                  </a:txBody>
                  <a:tcPr marL="45720" marR="45720" marT="18288" marB="18288" anchor="ctr">
                    <a:noFill/>
                  </a:tcPr>
                </a:tc>
                <a:tc>
                  <a:txBody>
                    <a:bodyPr wrap="square"/>
                    <a:lstStyle/>
                    <a:p>
                      <a:pPr algn="l"/>
                      <a:r>
                        <a:rPr sz="1250" b="1">
                          <a:solidFill>
                            <a:srgbClr val="000000"/>
                          </a:solidFill>
                          <a:latin typeface="游ゴシック"/>
                          <a:ea typeface="游ゴシック"/>
                        </a:rPr>
                        <a:t>その賦課金が18倍になった</a:t>
                      </a:r>
                    </a:p>
                  </a:txBody>
                  <a:tcPr marL="45720" marR="45720" marT="18288" marB="18288" anchor="ctr">
                    <a:noFill/>
                  </a:tcPr>
                </a:tc>
                <a:tc>
                  <a:txBody>
                    <a:bodyPr wrap="square"/>
                    <a:lstStyle/>
                    <a:p>
                      <a:pPr algn="l"/>
                      <a:r>
                        <a:rPr sz="1250" b="1">
                          <a:solidFill>
                            <a:srgbClr val="000000"/>
                          </a:solidFill>
                          <a:latin typeface="游ゴシック"/>
                          <a:ea typeface="游ゴシック"/>
                        </a:rPr>
                        <a:t>1,210円 → 22,990円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p.15</a:t>
                      </a:r>
                    </a:p>
                  </a:txBody>
                  <a:tcPr marL="45720" marR="45720" marT="18288" marB="18288" anchor="ctr">
                    <a:noFill/>
                  </a:tcPr>
                </a:tc>
                <a:tc>
                  <a:txBody>
                    <a:bodyPr wrap="square"/>
                    <a:lstStyle/>
                    <a:p>
                      <a:pPr algn="l"/>
                      <a:r>
                        <a:rPr sz="1250" b="0">
                          <a:solidFill>
                            <a:srgbClr val="000000"/>
                          </a:solidFill>
                          <a:latin typeface="游ゴシック"/>
                          <a:ea typeface="游ゴシック"/>
                        </a:rPr>
                        <a:t>補助は出るが一時的</a:t>
                      </a:r>
                    </a:p>
                  </a:txBody>
                  <a:tcPr marL="45720" marR="45720" marT="18288" marB="18288" anchor="ctr">
                    <a:noFill/>
                  </a:tcPr>
                </a:tc>
                <a:tc>
                  <a:txBody>
                    <a:bodyPr wrap="square"/>
                    <a:lstStyle/>
                    <a:p>
                      <a:pPr algn="l"/>
                      <a:r>
                        <a:rPr sz="1250" b="0">
                          <a:solidFill>
                            <a:srgbClr val="000000"/>
                          </a:solidFill>
                          <a:latin typeface="游ゴシック"/>
                          <a:ea typeface="游ゴシック"/>
                        </a:rPr>
                        <a:t>7月使用分から再開（3.5〜4.5円）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p.16</a:t>
                      </a:r>
                    </a:p>
                  </a:txBody>
                  <a:tcPr marL="45720" marR="45720" marT="18288" marB="18288" anchor="ctr">
                    <a:noFill/>
                  </a:tcPr>
                </a:tc>
                <a:tc>
                  <a:txBody>
                    <a:bodyPr wrap="square"/>
                    <a:lstStyle/>
                    <a:p>
                      <a:pPr algn="l"/>
                      <a:r>
                        <a:rPr sz="1250" b="0">
                          <a:solidFill>
                            <a:srgbClr val="000000"/>
                          </a:solidFill>
                          <a:latin typeface="游ゴシック"/>
                          <a:ea typeface="游ゴシック"/>
                        </a:rPr>
                        <a:t>もう上がり始めている</a:t>
                      </a:r>
                    </a:p>
                  </a:txBody>
                  <a:tcPr marL="45720" marR="45720" marT="18288" marB="18288" anchor="ctr">
                    <a:noFill/>
                  </a:tcPr>
                </a:tc>
                <a:tc>
                  <a:txBody>
                    <a:bodyPr wrap="square"/>
                    <a:lstStyle/>
                    <a:p>
                      <a:pPr algn="l"/>
                      <a:r>
                        <a:rPr sz="1250" b="0">
                          <a:solidFill>
                            <a:srgbClr val="000000"/>
                          </a:solidFill>
                          <a:latin typeface="游ゴシック"/>
                          <a:ea typeface="游ゴシック"/>
                        </a:rPr>
                        <a:t>2月比で約4.9円の負担増</a:t>
                      </a:r>
                    </a:p>
                  </a:txBody>
                  <a:tcPr marL="45720" marR="45720" marT="18288" marB="18288" anchor="ctr">
                    <a:noFill/>
                  </a:tcPr>
                </a:tc>
              </a:tr>
              <a:tr h="384048">
                <a:tc>
                  <a:txBody>
                    <a:bodyPr wrap="square"/>
                    <a:lstStyle/>
                    <a:p>
                      <a:pPr algn="l"/>
                      <a:r>
                        <a:rPr sz="1250" b="1">
                          <a:solidFill>
                            <a:srgbClr val="000000"/>
                          </a:solidFill>
                          <a:latin typeface="游ゴシック"/>
                          <a:ea typeface="游ゴシック"/>
                        </a:rPr>
                        <a:t>p.17</a:t>
                      </a:r>
                    </a:p>
                  </a:txBody>
                  <a:tcPr marL="45720" marR="45720" marT="18288" marB="18288" anchor="ctr">
                    <a:noFill/>
                  </a:tcPr>
                </a:tc>
                <a:tc>
                  <a:txBody>
                    <a:bodyPr wrap="square"/>
                    <a:lstStyle/>
                    <a:p>
                      <a:pPr algn="l"/>
                      <a:r>
                        <a:rPr sz="1250" b="1">
                          <a:solidFill>
                            <a:srgbClr val="000000"/>
                          </a:solidFill>
                          <a:latin typeface="游ゴシック"/>
                          <a:ea typeface="游ゴシック"/>
                        </a:rPr>
                        <a:t>生涯ではこれだけ払う</a:t>
                      </a:r>
                    </a:p>
                  </a:txBody>
                  <a:tcPr marL="45720" marR="45720" marT="18288" marB="18288" anchor="ctr">
                    <a:noFill/>
                  </a:tcPr>
                </a:tc>
                <a:tc>
                  <a:txBody>
                    <a:bodyPr wrap="square"/>
                    <a:lstStyle/>
                    <a:p>
                      <a:pPr algn="l"/>
                      <a:r>
                        <a:rPr sz="1250" b="1">
                          <a:solidFill>
                            <a:srgbClr val="000000"/>
                          </a:solidFill>
                          <a:latin typeface="游ゴシック"/>
                          <a:ea typeface="游ゴシック"/>
                        </a:rPr>
                        <a:t>月2万円で30年 720万円</a:t>
                      </a:r>
                    </a:p>
                  </a:txBody>
                  <a:tcPr marL="45720" marR="45720" marT="18288" marB="18288" anchor="ctr">
                    <a:noFill/>
                  </a:tcPr>
                </a:tc>
              </a:tr>
            </a:tbl>
          </a:graphicData>
        </a:graphic>
      </p:graphicFrame>
      <p:sp>
        <p:nvSpPr>
          <p:cNvPr id="7" name="Rectangle 6"/>
          <p:cNvSpPr/>
          <p:nvPr/>
        </p:nvSpPr>
        <p:spPr>
          <a:xfrm>
            <a:off x="411480" y="5532120"/>
            <a:ext cx="4389120" cy="804672"/>
          </a:xfrm>
          <a:prstGeom prst="rect">
            <a:avLst/>
          </a:prstGeom>
          <a:solidFill>
            <a:srgbClr val="F2F2F2"/>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200" b="1">
                <a:solidFill>
                  <a:srgbClr val="FFFFFF"/>
                </a:solidFill>
                <a:highlight>
                  <a:srgbClr val="4F6228"/>
                </a:highlight>
                <a:latin typeface="HGPｺﾞｼｯｸE"/>
                <a:ea typeface="HGPｺﾞｼｯｸE"/>
              </a:rPr>
              <a:t>基本</a:t>
            </a:r>
            <a:r>
              <a:rPr sz="1200" b="1">
                <a:solidFill>
                  <a:srgbClr val="595959"/>
                </a:solidFill>
                <a:latin typeface="HGPｺﾞｼｯｸE"/>
                <a:ea typeface="HGPｺﾞｼｯｸE"/>
              </a:rPr>
              <a:t>　ここだけは</a:t>
            </a:r>
          </a:p>
          <a:p>
            <a:pPr algn="l">
              <a:spcAft>
                <a:spcPts val="0"/>
              </a:spcAft>
            </a:pPr>
            <a:r>
              <a:rPr sz="1350" b="1">
                <a:solidFill>
                  <a:srgbClr val="000000"/>
                </a:solidFill>
                <a:latin typeface="HGPｺﾞｼｯｸE"/>
                <a:ea typeface="HGPｺﾞｼｯｸE"/>
              </a:rPr>
              <a:t>太字の3ページを、資料を見ずに言えるように</a:t>
            </a:r>
          </a:p>
        </p:txBody>
      </p:sp>
      <p:sp>
        <p:nvSpPr>
          <p:cNvPr id="8" name="Rectangle 7"/>
          <p:cNvSpPr/>
          <p:nvPr/>
        </p:nvSpPr>
        <p:spPr>
          <a:xfrm>
            <a:off x="5120640" y="5532120"/>
            <a:ext cx="4389120" cy="804672"/>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200" b="1">
                <a:solidFill>
                  <a:srgbClr val="FFFFFF"/>
                </a:solidFill>
                <a:highlight>
                  <a:srgbClr val="C55A11"/>
                </a:highlight>
                <a:latin typeface="HGPｺﾞｼｯｸE"/>
                <a:ea typeface="HGPｺﾞｼｯｸE"/>
              </a:rPr>
              <a:t>応用</a:t>
            </a:r>
            <a:r>
              <a:rPr sz="1200" b="1">
                <a:solidFill>
                  <a:srgbClr val="595959"/>
                </a:solidFill>
                <a:latin typeface="HGPｺﾞｼｯｸE"/>
                <a:ea typeface="HGPｺﾞｼｯｸE"/>
              </a:rPr>
              <a:t>　ここまで</a:t>
            </a:r>
          </a:p>
          <a:p>
            <a:pPr algn="l">
              <a:spcAft>
                <a:spcPts val="0"/>
              </a:spcAft>
            </a:pPr>
            <a:r>
              <a:rPr sz="1350" b="1">
                <a:solidFill>
                  <a:srgbClr val="000000"/>
                </a:solidFill>
                <a:latin typeface="HGPｺﾞｼｯｸE"/>
                <a:ea typeface="HGPｺﾞｼｯｸE"/>
              </a:rPr>
              <a:t>9ページすべてを、お客様の実額に置き換えて</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18</a:t>
            </a:r>
          </a:p>
        </p:txBody>
      </p:sp>
      <p:sp>
        <p:nvSpPr>
          <p:cNvPr id="5" name="TextBox 4"/>
          <p:cNvSpPr txBox="1"/>
          <p:nvPr/>
        </p:nvSpPr>
        <p:spPr>
          <a:xfrm>
            <a:off x="411480" y="1325880"/>
            <a:ext cx="9098280" cy="502920"/>
          </a:xfrm>
          <a:prstGeom prst="rect">
            <a:avLst/>
          </a:prstGeom>
          <a:noFill/>
        </p:spPr>
        <p:txBody>
          <a:bodyPr wrap="square" anchor="t" lIns="0" rIns="0" tIns="18288" bIns="18288">
            <a:spAutoFit/>
          </a:bodyPr>
          <a:lstStyle/>
          <a:p>
            <a:pPr algn="l">
              <a:spcAft>
                <a:spcPts val="500"/>
              </a:spcAft>
            </a:pPr>
            <a:r>
              <a:rPr sz="3000" b="1">
                <a:solidFill>
                  <a:srgbClr val="000000"/>
                </a:solidFill>
                <a:latin typeface="HGPｺﾞｼｯｸE"/>
                <a:ea typeface="HGPｺﾞｼｯｸE"/>
              </a:rPr>
              <a:t>②　災害対策</a:t>
            </a:r>
          </a:p>
        </p:txBody>
      </p:sp>
      <p:sp>
        <p:nvSpPr>
          <p:cNvPr id="6" name="Rectangle 5"/>
          <p:cNvSpPr/>
          <p:nvPr/>
        </p:nvSpPr>
        <p:spPr>
          <a:xfrm>
            <a:off x="411480" y="2011680"/>
            <a:ext cx="4526280" cy="1188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使うページ</a:t>
            </a:r>
          </a:p>
          <a:p>
            <a:pPr algn="l">
              <a:spcAft>
                <a:spcPts val="500"/>
              </a:spcAft>
            </a:pPr>
            <a:r>
              <a:rPr sz="1900" b="1">
                <a:solidFill>
                  <a:srgbClr val="000000"/>
                </a:solidFill>
                <a:latin typeface="HGPｺﾞｼｯｸE"/>
                <a:ea typeface="HGPｺﾞｼｯｸE"/>
              </a:rPr>
              <a:t>p.18・p.19（2ページ）＋ 事例</a:t>
            </a:r>
          </a:p>
        </p:txBody>
      </p:sp>
      <p:sp>
        <p:nvSpPr>
          <p:cNvPr id="7" name="Rectangle 6"/>
          <p:cNvSpPr/>
          <p:nvPr/>
        </p:nvSpPr>
        <p:spPr>
          <a:xfrm>
            <a:off x="5120640" y="2011680"/>
            <a:ext cx="4389120" cy="1188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かける時間</a:t>
            </a:r>
          </a:p>
          <a:p>
            <a:pPr algn="l">
              <a:spcAft>
                <a:spcPts val="500"/>
              </a:spcAft>
            </a:pPr>
            <a:r>
              <a:rPr sz="1900" b="1">
                <a:solidFill>
                  <a:srgbClr val="000000"/>
                </a:solidFill>
                <a:latin typeface="HGPｺﾞｼｯｸE"/>
                <a:ea typeface="HGPｺﾞｼｯｸE"/>
              </a:rPr>
              <a:t>3分以内</a:t>
            </a:r>
          </a:p>
        </p:txBody>
      </p:sp>
      <p:sp>
        <p:nvSpPr>
          <p:cNvPr id="8" name="Rectangle 7"/>
          <p:cNvSpPr/>
          <p:nvPr/>
        </p:nvSpPr>
        <p:spPr>
          <a:xfrm>
            <a:off x="411480" y="3383280"/>
            <a:ext cx="9098280" cy="96012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595959"/>
                </a:solidFill>
                <a:latin typeface="HGPｺﾞｼｯｸE"/>
                <a:ea typeface="HGPｺﾞｼｯｸE"/>
              </a:rPr>
              <a:t>この切り口のゴール</a:t>
            </a:r>
          </a:p>
          <a:p>
            <a:pPr algn="ctr">
              <a:spcAft>
                <a:spcPts val="500"/>
              </a:spcAft>
            </a:pPr>
            <a:r>
              <a:rPr sz="2000" b="1">
                <a:solidFill>
                  <a:srgbClr val="FF0000"/>
                </a:solidFill>
                <a:latin typeface="HGPｺﾞｼｯｸE"/>
                <a:ea typeface="HGPｺﾞｼｯｸE"/>
              </a:rPr>
              <a:t>「いつ起きてもおかしくない」と思ってもらう</a:t>
            </a:r>
          </a:p>
        </p:txBody>
      </p:sp>
      <p:sp>
        <p:nvSpPr>
          <p:cNvPr id="9" name="Rectangle 8"/>
          <p:cNvSpPr/>
          <p:nvPr/>
        </p:nvSpPr>
        <p:spPr>
          <a:xfrm>
            <a:off x="411480" y="4572000"/>
            <a:ext cx="9098280" cy="1691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500" b="1">
                <a:solidFill>
                  <a:srgbClr val="000000"/>
                </a:solidFill>
                <a:latin typeface="HGPｺﾞｼｯｸE"/>
                <a:ea typeface="HGPｺﾞｼｯｸE"/>
              </a:rPr>
              <a:t>めくるときのポイント</a:t>
            </a:r>
          </a:p>
          <a:p>
            <a:pPr algn="l">
              <a:spcAft>
                <a:spcPts val="600"/>
              </a:spcAft>
            </a:pPr>
            <a:r>
              <a:rPr sz="1500" b="0">
                <a:solidFill>
                  <a:srgbClr val="000000"/>
                </a:solidFill>
                <a:latin typeface="HGPｺﾞｼｯｸE"/>
                <a:ea typeface="HGPｺﾞｼｯｸE"/>
              </a:rPr>
              <a:t>・長く話すほど失敗します。商談の雰囲気が暗くなるためです</a:t>
            </a:r>
          </a:p>
          <a:p>
            <a:pPr algn="l">
              <a:spcAft>
                <a:spcPts val="600"/>
              </a:spcAft>
            </a:pPr>
            <a:r>
              <a:rPr sz="1500" b="0">
                <a:solidFill>
                  <a:srgbClr val="000000"/>
                </a:solidFill>
                <a:latin typeface="HGPｺﾞｼｯｸE"/>
                <a:ea typeface="HGPｺﾞｼｯｸE"/>
              </a:rPr>
              <a:t>・主語は必ず「事実」と「第三者」。お客様の家族を想像させない</a:t>
            </a:r>
          </a:p>
          <a:p>
            <a:pPr algn="l">
              <a:spcAft>
                <a:spcPts val="600"/>
              </a:spcAft>
            </a:pPr>
            <a:r>
              <a:rPr sz="1500" b="0">
                <a:solidFill>
                  <a:srgbClr val="000000"/>
                </a:solidFill>
                <a:latin typeface="HGPｺﾞｼｯｸE"/>
                <a:ea typeface="HGPｺﾞｼｯｸE"/>
              </a:rPr>
              <a:t>・2ページめくって、事例を1本話したら、すぐ次へ抜ける</a:t>
            </a:r>
          </a:p>
          <a:p>
            <a:pPr algn="l">
              <a:spcAft>
                <a:spcPts val="600"/>
              </a:spcAft>
            </a:pPr>
            <a:r>
              <a:rPr sz="1500" b="0">
                <a:solidFill>
                  <a:srgbClr val="000000"/>
                </a:solidFill>
                <a:latin typeface="HGPｺﾞｼｯｸE"/>
                <a:ea typeface="HGPｺﾞｼｯｸE"/>
              </a:rPr>
              <a:t>・「うちの地域は災害が来ない」と言われたら、否定せず事実で包み込む</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19</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p.18　政府機関にも予測するのが困難な地震情報</a:t>
            </a:r>
          </a:p>
        </p:txBody>
      </p:sp>
      <p:pic>
        <p:nvPicPr>
          <p:cNvPr id="6" name="Picture 5" descr="ab18.jpg"/>
          <p:cNvPicPr>
            <a:picLocks noChangeAspect="1"/>
          </p:cNvPicPr>
          <p:nvPr/>
        </p:nvPicPr>
        <p:blipFill>
          <a:blip r:embed="rId2"/>
          <a:stretch>
            <a:fillRect/>
          </a:stretch>
        </p:blipFill>
        <p:spPr>
          <a:xfrm>
            <a:off x="411480" y="1755648"/>
            <a:ext cx="4617720" cy="2793101"/>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p.18　予測が困難な地震情報</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「いつ災害が起こるか分からないですね」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表の数字は読まない。赤枠の「札幌市」だけを指す</a:t>
            </a:r>
          </a:p>
          <a:p>
            <a:pPr algn="l">
              <a:spcAft>
                <a:spcPts val="400"/>
              </a:spcAft>
            </a:pPr>
            <a:r>
              <a:rPr sz="1200" b="0">
                <a:solidFill>
                  <a:srgbClr val="000000"/>
                </a:solidFill>
                <a:latin typeface="HGPｺﾞｼｯｸE"/>
                <a:ea typeface="HGPｺﾞｼｯｸE"/>
              </a:rPr>
              <a:t>「2018年6月の発表で、札幌が全国で最下位でした」</a:t>
            </a:r>
          </a:p>
          <a:p>
            <a:pPr algn="l">
              <a:spcAft>
                <a:spcPts val="400"/>
              </a:spcAft>
            </a:pPr>
            <a:r>
              <a:rPr sz="1200" b="1">
                <a:solidFill>
                  <a:srgbClr val="000000"/>
                </a:solidFill>
                <a:latin typeface="HGPｺﾞｼｯｸE"/>
                <a:ea typeface="HGPｺﾞｼｯｸE"/>
              </a:rPr>
              <a:t>「ところが3か月後に、胆振東部地震が起きています」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「うちの地域は地震が来ない」を否定せず事実で包み込む</a:t>
            </a:r>
          </a:p>
          <a:p>
            <a:pPr algn="l">
              <a:spcAft>
                <a:spcPts val="300"/>
              </a:spcAft>
            </a:pPr>
            <a:r>
              <a:rPr sz="1200" b="0">
                <a:solidFill>
                  <a:srgbClr val="000000"/>
                </a:solidFill>
                <a:latin typeface="HGPｺﾞｼｯｸE"/>
                <a:ea typeface="HGPｺﾞｼｯｸE"/>
              </a:rPr>
              <a:t>気象庁も「確度の高い予測は難しい」と明言、まで足す</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専門家ですら、いつ「もしものこと」が起きるのか分からない状況です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最後は「どこで起きるかは分からないですよね？」と質問で終える。断定で終えない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20</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p.19　自然災害とともに停電被害はたくさん出ている</a:t>
            </a:r>
          </a:p>
        </p:txBody>
      </p:sp>
      <p:pic>
        <p:nvPicPr>
          <p:cNvPr id="6" name="Picture 5" descr="ab19.jpg"/>
          <p:cNvPicPr>
            <a:picLocks noChangeAspect="1"/>
          </p:cNvPicPr>
          <p:nvPr/>
        </p:nvPicPr>
        <p:blipFill>
          <a:blip r:embed="rId2"/>
          <a:stretch>
            <a:fillRect/>
          </a:stretch>
        </p:blipFill>
        <p:spPr>
          <a:xfrm>
            <a:off x="411480" y="1755648"/>
            <a:ext cx="4617720" cy="2793101"/>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p.19　自然災害と停電被害</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「停電時も電気が使えた方が安心です」</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家のアイコンの数で「規模」を見せる。件数は1つだけ言う</a:t>
            </a:r>
          </a:p>
          <a:p>
            <a:pPr algn="l">
              <a:spcAft>
                <a:spcPts val="400"/>
              </a:spcAft>
            </a:pPr>
            <a:r>
              <a:rPr sz="1200" b="0">
                <a:solidFill>
                  <a:srgbClr val="000000"/>
                </a:solidFill>
                <a:latin typeface="HGPｺﾞｼｯｸE"/>
                <a:ea typeface="HGPｺﾞｼｯｸE"/>
              </a:rPr>
              <a:t>「北海道の地震は約300万戸、日本初のブラックアウト」</a:t>
            </a:r>
          </a:p>
          <a:p>
            <a:pPr algn="l">
              <a:spcAft>
                <a:spcPts val="400"/>
              </a:spcAft>
            </a:pPr>
            <a:r>
              <a:rPr sz="1200" b="0">
                <a:solidFill>
                  <a:srgbClr val="000000"/>
                </a:solidFill>
                <a:latin typeface="HGPｺﾞｼｯｸE"/>
                <a:ea typeface="HGPｺﾞｼｯｸE"/>
              </a:rPr>
              <a:t>「復旧まで2週間かかった地域もありました」</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1">
                <a:solidFill>
                  <a:srgbClr val="000000"/>
                </a:solidFill>
                <a:latin typeface="HGPｺﾞｼｯｸE"/>
                <a:ea typeface="HGPｺﾞｼｯｸE"/>
              </a:rPr>
              <a:t>YES取り「避難所に行くのは心配ですよね？」</a:t>
            </a:r>
          </a:p>
          <a:p>
            <a:pPr algn="l">
              <a:spcAft>
                <a:spcPts val="300"/>
              </a:spcAft>
            </a:pPr>
            <a:r>
              <a:rPr sz="1200" b="0">
                <a:solidFill>
                  <a:srgbClr val="000000"/>
                </a:solidFill>
                <a:latin typeface="HGPｺﾞｼｯｸE"/>
                <a:ea typeface="HGPｺﾞｼｯｸE"/>
              </a:rPr>
              <a:t>食料は備蓄できるが、電気だけは備蓄できないと添える</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災害大国だからこそ、もしもの時には備える必要があるのです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南海トラフなど「これから」の話を膨らませない。1行触れて終わり</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21</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このあとに「ページのない1本」を挟みます</a:t>
            </a:r>
          </a:p>
        </p:txBody>
      </p:sp>
      <p:sp>
        <p:nvSpPr>
          <p:cNvPr id="6" name="Rectangle 5"/>
          <p:cNvSpPr/>
          <p:nvPr/>
        </p:nvSpPr>
        <p:spPr>
          <a:xfrm>
            <a:off x="411480" y="1755648"/>
            <a:ext cx="4526280" cy="178308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spcAft>
                <a:spcPts val="300"/>
              </a:spcAft>
            </a:pPr>
            <a:r>
              <a:rPr sz="1600" b="1">
                <a:solidFill>
                  <a:srgbClr val="000000"/>
                </a:solidFill>
                <a:latin typeface="HGPｺﾞｼｯｸE"/>
                <a:ea typeface="HGPｺﾞｼｯｸE"/>
              </a:rPr>
              <a:t>アプローチブックには</a:t>
            </a:r>
          </a:p>
          <a:p>
            <a:pPr algn="ctr">
              <a:spcAft>
                <a:spcPts val="1000"/>
              </a:spcAft>
            </a:pPr>
            <a:r>
              <a:rPr sz="1600" b="1">
                <a:solidFill>
                  <a:srgbClr val="FF0000"/>
                </a:solidFill>
                <a:latin typeface="HGPｺﾞｼｯｸE"/>
                <a:ea typeface="HGPｺﾞｼｯｸE"/>
              </a:rPr>
              <a:t>「備えるとどうなるか」のページがありません</a:t>
            </a:r>
          </a:p>
          <a:p>
            <a:pPr algn="l">
              <a:spcAft>
                <a:spcPts val="500"/>
              </a:spcAft>
            </a:pPr>
            <a:r>
              <a:rPr sz="1400" b="0">
                <a:solidFill>
                  <a:srgbClr val="000000"/>
                </a:solidFill>
                <a:latin typeface="HGPｺﾞｼｯｸE"/>
                <a:ea typeface="HGPｺﾞｼｯｸE"/>
              </a:rPr>
              <a:t>印刷された一般論では「うちの場合は？」に答えられないからです。</a:t>
            </a:r>
          </a:p>
        </p:txBody>
      </p:sp>
      <p:sp>
        <p:nvSpPr>
          <p:cNvPr id="7" name="Rectangle 6"/>
          <p:cNvSpPr/>
          <p:nvPr/>
        </p:nvSpPr>
        <p:spPr>
          <a:xfrm>
            <a:off x="5120640" y="1755648"/>
            <a:ext cx="4389120" cy="17830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600" b="1">
                <a:solidFill>
                  <a:srgbClr val="000000"/>
                </a:solidFill>
                <a:latin typeface="HGPｺﾞｼｯｸE"/>
                <a:ea typeface="HGPｺﾞｼｯｸE"/>
              </a:rPr>
              <a:t>だから事例で話します</a:t>
            </a:r>
          </a:p>
          <a:p>
            <a:pPr algn="l">
              <a:spcAft>
                <a:spcPts val="300"/>
              </a:spcAft>
            </a:pPr>
            <a:r>
              <a:rPr sz="1400" b="0">
                <a:solidFill>
                  <a:srgbClr val="000000"/>
                </a:solidFill>
                <a:latin typeface="HGPｺﾞｼｯｸE"/>
                <a:ea typeface="HGPｺﾞｼｯｸE"/>
              </a:rPr>
              <a:t>✕「停電しても安心ですよ」</a:t>
            </a:r>
          </a:p>
          <a:p>
            <a:pPr algn="l">
              <a:spcAft>
                <a:spcPts val="800"/>
              </a:spcAft>
            </a:pPr>
            <a:r>
              <a:rPr sz="1200" b="0">
                <a:solidFill>
                  <a:srgbClr val="595959"/>
                </a:solidFill>
                <a:latin typeface="HGPｺﾞｼｯｸE"/>
                <a:ea typeface="HGPｺﾞｼｯｸE"/>
              </a:rPr>
              <a:t>　← 自分の意見。刺さらない</a:t>
            </a:r>
          </a:p>
          <a:p>
            <a:pPr algn="l">
              <a:spcAft>
                <a:spcPts val="500"/>
              </a:spcAft>
            </a:pPr>
            <a:r>
              <a:rPr sz="1400" b="1">
                <a:solidFill>
                  <a:srgbClr val="000000"/>
                </a:solidFill>
                <a:latin typeface="HGPｺﾞｼｯｸE"/>
                <a:ea typeface="HGPｺﾞｼｯｸE"/>
              </a:rPr>
              <a:t>○「実際に〇〇市のA様が、台風の停電で3日間、冷蔵庫と照明を動かせたそうです」</a:t>
            </a:r>
          </a:p>
        </p:txBody>
      </p:sp>
      <p:graphicFrame>
        <p:nvGraphicFramePr>
          <p:cNvPr id="8" name="Table 7"/>
          <p:cNvGraphicFramePr>
            <a:graphicFrameLocks noGrp="1"/>
          </p:cNvGraphicFramePr>
          <p:nvPr/>
        </p:nvGraphicFramePr>
        <p:xfrm>
          <a:off x="411480" y="3657600"/>
          <a:ext cx="9098280" cy="1810512"/>
        </p:xfrm>
        <a:graphic>
          <a:graphicData uri="http://schemas.openxmlformats.org/drawingml/2006/table">
            <a:tbl>
              <a:tblPr firstRow="1">
                <a:tableStyleId>{5C22544A-7EE6-4342-B048-85BDC9FD1C3A}</a:tableStyleId>
              </a:tblPr>
              <a:tblGrid>
                <a:gridCol w="1645920"/>
                <a:gridCol w="2926080"/>
                <a:gridCol w="4526280"/>
              </a:tblGrid>
              <a:tr h="274320">
                <a:tc>
                  <a:txBody>
                    <a:bodyPr wrap="square"/>
                    <a:lstStyle/>
                    <a:p>
                      <a:pPr algn="ctr"/>
                      <a:r>
                        <a:rPr sz="1150" b="1">
                          <a:solidFill>
                            <a:srgbClr val="FFFFFF"/>
                          </a:solidFill>
                          <a:latin typeface="游ゴシック"/>
                          <a:ea typeface="游ゴシック"/>
                        </a:rPr>
                        <a:t>事例の材料</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中身</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URL</a:t>
                      </a:r>
                    </a:p>
                  </a:txBody>
                  <a:tcPr marL="45720" marR="45720" marT="18288" marB="18288" anchor="ctr">
                    <a:solidFill>
                      <a:srgbClr val="000000"/>
                    </a:solidFill>
                  </a:tcPr>
                </a:tc>
              </a:tr>
              <a:tr h="384048">
                <a:tc>
                  <a:txBody>
                    <a:bodyPr wrap="square"/>
                    <a:lstStyle/>
                    <a:p>
                      <a:pPr algn="l"/>
                      <a:r>
                        <a:rPr sz="1150" b="0">
                          <a:solidFill>
                            <a:srgbClr val="000000"/>
                          </a:solidFill>
                          <a:latin typeface="游ゴシック"/>
                          <a:ea typeface="游ゴシック"/>
                        </a:rPr>
                        <a:t>自社の施工事例</a:t>
                      </a:r>
                    </a:p>
                  </a:txBody>
                  <a:tcPr marL="45720" marR="45720" marT="18288" marB="18288" anchor="ctr">
                    <a:noFill/>
                  </a:tcPr>
                </a:tc>
                <a:tc>
                  <a:txBody>
                    <a:bodyPr wrap="square"/>
                    <a:lstStyle/>
                    <a:p>
                      <a:pPr algn="l"/>
                      <a:r>
                        <a:rPr sz="1150" b="0">
                          <a:solidFill>
                            <a:srgbClr val="000000"/>
                          </a:solidFill>
                          <a:latin typeface="游ゴシック"/>
                          <a:ea typeface="游ゴシック"/>
                        </a:rPr>
                        <a:t>いちばん強い。地域が近いほど効く</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r>
              <a:tr h="384048">
                <a:tc>
                  <a:txBody>
                    <a:bodyPr wrap="square"/>
                    <a:lstStyle/>
                    <a:p>
                      <a:pPr algn="l"/>
                      <a:r>
                        <a:rPr sz="1150" b="0">
                          <a:solidFill>
                            <a:srgbClr val="000000"/>
                          </a:solidFill>
                          <a:latin typeface="游ゴシック"/>
                          <a:ea typeface="游ゴシック"/>
                        </a:rPr>
                        <a:t>Panasonic</a:t>
                      </a:r>
                    </a:p>
                  </a:txBody>
                  <a:tcPr marL="45720" marR="45720" marT="18288" marB="18288" anchor="ctr">
                    <a:noFill/>
                  </a:tcPr>
                </a:tc>
                <a:tc>
                  <a:txBody>
                    <a:bodyPr wrap="square"/>
                    <a:lstStyle/>
                    <a:p>
                      <a:pPr algn="l"/>
                      <a:r>
                        <a:rPr sz="1150" b="0">
                          <a:solidFill>
                            <a:srgbClr val="000000"/>
                          </a:solidFill>
                          <a:latin typeface="游ゴシック"/>
                          <a:ea typeface="游ゴシック"/>
                        </a:rPr>
                        <a:t>動画＋テキストの記事</a:t>
                      </a:r>
                    </a:p>
                  </a:txBody>
                  <a:tcPr marL="45720" marR="45720" marT="18288" marB="18288" anchor="ctr">
                    <a:noFill/>
                  </a:tcPr>
                </a:tc>
                <a:tc>
                  <a:txBody>
                    <a:bodyPr wrap="square"/>
                    <a:lstStyle/>
                    <a:p>
                      <a:pPr algn="l"/>
                      <a:r>
                        <a:rPr sz="1150" b="0">
                          <a:solidFill>
                            <a:srgbClr val="000000"/>
                          </a:solidFill>
                          <a:latin typeface="游ゴシック"/>
                          <a:ea typeface="游ゴシック"/>
                        </a:rPr>
                        <a:t>https://sumai.panasonic.jp/chikuden/</a:t>
                      </a:r>
                    </a:p>
                  </a:txBody>
                  <a:tcPr marL="45720" marR="45720" marT="18288" marB="18288" anchor="ctr">
                    <a:noFill/>
                  </a:tcPr>
                </a:tc>
              </a:tr>
              <a:tr h="384048">
                <a:tc>
                  <a:txBody>
                    <a:bodyPr wrap="square"/>
                    <a:lstStyle/>
                    <a:p>
                      <a:pPr algn="l"/>
                      <a:r>
                        <a:rPr sz="1150" b="0">
                          <a:solidFill>
                            <a:srgbClr val="000000"/>
                          </a:solidFill>
                          <a:latin typeface="游ゴシック"/>
                          <a:ea typeface="游ゴシック"/>
                        </a:rPr>
                        <a:t>SmartStar</a:t>
                      </a:r>
                    </a:p>
                  </a:txBody>
                  <a:tcPr marL="45720" marR="45720" marT="18288" marB="18288" anchor="ctr">
                    <a:noFill/>
                  </a:tcPr>
                </a:tc>
                <a:tc>
                  <a:txBody>
                    <a:bodyPr wrap="square"/>
                    <a:lstStyle/>
                    <a:p>
                      <a:pPr algn="l"/>
                      <a:r>
                        <a:rPr sz="1150" b="0">
                          <a:solidFill>
                            <a:srgbClr val="000000"/>
                          </a:solidFill>
                          <a:latin typeface="游ゴシック"/>
                          <a:ea typeface="游ゴシック"/>
                        </a:rPr>
                        <a:t>災害時の活用に特化した動画</a:t>
                      </a:r>
                    </a:p>
                  </a:txBody>
                  <a:tcPr marL="45720" marR="45720" marT="18288" marB="18288" anchor="ctr">
                    <a:noFill/>
                  </a:tcPr>
                </a:tc>
                <a:tc>
                  <a:txBody>
                    <a:bodyPr wrap="square"/>
                    <a:lstStyle/>
                    <a:p>
                      <a:pPr algn="l"/>
                      <a:r>
                        <a:rPr sz="1150" b="0">
                          <a:solidFill>
                            <a:srgbClr val="000000"/>
                          </a:solidFill>
                          <a:latin typeface="游ゴシック"/>
                          <a:ea typeface="游ゴシック"/>
                        </a:rPr>
                        <a:t>https://www.smartstar.jp/voice/</a:t>
                      </a:r>
                    </a:p>
                  </a:txBody>
                  <a:tcPr marL="45720" marR="45720" marT="18288" marB="18288" anchor="ctr">
                    <a:noFill/>
                  </a:tcPr>
                </a:tc>
              </a:tr>
              <a:tr h="384048">
                <a:tc>
                  <a:txBody>
                    <a:bodyPr wrap="square"/>
                    <a:lstStyle/>
                    <a:p>
                      <a:pPr algn="l"/>
                      <a:r>
                        <a:rPr sz="1150" b="0">
                          <a:solidFill>
                            <a:srgbClr val="000000"/>
                          </a:solidFill>
                          <a:latin typeface="游ゴシック"/>
                          <a:ea typeface="游ゴシック"/>
                        </a:rPr>
                        <a:t>ニチコン</a:t>
                      </a:r>
                    </a:p>
                  </a:txBody>
                  <a:tcPr marL="45720" marR="45720" marT="18288" marB="18288" anchor="ctr">
                    <a:noFill/>
                  </a:tcPr>
                </a:tc>
                <a:tc>
                  <a:txBody>
                    <a:bodyPr wrap="square"/>
                    <a:lstStyle/>
                    <a:p>
                      <a:pPr algn="l"/>
                      <a:r>
                        <a:rPr sz="1150" b="0">
                          <a:solidFill>
                            <a:srgbClr val="000000"/>
                          </a:solidFill>
                          <a:latin typeface="游ゴシック"/>
                          <a:ea typeface="游ゴシック"/>
                        </a:rPr>
                        <a:t>販売店にフィットしたコンテンツ</a:t>
                      </a:r>
                    </a:p>
                  </a:txBody>
                  <a:tcPr marL="45720" marR="45720" marT="18288" marB="18288" anchor="ctr">
                    <a:noFill/>
                  </a:tcPr>
                </a:tc>
                <a:tc>
                  <a:txBody>
                    <a:bodyPr wrap="square"/>
                    <a:lstStyle/>
                    <a:p>
                      <a:pPr algn="l"/>
                      <a:r>
                        <a:rPr sz="1150" b="0">
                          <a:solidFill>
                            <a:srgbClr val="000000"/>
                          </a:solidFill>
                          <a:latin typeface="游ゴシック"/>
                          <a:ea typeface="游ゴシック"/>
                        </a:rPr>
                        <a:t>https://www.nichicon.co.jp/products/ess/about/voice.html</a:t>
                      </a:r>
                    </a:p>
                  </a:txBody>
                  <a:tcPr marL="45720" marR="45720" marT="18288" marB="18288" anchor="ctr">
                    <a:noFill/>
                  </a:tcPr>
                </a:tc>
              </a:tr>
            </a:tbl>
          </a:graphicData>
        </a:graphic>
      </p:graphicFrame>
      <p:sp>
        <p:nvSpPr>
          <p:cNvPr id="9" name="Rectangle 8"/>
          <p:cNvSpPr/>
          <p:nvPr/>
        </p:nvSpPr>
        <p:spPr>
          <a:xfrm>
            <a:off x="411480" y="5623560"/>
            <a:ext cx="9098280" cy="713232"/>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600" b="1">
                <a:solidFill>
                  <a:srgbClr val="FF0000"/>
                </a:solidFill>
                <a:latin typeface="HGPｺﾞｼｯｸE"/>
                <a:ea typeface="HGPｺﾞｼｯｸE"/>
              </a:rPr>
              <a:t>②全体で3分。時計を見て測ってください。</a:t>
            </a:r>
          </a:p>
          <a:p>
            <a:pPr algn="l">
              <a:spcAft>
                <a:spcPts val="500"/>
              </a:spcAft>
            </a:pPr>
            <a:r>
              <a:rPr sz="1400" b="0">
                <a:solidFill>
                  <a:srgbClr val="000000"/>
                </a:solidFill>
                <a:latin typeface="HGPｺﾞｼｯｸE"/>
                <a:ea typeface="HGPｺﾞｼｯｸE"/>
              </a:rPr>
              <a:t>p.18が1分、p.19が1分、事例が1分。これを超えると、そのあとの話が入らなくなります。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22</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必要性訴求パートの時間配分（商談での目安）</a:t>
            </a:r>
          </a:p>
        </p:txBody>
      </p:sp>
      <p:sp>
        <p:nvSpPr>
          <p:cNvPr id="6" name="TextBox 5"/>
          <p:cNvSpPr txBox="1"/>
          <p:nvPr/>
        </p:nvSpPr>
        <p:spPr>
          <a:xfrm>
            <a:off x="411480" y="1700784"/>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 研修の時間割ではありません。お客様との商談のうち、①②に使えるのは約25分です</a:t>
            </a:r>
          </a:p>
        </p:txBody>
      </p:sp>
      <p:sp>
        <p:nvSpPr>
          <p:cNvPr id="7" name="Rectangle 6"/>
          <p:cNvSpPr/>
          <p:nvPr/>
        </p:nvSpPr>
        <p:spPr>
          <a:xfrm>
            <a:off x="411480" y="2121408"/>
            <a:ext cx="1783080" cy="6583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導入</a:t>
            </a:r>
          </a:p>
        </p:txBody>
      </p:sp>
      <p:sp>
        <p:nvSpPr>
          <p:cNvPr id="8" name="Rectangle 7"/>
          <p:cNvSpPr/>
          <p:nvPr/>
        </p:nvSpPr>
        <p:spPr>
          <a:xfrm>
            <a:off x="2286000" y="2121408"/>
            <a:ext cx="713232" cy="658368"/>
          </a:xfrm>
          <a:prstGeom prst="rect">
            <a:avLst/>
          </a:prstGeom>
          <a:solidFill>
            <a:srgbClr val="F2F2F2"/>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2分</a:t>
            </a:r>
          </a:p>
        </p:txBody>
      </p:sp>
      <p:sp>
        <p:nvSpPr>
          <p:cNvPr id="9" name="TextBox 8"/>
          <p:cNvSpPr txBox="1"/>
          <p:nvPr/>
        </p:nvSpPr>
        <p:spPr>
          <a:xfrm>
            <a:off x="6400800" y="2121408"/>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検針票の実額を聞く</a:t>
            </a:r>
          </a:p>
        </p:txBody>
      </p:sp>
      <p:sp>
        <p:nvSpPr>
          <p:cNvPr id="10" name="Rectangle 9"/>
          <p:cNvSpPr/>
          <p:nvPr/>
        </p:nvSpPr>
        <p:spPr>
          <a:xfrm>
            <a:off x="411480" y="2907791"/>
            <a:ext cx="1783080" cy="658368"/>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① 電気代</a:t>
            </a:r>
          </a:p>
        </p:txBody>
      </p:sp>
      <p:sp>
        <p:nvSpPr>
          <p:cNvPr id="11" name="Rectangle 10"/>
          <p:cNvSpPr/>
          <p:nvPr/>
        </p:nvSpPr>
        <p:spPr>
          <a:xfrm>
            <a:off x="2286000" y="2907791"/>
            <a:ext cx="3840480" cy="658368"/>
          </a:xfrm>
          <a:prstGeom prst="rect">
            <a:avLst/>
          </a:prstGeom>
          <a:solidFill>
            <a:srgbClr val="EAF1DD"/>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20分</a:t>
            </a:r>
          </a:p>
        </p:txBody>
      </p:sp>
      <p:sp>
        <p:nvSpPr>
          <p:cNvPr id="12" name="TextBox 11"/>
          <p:cNvSpPr txBox="1"/>
          <p:nvPr/>
        </p:nvSpPr>
        <p:spPr>
          <a:xfrm>
            <a:off x="6400800" y="2907791"/>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p.9 〜 p.17（9ページ）</a:t>
            </a:r>
          </a:p>
        </p:txBody>
      </p:sp>
      <p:sp>
        <p:nvSpPr>
          <p:cNvPr id="13" name="Rectangle 12"/>
          <p:cNvSpPr/>
          <p:nvPr/>
        </p:nvSpPr>
        <p:spPr>
          <a:xfrm>
            <a:off x="411480" y="3694176"/>
            <a:ext cx="1783080" cy="658368"/>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② 災害対策</a:t>
            </a:r>
          </a:p>
        </p:txBody>
      </p:sp>
      <p:sp>
        <p:nvSpPr>
          <p:cNvPr id="14" name="Rectangle 13"/>
          <p:cNvSpPr/>
          <p:nvPr/>
        </p:nvSpPr>
        <p:spPr>
          <a:xfrm>
            <a:off x="2286000" y="3694176"/>
            <a:ext cx="896112" cy="658368"/>
          </a:xfrm>
          <a:prstGeom prst="rect">
            <a:avLst/>
          </a:prstGeom>
          <a:solidFill>
            <a:srgbClr val="FFF2CC"/>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3分</a:t>
            </a:r>
          </a:p>
        </p:txBody>
      </p:sp>
      <p:sp>
        <p:nvSpPr>
          <p:cNvPr id="15" name="TextBox 14"/>
          <p:cNvSpPr txBox="1"/>
          <p:nvPr/>
        </p:nvSpPr>
        <p:spPr>
          <a:xfrm>
            <a:off x="6400800" y="3694176"/>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p.18・p.19 ＋ 事例1本</a:t>
            </a:r>
          </a:p>
        </p:txBody>
      </p:sp>
      <p:sp>
        <p:nvSpPr>
          <p:cNvPr id="16" name="Rectangle 15"/>
          <p:cNvSpPr/>
          <p:nvPr/>
        </p:nvSpPr>
        <p:spPr>
          <a:xfrm>
            <a:off x="411480" y="4480560"/>
            <a:ext cx="1783080" cy="658368"/>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③ 経済メリット</a:t>
            </a:r>
          </a:p>
        </p:txBody>
      </p:sp>
      <p:sp>
        <p:nvSpPr>
          <p:cNvPr id="17" name="Rectangle 16"/>
          <p:cNvSpPr/>
          <p:nvPr/>
        </p:nvSpPr>
        <p:spPr>
          <a:xfrm>
            <a:off x="2286000" y="4480560"/>
            <a:ext cx="2926080" cy="658368"/>
          </a:xfrm>
          <a:prstGeom prst="rect">
            <a:avLst/>
          </a:prstGeom>
          <a:solidFill>
            <a:srgbClr val="EDEDED"/>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次回</a:t>
            </a:r>
          </a:p>
        </p:txBody>
      </p:sp>
      <p:sp>
        <p:nvSpPr>
          <p:cNvPr id="18" name="TextBox 17"/>
          <p:cNvSpPr txBox="1"/>
          <p:nvPr/>
        </p:nvSpPr>
        <p:spPr>
          <a:xfrm>
            <a:off x="6400800" y="4480560"/>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p.20・p.21 ＋ シミュレーション</a:t>
            </a:r>
          </a:p>
        </p:txBody>
      </p:sp>
      <p:sp>
        <p:nvSpPr>
          <p:cNvPr id="19" name="Rectangle 18"/>
          <p:cNvSpPr/>
          <p:nvPr/>
        </p:nvSpPr>
        <p:spPr>
          <a:xfrm>
            <a:off x="411480" y="5358384"/>
            <a:ext cx="4389120" cy="96926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000000"/>
                </a:solidFill>
                <a:latin typeface="HGPｺﾞｼｯｸE"/>
                <a:ea typeface="HGPｺﾞｼｯｸE"/>
              </a:rPr>
              <a:t>時間が押したときに削る順番</a:t>
            </a:r>
          </a:p>
          <a:p>
            <a:pPr algn="l">
              <a:spcAft>
                <a:spcPts val="300"/>
              </a:spcAft>
            </a:pPr>
            <a:r>
              <a:rPr sz="1400" b="1">
                <a:solidFill>
                  <a:srgbClr val="FF0000"/>
                </a:solidFill>
                <a:latin typeface="HGPｺﾞｼｯｸE"/>
                <a:ea typeface="HGPｺﾞｼｯｸE"/>
              </a:rPr>
              <a:t>p.16 → p.12 → p.11 → p.15 → p.10 → p.13</a:t>
            </a:r>
          </a:p>
          <a:p>
            <a:pPr algn="l">
              <a:spcAft>
                <a:spcPts val="500"/>
              </a:spcAft>
            </a:pPr>
            <a:r>
              <a:rPr sz="1300" b="0">
                <a:solidFill>
                  <a:srgbClr val="000000"/>
                </a:solidFill>
                <a:latin typeface="HGPｺﾞｼｯｸE"/>
                <a:ea typeface="HGPｺﾞｼｯｸE"/>
              </a:rPr>
              <a:t>p.9・p.14・p.17 は削らない</a:t>
            </a:r>
          </a:p>
        </p:txBody>
      </p:sp>
      <p:sp>
        <p:nvSpPr>
          <p:cNvPr id="20" name="Rectangle 19"/>
          <p:cNvSpPr/>
          <p:nvPr/>
        </p:nvSpPr>
        <p:spPr>
          <a:xfrm>
            <a:off x="5120640" y="5358384"/>
            <a:ext cx="4389120" cy="969264"/>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FF0000"/>
                </a:solidFill>
                <a:latin typeface="HGPｺﾞｼｯｸE"/>
                <a:ea typeface="HGPｺﾞｼｯｸE"/>
              </a:rPr>
              <a:t>いちばん多い失敗</a:t>
            </a:r>
          </a:p>
          <a:p>
            <a:pPr algn="l">
              <a:spcAft>
                <a:spcPts val="300"/>
              </a:spcAft>
            </a:pPr>
            <a:r>
              <a:rPr sz="1400" b="0">
                <a:solidFill>
                  <a:srgbClr val="000000"/>
                </a:solidFill>
                <a:latin typeface="HGPｺﾞｼｯｸE"/>
                <a:ea typeface="HGPｺﾞｼｯｸE"/>
              </a:rPr>
              <a:t>①で30分以上かけてしまい、</a:t>
            </a:r>
          </a:p>
          <a:p>
            <a:pPr algn="l">
              <a:spcAft>
                <a:spcPts val="500"/>
              </a:spcAft>
            </a:pPr>
            <a:r>
              <a:rPr sz="1400" b="1">
                <a:solidFill>
                  <a:srgbClr val="000000"/>
                </a:solidFill>
                <a:latin typeface="HGPｺﾞｼｯｸE"/>
                <a:ea typeface="HGPｺﾞｼｯｸE"/>
              </a:rPr>
              <a:t>②の災害対策が飛んでしまう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23</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めくり方のNG集</a:t>
            </a:r>
          </a:p>
        </p:txBody>
      </p:sp>
      <p:sp>
        <p:nvSpPr>
          <p:cNvPr id="6" name="TextBox 5"/>
          <p:cNvSpPr txBox="1"/>
          <p:nvPr/>
        </p:nvSpPr>
        <p:spPr>
          <a:xfrm>
            <a:off x="411480" y="1700784"/>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上の5つは初めての方に、いちばん下の1つは慣れた方に多いものです</a:t>
            </a:r>
          </a:p>
        </p:txBody>
      </p:sp>
      <p:graphicFrame>
        <p:nvGraphicFramePr>
          <p:cNvPr id="7" name="Table 6"/>
          <p:cNvGraphicFramePr>
            <a:graphicFrameLocks noGrp="1"/>
          </p:cNvGraphicFramePr>
          <p:nvPr/>
        </p:nvGraphicFramePr>
        <p:xfrm>
          <a:off x="411480" y="2066543"/>
          <a:ext cx="9098280" cy="3858768"/>
        </p:xfrm>
        <a:graphic>
          <a:graphicData uri="http://schemas.openxmlformats.org/drawingml/2006/table">
            <a:tbl>
              <a:tblPr firstRow="1">
                <a:tableStyleId>{5C22544A-7EE6-4342-B048-85BDC9FD1C3A}</a:tableStyleId>
              </a:tblPr>
              <a:tblGrid>
                <a:gridCol w="2560320"/>
                <a:gridCol w="3291840"/>
                <a:gridCol w="3246120"/>
              </a:tblGrid>
              <a:tr h="292608">
                <a:tc>
                  <a:txBody>
                    <a:bodyPr wrap="square"/>
                    <a:lstStyle/>
                    <a:p>
                      <a:pPr algn="ctr"/>
                      <a:r>
                        <a:rPr sz="1250" b="1">
                          <a:solidFill>
                            <a:srgbClr val="FFFFFF"/>
                          </a:solidFill>
                          <a:latin typeface="游ゴシック"/>
                          <a:ea typeface="游ゴシック"/>
                        </a:rPr>
                        <a:t>✕ やりがちなこと</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なぜまずいか</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 こうする</a:t>
                      </a:r>
                    </a:p>
                  </a:txBody>
                  <a:tcPr marL="45720" marR="45720" marT="18288" marB="18288" anchor="ctr">
                    <a:solidFill>
                      <a:srgbClr val="000000"/>
                    </a:solidFill>
                  </a:tcPr>
                </a:tc>
              </a:tr>
              <a:tr h="594360">
                <a:tc>
                  <a:txBody>
                    <a:bodyPr wrap="square"/>
                    <a:lstStyle/>
                    <a:p>
                      <a:pPr algn="l"/>
                      <a:r>
                        <a:rPr sz="1250" b="1">
                          <a:solidFill>
                            <a:srgbClr val="000000"/>
                          </a:solidFill>
                          <a:latin typeface="游ゴシック"/>
                          <a:ea typeface="游ゴシック"/>
                        </a:rPr>
                        <a:t>リード文を全部読み上げる</a:t>
                      </a:r>
                    </a:p>
                  </a:txBody>
                  <a:tcPr marL="45720" marR="45720" marT="18288" marB="18288" anchor="ctr">
                    <a:noFill/>
                  </a:tcPr>
                </a:tc>
                <a:tc>
                  <a:txBody>
                    <a:bodyPr wrap="square"/>
                    <a:lstStyle/>
                    <a:p>
                      <a:pPr algn="l"/>
                      <a:r>
                        <a:rPr sz="1250" b="0">
                          <a:solidFill>
                            <a:srgbClr val="000000"/>
                          </a:solidFill>
                          <a:latin typeface="游ゴシック"/>
                          <a:ea typeface="游ゴシック"/>
                        </a:rPr>
                        <a:t>読める文字を読まれると、聞くのをやめる</a:t>
                      </a:r>
                    </a:p>
                  </a:txBody>
                  <a:tcPr marL="45720" marR="45720" marT="18288" marB="18288" anchor="ctr">
                    <a:noFill/>
                  </a:tcPr>
                </a:tc>
                <a:tc>
                  <a:txBody>
                    <a:bodyPr wrap="square"/>
                    <a:lstStyle/>
                    <a:p>
                      <a:pPr algn="l"/>
                      <a:r>
                        <a:rPr sz="1250" b="1">
                          <a:solidFill>
                            <a:srgbClr val="000000"/>
                          </a:solidFill>
                          <a:latin typeface="游ゴシック"/>
                          <a:ea typeface="游ゴシック"/>
                        </a:rPr>
                        <a:t>要点を1文に縮めて、自分の言葉で言う</a:t>
                      </a:r>
                    </a:p>
                  </a:txBody>
                  <a:tcPr marL="45720" marR="45720" marT="18288" marB="18288" anchor="ctr">
                    <a:noFill/>
                  </a:tcPr>
                </a:tc>
              </a:tr>
              <a:tr h="594360">
                <a:tc>
                  <a:txBody>
                    <a:bodyPr wrap="square"/>
                    <a:lstStyle/>
                    <a:p>
                      <a:pPr algn="l"/>
                      <a:r>
                        <a:rPr sz="1250" b="1">
                          <a:solidFill>
                            <a:srgbClr val="000000"/>
                          </a:solidFill>
                          <a:latin typeface="游ゴシック"/>
                          <a:ea typeface="游ゴシック"/>
                        </a:rPr>
                        <a:t>グラフの棒を端から順に説明する</a:t>
                      </a:r>
                    </a:p>
                  </a:txBody>
                  <a:tcPr marL="45720" marR="45720" marT="18288" marB="18288" anchor="ctr">
                    <a:noFill/>
                  </a:tcPr>
                </a:tc>
                <a:tc>
                  <a:txBody>
                    <a:bodyPr wrap="square"/>
                    <a:lstStyle/>
                    <a:p>
                      <a:pPr algn="l"/>
                      <a:r>
                        <a:rPr sz="1250" b="0">
                          <a:solidFill>
                            <a:srgbClr val="000000"/>
                          </a:solidFill>
                          <a:latin typeface="游ゴシック"/>
                          <a:ea typeface="游ゴシック"/>
                        </a:rPr>
                        <a:t>数字が多すぎて、どれが重要か分からない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指でさして、数字は1ページ1つだけ</a:t>
                      </a:r>
                    </a:p>
                  </a:txBody>
                  <a:tcPr marL="45720" marR="45720" marT="18288" marB="18288" anchor="ctr">
                    <a:noFill/>
                  </a:tcPr>
                </a:tc>
              </a:tr>
              <a:tr h="594360">
                <a:tc>
                  <a:txBody>
                    <a:bodyPr wrap="square"/>
                    <a:lstStyle/>
                    <a:p>
                      <a:pPr algn="l"/>
                      <a:r>
                        <a:rPr sz="1250" b="1">
                          <a:solidFill>
                            <a:srgbClr val="000000"/>
                          </a:solidFill>
                          <a:latin typeface="游ゴシック"/>
                          <a:ea typeface="游ゴシック"/>
                        </a:rPr>
                        <a:t>全国平均のまま話す</a:t>
                      </a:r>
                    </a:p>
                  </a:txBody>
                  <a:tcPr marL="45720" marR="45720" marT="18288" marB="18288" anchor="ctr">
                    <a:noFill/>
                  </a:tcPr>
                </a:tc>
                <a:tc>
                  <a:txBody>
                    <a:bodyPr wrap="square"/>
                    <a:lstStyle/>
                    <a:p>
                      <a:pPr algn="l"/>
                      <a:r>
                        <a:rPr sz="1250" b="0">
                          <a:solidFill>
                            <a:srgbClr val="000000"/>
                          </a:solidFill>
                          <a:latin typeface="游ゴシック"/>
                          <a:ea typeface="游ゴシック"/>
                        </a:rPr>
                        <a:t>「うちは違う」と思われ、他人事になる</a:t>
                      </a:r>
                    </a:p>
                  </a:txBody>
                  <a:tcPr marL="45720" marR="45720" marT="18288" marB="18288" anchor="ctr">
                    <a:noFill/>
                  </a:tcPr>
                </a:tc>
                <a:tc>
                  <a:txBody>
                    <a:bodyPr wrap="square"/>
                    <a:lstStyle/>
                    <a:p>
                      <a:pPr algn="l"/>
                      <a:r>
                        <a:rPr sz="1250" b="1">
                          <a:solidFill>
                            <a:srgbClr val="000000"/>
                          </a:solidFill>
                          <a:latin typeface="游ゴシック"/>
                          <a:ea typeface="游ゴシック"/>
                        </a:rPr>
                        <a:t>検針票の実額に置き換えて話す</a:t>
                      </a:r>
                    </a:p>
                  </a:txBody>
                  <a:tcPr marL="45720" marR="45720" marT="18288" marB="18288" anchor="ctr">
                    <a:noFill/>
                  </a:tcPr>
                </a:tc>
              </a:tr>
              <a:tr h="594360">
                <a:tc>
                  <a:txBody>
                    <a:bodyPr wrap="square"/>
                    <a:lstStyle/>
                    <a:p>
                      <a:pPr algn="l"/>
                      <a:r>
                        <a:rPr sz="1250" b="1">
                          <a:solidFill>
                            <a:srgbClr val="000000"/>
                          </a:solidFill>
                          <a:latin typeface="游ゴシック"/>
                          <a:ea typeface="游ゴシック"/>
                        </a:rPr>
                        <a:t>緑帯を飛ばして次のページへ</a:t>
                      </a:r>
                    </a:p>
                  </a:txBody>
                  <a:tcPr marL="45720" marR="45720" marT="18288" marB="18288" anchor="ctr">
                    <a:noFill/>
                  </a:tcPr>
                </a:tc>
                <a:tc>
                  <a:txBody>
                    <a:bodyPr wrap="square"/>
                    <a:lstStyle/>
                    <a:p>
                      <a:pPr algn="l"/>
                      <a:r>
                        <a:rPr sz="1250" b="0">
                          <a:solidFill>
                            <a:srgbClr val="000000"/>
                          </a:solidFill>
                          <a:latin typeface="游ゴシック"/>
                          <a:ea typeface="游ゴシック"/>
                        </a:rPr>
                        <a:t>結論が無いまま進むので、何も残らない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緑帯は必ず声に出して言い切る</a:t>
                      </a:r>
                    </a:p>
                  </a:txBody>
                  <a:tcPr marL="45720" marR="45720" marT="18288" marB="18288" anchor="ctr">
                    <a:noFill/>
                  </a:tcPr>
                </a:tc>
              </a:tr>
              <a:tr h="594360">
                <a:tc>
                  <a:txBody>
                    <a:bodyPr wrap="square"/>
                    <a:lstStyle/>
                    <a:p>
                      <a:pPr algn="l"/>
                      <a:r>
                        <a:rPr sz="1250" b="1">
                          <a:solidFill>
                            <a:srgbClr val="000000"/>
                          </a:solidFill>
                          <a:latin typeface="游ゴシック"/>
                          <a:ea typeface="游ゴシック"/>
                        </a:rPr>
                        <a:t>災害の話を5分以上する</a:t>
                      </a:r>
                    </a:p>
                  </a:txBody>
                  <a:tcPr marL="45720" marR="45720" marT="18288" marB="18288" anchor="ctr">
                    <a:noFill/>
                  </a:tcPr>
                </a:tc>
                <a:tc>
                  <a:txBody>
                    <a:bodyPr wrap="square"/>
                    <a:lstStyle/>
                    <a:p>
                      <a:pPr algn="l"/>
                      <a:r>
                        <a:rPr sz="1250" b="0">
                          <a:solidFill>
                            <a:srgbClr val="000000"/>
                          </a:solidFill>
                          <a:latin typeface="游ゴシック"/>
                          <a:ea typeface="游ゴシック"/>
                        </a:rPr>
                        <a:t>場が暗くなり、そのあとの提案が入らない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3分で抜ける。事実と第三者で話す</a:t>
                      </a:r>
                    </a:p>
                  </a:txBody>
                  <a:tcPr marL="45720" marR="45720" marT="18288" marB="18288" anchor="ctr">
                    <a:noFill/>
                  </a:tcPr>
                </a:tc>
              </a:tr>
              <a:tr h="594360">
                <a:tc>
                  <a:txBody>
                    <a:bodyPr wrap="square"/>
                    <a:lstStyle/>
                    <a:p>
                      <a:pPr algn="l"/>
                      <a:r>
                        <a:rPr sz="1250" b="1">
                          <a:solidFill>
                            <a:srgbClr val="000000"/>
                          </a:solidFill>
                          <a:latin typeface="游ゴシック"/>
                          <a:ea typeface="游ゴシック"/>
                        </a:rPr>
                        <a:t>慣れた人ほど、応用から入る</a:t>
                      </a:r>
                    </a:p>
                  </a:txBody>
                  <a:tcPr marL="45720" marR="45720" marT="18288" marB="18288" anchor="ctr">
                    <a:solidFill>
                      <a:srgbClr val="FFF2CC"/>
                    </a:solidFill>
                  </a:tcPr>
                </a:tc>
                <a:tc>
                  <a:txBody>
                    <a:bodyPr wrap="square"/>
                    <a:lstStyle/>
                    <a:p>
                      <a:pPr algn="l"/>
                      <a:r>
                        <a:rPr sz="1250" b="0">
                          <a:solidFill>
                            <a:srgbClr val="000000"/>
                          </a:solidFill>
                          <a:latin typeface="游ゴシック"/>
                          <a:ea typeface="游ゴシック"/>
                        </a:rPr>
                        <a:t>基本の3行が抜けて、話が飛ぶ</a:t>
                      </a:r>
                    </a:p>
                  </a:txBody>
                  <a:tcPr marL="45720" marR="45720" marT="18288" marB="18288" anchor="ctr">
                    <a:solidFill>
                      <a:srgbClr val="FFF2CC"/>
                    </a:solidFill>
                  </a:tcPr>
                </a:tc>
                <a:tc>
                  <a:txBody>
                    <a:bodyPr wrap="square"/>
                    <a:lstStyle/>
                    <a:p>
                      <a:pPr algn="l"/>
                      <a:r>
                        <a:rPr sz="1250" b="1">
                          <a:solidFill>
                            <a:srgbClr val="000000"/>
                          </a:solidFill>
                          <a:latin typeface="游ゴシック"/>
                          <a:ea typeface="游ゴシック"/>
                        </a:rPr>
                        <a:t>基本を通してから応用を足す</a:t>
                      </a:r>
                    </a:p>
                  </a:txBody>
                  <a:tcPr marL="45720" marR="45720" marT="18288" marB="18288" anchor="ctr">
                    <a:solidFill>
                      <a:srgbClr val="FFF2CC"/>
                    </a:solidFill>
                  </a:tcPr>
                </a:tc>
              </a:tr>
            </a:tbl>
          </a:graphicData>
        </a:graphic>
      </p:graphicFrame>
      <p:sp>
        <p:nvSpPr>
          <p:cNvPr id="8" name="Rectangle 7"/>
          <p:cNvSpPr/>
          <p:nvPr/>
        </p:nvSpPr>
        <p:spPr>
          <a:xfrm>
            <a:off x="411480" y="5760720"/>
            <a:ext cx="9098280" cy="566928"/>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600" b="1">
                <a:solidFill>
                  <a:srgbClr val="000000"/>
                </a:solidFill>
                <a:highlight>
                  <a:srgbClr val="FFFF00"/>
                </a:highlight>
                <a:latin typeface="HGPｺﾞｼｯｸE"/>
                <a:ea typeface="HGPｺﾞｼｯｸE"/>
              </a:rPr>
              <a:t>共通しているのは「資料を読んでいる」状態。資料は読むものではなく、指すものです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24</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通し練習：p.9 から p.19 まで、6分で通す</a:t>
            </a:r>
          </a:p>
        </p:txBody>
      </p:sp>
      <p:sp>
        <p:nvSpPr>
          <p:cNvPr id="6" name="Rectangle 5"/>
          <p:cNvSpPr/>
          <p:nvPr/>
        </p:nvSpPr>
        <p:spPr>
          <a:xfrm>
            <a:off x="411480" y="1755648"/>
            <a:ext cx="9098280" cy="13258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400" b="1">
                <a:solidFill>
                  <a:srgbClr val="595959"/>
                </a:solidFill>
                <a:latin typeface="HGPｺﾞｼｯｸE"/>
                <a:ea typeface="HGPｺﾞｼｯｸE"/>
              </a:rPr>
              <a:t>進め方（合計18分）</a:t>
            </a:r>
          </a:p>
          <a:p>
            <a:pPr algn="l">
              <a:spcAft>
                <a:spcPts val="400"/>
              </a:spcAft>
            </a:pPr>
            <a:r>
              <a:rPr sz="1400" b="0">
                <a:solidFill>
                  <a:srgbClr val="000000"/>
                </a:solidFill>
                <a:latin typeface="HGPｺﾞｼｯｸE"/>
                <a:ea typeface="HGPｺﾞｼｯｸE"/>
              </a:rPr>
              <a:t>・2人1組。営業役とお客様役。1本6分 → フィードバック3分 → 交代してもう1本</a:t>
            </a:r>
          </a:p>
          <a:p>
            <a:pPr algn="l">
              <a:spcAft>
                <a:spcPts val="400"/>
              </a:spcAft>
            </a:pPr>
            <a:r>
              <a:rPr sz="1400" b="0">
                <a:solidFill>
                  <a:srgbClr val="000000"/>
                </a:solidFill>
                <a:latin typeface="HGPｺﾞｼｯｸE"/>
                <a:ea typeface="HGPｺﾞｼｯｸE"/>
              </a:rPr>
              <a:t>・営業役はアプローチブックを持ち、p.9を開いた状態から始めます</a:t>
            </a:r>
          </a:p>
          <a:p>
            <a:pPr algn="l">
              <a:spcAft>
                <a:spcPts val="400"/>
              </a:spcAft>
            </a:pPr>
            <a:r>
              <a:rPr sz="1400" b="0">
                <a:solidFill>
                  <a:srgbClr val="000000"/>
                </a:solidFill>
                <a:latin typeface="HGPｺﾞｼｯｸE"/>
                <a:ea typeface="HGPｺﾞｼｯｸE"/>
              </a:rPr>
              <a:t>・お客様役は「月20,000円」という設定。最初に必ず聞かれるので答えてください</a:t>
            </a:r>
          </a:p>
          <a:p>
            <a:pPr algn="l">
              <a:spcAft>
                <a:spcPts val="400"/>
              </a:spcAft>
            </a:pPr>
            <a:r>
              <a:rPr sz="1400" b="0">
                <a:solidFill>
                  <a:srgbClr val="000000"/>
                </a:solidFill>
                <a:latin typeface="HGPｺﾞｼｯｸE"/>
                <a:ea typeface="HGPｺﾞｼｯｸE"/>
              </a:rPr>
              <a:t>・基本｜まず「基本」の行だけで p.19 まで到達する　応用｜ネガを1つ入れてもらう</a:t>
            </a:r>
          </a:p>
        </p:txBody>
      </p:sp>
      <p:sp>
        <p:nvSpPr>
          <p:cNvPr id="7" name="Rectangle 6"/>
          <p:cNvSpPr/>
          <p:nvPr/>
        </p:nvSpPr>
        <p:spPr>
          <a:xfrm>
            <a:off x="411480" y="3182112"/>
            <a:ext cx="4389120" cy="1417320"/>
          </a:xfrm>
          <a:prstGeom prst="rect">
            <a:avLst/>
          </a:prstGeom>
          <a:solidFill>
            <a:srgbClr val="EAF1DD"/>
          </a:solidFill>
          <a:ln w="12700">
            <a:solidFill>
              <a:srgbClr val="70A04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500" b="1">
                <a:solidFill>
                  <a:srgbClr val="000000"/>
                </a:solidFill>
                <a:latin typeface="HGPｺﾞｼｯｸE"/>
                <a:ea typeface="HGPｺﾞｼｯｸE"/>
              </a:rPr>
              <a:t>お客様役が見るところ</a:t>
            </a:r>
          </a:p>
          <a:p>
            <a:pPr algn="l">
              <a:spcAft>
                <a:spcPts val="400"/>
              </a:spcAft>
            </a:pPr>
            <a:r>
              <a:rPr sz="1300" b="0">
                <a:solidFill>
                  <a:srgbClr val="000000"/>
                </a:solidFill>
                <a:latin typeface="HGPｺﾞｼｯｸE"/>
                <a:ea typeface="HGPｺﾞｼｯｸE"/>
              </a:rPr>
              <a:t>・自分が何回しゃべったか</a:t>
            </a:r>
          </a:p>
          <a:p>
            <a:pPr algn="l">
              <a:spcAft>
                <a:spcPts val="400"/>
              </a:spcAft>
            </a:pPr>
            <a:r>
              <a:rPr sz="1300" b="0">
                <a:solidFill>
                  <a:srgbClr val="000000"/>
                </a:solidFill>
                <a:latin typeface="HGPｺﾞｼｯｸE"/>
                <a:ea typeface="HGPｺﾞｼｯｸE"/>
              </a:rPr>
              <a:t>・「読まれている」と感じた場面</a:t>
            </a:r>
          </a:p>
          <a:p>
            <a:pPr algn="l">
              <a:spcAft>
                <a:spcPts val="500"/>
              </a:spcAft>
            </a:pPr>
            <a:r>
              <a:rPr sz="1300" b="0">
                <a:solidFill>
                  <a:srgbClr val="000000"/>
                </a:solidFill>
                <a:latin typeface="HGPｺﾞｼｯｸE"/>
                <a:ea typeface="HGPｺﾞｼｯｸE"/>
              </a:rPr>
              <a:t>・数字が多すぎて追えなくなった場面</a:t>
            </a:r>
          </a:p>
        </p:txBody>
      </p:sp>
      <p:sp>
        <p:nvSpPr>
          <p:cNvPr id="8" name="Rectangle 7"/>
          <p:cNvSpPr/>
          <p:nvPr/>
        </p:nvSpPr>
        <p:spPr>
          <a:xfrm>
            <a:off x="5120640" y="3182112"/>
            <a:ext cx="4389120" cy="1417320"/>
          </a:xfrm>
          <a:prstGeom prst="rect">
            <a:avLst/>
          </a:prstGeom>
          <a:solidFill>
            <a:srgbClr val="DEEBF7"/>
          </a:solidFill>
          <a:ln w="12700">
            <a:solidFill>
              <a:srgbClr val="4B8FC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500" b="1">
                <a:solidFill>
                  <a:srgbClr val="000000"/>
                </a:solidFill>
                <a:latin typeface="HGPｺﾞｼｯｸE"/>
                <a:ea typeface="HGPｺﾞｼｯｸE"/>
              </a:rPr>
              <a:t>講師が机間で見るところ</a:t>
            </a:r>
          </a:p>
          <a:p>
            <a:pPr algn="l">
              <a:spcAft>
                <a:spcPts val="400"/>
              </a:spcAft>
            </a:pPr>
            <a:r>
              <a:rPr sz="1300" b="0">
                <a:solidFill>
                  <a:srgbClr val="000000"/>
                </a:solidFill>
                <a:latin typeface="HGPｺﾞｼｯｸE"/>
                <a:ea typeface="HGPｺﾞｼｯｸE"/>
              </a:rPr>
              <a:t>・発言比率 6：4 になっているか</a:t>
            </a:r>
          </a:p>
          <a:p>
            <a:pPr algn="l">
              <a:spcAft>
                <a:spcPts val="400"/>
              </a:spcAft>
            </a:pPr>
            <a:r>
              <a:rPr sz="1300" b="0">
                <a:solidFill>
                  <a:srgbClr val="000000"/>
                </a:solidFill>
                <a:latin typeface="HGPｺﾞｼｯｸE"/>
                <a:ea typeface="HGPｺﾞｼｯｸE"/>
              </a:rPr>
              <a:t>・緑帯を言い切れているか</a:t>
            </a:r>
          </a:p>
          <a:p>
            <a:pPr algn="l">
              <a:spcAft>
                <a:spcPts val="500"/>
              </a:spcAft>
            </a:pPr>
            <a:r>
              <a:rPr sz="1300" b="0">
                <a:solidFill>
                  <a:srgbClr val="000000"/>
                </a:solidFill>
                <a:latin typeface="HGPｺﾞｼｯｸE"/>
                <a:ea typeface="HGPｺﾞｼｯｸE"/>
              </a:rPr>
              <a:t>・太陽光だけ／蓄電池だけの話になっていないか</a:t>
            </a:r>
          </a:p>
        </p:txBody>
      </p:sp>
      <p:sp>
        <p:nvSpPr>
          <p:cNvPr id="9" name="Rectangle 8"/>
          <p:cNvSpPr/>
          <p:nvPr/>
        </p:nvSpPr>
        <p:spPr>
          <a:xfrm>
            <a:off x="411480" y="4718304"/>
            <a:ext cx="9098280" cy="9144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500" b="1">
                <a:solidFill>
                  <a:srgbClr val="000000"/>
                </a:solidFill>
                <a:latin typeface="HGPｺﾞｼｯｸE"/>
                <a:ea typeface="HGPｺﾞｼｯｸE"/>
              </a:rPr>
              <a:t>フィードバックの型</a:t>
            </a:r>
          </a:p>
          <a:p>
            <a:pPr algn="l">
              <a:spcAft>
                <a:spcPts val="500"/>
              </a:spcAft>
            </a:pPr>
            <a:r>
              <a:rPr sz="1400" b="1">
                <a:solidFill>
                  <a:srgbClr val="000000"/>
                </a:solidFill>
                <a:latin typeface="HGPｺﾞｼｯｸE"/>
                <a:ea typeface="HGPｺﾞｼｯｸE"/>
              </a:rPr>
              <a:t>① 良かったページを1つ、ページ番号で言う　② 直すのは1人1つだけ　③ 人ではなくページを指摘する</a:t>
            </a:r>
          </a:p>
        </p:txBody>
      </p:sp>
      <p:sp>
        <p:nvSpPr>
          <p:cNvPr id="10" name="Rectangle 9"/>
          <p:cNvSpPr/>
          <p:nvPr/>
        </p:nvSpPr>
        <p:spPr>
          <a:xfrm>
            <a:off x="411480" y="5760720"/>
            <a:ext cx="9098280" cy="566928"/>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止まったページが、そのまま宿題です。1本目で全部回れる人はほとんどいません</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25</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セルフチェックシート</a:t>
            </a:r>
          </a:p>
        </p:txBody>
      </p:sp>
      <p:sp>
        <p:nvSpPr>
          <p:cNvPr id="6" name="TextBox 5"/>
          <p:cNvSpPr txBox="1"/>
          <p:nvPr/>
        </p:nvSpPr>
        <p:spPr>
          <a:xfrm>
            <a:off x="411480" y="1700784"/>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ロープレのあとに記入し、できていない項目を次回までの宿題にしてください</a:t>
            </a:r>
          </a:p>
        </p:txBody>
      </p:sp>
      <p:graphicFrame>
        <p:nvGraphicFramePr>
          <p:cNvPr id="7" name="Table 6"/>
          <p:cNvGraphicFramePr>
            <a:graphicFrameLocks noGrp="1"/>
          </p:cNvGraphicFramePr>
          <p:nvPr/>
        </p:nvGraphicFramePr>
        <p:xfrm>
          <a:off x="411480" y="2103120"/>
          <a:ext cx="5806439" cy="3511296"/>
        </p:xfrm>
        <a:graphic>
          <a:graphicData uri="http://schemas.openxmlformats.org/drawingml/2006/table">
            <a:tbl>
              <a:tblPr firstRow="1">
                <a:tableStyleId>{5C22544A-7EE6-4342-B048-85BDC9FD1C3A}</a:tableStyleId>
              </a:tblPr>
              <a:tblGrid>
                <a:gridCol w="3977639"/>
                <a:gridCol w="914400"/>
                <a:gridCol w="914400"/>
              </a:tblGrid>
              <a:tr h="310896">
                <a:tc>
                  <a:txBody>
                    <a:bodyPr wrap="square"/>
                    <a:lstStyle/>
                    <a:p>
                      <a:pPr algn="ctr"/>
                      <a:r>
                        <a:rPr sz="1300" b="1">
                          <a:solidFill>
                            <a:srgbClr val="FFFFFF"/>
                          </a:solidFill>
                          <a:latin typeface="游ゴシック"/>
                          <a:ea typeface="游ゴシック"/>
                        </a:rPr>
                        <a:t>確認すること</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今日</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次回</a:t>
                      </a:r>
                    </a:p>
                  </a:txBody>
                  <a:tcPr marL="45720" marR="45720" marT="18288" marB="18288" anchor="ctr">
                    <a:solidFill>
                      <a:srgbClr val="000000"/>
                    </a:solidFill>
                  </a:tcPr>
                </a:tc>
              </a:tr>
              <a:tr h="457200">
                <a:tc>
                  <a:txBody>
                    <a:bodyPr wrap="square"/>
                    <a:lstStyle/>
                    <a:p>
                      <a:pPr algn="l"/>
                      <a:r>
                        <a:rPr sz="1300" b="0">
                          <a:solidFill>
                            <a:srgbClr val="000000"/>
                          </a:solidFill>
                          <a:latin typeface="游ゴシック"/>
                          <a:ea typeface="游ゴシック"/>
                        </a:rPr>
                        <a:t>資料を見ずに、p.9の結論一文が言えた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p.14の「1,210円 → 22,990円」が言えた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p.17でお客様の実額の列を指せた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②災害を3分以内で抜けられた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p.18・p.19を事実と第三者だけで話せた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11ページを13分で通せた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お客様の発言が4割あった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bl>
          </a:graphicData>
        </a:graphic>
      </p:graphicFrame>
      <p:sp>
        <p:nvSpPr>
          <p:cNvPr id="8" name="Rectangle 7"/>
          <p:cNvSpPr/>
          <p:nvPr/>
        </p:nvSpPr>
        <p:spPr>
          <a:xfrm>
            <a:off x="6446520" y="2066543"/>
            <a:ext cx="3063240" cy="1783080"/>
          </a:xfrm>
          <a:prstGeom prst="rect">
            <a:avLst/>
          </a:prstGeom>
          <a:solidFill>
            <a:srgbClr val="F2F2F2"/>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FFFFFF"/>
                </a:solidFill>
                <a:highlight>
                  <a:srgbClr val="4F6228"/>
                </a:highlight>
                <a:latin typeface="HGPｺﾞｼｯｸE"/>
                <a:ea typeface="HGPｺﾞｼｯｸE"/>
              </a:rPr>
              <a:t>基本</a:t>
            </a:r>
            <a:r>
              <a:rPr sz="1200" b="1">
                <a:solidFill>
                  <a:srgbClr val="595959"/>
                </a:solidFill>
                <a:latin typeface="HGPｺﾞｼｯｸE"/>
                <a:ea typeface="HGPｺﾞｼｯｸE"/>
              </a:rPr>
              <a:t>　合格ライン</a:t>
            </a:r>
          </a:p>
          <a:p>
            <a:pPr algn="l">
              <a:spcAft>
                <a:spcPts val="400"/>
              </a:spcAft>
            </a:pPr>
            <a:r>
              <a:rPr sz="2200" b="1">
                <a:solidFill>
                  <a:srgbClr val="FF0000"/>
                </a:solidFill>
                <a:latin typeface="HGPｺﾞｼｯｸE"/>
                <a:ea typeface="HGPｺﾞｼｯｸE"/>
              </a:rPr>
              <a:t>7項目中 5つ</a:t>
            </a:r>
          </a:p>
          <a:p>
            <a:pPr algn="l">
              <a:spcAft>
                <a:spcPts val="0"/>
              </a:spcAft>
            </a:pPr>
            <a:r>
              <a:rPr sz="1200" b="0">
                <a:solidFill>
                  <a:srgbClr val="000000"/>
                </a:solidFill>
                <a:latin typeface="HGPｺﾞｼｯｸE"/>
                <a:ea typeface="HGPｺﾞｼｯｸE"/>
              </a:rPr>
              <a:t>うち上から3つ（p.9・p.14・p.17）は必須</a:t>
            </a:r>
          </a:p>
        </p:txBody>
      </p:sp>
      <p:sp>
        <p:nvSpPr>
          <p:cNvPr id="9" name="Rectangle 8"/>
          <p:cNvSpPr/>
          <p:nvPr/>
        </p:nvSpPr>
        <p:spPr>
          <a:xfrm>
            <a:off x="6446520" y="3968496"/>
            <a:ext cx="3063240" cy="109728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FFFFFF"/>
                </a:solidFill>
                <a:highlight>
                  <a:srgbClr val="C55A11"/>
                </a:highlight>
                <a:latin typeface="HGPｺﾞｼｯｸE"/>
                <a:ea typeface="HGPｺﾞｼｯｸE"/>
              </a:rPr>
              <a:t>応用</a:t>
            </a:r>
            <a:r>
              <a:rPr sz="1200" b="1">
                <a:solidFill>
                  <a:srgbClr val="595959"/>
                </a:solidFill>
                <a:latin typeface="HGPｺﾞｼｯｸE"/>
                <a:ea typeface="HGPｺﾞｼｯｸE"/>
              </a:rPr>
              <a:t>　合格ライン</a:t>
            </a:r>
          </a:p>
          <a:p>
            <a:pPr algn="l">
              <a:spcAft>
                <a:spcPts val="0"/>
              </a:spcAft>
            </a:pPr>
            <a:r>
              <a:rPr sz="1250" b="1">
                <a:solidFill>
                  <a:srgbClr val="000000"/>
                </a:solidFill>
                <a:latin typeface="HGPｺﾞｼｯｸE"/>
                <a:ea typeface="HGPｺﾞｼｯｸE"/>
              </a:rPr>
              <a:t>7項目すべて＋ネガの切り返しが出る</a:t>
            </a:r>
          </a:p>
        </p:txBody>
      </p:sp>
      <p:sp>
        <p:nvSpPr>
          <p:cNvPr id="10" name="Rectangle 9"/>
          <p:cNvSpPr/>
          <p:nvPr/>
        </p:nvSpPr>
        <p:spPr>
          <a:xfrm>
            <a:off x="6446520" y="5175504"/>
            <a:ext cx="3063240" cy="11521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000000"/>
                </a:solidFill>
                <a:latin typeface="HGPｺﾞｼｯｸE"/>
                <a:ea typeface="HGPｺﾞｼｯｸE"/>
              </a:rPr>
              <a:t>次回までの宿題</a:t>
            </a:r>
          </a:p>
          <a:p>
            <a:pPr algn="l">
              <a:spcAft>
                <a:spcPts val="200"/>
              </a:spcAft>
            </a:pPr>
            <a:r>
              <a:rPr sz="1200" b="0">
                <a:solidFill>
                  <a:srgbClr val="000000"/>
                </a:solidFill>
                <a:latin typeface="HGPｺﾞｼｯｸE"/>
                <a:ea typeface="HGPｺﾞｼｯｸE"/>
              </a:rPr>
              <a:t>できなかった項目を1つ選び、</a:t>
            </a:r>
          </a:p>
          <a:p>
            <a:pPr algn="l">
              <a:spcAft>
                <a:spcPts val="500"/>
              </a:spcAft>
            </a:pPr>
            <a:r>
              <a:rPr sz="1200" b="0">
                <a:solidFill>
                  <a:srgbClr val="000000"/>
                </a:solidFill>
                <a:latin typeface="HGPｺﾞｼｯｸE"/>
                <a:ea typeface="HGPｺﾞｼｯｸE"/>
              </a:rPr>
              <a:t>そのページだけを10回音読。</a:t>
            </a:r>
          </a:p>
          <a:p>
            <a:pPr algn="l">
              <a:spcAft>
                <a:spcPts val="500"/>
              </a:spcAft>
            </a:pPr>
            <a:r>
              <a:rPr sz="1200" b="1">
                <a:solidFill>
                  <a:srgbClr val="FF0000"/>
                </a:solidFill>
                <a:latin typeface="HGPｺﾞｼｯｸE"/>
                <a:ea typeface="HGPｺﾞｼｯｸE"/>
              </a:rPr>
              <a:t>翌日には50％忘れます。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まとめ</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26</a:t>
            </a:r>
          </a:p>
        </p:txBody>
      </p:sp>
      <p:sp>
        <p:nvSpPr>
          <p:cNvPr id="5" name="TextBox 4"/>
          <p:cNvSpPr txBox="1"/>
          <p:nvPr/>
        </p:nvSpPr>
        <p:spPr>
          <a:xfrm>
            <a:off x="411480" y="1298448"/>
            <a:ext cx="9098280" cy="502920"/>
          </a:xfrm>
          <a:prstGeom prst="rect">
            <a:avLst/>
          </a:prstGeom>
          <a:noFill/>
        </p:spPr>
        <p:txBody>
          <a:bodyPr wrap="square" anchor="t" lIns="0" rIns="0" tIns="18288" bIns="18288">
            <a:spAutoFit/>
          </a:bodyPr>
          <a:lstStyle/>
          <a:p>
            <a:pPr algn="l">
              <a:spcAft>
                <a:spcPts val="500"/>
              </a:spcAft>
            </a:pPr>
            <a:r>
              <a:rPr sz="2600" b="1">
                <a:solidFill>
                  <a:srgbClr val="000000"/>
                </a:solidFill>
                <a:latin typeface="HGPｺﾞｼｯｸE"/>
                <a:ea typeface="HGPｺﾞｼｯｸE"/>
              </a:rPr>
              <a:t>このパートで持ち帰ってほしい3つ</a:t>
            </a:r>
          </a:p>
        </p:txBody>
      </p:sp>
      <p:sp>
        <p:nvSpPr>
          <p:cNvPr id="6" name="Rectangle 5"/>
          <p:cNvSpPr/>
          <p:nvPr/>
        </p:nvSpPr>
        <p:spPr>
          <a:xfrm>
            <a:off x="411480" y="1810512"/>
            <a:ext cx="658368" cy="123444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3000" b="1">
                <a:solidFill>
                  <a:srgbClr val="FFFFFF"/>
                </a:solidFill>
                <a:latin typeface="HGPｺﾞｼｯｸE"/>
                <a:ea typeface="HGPｺﾞｼｯｸE"/>
              </a:rPr>
              <a:t>1</a:t>
            </a:r>
          </a:p>
        </p:txBody>
      </p:sp>
      <p:sp>
        <p:nvSpPr>
          <p:cNvPr id="7" name="Rectangle 6"/>
          <p:cNvSpPr/>
          <p:nvPr/>
        </p:nvSpPr>
        <p:spPr>
          <a:xfrm>
            <a:off x="1170432" y="1810512"/>
            <a:ext cx="8339327" cy="12344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2000" b="1">
                <a:solidFill>
                  <a:srgbClr val="000000"/>
                </a:solidFill>
                <a:latin typeface="HGPｺﾞｼｯｸE"/>
                <a:ea typeface="HGPｺﾞｼｯｸE"/>
              </a:rPr>
              <a:t>資料は読むものではなく、指すもの</a:t>
            </a:r>
          </a:p>
          <a:p>
            <a:pPr algn="l">
              <a:spcAft>
                <a:spcPts val="500"/>
              </a:spcAft>
            </a:pPr>
            <a:r>
              <a:rPr sz="1400" b="0">
                <a:solidFill>
                  <a:srgbClr val="000000"/>
                </a:solidFill>
                <a:latin typeface="HGPｺﾞｼｯｸE"/>
                <a:ea typeface="HGPｺﾞｼｯｸE"/>
              </a:rPr>
              <a:t>リード文は読まない。数字は1ページ1つだけ指す。残りはお客様に聞かせない。</a:t>
            </a:r>
          </a:p>
        </p:txBody>
      </p:sp>
      <p:sp>
        <p:nvSpPr>
          <p:cNvPr id="8" name="Rectangle 7"/>
          <p:cNvSpPr/>
          <p:nvPr/>
        </p:nvSpPr>
        <p:spPr>
          <a:xfrm>
            <a:off x="411480" y="3136391"/>
            <a:ext cx="658368" cy="123444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3000" b="1">
                <a:solidFill>
                  <a:srgbClr val="FFFFFF"/>
                </a:solidFill>
                <a:latin typeface="HGPｺﾞｼｯｸE"/>
                <a:ea typeface="HGPｺﾞｼｯｸE"/>
              </a:rPr>
              <a:t>2</a:t>
            </a:r>
          </a:p>
        </p:txBody>
      </p:sp>
      <p:sp>
        <p:nvSpPr>
          <p:cNvPr id="9" name="Rectangle 8"/>
          <p:cNvSpPr/>
          <p:nvPr/>
        </p:nvSpPr>
        <p:spPr>
          <a:xfrm>
            <a:off x="1170432" y="3136391"/>
            <a:ext cx="8339327" cy="12344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2000" b="1">
                <a:solidFill>
                  <a:srgbClr val="000000"/>
                </a:solidFill>
                <a:latin typeface="HGPｺﾞｼｯｸE"/>
                <a:ea typeface="HGPｺﾞｼｯｸE"/>
              </a:rPr>
              <a:t>緑帯の結論は、必ず声に出して言い切る</a:t>
            </a:r>
          </a:p>
          <a:p>
            <a:pPr algn="l">
              <a:spcAft>
                <a:spcPts val="500"/>
              </a:spcAft>
            </a:pPr>
            <a:r>
              <a:rPr sz="1400" b="0">
                <a:solidFill>
                  <a:srgbClr val="000000"/>
                </a:solidFill>
                <a:latin typeface="HGPｺﾞｼｯｸE"/>
                <a:ea typeface="HGPｺﾞｼｯｸE"/>
              </a:rPr>
              <a:t>11ページ分の緑帯が、そのまま必要性訴求のトークスクリプトです。</a:t>
            </a:r>
          </a:p>
        </p:txBody>
      </p:sp>
      <p:sp>
        <p:nvSpPr>
          <p:cNvPr id="10" name="Rectangle 9"/>
          <p:cNvSpPr/>
          <p:nvPr/>
        </p:nvSpPr>
        <p:spPr>
          <a:xfrm>
            <a:off x="411480" y="4462272"/>
            <a:ext cx="658368" cy="123444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3000" b="1">
                <a:solidFill>
                  <a:srgbClr val="FFFFFF"/>
                </a:solidFill>
                <a:latin typeface="HGPｺﾞｼｯｸE"/>
                <a:ea typeface="HGPｺﾞｼｯｸE"/>
              </a:rPr>
              <a:t>3</a:t>
            </a:r>
          </a:p>
        </p:txBody>
      </p:sp>
      <p:sp>
        <p:nvSpPr>
          <p:cNvPr id="11" name="Rectangle 10"/>
          <p:cNvSpPr/>
          <p:nvPr/>
        </p:nvSpPr>
        <p:spPr>
          <a:xfrm>
            <a:off x="1170432" y="4462272"/>
            <a:ext cx="8339327" cy="12344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2000" b="1">
                <a:solidFill>
                  <a:srgbClr val="000000"/>
                </a:solidFill>
                <a:latin typeface="HGPｺﾞｼｯｸE"/>
                <a:ea typeface="HGPｺﾞｼｯｸE"/>
              </a:rPr>
              <a:t>全国平均ではなく、お客様の検針票の実額で話す</a:t>
            </a:r>
          </a:p>
          <a:p>
            <a:pPr algn="l">
              <a:spcAft>
                <a:spcPts val="500"/>
              </a:spcAft>
            </a:pPr>
            <a:r>
              <a:rPr sz="1400" b="0">
                <a:solidFill>
                  <a:srgbClr val="000000"/>
                </a:solidFill>
                <a:latin typeface="HGPｺﾞｼｯｸE"/>
                <a:ea typeface="HGPｺﾞｼｯｸE"/>
              </a:rPr>
              <a:t>最初に月額を聞く。以降の数字はすべてそこから計算し直す。</a:t>
            </a:r>
          </a:p>
        </p:txBody>
      </p:sp>
      <p:sp>
        <p:nvSpPr>
          <p:cNvPr id="12" name="Rectangle 11"/>
          <p:cNvSpPr/>
          <p:nvPr/>
        </p:nvSpPr>
        <p:spPr>
          <a:xfrm>
            <a:off x="411480" y="5815584"/>
            <a:ext cx="9098280" cy="512064"/>
          </a:xfrm>
          <a:prstGeom prst="rect">
            <a:avLst/>
          </a:prstGeom>
          <a:noFill/>
          <a:ln w="2222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600" b="1">
                <a:solidFill>
                  <a:srgbClr val="000000"/>
                </a:solidFill>
                <a:latin typeface="HGPｺﾞｼｯｸE"/>
                <a:ea typeface="HGPｺﾞｼｯｸE"/>
              </a:rPr>
              <a:t>次回は③経済メリット。今日ここで作った"危機感"が、その土台になります</a:t>
            </a:r>
          </a:p>
        </p:txBody>
      </p:sp>
    </p:spTree>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6"/>
          <p:cNvSpPr txBox="1">
            <a:spLocks noChangeArrowheads="1"/>
          </p:cNvSpPr>
          <p:nvPr/>
        </p:nvSpPr>
        <p:spPr bwMode="auto">
          <a:xfrm>
            <a:off x="119793" y="470959"/>
            <a:ext cx="9666414" cy="2169825"/>
          </a:xfrm>
          <a:prstGeom prst="rect">
            <a:avLst/>
          </a:prstGeom>
          <a:noFill/>
          <a:ln w="9525">
            <a:noFill/>
            <a:miter lim="800000"/>
            <a:headEnd/>
            <a:tailEnd/>
          </a:ln>
        </p:spPr>
        <p:txBody>
          <a:bodyPr wrap="square">
            <a:spAutoFit/>
          </a:bodyPr>
          <a:lstStyle/>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この度は</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1"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㈱船井総合研究所　住宅用太陽光・蓄電池の売り方マスター研修</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にご参加いただき、誠にありがとうございました。</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0" fontAlgn="auto" latinLnBrk="0" hangingPunct="0">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１．講座及びテキストに関するお問い合わせは、下記までお願いいたします。</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0" fontAlgn="auto" latinLnBrk="0" hangingPunct="0">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２．本テキストの著作権は、引用部分を除き、全て</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株</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船井総合研究所に帰属しています。</a:t>
            </a: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３．本セミナーで入手したテキスト、</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DVD</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、その他の文書等は許可なく複製を作成すること、また二次利用することを禁止します。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４．本セミナーの内容と同じ、または類似した研修の開催や、第三者に行わせることを禁じます。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５．録音、録画、撮影などの行為はお断りします。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６．本セミナーで入手したテキストおよび資料等をＳＮＳ等を通じて第三者に開示することを禁じます。</a:t>
            </a: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７．なお、上記３～６の事項が発覚した場合、本人または法人に対して損害賠償を行う場合があります。</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８．当社ではセミナー中の様子を撮影し、当社の宣伝に使用することがあります。あらかじめご了承ください。　　　　 　   　　　　　　　　　</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p:txBody>
      </p:sp>
      <p:sp>
        <p:nvSpPr>
          <p:cNvPr id="3" name="Rectangle 10"/>
          <p:cNvSpPr>
            <a:spLocks noChangeArrowheads="1"/>
          </p:cNvSpPr>
          <p:nvPr/>
        </p:nvSpPr>
        <p:spPr bwMode="auto">
          <a:xfrm>
            <a:off x="92512" y="2926534"/>
            <a:ext cx="9702351" cy="1143000"/>
          </a:xfrm>
          <a:prstGeom prst="rect">
            <a:avLst/>
          </a:prstGeom>
          <a:solidFill>
            <a:srgbClr val="FFFFFF"/>
          </a:solidFill>
          <a:ln w="19050">
            <a:solidFill>
              <a:srgbClr val="000066"/>
            </a:solidFill>
            <a:miter lim="800000"/>
            <a:headEnd/>
            <a:tailEnd/>
          </a:ln>
        </p:spPr>
        <p:txBody>
          <a:bodyPr anchor="ctr"/>
          <a:lstStyle/>
          <a:p>
            <a:pPr marL="0" marR="0" lvl="0" indent="0" algn="ctr" defTabSz="914400" rtl="0" eaLnBrk="0" fontAlgn="auto" latinLnBrk="0" hangingPunct="0">
              <a:lnSpc>
                <a:spcPct val="150000"/>
              </a:lnSpc>
              <a:spcBef>
                <a:spcPts val="0"/>
              </a:spcBef>
              <a:spcAft>
                <a:spcPts val="0"/>
              </a:spcAft>
              <a:buClrTx/>
              <a:buSzTx/>
              <a:buFontTx/>
              <a:buNone/>
              <a:tabLst/>
              <a:defRPr/>
            </a:pPr>
            <a:r>
              <a:rPr kumimoji="1" lang="ja-JP" altLang="en-US" sz="22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株式会社船井総合研究所</a:t>
            </a:r>
            <a:endParaRPr kumimoji="1" lang="en-US" altLang="ja-JP" sz="22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endParaRPr>
          </a:p>
          <a:p>
            <a:pPr marL="0" marR="0" lvl="0" indent="0" algn="ctr" defTabSz="914400" rtl="0" eaLnBrk="0" fontAlgn="auto" latinLnBrk="0" hangingPunct="0">
              <a:lnSpc>
                <a:spcPct val="100000"/>
              </a:lnSpc>
              <a:spcBef>
                <a:spcPts val="0"/>
              </a:spcBef>
              <a:spcAft>
                <a:spcPts val="0"/>
              </a:spcAft>
              <a:buClrTx/>
              <a:buSzTx/>
              <a:buFontTx/>
              <a:buNone/>
              <a:tabLst/>
              <a:defRPr/>
            </a:pPr>
            <a:r>
              <a:rPr kumimoji="1" lang="en-US" altLang="ja-JP"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a:t>
            </a:r>
            <a:r>
              <a:rPr kumimoji="1" lang="ja-JP" altLang="en-US"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住宅用太陽光・蓄電池の売り方マスター研修</a:t>
            </a:r>
            <a:r>
              <a:rPr kumimoji="1" lang="en-US" altLang="ja-JP"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a:t>
            </a:r>
          </a:p>
        </p:txBody>
      </p:sp>
      <p:sp>
        <p:nvSpPr>
          <p:cNvPr id="4" name="Rectangle 11"/>
          <p:cNvSpPr>
            <a:spLocks noChangeArrowheads="1"/>
          </p:cNvSpPr>
          <p:nvPr/>
        </p:nvSpPr>
        <p:spPr bwMode="auto">
          <a:xfrm>
            <a:off x="92512" y="4641034"/>
            <a:ext cx="9702351" cy="1956318"/>
          </a:xfrm>
          <a:prstGeom prst="rect">
            <a:avLst/>
          </a:prstGeom>
          <a:solidFill>
            <a:srgbClr val="FFFFFF"/>
          </a:solidFill>
          <a:ln w="19050">
            <a:solidFill>
              <a:srgbClr val="000066"/>
            </a:solidFill>
            <a:miter lim="800000"/>
            <a:headEnd/>
            <a:tailEnd/>
          </a:ln>
        </p:spPr>
        <p:txBody>
          <a:bodyPr anchor="ctr"/>
          <a:lstStyle/>
          <a:p>
            <a:pPr marL="0" marR="0" lvl="0" indent="139700" algn="just"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black"/>
                </a:solidFill>
                <a:effectLst/>
                <a:uLnTx/>
                <a:uFillTx/>
                <a:latin typeface="HGP明朝E" pitchFamily="18" charset="-128"/>
                <a:ea typeface="HGP明朝E" pitchFamily="18" charset="-128"/>
                <a:cs typeface="+mn-cs"/>
              </a:rPr>
              <a:t>2026</a:t>
            </a:r>
            <a:r>
              <a:rPr kumimoji="1" lang="ja-JP" altLang="en-US" sz="1400" b="0" i="0" u="none" strike="noStrike" kern="1200" cap="none" spc="0" normalizeH="0" baseline="0" noProof="0">
                <a:ln>
                  <a:noFill/>
                </a:ln>
                <a:solidFill>
                  <a:prstClr val="black"/>
                </a:solidFill>
                <a:effectLst/>
                <a:uLnTx/>
                <a:uFillTx/>
                <a:latin typeface="HGP明朝E" pitchFamily="18" charset="-128"/>
                <a:ea typeface="HGP明朝E" pitchFamily="18" charset="-128"/>
                <a:cs typeface="+mn-cs"/>
              </a:rPr>
              <a:t>年</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１</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1</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月発行</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著　者　 ：　株式会社船井総合研究所　　専門工事支援部 北 隆人</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発行所　：　株式会社船井総合研究所</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大阪本社</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東京本社（サステナグローススクエア</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TOKYO</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〒５４１－００４１　大阪市中央区北浜４－４－１０　　　　　　　〒１０４－００２８　東京都中央区八重洲二丁目</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2</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番</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1</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号</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東京ミッドタウン八重洲 八重洲セントラルタワー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35</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階</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ＴＥＬ　０６－６２３２－０２７１（代表）　　　　　　　　　　　　　　　　　ＴＥＬ：０３－４３５６－０２７１（通）</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E</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Mail</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takato-kita@funaisoken.co.jp</a:t>
            </a:r>
            <a:endPar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p:txBody>
      </p:sp>
      <p:sp>
        <p:nvSpPr>
          <p:cNvPr id="5" name="Rectangle 12"/>
          <p:cNvSpPr>
            <a:spLocks noChangeArrowheads="1"/>
          </p:cNvSpPr>
          <p:nvPr/>
        </p:nvSpPr>
        <p:spPr bwMode="auto">
          <a:xfrm>
            <a:off x="92512" y="4069534"/>
            <a:ext cx="9702351" cy="571500"/>
          </a:xfrm>
          <a:prstGeom prst="rect">
            <a:avLst/>
          </a:prstGeom>
          <a:solidFill>
            <a:srgbClr val="7030A0"/>
          </a:solidFill>
          <a:ln w="19050">
            <a:solidFill>
              <a:srgbClr val="000066"/>
            </a:solidFill>
            <a:miter lim="800000"/>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200" b="0" i="0" u="none" strike="noStrike" kern="1200" cap="none" spc="0" normalizeH="0" baseline="0" noProof="0" dirty="0">
                <a:ln>
                  <a:noFill/>
                </a:ln>
                <a:solidFill>
                  <a:prstClr val="white"/>
                </a:solidFill>
                <a:effectLst/>
                <a:uLnTx/>
                <a:uFillTx/>
                <a:latin typeface="HGP明朝E" pitchFamily="18" charset="-128"/>
                <a:ea typeface="HGP明朝E" pitchFamily="18" charset="-128"/>
                <a:cs typeface="+mn-cs"/>
              </a:rPr>
              <a:t>機密情報／無断転用禁止　</a:t>
            </a:r>
            <a:endParaRPr kumimoji="1" lang="ja-JP" altLang="en-US" sz="2400" b="0" i="0" u="none" strike="noStrike" kern="1200" cap="none" spc="0" normalizeH="0" baseline="0" noProof="0" dirty="0">
              <a:ln>
                <a:noFill/>
              </a:ln>
              <a:solidFill>
                <a:prstClr val="white"/>
              </a:solidFill>
              <a:effectLst/>
              <a:uLnTx/>
              <a:uFillTx/>
              <a:latin typeface="HGP明朝E" pitchFamily="18" charset="-128"/>
              <a:ea typeface="HGP明朝E" pitchFamily="18" charset="-128"/>
              <a:cs typeface="+mn-cs"/>
            </a:endParaRPr>
          </a:p>
        </p:txBody>
      </p:sp>
    </p:spTree>
    <p:extLst>
      <p:ext uri="{BB962C8B-B14F-4D97-AF65-F5344CB8AC3E}">
        <p14:creationId xmlns:p14="http://schemas.microsoft.com/office/powerpoint/2010/main" val="1046474178"/>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お気に入り">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お気に入り">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ソーラープロジェクト大社様】2024年11月度お打ち合わせ資料 .pptx" id="{F2A59035-B9C3-4A75-B90B-5E71CD3F6C43}" vid="{552278E5-979D-4048-BBE5-2AFDF89082E8}"/>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25900</TotalTime>
  <Words>6897</Words>
  <Application>Microsoft Office PowerPoint</Application>
  <PresentationFormat>A4 210 x 297 mm</PresentationFormat>
  <Paragraphs>716</Paragraphs>
  <Slides>71</Slides>
  <Notes>32</Notes>
  <HiddenSlides>0</HiddenSlides>
  <MMClips>0</MMClips>
  <ScaleCrop>false</ScaleCrop>
  <HeadingPairs>
    <vt:vector size="6" baseType="variant">
      <vt:variant>
        <vt:lpstr>使用されているフォント</vt:lpstr>
      </vt:variant>
      <vt:variant>
        <vt:i4>15</vt:i4>
      </vt:variant>
      <vt:variant>
        <vt:lpstr>テーマ</vt:lpstr>
      </vt:variant>
      <vt:variant>
        <vt:i4>2</vt:i4>
      </vt:variant>
      <vt:variant>
        <vt:lpstr>スライド タイトル</vt:lpstr>
      </vt:variant>
      <vt:variant>
        <vt:i4>71</vt:i4>
      </vt:variant>
    </vt:vector>
  </HeadingPairs>
  <TitlesOfParts>
    <vt:vector size="88" baseType="lpstr">
      <vt:lpstr>BIZ UDPゴシック</vt:lpstr>
      <vt:lpstr>Google Sans Text</vt:lpstr>
      <vt:lpstr>HGPｺﾞｼｯｸE</vt:lpstr>
      <vt:lpstr>HGP創英角ｺﾞｼｯｸUB</vt:lpstr>
      <vt:lpstr>HGP明朝E</vt:lpstr>
      <vt:lpstr>HGSｺﾞｼｯｸM</vt:lpstr>
      <vt:lpstr>Meiryo UI</vt:lpstr>
      <vt:lpstr>メイリオ</vt:lpstr>
      <vt:lpstr>游ゴシック</vt:lpstr>
      <vt:lpstr>游ゴシック体</vt:lpstr>
      <vt:lpstr>Arial</vt:lpstr>
      <vt:lpstr>Calibri</vt:lpstr>
      <vt:lpstr>Lucida Calligraphy</vt:lpstr>
      <vt:lpstr>Monotype Corsiva</vt:lpstr>
      <vt:lpstr>Wingdings</vt:lpstr>
      <vt:lpstr>Office テーマ</vt:lpstr>
      <vt:lpstr>1_Office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船井総合研究所</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スライド 1</dc:title>
  <dc:creator>F2038</dc:creator>
  <cp:lastModifiedBy>Ryusho Sameshima</cp:lastModifiedBy>
  <cp:revision>713</cp:revision>
  <cp:lastPrinted>2025-11-06T11:25:07Z</cp:lastPrinted>
  <dcterms:created xsi:type="dcterms:W3CDTF">2017-03-26T07:08:56Z</dcterms:created>
  <dcterms:modified xsi:type="dcterms:W3CDTF">2026-05-20T08:32:28Z</dcterms:modified>
</cp:coreProperties>
</file>