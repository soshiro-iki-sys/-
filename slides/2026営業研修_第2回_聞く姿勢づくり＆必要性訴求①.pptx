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media/image3.jpg" ContentType="image/pn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0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 id="2147483702" r:id="rId2"/>
  </p:sldMasterIdLst>
  <p:notesMasterIdLst>
    <p:notesMasterId r:id="rId74"/>
  </p:notesMasterIdLst>
  <p:handoutMasterIdLst>
    <p:handoutMasterId r:id="rId75"/>
  </p:handoutMasterIdLst>
  <p:sldIdLst>
    <p:sldId id="344" r:id="rId3"/>
    <p:sldId id="1179" r:id="rId11"/>
    <p:sldId id="1180" r:id="rId12"/>
    <p:sldId id="1181" r:id="rId13"/>
    <p:sldId id="1182" r:id="rId14"/>
    <p:sldId id="1183" r:id="rId15"/>
    <p:sldId id="1184" r:id="rId16"/>
    <p:sldId id="1185" r:id="rId17"/>
    <p:sldId id="1186" r:id="rId18"/>
    <p:sldId id="1187" r:id="rId19"/>
    <p:sldId id="1188" r:id="rId20"/>
    <p:sldId id="1189" r:id="rId21"/>
    <p:sldId id="1190" r:id="rId22"/>
    <p:sldId id="1191" r:id="rId23"/>
    <p:sldId id="1192" r:id="rId24"/>
    <p:sldId id="1193" r:id="rId25"/>
    <p:sldId id="1194" r:id="rId26"/>
    <p:sldId id="1195" r:id="rId27"/>
    <p:sldId id="1196" r:id="rId28"/>
    <p:sldId id="1197" r:id="rId29"/>
    <p:sldId id="1198" r:id="rId30"/>
    <p:sldId id="1199" r:id="rId31"/>
    <p:sldId id="1200" r:id="rId32"/>
    <p:sldId id="1201" r:id="rId33"/>
    <p:sldId id="1202" r:id="rId34"/>
    <p:sldId id="1203" r:id="rId35"/>
    <p:sldId id="1204" r:id="rId36"/>
    <p:sldId id="1205" r:id="rId37"/>
    <p:sldId id="1206" r:id="rId38"/>
    <p:sldId id="1207" r:id="rId39"/>
    <p:sldId id="1208" r:id="rId40"/>
    <p:sldId id="1209" r:id="rId41"/>
    <p:sldId id="1210" r:id="rId42"/>
    <p:sldId id="1211" r:id="rId43"/>
    <p:sldId id="1178" r:id="rId73"/>
  </p:sldIdLst>
  <p:sldSz cx="9906000" cy="6858000" type="A4"/>
  <p:notesSz cx="6735763" cy="98663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45" userDrawn="1">
          <p15:clr>
            <a:srgbClr val="A4A3A4"/>
          </p15:clr>
        </p15:guide>
        <p15:guide id="2"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EDE1"/>
    <a:srgbClr val="362A2A"/>
    <a:srgbClr val="9BBB59"/>
    <a:srgbClr val="FB43D4"/>
    <a:srgbClr val="E85504"/>
    <a:srgbClr val="006600"/>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83" autoAdjust="0"/>
    <p:restoredTop sz="96343" autoAdjust="0"/>
  </p:normalViewPr>
  <p:slideViewPr>
    <p:cSldViewPr showGuides="1">
      <p:cViewPr varScale="1">
        <p:scale>
          <a:sx n="82" d="100"/>
          <a:sy n="82" d="100"/>
        </p:scale>
        <p:origin x="1694" y="72"/>
      </p:cViewPr>
      <p:guideLst>
        <p:guide orient="horz" pos="845"/>
        <p:guide pos="3120"/>
      </p:guideLst>
    </p:cSldViewPr>
  </p:slideViewPr>
  <p:notesTextViewPr>
    <p:cViewPr>
      <p:scale>
        <a:sx n="3" d="2"/>
        <a:sy n="3" d="2"/>
      </p:scale>
      <p:origin x="0" y="0"/>
    </p:cViewPr>
  </p:notesTextViewPr>
  <p:notesViewPr>
    <p:cSldViewPr>
      <p:cViewPr varScale="1">
        <p:scale>
          <a:sx n="101" d="100"/>
          <a:sy n="101" d="100"/>
        </p:scale>
        <p:origin x="3246" y="114"/>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73" Type="http://schemas.openxmlformats.org/officeDocument/2006/relationships/slide" Target="slides/slide900.xml"/><Relationship Id="rId74" Type="http://schemas.openxmlformats.org/officeDocument/2006/relationships/notesMaster" Target="notesMasters/notesMaster1.xml"/><Relationship Id="rId75" Type="http://schemas.openxmlformats.org/officeDocument/2006/relationships/handoutMaster" Target="handoutMasters/handout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2" y="2"/>
            <a:ext cx="2918830" cy="495029"/>
          </a:xfrm>
          <a:prstGeom prst="rect">
            <a:avLst/>
          </a:prstGeom>
        </p:spPr>
        <p:txBody>
          <a:bodyPr vert="horz" lIns="94848" tIns="47425" rIns="94848" bIns="47425"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15374" y="2"/>
            <a:ext cx="2918830" cy="495029"/>
          </a:xfrm>
          <a:prstGeom prst="rect">
            <a:avLst/>
          </a:prstGeom>
        </p:spPr>
        <p:txBody>
          <a:bodyPr vert="horz" lIns="94848" tIns="47425" rIns="94848" bIns="47425" rtlCol="0"/>
          <a:lstStyle>
            <a:lvl1pPr algn="r">
              <a:defRPr sz="1200"/>
            </a:lvl1pPr>
          </a:lstStyle>
          <a:p>
            <a:fld id="{695728E3-876B-4768-9AB0-7D988C1247DF}" type="datetimeFigureOut">
              <a:rPr kumimoji="1" lang="ja-JP" altLang="en-US" smtClean="0"/>
              <a:t>2026/5/20</a:t>
            </a:fld>
            <a:endParaRPr kumimoji="1" lang="ja-JP" altLang="en-US"/>
          </a:p>
        </p:txBody>
      </p:sp>
      <p:sp>
        <p:nvSpPr>
          <p:cNvPr id="4" name="フッター プレースホルダー 3"/>
          <p:cNvSpPr>
            <a:spLocks noGrp="1"/>
          </p:cNvSpPr>
          <p:nvPr>
            <p:ph type="ftr" sz="quarter" idx="2"/>
          </p:nvPr>
        </p:nvSpPr>
        <p:spPr>
          <a:xfrm>
            <a:off x="2" y="9371288"/>
            <a:ext cx="2918830" cy="495028"/>
          </a:xfrm>
          <a:prstGeom prst="rect">
            <a:avLst/>
          </a:prstGeom>
        </p:spPr>
        <p:txBody>
          <a:bodyPr vert="horz" lIns="94848" tIns="47425" rIns="94848" bIns="47425"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15374" y="9371288"/>
            <a:ext cx="2918830" cy="495028"/>
          </a:xfrm>
          <a:prstGeom prst="rect">
            <a:avLst/>
          </a:prstGeom>
        </p:spPr>
        <p:txBody>
          <a:bodyPr vert="horz" lIns="94848" tIns="47425" rIns="94848" bIns="47425" rtlCol="0" anchor="b"/>
          <a:lstStyle>
            <a:lvl1pPr algn="r">
              <a:defRPr sz="1200"/>
            </a:lvl1pPr>
          </a:lstStyle>
          <a:p>
            <a:fld id="{E00352D2-49C1-4968-AB3E-0C456C91C264}" type="slidenum">
              <a:rPr kumimoji="1" lang="ja-JP" altLang="en-US" smtClean="0"/>
              <a:t>‹#›</a:t>
            </a:fld>
            <a:endParaRPr kumimoji="1" lang="ja-JP" altLang="en-US"/>
          </a:p>
        </p:txBody>
      </p:sp>
    </p:spTree>
    <p:extLst>
      <p:ext uri="{BB962C8B-B14F-4D97-AF65-F5344CB8AC3E}">
        <p14:creationId xmlns:p14="http://schemas.microsoft.com/office/powerpoint/2010/main" val="23037226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2" y="0"/>
            <a:ext cx="2918830" cy="493316"/>
          </a:xfrm>
          <a:prstGeom prst="rect">
            <a:avLst/>
          </a:prstGeom>
        </p:spPr>
        <p:txBody>
          <a:bodyPr vert="horz" lIns="94848" tIns="47425" rIns="94848" bIns="47425" rtlCol="0"/>
          <a:lstStyle>
            <a:lvl1pPr algn="l">
              <a:defRPr sz="1200"/>
            </a:lvl1pPr>
          </a:lstStyle>
          <a:p>
            <a:endParaRPr kumimoji="1" lang="ja-JP" altLang="en-US"/>
          </a:p>
        </p:txBody>
      </p:sp>
      <p:sp>
        <p:nvSpPr>
          <p:cNvPr id="3" name="日付プレースホルダ 2"/>
          <p:cNvSpPr>
            <a:spLocks noGrp="1"/>
          </p:cNvSpPr>
          <p:nvPr>
            <p:ph type="dt" idx="1"/>
          </p:nvPr>
        </p:nvSpPr>
        <p:spPr>
          <a:xfrm>
            <a:off x="3815374" y="0"/>
            <a:ext cx="2918830" cy="493316"/>
          </a:xfrm>
          <a:prstGeom prst="rect">
            <a:avLst/>
          </a:prstGeom>
        </p:spPr>
        <p:txBody>
          <a:bodyPr vert="horz" lIns="94848" tIns="47425" rIns="94848" bIns="47425" rtlCol="0"/>
          <a:lstStyle>
            <a:lvl1pPr algn="r">
              <a:defRPr sz="1200"/>
            </a:lvl1pPr>
          </a:lstStyle>
          <a:p>
            <a:fld id="{A8D18B60-6E12-48B8-B760-06957378EDAD}" type="datetimeFigureOut">
              <a:rPr kumimoji="1" lang="ja-JP" altLang="en-US" smtClean="0"/>
              <a:pPr/>
              <a:t>2026/5/20</a:t>
            </a:fld>
            <a:endParaRPr kumimoji="1" lang="ja-JP" altLang="en-US"/>
          </a:p>
        </p:txBody>
      </p:sp>
      <p:sp>
        <p:nvSpPr>
          <p:cNvPr id="4" name="スライド イメージ プレースホルダ 3"/>
          <p:cNvSpPr>
            <a:spLocks noGrp="1" noRot="1" noChangeAspect="1"/>
          </p:cNvSpPr>
          <p:nvPr>
            <p:ph type="sldImg" idx="2"/>
          </p:nvPr>
        </p:nvSpPr>
        <p:spPr>
          <a:xfrm>
            <a:off x="695325" y="739775"/>
            <a:ext cx="5345113" cy="3700463"/>
          </a:xfrm>
          <a:prstGeom prst="rect">
            <a:avLst/>
          </a:prstGeom>
          <a:noFill/>
          <a:ln w="12700">
            <a:solidFill>
              <a:prstClr val="black"/>
            </a:solidFill>
          </a:ln>
        </p:spPr>
        <p:txBody>
          <a:bodyPr vert="horz" lIns="94848" tIns="47425" rIns="94848" bIns="47425" rtlCol="0" anchor="ctr"/>
          <a:lstStyle/>
          <a:p>
            <a:endParaRPr lang="ja-JP" altLang="en-US"/>
          </a:p>
        </p:txBody>
      </p:sp>
      <p:sp>
        <p:nvSpPr>
          <p:cNvPr id="5" name="ノート プレースホルダ 4"/>
          <p:cNvSpPr>
            <a:spLocks noGrp="1"/>
          </p:cNvSpPr>
          <p:nvPr>
            <p:ph type="body" sz="quarter" idx="3"/>
          </p:nvPr>
        </p:nvSpPr>
        <p:spPr>
          <a:xfrm>
            <a:off x="673578" y="4686501"/>
            <a:ext cx="5388610" cy="4439841"/>
          </a:xfrm>
          <a:prstGeom prst="rect">
            <a:avLst/>
          </a:prstGeom>
        </p:spPr>
        <p:txBody>
          <a:bodyPr vert="horz" lIns="94848" tIns="47425" rIns="94848" bIns="47425"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2" y="9371285"/>
            <a:ext cx="2918830" cy="493316"/>
          </a:xfrm>
          <a:prstGeom prst="rect">
            <a:avLst/>
          </a:prstGeom>
        </p:spPr>
        <p:txBody>
          <a:bodyPr vert="horz" lIns="94848" tIns="47425" rIns="94848" bIns="47425"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15374" y="9371285"/>
            <a:ext cx="2918830" cy="493316"/>
          </a:xfrm>
          <a:prstGeom prst="rect">
            <a:avLst/>
          </a:prstGeom>
        </p:spPr>
        <p:txBody>
          <a:bodyPr vert="horz" lIns="94848" tIns="47425" rIns="94848" bIns="47425" rtlCol="0" anchor="b"/>
          <a:lstStyle>
            <a:lvl1pPr algn="r">
              <a:defRPr sz="1200"/>
            </a:lvl1pPr>
          </a:lstStyle>
          <a:p>
            <a:fld id="{B76C3785-4774-4B27-AA13-6B236C476115}"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fld id="{B76C3785-4774-4B27-AA13-6B236C476115}" type="slidenum">
              <a:rPr kumimoji="1" lang="ja-JP" altLang="en-US" smtClean="0"/>
              <a:pPr/>
              <a:t>0</a:t>
            </a:fld>
            <a:endParaRPr kumimoji="1" lang="ja-JP" altLang="en-US"/>
          </a:p>
        </p:txBody>
      </p:sp>
    </p:spTree>
    <p:extLst>
      <p:ext uri="{BB962C8B-B14F-4D97-AF65-F5344CB8AC3E}">
        <p14:creationId xmlns:p14="http://schemas.microsoft.com/office/powerpoint/2010/main" val="2482633127"/>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・知識を覚える会ではなく、アプローチブックが使えるようになる会だと最初に宣言する</a:t>
            </a:r>
          </a:p>
          <a:p>
            <a:r>
              <a:t>・「今日の終わりに暗唱チェックをします」と先に伝えておく</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・ロープレの時間は必ず確保する。解説が延びたら解説側を削る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・第1回の内容を覚えているか、口頭で2〜3問投げてから進める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・ピラミッドは毎回冒頭で出す。今日はどこをやるのかを必ず指差しで示す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・アプローチブックを実際に手に持たせ、3つのParagraphの区切りを指で確認させる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・ここが崩れると以降のトークが全部シングル販売になる。冒頭で必ず握る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・「決まらなかった商談を思い出してください。3条件のどれが欠けていましたか？」と問いかける</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・p.2を開いて、①なぜ増えているのか ②シミュレーション ③お申込みのご案内 の3点を指で追わせる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・3問を声に出して言う練習まで行う。メモを取る姿勢もセットで確認する</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・「今日決める」と言わせることが目的ではなく、決められる状態をつくるのが目的だと補足する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・聞く姿勢の途中で経済メリットや製品保証に話がずれると営業のリズムを失う。避け方まで練習させる</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・年表は年号を指差しながら1つずつめくる。累計件数の家アイコンが増えていくのを見せる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・「じゃあ太陽光・蓄電池つけた方がいいかもねえ」を引き出せたら合格</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・お客様の検針票を手元に置き、実額と並べて話す。数字は必ず「〇〇様の場合は」に変換する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・2023年だけ下がって見えるのは化石燃料費高騰による例外措置。聞かれたら必ず補足する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・声を大きくしない。淡々と数字を置いていくほうが効く</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・卒FIT客（太陽光あり・蓄電池のみ追加）はシングル販売のケース。今回は扱わない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・忘却曲線の話（翌日には50％忘れる）を添えて、その日のうちの復習を促す</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e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6"/>
            <a:ext cx="8420100" cy="1470025"/>
          </a:xfrm>
          <a:prstGeom prst="rect">
            <a:avLst/>
          </a:prstGeom>
        </p:spPr>
        <p:txBody>
          <a:bodyPr/>
          <a:lstStyle/>
          <a:p>
            <a:r>
              <a:rPr kumimoji="1" lang="ja-JP" altLang="en-US"/>
              <a:t>マスタ タイトルの書式設定</a:t>
            </a:r>
          </a:p>
        </p:txBody>
      </p:sp>
      <p:sp>
        <p:nvSpPr>
          <p:cNvPr id="3" name="サブタイトル 2"/>
          <p:cNvSpPr>
            <a:spLocks noGrp="1"/>
          </p:cNvSpPr>
          <p:nvPr>
            <p:ph type="subTitle" idx="1"/>
          </p:nvPr>
        </p:nvSpPr>
        <p:spPr>
          <a:xfrm>
            <a:off x="1485900" y="3886200"/>
            <a:ext cx="69342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CD1DEDC6-F80D-48C2-B138-00A27E7F2E65}"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コンテンツ プレースホルダ 2"/>
          <p:cNvSpPr>
            <a:spLocks noGrp="1"/>
          </p:cNvSpPr>
          <p:nvPr>
            <p:ph idx="1"/>
          </p:nvPr>
        </p:nvSpPr>
        <p:spPr>
          <a:xfrm>
            <a:off x="495300" y="1600201"/>
            <a:ext cx="8915400" cy="4525963"/>
          </a:xfrm>
          <a:prstGeom prst="rect">
            <a:avLst/>
          </a:prstGeom>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22064A63-54DC-4F0A-84AB-53668F1114D2}"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01"/>
            <a:ext cx="8420100" cy="1362075"/>
          </a:xfrm>
          <a:prstGeom prst="rect">
            <a:avLst/>
          </a:prstGeo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82506" y="2906713"/>
            <a:ext cx="84201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0FD4A45F-A8A8-4DDE-B673-AED63056AB36}"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536575" y="1600201"/>
            <a:ext cx="474662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5448300" y="1600201"/>
            <a:ext cx="4746625"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A35F025A-80F9-47C5-83D6-D2A5A3B97719}" type="datetime1">
              <a:rPr kumimoji="1" lang="ja-JP" altLang="en-US" smtClean="0"/>
              <a:pPr/>
              <a:t>2026/5/20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95300" y="1535113"/>
            <a:ext cx="4376870"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95300" y="2174875"/>
            <a:ext cx="4376870"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5032111" y="1535113"/>
            <a:ext cx="4378590"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5032111" y="2174875"/>
            <a:ext cx="4378590"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0A49BD1E-31C5-4520-B82E-04337BC9ED08}" type="datetime1">
              <a:rPr kumimoji="1" lang="ja-JP" altLang="en-US" smtClean="0"/>
              <a:pPr/>
              <a:t>2026/5/20</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638DA76A-BB70-46AD-B592-B57DADC28816}" type="datetime1">
              <a:rPr kumimoji="1" lang="ja-JP" altLang="en-US" smtClean="0"/>
              <a:pPr/>
              <a:t>2026/5/20</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19297B68-78AE-4B40-9B77-32E3BBE4C65E}" type="datetime1">
              <a:rPr kumimoji="1" lang="ja-JP" altLang="en-US" smtClean="0"/>
              <a:pPr/>
              <a:t>2026/5/20</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006" cy="1162050"/>
          </a:xfrm>
          <a:prstGeom prst="rect">
            <a:avLst/>
          </a:prstGeo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872971" y="273051"/>
            <a:ext cx="5537729"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95300" y="1435101"/>
            <a:ext cx="3259006"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5581A2F7-89F4-4CBB-9F6E-BD9D54E64EE6}" type="datetime1">
              <a:rPr kumimoji="1" lang="ja-JP" altLang="en-US" smtClean="0"/>
              <a:pPr/>
              <a:t>2026/5/20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4800600"/>
            <a:ext cx="5943600" cy="566738"/>
          </a:xfrm>
          <a:prstGeom prst="rect">
            <a:avLst/>
          </a:prstGeo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941645" y="612775"/>
            <a:ext cx="59436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941645" y="5367338"/>
            <a:ext cx="59436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3F0CFBB6-5FCD-4CD1-A658-5A106B94C497}" type="datetime1">
              <a:rPr kumimoji="1" lang="ja-JP" altLang="en-US" smtClean="0"/>
              <a:pPr/>
              <a:t>2026/5/20</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a:prstGeom prst="rect">
            <a:avLst/>
          </a:prstGeom>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95300" y="1600201"/>
            <a:ext cx="8915400" cy="4525963"/>
          </a:xfrm>
          <a:prstGeom prst="rect">
            <a:avLst/>
          </a:prstGeo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B0EC7A81-3346-464B-A479-530443E8B95D}"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780337" y="274639"/>
            <a:ext cx="2414588" cy="5851525"/>
          </a:xfrm>
          <a:prstGeom prst="rect">
            <a:avLst/>
          </a:prstGeo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536575" y="274639"/>
            <a:ext cx="7078663" cy="5851525"/>
          </a:xfrm>
          <a:prstGeom prst="rect">
            <a:avLst/>
          </a:prstGeo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CF472015-3E19-41F4-BCCA-3D5A7443FCC4}"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723687FF-647B-4F7E-A20E-637EB01FA9DF}" type="slidenum">
              <a:rPr kumimoji="1" lang="ja-JP" altLang="en-US" smtClean="0"/>
              <a:pPr/>
              <a:t>‹#›</a:t>
            </a:fld>
            <a:endParaRPr kumimoji="1" lang="ja-JP"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縦書きタイトルと縦書きテキスト">
    <p:spTree>
      <p:nvGrpSpPr>
        <p:cNvPr id="1" name=""/>
        <p:cNvGrpSpPr/>
        <p:nvPr/>
      </p:nvGrpSpPr>
      <p:grpSpPr>
        <a:xfrm>
          <a:off x="0" y="0"/>
          <a:ext cx="0" cy="0"/>
          <a:chOff x="0" y="0"/>
          <a:chExt cx="0" cy="0"/>
        </a:xfrm>
      </p:grpSpPr>
      <p:sp>
        <p:nvSpPr>
          <p:cNvPr id="7" name="正方形/長方形 6"/>
          <p:cNvSpPr/>
          <p:nvPr userDrawn="1"/>
        </p:nvSpPr>
        <p:spPr>
          <a:xfrm>
            <a:off x="0" y="0"/>
            <a:ext cx="990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26076859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2"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6"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097"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7" name="Text Box 31"/>
          <p:cNvSpPr txBox="1">
            <a:spLocks noChangeArrowheads="1"/>
          </p:cNvSpPr>
          <p:nvPr userDrawn="1"/>
        </p:nvSpPr>
        <p:spPr bwMode="auto">
          <a:xfrm>
            <a:off x="42215" y="6580035"/>
            <a:ext cx="4206531" cy="223587"/>
          </a:xfrm>
          <a:prstGeom prst="rect">
            <a:avLst/>
          </a:prstGeom>
          <a:noFill/>
          <a:ln w="9525">
            <a:noFill/>
            <a:miter lim="800000"/>
            <a:headEnd/>
            <a:tailEnd/>
          </a:ln>
          <a:effectLst/>
        </p:spPr>
        <p:txBody>
          <a:bodyPr wrap="square">
            <a:spAutoFit/>
          </a:bodyPr>
          <a:lstStyle/>
          <a:p>
            <a:pPr>
              <a:defRPr/>
            </a:pPr>
            <a:r>
              <a:rPr lang="en-US" altLang="ja-JP" sz="853" b="1" dirty="0" err="1">
                <a:solidFill>
                  <a:schemeClr val="bg1"/>
                </a:solidFill>
                <a:latin typeface="Monotype Corsiva" pitchFamily="66" charset="0"/>
                <a:ea typeface="HGP創英角ｺﾞｼｯｸUB" pitchFamily="50" charset="-128"/>
              </a:rPr>
              <a:t>Copyright©Funai</a:t>
            </a:r>
            <a:r>
              <a:rPr lang="en-US" altLang="ja-JP" sz="853" b="1" dirty="0">
                <a:solidFill>
                  <a:schemeClr val="bg1"/>
                </a:solidFill>
                <a:latin typeface="Monotype Corsiva" pitchFamily="66" charset="0"/>
                <a:ea typeface="HGP創英角ｺﾞｼｯｸUB" pitchFamily="50" charset="-128"/>
              </a:rPr>
              <a:t> Consulting Incorporated </a:t>
            </a:r>
            <a:r>
              <a:rPr lang="ja-JP" altLang="en-US" sz="853" b="1" dirty="0">
                <a:solidFill>
                  <a:schemeClr val="bg1"/>
                </a:solidFill>
                <a:latin typeface="Monotype Corsiva" pitchFamily="66" charset="0"/>
                <a:ea typeface="HGP創英角ｺﾞｼｯｸUB" pitchFamily="50" charset="-128"/>
              </a:rPr>
              <a:t>　　（</a:t>
            </a:r>
            <a:r>
              <a:rPr lang="en-US" altLang="ja-JP" sz="853" b="1" dirty="0" err="1">
                <a:solidFill>
                  <a:schemeClr val="bg1"/>
                </a:solidFill>
                <a:latin typeface="Monotype Corsiva" pitchFamily="66" charset="0"/>
                <a:ea typeface="HGP創英角ｺﾞｼｯｸUB" pitchFamily="50" charset="-128"/>
              </a:rPr>
              <a:t>Funai</a:t>
            </a:r>
            <a:r>
              <a:rPr lang="en-US" altLang="ja-JP" sz="853" b="1" dirty="0">
                <a:solidFill>
                  <a:schemeClr val="bg1"/>
                </a:solidFill>
                <a:latin typeface="Monotype Corsiva" pitchFamily="66" charset="0"/>
                <a:ea typeface="HGP創英角ｺﾞｼｯｸUB" pitchFamily="50" charset="-128"/>
              </a:rPr>
              <a:t> Consulting</a:t>
            </a:r>
            <a:r>
              <a:rPr lang="ja-JP" altLang="en-US" sz="853" b="1" dirty="0">
                <a:solidFill>
                  <a:schemeClr val="bg1"/>
                </a:solidFill>
                <a:latin typeface="Monotype Corsiva" pitchFamily="66" charset="0"/>
                <a:ea typeface="HGP創英角ｺﾞｼｯｸUB" pitchFamily="50" charset="-128"/>
              </a:rPr>
              <a:t> </a:t>
            </a:r>
            <a:r>
              <a:rPr lang="en-US" altLang="ja-JP" sz="853" b="1" dirty="0">
                <a:solidFill>
                  <a:schemeClr val="bg1"/>
                </a:solidFill>
                <a:latin typeface="Monotype Corsiva" pitchFamily="66" charset="0"/>
                <a:ea typeface="HGP創英角ｺﾞｼｯｸUB" pitchFamily="50" charset="-128"/>
              </a:rPr>
              <a:t>Inc.</a:t>
            </a:r>
            <a:r>
              <a:rPr lang="ja-JP" altLang="en-US" sz="853" b="1" dirty="0">
                <a:solidFill>
                  <a:schemeClr val="bg1"/>
                </a:solidFill>
                <a:latin typeface="Monotype Corsiva" pitchFamily="66" charset="0"/>
                <a:ea typeface="HGP創英角ｺﾞｼｯｸUB" pitchFamily="50" charset="-128"/>
              </a:rPr>
              <a:t>）</a:t>
            </a:r>
            <a:endParaRPr lang="en-US" altLang="ja-JP" sz="853"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4"/>
            <a:ext cx="2228850" cy="365125"/>
          </a:xfrm>
        </p:spPr>
        <p:txBody>
          <a:bodyPr/>
          <a:lstStyle>
            <a:lvl1pPr>
              <a:defRPr sz="975"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6"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4" name="タイトル 1"/>
          <p:cNvSpPr>
            <a:spLocks noGrp="1"/>
          </p:cNvSpPr>
          <p:nvPr>
            <p:ph type="title"/>
          </p:nvPr>
        </p:nvSpPr>
        <p:spPr>
          <a:xfrm>
            <a:off x="255770" y="245205"/>
            <a:ext cx="9378222" cy="605918"/>
          </a:xfrm>
        </p:spPr>
        <p:txBody>
          <a:bodyPr>
            <a:noAutofit/>
          </a:bodyPr>
          <a:lstStyle>
            <a:lvl1pPr algn="ctr">
              <a:defRPr sz="2925"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7" name="正方形/長方形 36"/>
          <p:cNvSpPr/>
          <p:nvPr userDrawn="1"/>
        </p:nvSpPr>
        <p:spPr>
          <a:xfrm>
            <a:off x="-200668" y="-3521490"/>
            <a:ext cx="11734664"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8" name="正方形/長方形 37"/>
          <p:cNvSpPr/>
          <p:nvPr userDrawn="1"/>
        </p:nvSpPr>
        <p:spPr>
          <a:xfrm>
            <a:off x="9918182"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7" name="楕円 26"/>
          <p:cNvSpPr/>
          <p:nvPr userDrawn="1"/>
        </p:nvSpPr>
        <p:spPr>
          <a:xfrm>
            <a:off x="10081668" y="4975634"/>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8" name="楕円 27"/>
          <p:cNvSpPr/>
          <p:nvPr userDrawn="1"/>
        </p:nvSpPr>
        <p:spPr>
          <a:xfrm>
            <a:off x="10081668" y="3641508"/>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29" name="楕円 28"/>
          <p:cNvSpPr/>
          <p:nvPr userDrawn="1"/>
        </p:nvSpPr>
        <p:spPr>
          <a:xfrm>
            <a:off x="10081668" y="2307384"/>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0" name="楕円 29"/>
          <p:cNvSpPr/>
          <p:nvPr userDrawn="1"/>
        </p:nvSpPr>
        <p:spPr>
          <a:xfrm>
            <a:off x="10081668" y="973259"/>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097"/>
          </a:p>
        </p:txBody>
      </p:sp>
      <p:sp>
        <p:nvSpPr>
          <p:cNvPr id="31" name="四角形吹き出し 30"/>
          <p:cNvSpPr/>
          <p:nvPr userDrawn="1"/>
        </p:nvSpPr>
        <p:spPr>
          <a:xfrm>
            <a:off x="10657070"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文字の色</a:t>
            </a:r>
          </a:p>
        </p:txBody>
      </p:sp>
      <p:sp>
        <p:nvSpPr>
          <p:cNvPr id="32" name="四角形吹き出し 31"/>
          <p:cNvSpPr/>
          <p:nvPr userDrawn="1"/>
        </p:nvSpPr>
        <p:spPr>
          <a:xfrm>
            <a:off x="10657070"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やじるしなどの図形の色</a:t>
            </a:r>
          </a:p>
        </p:txBody>
      </p:sp>
      <p:sp>
        <p:nvSpPr>
          <p:cNvPr id="33" name="四角形吹き出し 32"/>
          <p:cNvSpPr/>
          <p:nvPr userDrawn="1"/>
        </p:nvSpPr>
        <p:spPr>
          <a:xfrm>
            <a:off x="10657070"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ベースの色</a:t>
            </a:r>
          </a:p>
        </p:txBody>
      </p:sp>
      <p:sp>
        <p:nvSpPr>
          <p:cNvPr id="34" name="四角形吹き出し 33"/>
          <p:cNvSpPr/>
          <p:nvPr userDrawn="1"/>
        </p:nvSpPr>
        <p:spPr>
          <a:xfrm>
            <a:off x="10657070"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タイトル（目次と対応させてください。）</a:t>
            </a:r>
            <a:endParaRPr kumimoji="1" lang="en-US" altLang="ja-JP" sz="1097" dirty="0"/>
          </a:p>
          <a:p>
            <a:pPr algn="ctr"/>
            <a:r>
              <a:rPr kumimoji="1" lang="ja-JP" altLang="en-US" sz="1097" dirty="0"/>
              <a:t>フォント：メイリオ見出し</a:t>
            </a:r>
            <a:endParaRPr kumimoji="1" lang="en-US" altLang="ja-JP" sz="1097" dirty="0"/>
          </a:p>
          <a:p>
            <a:pPr algn="ctr"/>
            <a:r>
              <a:rPr lang="ja-JP" altLang="en-US" sz="1097" dirty="0"/>
              <a:t>サイズ：</a:t>
            </a:r>
            <a:r>
              <a:rPr lang="en-US" altLang="ja-JP" sz="1097" dirty="0"/>
              <a:t>48</a:t>
            </a:r>
          </a:p>
          <a:p>
            <a:pPr algn="ctr"/>
            <a:r>
              <a:rPr lang="ja-JP" altLang="en-US" sz="1097" dirty="0"/>
              <a:t>ボールド</a:t>
            </a:r>
            <a:endParaRPr lang="en-US" altLang="ja-JP" sz="1097" dirty="0"/>
          </a:p>
          <a:p>
            <a:pPr algn="ctr"/>
            <a:r>
              <a:rPr lang="ja-JP" altLang="en-US" sz="1097" dirty="0"/>
              <a:t>真ん中寄せ</a:t>
            </a:r>
            <a:endParaRPr kumimoji="1" lang="en-US" altLang="ja-JP" sz="1097" dirty="0"/>
          </a:p>
        </p:txBody>
      </p:sp>
      <p:sp>
        <p:nvSpPr>
          <p:cNvPr id="45" name="四角形吹き出し 44"/>
          <p:cNvSpPr/>
          <p:nvPr userDrawn="1"/>
        </p:nvSpPr>
        <p:spPr>
          <a:xfrm>
            <a:off x="-2933550"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小見出し</a:t>
            </a:r>
            <a:endParaRPr kumimoji="1" lang="en-US" altLang="ja-JP" sz="1097" dirty="0"/>
          </a:p>
          <a:p>
            <a:pPr algn="ctr"/>
            <a:r>
              <a:rPr kumimoji="1" lang="ja-JP" altLang="en-US" sz="1097" dirty="0"/>
              <a:t>フォント：メイリオ本文</a:t>
            </a:r>
            <a:endParaRPr kumimoji="1" lang="en-US" altLang="ja-JP" sz="1097" dirty="0"/>
          </a:p>
          <a:p>
            <a:pPr algn="ctr"/>
            <a:r>
              <a:rPr lang="ja-JP" altLang="en-US" sz="1097" dirty="0"/>
              <a:t>サイズ：</a:t>
            </a:r>
            <a:r>
              <a:rPr lang="en-US" altLang="ja-JP" sz="1097" dirty="0"/>
              <a:t>32</a:t>
            </a:r>
          </a:p>
          <a:p>
            <a:pPr algn="ctr"/>
            <a:r>
              <a:rPr lang="ja-JP" altLang="en-US" sz="1097" dirty="0"/>
              <a:t>ボールド</a:t>
            </a:r>
            <a:endParaRPr lang="en-US" altLang="ja-JP" sz="1097" dirty="0"/>
          </a:p>
          <a:p>
            <a:pPr algn="ctr"/>
            <a:r>
              <a:rPr kumimoji="1" lang="ja-JP" altLang="en-US" sz="1097" dirty="0"/>
              <a:t>左寄せ</a:t>
            </a:r>
            <a:endParaRPr kumimoji="1" lang="en-US" altLang="ja-JP" sz="1097" dirty="0"/>
          </a:p>
        </p:txBody>
      </p:sp>
      <p:sp>
        <p:nvSpPr>
          <p:cNvPr id="46" name="四角形吹き出し 45"/>
          <p:cNvSpPr/>
          <p:nvPr userDrawn="1"/>
        </p:nvSpPr>
        <p:spPr>
          <a:xfrm>
            <a:off x="-2933550"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本文</a:t>
            </a:r>
            <a:endParaRPr kumimoji="1" lang="en-US" altLang="ja-JP" sz="1097" dirty="0"/>
          </a:p>
          <a:p>
            <a:pPr algn="ctr"/>
            <a:r>
              <a:rPr kumimoji="1" lang="ja-JP" altLang="en-US" sz="1097" dirty="0"/>
              <a:t>フォント：メイリオ本文</a:t>
            </a:r>
            <a:endParaRPr kumimoji="1" lang="en-US" altLang="ja-JP" sz="1097" dirty="0"/>
          </a:p>
          <a:p>
            <a:pPr algn="ctr"/>
            <a:r>
              <a:rPr lang="ja-JP" altLang="en-US" sz="1097" dirty="0"/>
              <a:t>サイズ：</a:t>
            </a:r>
            <a:r>
              <a:rPr lang="en-US" altLang="ja-JP" sz="1097" dirty="0"/>
              <a:t>18</a:t>
            </a:r>
          </a:p>
          <a:p>
            <a:pPr algn="ctr"/>
            <a:r>
              <a:rPr kumimoji="1" lang="ja-JP" altLang="en-US" sz="1097" dirty="0"/>
              <a:t>左寄せ</a:t>
            </a:r>
            <a:endParaRPr kumimoji="1" lang="en-US" altLang="ja-JP" sz="1097" dirty="0"/>
          </a:p>
        </p:txBody>
      </p:sp>
      <p:sp>
        <p:nvSpPr>
          <p:cNvPr id="23" name="四角形吹き出し 22"/>
          <p:cNvSpPr/>
          <p:nvPr userDrawn="1"/>
        </p:nvSpPr>
        <p:spPr>
          <a:xfrm>
            <a:off x="10657070"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97" dirty="0"/>
              <a:t>この赤ガイド線内に収まるように作成してください</a:t>
            </a:r>
          </a:p>
        </p:txBody>
      </p:sp>
    </p:spTree>
    <p:extLst>
      <p:ext uri="{BB962C8B-B14F-4D97-AF65-F5344CB8AC3E}">
        <p14:creationId xmlns:p14="http://schemas.microsoft.com/office/powerpoint/2010/main" val="1762095009"/>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84438440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63855536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91745856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4846923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437342069"/>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21736269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40315447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1834291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11140612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91924230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828758268"/>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157441216"/>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42167933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26300916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97072234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22503225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78730266"/>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1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07982605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577527992"/>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65757162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17370845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2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94676324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2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78273959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51742415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645161495"/>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2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117342807"/>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2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2462757522"/>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2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15822512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576358992"/>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1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044164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32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52193495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3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522076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4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985575324"/>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5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54557753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36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771339861"/>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37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Tree>
    <p:extLst>
      <p:ext uri="{BB962C8B-B14F-4D97-AF65-F5344CB8AC3E}">
        <p14:creationId xmlns:p14="http://schemas.microsoft.com/office/powerpoint/2010/main" val="389747795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38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651948463"/>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9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1213403396"/>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40_タイトルとコンテンツ">
    <p:spTree>
      <p:nvGrpSpPr>
        <p:cNvPr id="1" name=""/>
        <p:cNvGrpSpPr/>
        <p:nvPr/>
      </p:nvGrpSpPr>
      <p:grpSpPr>
        <a:xfrm>
          <a:off x="0" y="0"/>
          <a:ext cx="0" cy="0"/>
          <a:chOff x="0" y="0"/>
          <a:chExt cx="0" cy="0"/>
        </a:xfrm>
      </p:grpSpPr>
      <p:graphicFrame>
        <p:nvGraphicFramePr>
          <p:cNvPr id="26" name="表 25"/>
          <p:cNvGraphicFramePr>
            <a:graphicFrameLocks noGrp="1"/>
          </p:cNvGraphicFramePr>
          <p:nvPr userDrawn="1"/>
        </p:nvGraphicFramePr>
        <p:xfrm>
          <a:off x="0" y="727606"/>
          <a:ext cx="438463" cy="5882490"/>
        </p:xfrm>
        <a:graphic>
          <a:graphicData uri="http://schemas.openxmlformats.org/drawingml/2006/table">
            <a:tbl>
              <a:tblPr firstRow="1" bandRow="1">
                <a:tableStyleId>{5C22544A-7EE6-4342-B048-85BDC9FD1C3A}</a:tableStyleId>
              </a:tblPr>
              <a:tblGrid>
                <a:gridCol w="438463">
                  <a:extLst>
                    <a:ext uri="{9D8B030D-6E8A-4147-A177-3AD203B41FA5}">
                      <a16:colId xmlns:a16="http://schemas.microsoft.com/office/drawing/2014/main" val="2456847792"/>
                    </a:ext>
                  </a:extLst>
                </a:gridCol>
              </a:tblGrid>
              <a:tr h="980415">
                <a:tc>
                  <a:txBody>
                    <a:bodyPr/>
                    <a:lstStyle/>
                    <a:p>
                      <a:pPr algn="ctr"/>
                      <a:r>
                        <a:rPr kumimoji="1" lang="ja-JP" altLang="en-US" sz="1100" b="1" dirty="0">
                          <a:solidFill>
                            <a:schemeClr val="bg1"/>
                          </a:solidFill>
                        </a:rPr>
                        <a:t>①タイトル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12206185"/>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②タイトル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631667891"/>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③タイトル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627911894"/>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④タイトル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091809632"/>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⑤タイトル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750606519"/>
                  </a:ext>
                </a:extLst>
              </a:tr>
              <a:tr h="980415">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1" lang="ja-JP" altLang="en-US" sz="1100" b="1" dirty="0">
                          <a:solidFill>
                            <a:schemeClr val="bg1"/>
                          </a:solidFill>
                        </a:rPr>
                        <a:t>⑥タイトル</a:t>
                      </a:r>
                    </a:p>
                  </a:txBody>
                  <a:tcPr marL="74295" marR="74295" vert="eaVert"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49417652"/>
                  </a:ext>
                </a:extLst>
              </a:tr>
            </a:tbl>
          </a:graphicData>
        </a:graphic>
      </p:graphicFrame>
      <p:sp>
        <p:nvSpPr>
          <p:cNvPr id="35" name="正方形/長方形 34"/>
          <p:cNvSpPr/>
          <p:nvPr userDrawn="1"/>
        </p:nvSpPr>
        <p:spPr>
          <a:xfrm>
            <a:off x="85255" y="1119975"/>
            <a:ext cx="267950" cy="5341188"/>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463" dirty="0"/>
              <a:t>こちらで変更します。</a:t>
            </a:r>
          </a:p>
        </p:txBody>
      </p:sp>
      <p:sp>
        <p:nvSpPr>
          <p:cNvPr id="8" name="正方形/長方形 7"/>
          <p:cNvSpPr/>
          <p:nvPr userDrawn="1"/>
        </p:nvSpPr>
        <p:spPr>
          <a:xfrm>
            <a:off x="0" y="6610097"/>
            <a:ext cx="9906000" cy="24765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7" name="Text Box 31"/>
          <p:cNvSpPr txBox="1">
            <a:spLocks noChangeArrowheads="1"/>
          </p:cNvSpPr>
          <p:nvPr userDrawn="1"/>
        </p:nvSpPr>
        <p:spPr bwMode="auto">
          <a:xfrm>
            <a:off x="42215" y="6580034"/>
            <a:ext cx="4206531" cy="267446"/>
          </a:xfrm>
          <a:prstGeom prst="rect">
            <a:avLst/>
          </a:prstGeom>
          <a:noFill/>
          <a:ln w="9525">
            <a:noFill/>
            <a:miter lim="800000"/>
            <a:headEnd/>
            <a:tailEnd/>
          </a:ln>
          <a:effectLst/>
        </p:spPr>
        <p:txBody>
          <a:bodyPr wrap="square">
            <a:spAutoFit/>
          </a:bodyPr>
          <a:lstStyle/>
          <a:p>
            <a:pPr>
              <a:defRPr/>
            </a:pPr>
            <a:r>
              <a:rPr lang="en-US" altLang="ja-JP" sz="1138" b="1" dirty="0" err="1">
                <a:solidFill>
                  <a:schemeClr val="bg1"/>
                </a:solidFill>
                <a:latin typeface="Monotype Corsiva" pitchFamily="66" charset="0"/>
                <a:ea typeface="HGP創英角ｺﾞｼｯｸUB" pitchFamily="50" charset="-128"/>
              </a:rPr>
              <a:t>Copyright©Funai</a:t>
            </a:r>
            <a:r>
              <a:rPr lang="en-US" altLang="ja-JP" sz="1138" b="1" dirty="0">
                <a:solidFill>
                  <a:schemeClr val="bg1"/>
                </a:solidFill>
                <a:latin typeface="Monotype Corsiva" pitchFamily="66" charset="0"/>
                <a:ea typeface="HGP創英角ｺﾞｼｯｸUB" pitchFamily="50" charset="-128"/>
              </a:rPr>
              <a:t> Consulting Incorporated </a:t>
            </a:r>
            <a:r>
              <a:rPr lang="ja-JP" altLang="en-US" sz="1138" b="1" dirty="0">
                <a:solidFill>
                  <a:schemeClr val="bg1"/>
                </a:solidFill>
                <a:latin typeface="Monotype Corsiva" pitchFamily="66" charset="0"/>
                <a:ea typeface="HGP創英角ｺﾞｼｯｸUB" pitchFamily="50" charset="-128"/>
              </a:rPr>
              <a:t>　　（</a:t>
            </a:r>
            <a:r>
              <a:rPr lang="en-US" altLang="ja-JP" sz="1138" b="1" dirty="0" err="1">
                <a:solidFill>
                  <a:schemeClr val="bg1"/>
                </a:solidFill>
                <a:latin typeface="Monotype Corsiva" pitchFamily="66" charset="0"/>
                <a:ea typeface="HGP創英角ｺﾞｼｯｸUB" pitchFamily="50" charset="-128"/>
              </a:rPr>
              <a:t>Funai</a:t>
            </a:r>
            <a:r>
              <a:rPr lang="en-US" altLang="ja-JP" sz="1138" b="1" dirty="0">
                <a:solidFill>
                  <a:schemeClr val="bg1"/>
                </a:solidFill>
                <a:latin typeface="Monotype Corsiva" pitchFamily="66" charset="0"/>
                <a:ea typeface="HGP創英角ｺﾞｼｯｸUB" pitchFamily="50" charset="-128"/>
              </a:rPr>
              <a:t> Consulting</a:t>
            </a:r>
            <a:r>
              <a:rPr lang="ja-JP" altLang="en-US" sz="1138" b="1" dirty="0">
                <a:solidFill>
                  <a:schemeClr val="bg1"/>
                </a:solidFill>
                <a:latin typeface="Monotype Corsiva" pitchFamily="66" charset="0"/>
                <a:ea typeface="HGP創英角ｺﾞｼｯｸUB" pitchFamily="50" charset="-128"/>
              </a:rPr>
              <a:t> </a:t>
            </a:r>
            <a:r>
              <a:rPr lang="en-US" altLang="ja-JP" sz="1138" b="1" dirty="0">
                <a:solidFill>
                  <a:schemeClr val="bg1"/>
                </a:solidFill>
                <a:latin typeface="Monotype Corsiva" pitchFamily="66" charset="0"/>
                <a:ea typeface="HGP創英角ｺﾞｼｯｸUB" pitchFamily="50" charset="-128"/>
              </a:rPr>
              <a:t>Inc.</a:t>
            </a:r>
            <a:r>
              <a:rPr lang="ja-JP" altLang="en-US" sz="1138" b="1" dirty="0">
                <a:solidFill>
                  <a:schemeClr val="bg1"/>
                </a:solidFill>
                <a:latin typeface="Monotype Corsiva" pitchFamily="66" charset="0"/>
                <a:ea typeface="HGP創英角ｺﾞｼｯｸUB" pitchFamily="50" charset="-128"/>
              </a:rPr>
              <a:t>）</a:t>
            </a:r>
            <a:endParaRPr lang="en-US" altLang="ja-JP" sz="1138" b="1" dirty="0">
              <a:solidFill>
                <a:schemeClr val="bg1"/>
              </a:solidFill>
              <a:latin typeface="Monotype Corsiva" pitchFamily="66" charset="0"/>
              <a:ea typeface="HGP創英角ｺﾞｼｯｸUB" pitchFamily="50" charset="-128"/>
            </a:endParaRPr>
          </a:p>
        </p:txBody>
      </p:sp>
      <p:sp>
        <p:nvSpPr>
          <p:cNvPr id="12" name="スライド番号プレースホルダー 11"/>
          <p:cNvSpPr>
            <a:spLocks noGrp="1"/>
          </p:cNvSpPr>
          <p:nvPr>
            <p:ph type="sldNum" sz="quarter" idx="12"/>
          </p:nvPr>
        </p:nvSpPr>
        <p:spPr>
          <a:xfrm>
            <a:off x="7677150" y="6551360"/>
            <a:ext cx="2228850" cy="365125"/>
          </a:xfrm>
        </p:spPr>
        <p:txBody>
          <a:bodyPr/>
          <a:lstStyle>
            <a:lvl1pPr>
              <a:defRPr sz="1300" b="1">
                <a:solidFill>
                  <a:schemeClr val="bg1"/>
                </a:solidFill>
              </a:defRPr>
            </a:lvl1pPr>
          </a:lstStyle>
          <a:p>
            <a:fld id="{85FC83C8-0BB2-4721-BA19-3C9CC69276E3}" type="slidenum">
              <a:rPr lang="ja-JP" altLang="en-US" smtClean="0"/>
              <a:pPr/>
              <a:t>‹#›</a:t>
            </a:fld>
            <a:endParaRPr lang="ja-JP" altLang="en-US"/>
          </a:p>
        </p:txBody>
      </p:sp>
      <p:sp>
        <p:nvSpPr>
          <p:cNvPr id="22" name="楕円 21"/>
          <p:cNvSpPr/>
          <p:nvPr userDrawn="1"/>
        </p:nvSpPr>
        <p:spPr>
          <a:xfrm>
            <a:off x="-2244328" y="-788766"/>
            <a:ext cx="14437221" cy="1759809"/>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4" name="タイトル 1"/>
          <p:cNvSpPr>
            <a:spLocks noGrp="1"/>
          </p:cNvSpPr>
          <p:nvPr>
            <p:ph type="title"/>
          </p:nvPr>
        </p:nvSpPr>
        <p:spPr>
          <a:xfrm>
            <a:off x="255770" y="245205"/>
            <a:ext cx="9378221" cy="605918"/>
          </a:xfrm>
        </p:spPr>
        <p:txBody>
          <a:bodyPr>
            <a:noAutofit/>
          </a:bodyPr>
          <a:lstStyle>
            <a:lvl1pPr algn="ctr">
              <a:defRPr sz="3900" b="1">
                <a:solidFill>
                  <a:schemeClr val="bg1"/>
                </a:solidFill>
              </a:defRPr>
            </a:lvl1pPr>
          </a:lstStyle>
          <a:p>
            <a:r>
              <a:rPr kumimoji="1" lang="ja-JP" altLang="en-US" dirty="0"/>
              <a:t>マスター タイトルの書式設定</a:t>
            </a:r>
          </a:p>
        </p:txBody>
      </p:sp>
      <p:sp>
        <p:nvSpPr>
          <p:cNvPr id="36" name="正方形/長方形 35"/>
          <p:cNvSpPr/>
          <p:nvPr userDrawn="1"/>
        </p:nvSpPr>
        <p:spPr>
          <a:xfrm>
            <a:off x="-2650779" y="-1508644"/>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7" name="正方形/長方形 36"/>
          <p:cNvSpPr/>
          <p:nvPr userDrawn="1"/>
        </p:nvSpPr>
        <p:spPr>
          <a:xfrm>
            <a:off x="-200669" y="-3521490"/>
            <a:ext cx="1173466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8" name="正方形/長方形 37"/>
          <p:cNvSpPr/>
          <p:nvPr userDrawn="1"/>
        </p:nvSpPr>
        <p:spPr>
          <a:xfrm>
            <a:off x="9918180" y="-2387723"/>
            <a:ext cx="2642953" cy="3507698"/>
          </a:xfrm>
          <a:prstGeom prst="rect">
            <a:avLst/>
          </a:prstGeom>
          <a:solidFill>
            <a:srgbClr val="E6E6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7" name="楕円 26"/>
          <p:cNvSpPr/>
          <p:nvPr userDrawn="1"/>
        </p:nvSpPr>
        <p:spPr>
          <a:xfrm>
            <a:off x="10081668" y="4975630"/>
            <a:ext cx="340519" cy="417363"/>
          </a:xfrm>
          <a:prstGeom prst="ellipse">
            <a:avLst/>
          </a:prstGeom>
          <a:solidFill>
            <a:srgbClr val="8B945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8" name="楕円 27"/>
          <p:cNvSpPr/>
          <p:nvPr userDrawn="1"/>
        </p:nvSpPr>
        <p:spPr>
          <a:xfrm>
            <a:off x="10081668" y="3641505"/>
            <a:ext cx="340519" cy="41736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29" name="楕円 28"/>
          <p:cNvSpPr/>
          <p:nvPr userDrawn="1"/>
        </p:nvSpPr>
        <p:spPr>
          <a:xfrm>
            <a:off x="10081668" y="2307380"/>
            <a:ext cx="340519" cy="417363"/>
          </a:xfrm>
          <a:prstGeom prst="ellips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0" name="楕円 29"/>
          <p:cNvSpPr/>
          <p:nvPr userDrawn="1"/>
        </p:nvSpPr>
        <p:spPr>
          <a:xfrm>
            <a:off x="10081668" y="973255"/>
            <a:ext cx="340519" cy="417363"/>
          </a:xfrm>
          <a:prstGeom prst="ellipse">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63"/>
          </a:p>
        </p:txBody>
      </p:sp>
      <p:sp>
        <p:nvSpPr>
          <p:cNvPr id="31" name="四角形吹き出し 30"/>
          <p:cNvSpPr/>
          <p:nvPr userDrawn="1"/>
        </p:nvSpPr>
        <p:spPr>
          <a:xfrm>
            <a:off x="10657068" y="419727"/>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文字の色</a:t>
            </a:r>
          </a:p>
        </p:txBody>
      </p:sp>
      <p:sp>
        <p:nvSpPr>
          <p:cNvPr id="32" name="四角形吹き出し 31"/>
          <p:cNvSpPr/>
          <p:nvPr userDrawn="1"/>
        </p:nvSpPr>
        <p:spPr>
          <a:xfrm>
            <a:off x="10657068" y="182193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やじるしなどの図形の色</a:t>
            </a:r>
          </a:p>
        </p:txBody>
      </p:sp>
      <p:sp>
        <p:nvSpPr>
          <p:cNvPr id="33" name="四角形吹き出し 32"/>
          <p:cNvSpPr/>
          <p:nvPr userDrawn="1"/>
        </p:nvSpPr>
        <p:spPr>
          <a:xfrm>
            <a:off x="10657068" y="4490184"/>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ベースの色</a:t>
            </a:r>
          </a:p>
        </p:txBody>
      </p:sp>
      <p:sp>
        <p:nvSpPr>
          <p:cNvPr id="34" name="四角形吹き出し 33"/>
          <p:cNvSpPr/>
          <p:nvPr userDrawn="1"/>
        </p:nvSpPr>
        <p:spPr>
          <a:xfrm>
            <a:off x="10657068" y="3156059"/>
            <a:ext cx="1438387" cy="970890"/>
          </a:xfrm>
          <a:prstGeom prst="wedgeRectCallout">
            <a:avLst>
              <a:gd name="adj1" fmla="val -61477"/>
              <a:gd name="adj2" fmla="val 2390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強調の色</a:t>
            </a:r>
          </a:p>
        </p:txBody>
      </p:sp>
      <p:sp>
        <p:nvSpPr>
          <p:cNvPr id="39" name="四角形吹き出し 38"/>
          <p:cNvSpPr/>
          <p:nvPr userDrawn="1"/>
        </p:nvSpPr>
        <p:spPr>
          <a:xfrm>
            <a:off x="-2959618" y="-919028"/>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タイトル（目次と対応させてください。）</a:t>
            </a:r>
            <a:endParaRPr kumimoji="1" lang="en-US" altLang="ja-JP" sz="1463" dirty="0"/>
          </a:p>
          <a:p>
            <a:pPr algn="ctr"/>
            <a:r>
              <a:rPr kumimoji="1" lang="ja-JP" altLang="en-US" sz="1463" dirty="0"/>
              <a:t>フォント：メイリオ見出し</a:t>
            </a:r>
            <a:endParaRPr kumimoji="1" lang="en-US" altLang="ja-JP" sz="1463" dirty="0"/>
          </a:p>
          <a:p>
            <a:pPr algn="ctr"/>
            <a:r>
              <a:rPr lang="ja-JP" altLang="en-US" sz="1463" dirty="0"/>
              <a:t>サイズ：</a:t>
            </a:r>
            <a:r>
              <a:rPr lang="en-US" altLang="ja-JP" sz="1463" dirty="0"/>
              <a:t>48</a:t>
            </a:r>
          </a:p>
          <a:p>
            <a:pPr algn="ctr"/>
            <a:r>
              <a:rPr lang="ja-JP" altLang="en-US" sz="1463" dirty="0"/>
              <a:t>ボールド</a:t>
            </a:r>
            <a:endParaRPr lang="en-US" altLang="ja-JP" sz="1463" dirty="0"/>
          </a:p>
          <a:p>
            <a:pPr algn="ctr"/>
            <a:r>
              <a:rPr lang="ja-JP" altLang="en-US" sz="1463" dirty="0"/>
              <a:t>真ん中寄せ</a:t>
            </a:r>
            <a:endParaRPr kumimoji="1" lang="en-US" altLang="ja-JP" sz="1463" dirty="0"/>
          </a:p>
        </p:txBody>
      </p:sp>
      <p:sp>
        <p:nvSpPr>
          <p:cNvPr id="45" name="四角形吹き出し 44"/>
          <p:cNvSpPr/>
          <p:nvPr userDrawn="1"/>
        </p:nvSpPr>
        <p:spPr>
          <a:xfrm>
            <a:off x="-2933551" y="2899809"/>
            <a:ext cx="2448136" cy="1838056"/>
          </a:xfrm>
          <a:prstGeom prst="wedgeRectCallout">
            <a:avLst>
              <a:gd name="adj1" fmla="val 68120"/>
              <a:gd name="adj2" fmla="val 16336"/>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小見出し</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32</a:t>
            </a:r>
          </a:p>
          <a:p>
            <a:pPr algn="ctr"/>
            <a:r>
              <a:rPr lang="ja-JP" altLang="en-US" sz="1463" dirty="0"/>
              <a:t>ボールド</a:t>
            </a:r>
            <a:endParaRPr lang="en-US" altLang="ja-JP" sz="1463" dirty="0"/>
          </a:p>
          <a:p>
            <a:pPr algn="ctr"/>
            <a:r>
              <a:rPr kumimoji="1" lang="ja-JP" altLang="en-US" sz="1463" dirty="0"/>
              <a:t>左寄せ</a:t>
            </a:r>
            <a:endParaRPr kumimoji="1" lang="en-US" altLang="ja-JP" sz="1463" dirty="0"/>
          </a:p>
        </p:txBody>
      </p:sp>
      <p:sp>
        <p:nvSpPr>
          <p:cNvPr id="46" name="四角形吹き出し 45"/>
          <p:cNvSpPr/>
          <p:nvPr userDrawn="1"/>
        </p:nvSpPr>
        <p:spPr>
          <a:xfrm>
            <a:off x="-2933551" y="4895865"/>
            <a:ext cx="2448136" cy="1838056"/>
          </a:xfrm>
          <a:prstGeom prst="wedgeRectCallout">
            <a:avLst>
              <a:gd name="adj1" fmla="val 68617"/>
              <a:gd name="adj2" fmla="val -24441"/>
            </a:avLst>
          </a:prstGeom>
          <a:solidFill>
            <a:srgbClr val="07628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本文</a:t>
            </a:r>
            <a:endParaRPr kumimoji="1" lang="en-US" altLang="ja-JP" sz="1463" dirty="0"/>
          </a:p>
          <a:p>
            <a:pPr algn="ctr"/>
            <a:r>
              <a:rPr kumimoji="1" lang="ja-JP" altLang="en-US" sz="1463" dirty="0"/>
              <a:t>フォント：メイリオ本文</a:t>
            </a:r>
            <a:endParaRPr kumimoji="1" lang="en-US" altLang="ja-JP" sz="1463" dirty="0"/>
          </a:p>
          <a:p>
            <a:pPr algn="ctr"/>
            <a:r>
              <a:rPr lang="ja-JP" altLang="en-US" sz="1463" dirty="0"/>
              <a:t>サイズ：</a:t>
            </a:r>
            <a:r>
              <a:rPr lang="en-US" altLang="ja-JP" sz="1463" dirty="0"/>
              <a:t>18</a:t>
            </a:r>
          </a:p>
          <a:p>
            <a:pPr algn="ctr"/>
            <a:r>
              <a:rPr kumimoji="1" lang="ja-JP" altLang="en-US" sz="1463" dirty="0"/>
              <a:t>左寄せ</a:t>
            </a:r>
            <a:endParaRPr kumimoji="1" lang="en-US" altLang="ja-JP" sz="1463" dirty="0"/>
          </a:p>
        </p:txBody>
      </p:sp>
      <p:sp>
        <p:nvSpPr>
          <p:cNvPr id="23" name="四角形吹き出し 22"/>
          <p:cNvSpPr/>
          <p:nvPr userDrawn="1"/>
        </p:nvSpPr>
        <p:spPr>
          <a:xfrm>
            <a:off x="10657068" y="5752795"/>
            <a:ext cx="1645113" cy="970890"/>
          </a:xfrm>
          <a:prstGeom prst="wedgeRectCallout">
            <a:avLst>
              <a:gd name="adj1" fmla="val -62408"/>
              <a:gd name="adj2" fmla="val 947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63" dirty="0"/>
              <a:t>この赤ガイド線内に収まるように作成してください</a:t>
            </a:r>
          </a:p>
        </p:txBody>
      </p:sp>
    </p:spTree>
    <p:extLst>
      <p:ext uri="{BB962C8B-B14F-4D97-AF65-F5344CB8AC3E}">
        <p14:creationId xmlns:p14="http://schemas.microsoft.com/office/powerpoint/2010/main" val="3064901850"/>
      </p:ext>
    </p:extLst>
  </p:cSld>
  <p:clrMapOvr>
    <a:masterClrMapping/>
  </p:clrMapOvr>
  <p:hf hdr="0" ftr="0" dt="0"/>
  <p:extLst>
    <p:ext uri="{DCECCB84-F9BA-43D5-87BE-67443E8EF086}">
      <p15:sldGuideLst xmlns:p15="http://schemas.microsoft.com/office/powerpoint/2012/main">
        <p15:guide id="1" orient="horz" pos="2160">
          <p15:clr>
            <a:srgbClr val="000000"/>
          </p15:clr>
        </p15:guide>
        <p15:guide id="2" pos="3840">
          <p15:clr>
            <a:srgbClr val="00000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2_タイトル スライド">
    <p:spTree>
      <p:nvGrpSpPr>
        <p:cNvPr id="1" name=""/>
        <p:cNvGrpSpPr/>
        <p:nvPr/>
      </p:nvGrpSpPr>
      <p:grpSpPr>
        <a:xfrm>
          <a:off x="0" y="0"/>
          <a:ext cx="0" cy="0"/>
          <a:chOff x="0" y="0"/>
          <a:chExt cx="0" cy="0"/>
        </a:xfrm>
      </p:grpSpPr>
      <p:cxnSp>
        <p:nvCxnSpPr>
          <p:cNvPr id="7" name="直線コネクタ 6"/>
          <p:cNvCxnSpPr/>
          <p:nvPr userDrawn="1"/>
        </p:nvCxnSpPr>
        <p:spPr>
          <a:xfrm>
            <a:off x="0" y="620688"/>
            <a:ext cx="990600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userDrawn="1"/>
        </p:nvSpPr>
        <p:spPr>
          <a:xfrm>
            <a:off x="34397" y="6634602"/>
            <a:ext cx="3240360" cy="216024"/>
          </a:xfrm>
          <a:prstGeom prst="rect">
            <a:avLst/>
          </a:prstGeom>
          <a:noFill/>
        </p:spPr>
        <p:txBody>
          <a:bodyPr wrap="square" lIns="0" tIns="0" rIns="0" bIns="0" rtlCol="0" anchor="ctr">
            <a:noAutofit/>
          </a:bodyPr>
          <a:lstStyle/>
          <a:p>
            <a:pPr marL="0" marR="0" indent="0" algn="l" defTabSz="742950" rtl="0" eaLnBrk="1" fontAlgn="base" latinLnBrk="0" hangingPunct="1">
              <a:lnSpc>
                <a:spcPct val="125000"/>
              </a:lnSpc>
              <a:spcBef>
                <a:spcPct val="0"/>
              </a:spcBef>
              <a:spcAft>
                <a:spcPct val="0"/>
              </a:spcAft>
              <a:buClrTx/>
              <a:buSzTx/>
              <a:buFontTx/>
              <a:buNone/>
              <a:tabLst/>
              <a:defRPr/>
            </a:pPr>
            <a:r>
              <a:rPr lang="en-US" altLang="ja-JP" sz="650" dirty="0">
                <a:solidFill>
                  <a:schemeClr val="tx1"/>
                </a:solidFill>
                <a:latin typeface="Lucida Calligraphy" pitchFamily="66" charset="0"/>
                <a:ea typeface="Arial Unicode MS" pitchFamily="50" charset="-128"/>
                <a:cs typeface="Arial Unicode MS" pitchFamily="50" charset="-128"/>
              </a:rPr>
              <a:t>Copyright </a:t>
            </a:r>
            <a:r>
              <a:rPr lang="ja-JP" altLang="en-US" sz="650" dirty="0">
                <a:solidFill>
                  <a:schemeClr val="tx1"/>
                </a:solidFill>
                <a:latin typeface="Lucida Calligraphy" pitchFamily="66" charset="0"/>
                <a:ea typeface="Arial Unicode MS" pitchFamily="50" charset="-128"/>
                <a:cs typeface="Arial Unicode MS" pitchFamily="50" charset="-128"/>
              </a:rPr>
              <a:t> </a:t>
            </a:r>
            <a:r>
              <a:rPr lang="en-US" altLang="ja-JP" sz="650" dirty="0">
                <a:solidFill>
                  <a:schemeClr val="tx1"/>
                </a:solidFill>
                <a:latin typeface="Lucida Calligraphy" pitchFamily="66" charset="0"/>
                <a:ea typeface="Arial Unicode MS" pitchFamily="50" charset="-128"/>
                <a:cs typeface="Arial Unicode MS" pitchFamily="50" charset="-128"/>
              </a:rPr>
              <a:t>Funai Consulting Inc.</a:t>
            </a:r>
            <a:r>
              <a:rPr lang="ja-JP" altLang="en-US" sz="650" baseline="0" dirty="0">
                <a:solidFill>
                  <a:schemeClr val="tx1"/>
                </a:solidFill>
                <a:latin typeface="Lucida Calligraphy" pitchFamily="66" charset="0"/>
                <a:ea typeface="Arial Unicode MS" pitchFamily="50" charset="-128"/>
                <a:cs typeface="Arial Unicode MS" pitchFamily="50" charset="-128"/>
              </a:rPr>
              <a:t> </a:t>
            </a:r>
            <a:r>
              <a:rPr lang="en-US" altLang="ja-JP" sz="650" baseline="0" dirty="0">
                <a:solidFill>
                  <a:schemeClr val="tx1"/>
                </a:solidFill>
                <a:latin typeface="Lucida Calligraphy" pitchFamily="66" charset="0"/>
                <a:ea typeface="Arial Unicode MS" pitchFamily="50" charset="-128"/>
                <a:cs typeface="Arial Unicode MS" pitchFamily="50" charset="-128"/>
              </a:rPr>
              <a:t>All Rights Reserved.</a:t>
            </a:r>
            <a:endParaRPr kumimoji="1" lang="ja-JP" altLang="en-US" sz="650" kern="1200" dirty="0">
              <a:solidFill>
                <a:schemeClr val="tx1"/>
              </a:solidFill>
              <a:latin typeface="Lucida Calligraphy" pitchFamily="66" charset="0"/>
              <a:ea typeface="Arial Unicode MS" pitchFamily="50" charset="-128"/>
              <a:cs typeface="Arial Unicode MS" pitchFamily="50" charset="-128"/>
            </a:endParaRPr>
          </a:p>
        </p:txBody>
      </p:sp>
      <p:sp>
        <p:nvSpPr>
          <p:cNvPr id="11" name="スライド番号プレースホルダ 5"/>
          <p:cNvSpPr txBox="1">
            <a:spLocks/>
          </p:cNvSpPr>
          <p:nvPr userDrawn="1"/>
        </p:nvSpPr>
        <p:spPr>
          <a:xfrm>
            <a:off x="3797300" y="6592269"/>
            <a:ext cx="2311400" cy="365125"/>
          </a:xfrm>
          <a:prstGeom prst="rect">
            <a:avLst/>
          </a:prstGeom>
        </p:spPr>
        <p:txBody>
          <a:bodyPr vert="horz" lIns="74295" tIns="37148" rIns="74295" bIns="37148" rtlCol="0" anchor="ctr"/>
          <a:lstStyle>
            <a:lvl1pPr algn="ctr">
              <a:defRPr sz="900">
                <a:solidFill>
                  <a:schemeClr val="bg1"/>
                </a:solidFill>
                <a:latin typeface="HGSｺﾞｼｯｸM" pitchFamily="50" charset="-128"/>
                <a:ea typeface="HGSｺﾞｼｯｸM" pitchFamily="50" charset="-128"/>
              </a:defRPr>
            </a:lvl1pPr>
          </a:lstStyle>
          <a:p>
            <a:pPr marL="0" marR="0" lvl="0" indent="0" algn="ctr" defTabSz="742950" rtl="0" eaLnBrk="1" fontAlgn="auto" latinLnBrk="0" hangingPunct="1">
              <a:lnSpc>
                <a:spcPct val="100000"/>
              </a:lnSpc>
              <a:spcBef>
                <a:spcPts val="0"/>
              </a:spcBef>
              <a:spcAft>
                <a:spcPts val="0"/>
              </a:spcAft>
              <a:buClrTx/>
              <a:buSzTx/>
              <a:buFontTx/>
              <a:buNone/>
              <a:tabLst/>
              <a:defRPr/>
            </a:pPr>
            <a:fld id="{E1682566-0BE5-4691-A89E-B3D89F8502D1}" type="slidenum">
              <a:rPr kumimoji="1" lang="ja-JP" altLang="en-US" sz="731" b="0" i="0" u="none" strike="noStrike" kern="1200" cap="none" spc="0" normalizeH="0" baseline="0" noProof="0" smtClean="0">
                <a:ln>
                  <a:noFill/>
                </a:ln>
                <a:solidFill>
                  <a:schemeClr val="tx1"/>
                </a:solidFill>
                <a:effectLst/>
                <a:uLnTx/>
                <a:uFillTx/>
                <a:latin typeface="Meiryo UI" panose="020B0604030504040204" pitchFamily="50" charset="-128"/>
                <a:ea typeface="Meiryo UI" panose="020B0604030504040204" pitchFamily="50" charset="-128"/>
                <a:cs typeface="+mn-cs"/>
              </a:rPr>
              <a:pPr marL="0" marR="0" lvl="0" indent="0" algn="ctr" defTabSz="742950" rtl="0" eaLnBrk="1" fontAlgn="auto" latinLnBrk="0" hangingPunct="1">
                <a:lnSpc>
                  <a:spcPct val="100000"/>
                </a:lnSpc>
                <a:spcBef>
                  <a:spcPts val="0"/>
                </a:spcBef>
                <a:spcAft>
                  <a:spcPts val="0"/>
                </a:spcAft>
                <a:buClrTx/>
                <a:buSzTx/>
                <a:buFontTx/>
                <a:buNone/>
                <a:tabLst/>
                <a:defRPr/>
              </a:pPr>
              <a:t>‹#›</a:t>
            </a:fld>
            <a:endParaRPr kumimoji="1" lang="ja-JP" altLang="en-US" sz="731" b="0" i="0" u="none" strike="noStrike" kern="1200" cap="none" spc="0" normalizeH="0" baseline="0" noProof="0" dirty="0">
              <a:ln>
                <a:noFill/>
              </a:ln>
              <a:solidFill>
                <a:schemeClr val="tx1"/>
              </a:solidFill>
              <a:effectLst/>
              <a:uLnTx/>
              <a:uFillTx/>
              <a:latin typeface="Meiryo UI" panose="020B0604030504040204" pitchFamily="50" charset="-128"/>
              <a:ea typeface="Meiryo UI" panose="020B0604030504040204" pitchFamily="50" charset="-128"/>
              <a:cs typeface="+mn-cs"/>
            </a:endParaRPr>
          </a:p>
        </p:txBody>
      </p:sp>
      <p:sp>
        <p:nvSpPr>
          <p:cNvPr id="12" name="タイトル 1"/>
          <p:cNvSpPr>
            <a:spLocks noGrp="1"/>
          </p:cNvSpPr>
          <p:nvPr>
            <p:ph type="ctrTitle"/>
          </p:nvPr>
        </p:nvSpPr>
        <p:spPr>
          <a:xfrm>
            <a:off x="-2" y="8468"/>
            <a:ext cx="8949798" cy="620688"/>
          </a:xfrm>
        </p:spPr>
        <p:txBody>
          <a:bodyPr>
            <a:normAutofit/>
          </a:bodyPr>
          <a:lstStyle>
            <a:lvl1pPr>
              <a:defRPr sz="2600" b="1">
                <a:latin typeface="Meiryo UI" panose="020B0604030504040204" pitchFamily="50" charset="-128"/>
                <a:ea typeface="Meiryo UI" panose="020B0604030504040204" pitchFamily="50" charset="-128"/>
              </a:defRPr>
            </a:lvl1pPr>
          </a:lstStyle>
          <a:p>
            <a:r>
              <a:rPr kumimoji="1" lang="ja-JP" altLang="en-US"/>
              <a:t>マスタ タイトルの書式設定</a:t>
            </a:r>
          </a:p>
        </p:txBody>
      </p:sp>
      <p:pic>
        <p:nvPicPr>
          <p:cNvPr id="8" name="Picture 1" descr="C:\Users\F2034\Pictures\6.会社データ(ロゴ・サイン）\パターンC(タグ無し）\パターンC(タグ無し）カラー.png"/>
          <p:cNvPicPr>
            <a:picLocks noChangeAspect="1" noChangeArrowheads="1"/>
          </p:cNvPicPr>
          <p:nvPr userDrawn="1"/>
        </p:nvPicPr>
        <p:blipFill>
          <a:blip r:embed="rId2" cstate="print"/>
          <a:srcRect/>
          <a:stretch>
            <a:fillRect/>
          </a:stretch>
        </p:blipFill>
        <p:spPr bwMode="auto">
          <a:xfrm>
            <a:off x="8887351" y="68626"/>
            <a:ext cx="979838" cy="504000"/>
          </a:xfrm>
          <a:prstGeom prst="rect">
            <a:avLst/>
          </a:prstGeom>
          <a:noFill/>
        </p:spPr>
      </p:pic>
    </p:spTree>
    <p:extLst>
      <p:ext uri="{BB962C8B-B14F-4D97-AF65-F5344CB8AC3E}">
        <p14:creationId xmlns:p14="http://schemas.microsoft.com/office/powerpoint/2010/main" val="22510598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タイトル">
    <p:spTree>
      <p:nvGrpSpPr>
        <p:cNvPr id="1" name=""/>
        <p:cNvGrpSpPr/>
        <p:nvPr/>
      </p:nvGrpSpPr>
      <p:grpSpPr>
        <a:xfrm>
          <a:off x="0" y="0"/>
          <a:ext cx="0" cy="0"/>
          <a:chOff x="0" y="0"/>
          <a:chExt cx="0" cy="0"/>
        </a:xfrm>
      </p:grpSpPr>
      <p:sp>
        <p:nvSpPr>
          <p:cNvPr id="4" name="日付プレースホルダ 3"/>
          <p:cNvSpPr>
            <a:spLocks noGrp="1"/>
          </p:cNvSpPr>
          <p:nvPr>
            <p:ph type="dt" sz="half" idx="10"/>
          </p:nvPr>
        </p:nvSpPr>
        <p:spPr/>
        <p:txBody>
          <a:bodyPr/>
          <a:lstStyle/>
          <a:p>
            <a:fld id="{291B9067-D5A7-4D20-AE49-915E5BDB9F4F}" type="datetime1">
              <a:rPr kumimoji="1" lang="ja-JP" altLang="en-US" smtClean="0"/>
              <a:pPr/>
              <a:t>2026/5/20</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Line 6">
            <a:extLst>
              <a:ext uri="{FF2B5EF4-FFF2-40B4-BE49-F238E27FC236}">
                <a16:creationId xmlns:a16="http://schemas.microsoft.com/office/drawing/2014/main" id="{8E823636-1305-4F53-9866-547E7D8CE7E8}"/>
              </a:ext>
            </a:extLst>
          </p:cNvPr>
          <p:cNvSpPr>
            <a:spLocks noChangeShapeType="1"/>
          </p:cNvSpPr>
          <p:nvPr userDrawn="1"/>
        </p:nvSpPr>
        <p:spPr bwMode="auto">
          <a:xfrm>
            <a:off x="438150" y="3403600"/>
            <a:ext cx="8979346" cy="0"/>
          </a:xfrm>
          <a:prstGeom prst="line">
            <a:avLst/>
          </a:prstGeom>
          <a:noFill/>
          <a:ln w="38100">
            <a:solidFill>
              <a:srgbClr val="808080"/>
            </a:solidFill>
            <a:round/>
            <a:headEnd/>
            <a:tailEnd/>
          </a:ln>
        </p:spPr>
        <p:txBody>
          <a:bodyPr/>
          <a:lstStyle/>
          <a:p>
            <a:endParaRPr lang="ja-JP" altLang="en-US"/>
          </a:p>
        </p:txBody>
      </p:sp>
      <p:pic>
        <p:nvPicPr>
          <p:cNvPr id="7" name="図 6" descr="パターンA_カラー.jpg">
            <a:extLst>
              <a:ext uri="{FF2B5EF4-FFF2-40B4-BE49-F238E27FC236}">
                <a16:creationId xmlns:a16="http://schemas.microsoft.com/office/drawing/2014/main" id="{3DBCC9CD-6C0C-47EC-80E8-87633DBE3D9B}"/>
              </a:ext>
            </a:extLst>
          </p:cNvPr>
          <p:cNvPicPr>
            <a:picLocks noChangeAspect="1"/>
          </p:cNvPicPr>
          <p:nvPr userDrawn="1"/>
        </p:nvPicPr>
        <p:blipFill>
          <a:blip r:embed="rId2" cstate="print"/>
          <a:stretch>
            <a:fillRect/>
          </a:stretch>
        </p:blipFill>
        <p:spPr>
          <a:xfrm>
            <a:off x="8193360" y="6453336"/>
            <a:ext cx="1512168" cy="263485"/>
          </a:xfrm>
          <a:prstGeom prst="rect">
            <a:avLst/>
          </a:prstGeom>
        </p:spPr>
      </p:pic>
      <p:sp>
        <p:nvSpPr>
          <p:cNvPr id="9" name="コンテンツ プレースホルダー 8">
            <a:extLst>
              <a:ext uri="{FF2B5EF4-FFF2-40B4-BE49-F238E27FC236}">
                <a16:creationId xmlns:a16="http://schemas.microsoft.com/office/drawing/2014/main" id="{4AFCC08E-3E46-4DAF-AB38-B8819EC7D9A5}"/>
              </a:ext>
            </a:extLst>
          </p:cNvPr>
          <p:cNvSpPr>
            <a:spLocks noGrp="1"/>
          </p:cNvSpPr>
          <p:nvPr>
            <p:ph sz="quarter" idx="12" hasCustomPrompt="1"/>
          </p:nvPr>
        </p:nvSpPr>
        <p:spPr>
          <a:xfrm>
            <a:off x="704528" y="2564904"/>
            <a:ext cx="5545138" cy="719138"/>
          </a:xfrm>
        </p:spPr>
        <p:txBody>
          <a:bodyPr>
            <a:noAutofit/>
          </a:bodyPr>
          <a:lstStyle>
            <a:lvl1pPr marL="0" indent="0">
              <a:buNone/>
              <a:defRPr sz="4400" b="1"/>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〇月度お打合せ資料</a:t>
            </a:r>
          </a:p>
        </p:txBody>
      </p:sp>
      <p:sp>
        <p:nvSpPr>
          <p:cNvPr id="10" name="コンテンツ プレースホルダー 8">
            <a:extLst>
              <a:ext uri="{FF2B5EF4-FFF2-40B4-BE49-F238E27FC236}">
                <a16:creationId xmlns:a16="http://schemas.microsoft.com/office/drawing/2014/main" id="{28B2D2FF-C2AA-40BF-9A54-68583069E683}"/>
              </a:ext>
            </a:extLst>
          </p:cNvPr>
          <p:cNvSpPr>
            <a:spLocks noGrp="1"/>
          </p:cNvSpPr>
          <p:nvPr>
            <p:ph sz="quarter" idx="13" hasCustomPrompt="1"/>
          </p:nvPr>
        </p:nvSpPr>
        <p:spPr>
          <a:xfrm>
            <a:off x="704528" y="2085777"/>
            <a:ext cx="5545138" cy="719138"/>
          </a:xfrm>
        </p:spPr>
        <p:txBody>
          <a:bodyPr>
            <a:noAutofit/>
          </a:bodyPr>
          <a:lstStyle>
            <a:lvl1pPr marL="0" indent="0">
              <a:buNone/>
              <a:defRPr sz="2400" b="1">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株式会社御中</a:t>
            </a:r>
          </a:p>
        </p:txBody>
      </p:sp>
      <p:sp>
        <p:nvSpPr>
          <p:cNvPr id="11" name="コンテンツ プレースホルダー 8">
            <a:extLst>
              <a:ext uri="{FF2B5EF4-FFF2-40B4-BE49-F238E27FC236}">
                <a16:creationId xmlns:a16="http://schemas.microsoft.com/office/drawing/2014/main" id="{ECF04A37-370B-4768-A875-EF9C667848E9}"/>
              </a:ext>
            </a:extLst>
          </p:cNvPr>
          <p:cNvSpPr>
            <a:spLocks noGrp="1"/>
          </p:cNvSpPr>
          <p:nvPr>
            <p:ph sz="quarter" idx="14" hasCustomPrompt="1"/>
          </p:nvPr>
        </p:nvSpPr>
        <p:spPr>
          <a:xfrm>
            <a:off x="4736976" y="3433465"/>
            <a:ext cx="5545138" cy="719138"/>
          </a:xfrm>
        </p:spPr>
        <p:txBody>
          <a:bodyPr>
            <a:noAutofit/>
          </a:bodyPr>
          <a:lstStyle>
            <a:lvl1pPr marL="0" indent="0">
              <a:buNone/>
              <a:defRPr sz="2400" b="1">
                <a:solidFill>
                  <a:schemeClr val="bg1">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ja-JP" altLang="en-US" dirty="0"/>
              <a:t>日付</a:t>
            </a:r>
          </a:p>
        </p:txBody>
      </p:sp>
    </p:spTree>
    <p:extLst>
      <p:ext uri="{BB962C8B-B14F-4D97-AF65-F5344CB8AC3E}">
        <p14:creationId xmlns:p14="http://schemas.microsoft.com/office/powerpoint/2010/main" val="149912360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アジェンダ">
    <p:spTree>
      <p:nvGrpSpPr>
        <p:cNvPr id="1" name=""/>
        <p:cNvGrpSpPr/>
        <p:nvPr/>
      </p:nvGrpSpPr>
      <p:grpSpPr>
        <a:xfrm>
          <a:off x="0" y="0"/>
          <a:ext cx="0" cy="0"/>
          <a:chOff x="0" y="0"/>
          <a:chExt cx="0" cy="0"/>
        </a:xfrm>
      </p:grpSpPr>
      <p:sp>
        <p:nvSpPr>
          <p:cNvPr id="3" name="日付プレースホルダー 2">
            <a:extLst>
              <a:ext uri="{FF2B5EF4-FFF2-40B4-BE49-F238E27FC236}">
                <a16:creationId xmlns:a16="http://schemas.microsoft.com/office/drawing/2014/main" id="{8AEF3C9B-15A5-4754-B97A-474B280C6C7E}"/>
              </a:ext>
            </a:extLst>
          </p:cNvPr>
          <p:cNvSpPr>
            <a:spLocks noGrp="1"/>
          </p:cNvSpPr>
          <p:nvPr>
            <p:ph type="dt" sz="half" idx="10"/>
          </p:nvPr>
        </p:nvSpPr>
        <p:spPr/>
        <p:txBody>
          <a:bodyPr/>
          <a:lstStyle/>
          <a:p>
            <a:fld id="{5ED59477-32A0-4799-AD80-C098563D5CC0}" type="datetime1">
              <a:rPr kumimoji="1" lang="ja-JP" altLang="en-US" smtClean="0"/>
              <a:pPr/>
              <a:t>2026/5/20</a:t>
            </a:fld>
            <a:endParaRPr kumimoji="1" lang="ja-JP" altLang="en-US"/>
          </a:p>
        </p:txBody>
      </p:sp>
      <p:sp>
        <p:nvSpPr>
          <p:cNvPr id="4" name="フッター プレースホルダー 3">
            <a:extLst>
              <a:ext uri="{FF2B5EF4-FFF2-40B4-BE49-F238E27FC236}">
                <a16:creationId xmlns:a16="http://schemas.microsoft.com/office/drawing/2014/main" id="{2CD5602E-9916-437E-9C25-C8047E099BE4}"/>
              </a:ext>
            </a:extLst>
          </p:cNvPr>
          <p:cNvSpPr>
            <a:spLocks noGrp="1"/>
          </p:cNvSpPr>
          <p:nvPr>
            <p:ph type="ftr" sz="quarter" idx="11"/>
          </p:nvPr>
        </p:nvSpPr>
        <p:spPr/>
        <p:txBody>
          <a:bodyPr/>
          <a:lstStyle/>
          <a:p>
            <a:endParaRPr kumimoji="1" lang="ja-JP" altLang="en-US"/>
          </a:p>
        </p:txBody>
      </p:sp>
      <p:sp>
        <p:nvSpPr>
          <p:cNvPr id="5" name="テキスト ボックス 4">
            <a:extLst>
              <a:ext uri="{FF2B5EF4-FFF2-40B4-BE49-F238E27FC236}">
                <a16:creationId xmlns:a16="http://schemas.microsoft.com/office/drawing/2014/main" id="{6B43BD0A-BD54-4DF0-A3BE-6D3FA31F9069}"/>
              </a:ext>
            </a:extLst>
          </p:cNvPr>
          <p:cNvSpPr txBox="1"/>
          <p:nvPr userDrawn="1"/>
        </p:nvSpPr>
        <p:spPr>
          <a:xfrm>
            <a:off x="-15552" y="44624"/>
            <a:ext cx="6408712" cy="523220"/>
          </a:xfrm>
          <a:prstGeom prst="rect">
            <a:avLst/>
          </a:prstGeom>
          <a:noFill/>
        </p:spPr>
        <p:txBody>
          <a:bodyPr wrap="square" rtlCol="0">
            <a:spAutoFit/>
          </a:bodyPr>
          <a:lstStyle/>
          <a:p>
            <a:r>
              <a:rPr lang="ja-JP" altLang="en-US" sz="2800" b="1" dirty="0">
                <a:solidFill>
                  <a:schemeClr val="tx1">
                    <a:lumMod val="95000"/>
                    <a:lumOff val="5000"/>
                  </a:schemeClr>
                </a:solidFill>
                <a:latin typeface="Meiryo UI" panose="020B0604030504040204" pitchFamily="50" charset="-128"/>
                <a:ea typeface="Meiryo UI" panose="020B0604030504040204" pitchFamily="50" charset="-128"/>
                <a:cs typeface="メイリオ" pitchFamily="50" charset="-128"/>
              </a:rPr>
              <a:t>本日のお打合せ内容</a:t>
            </a:r>
            <a:endParaRPr kumimoji="1" lang="ja-JP" altLang="en-US" sz="2800" b="1" dirty="0">
              <a:solidFill>
                <a:schemeClr val="tx1">
                  <a:lumMod val="95000"/>
                  <a:lumOff val="5000"/>
                </a:schemeClr>
              </a:solidFill>
              <a:latin typeface="Meiryo UI" panose="020B0604030504040204" pitchFamily="50" charset="-128"/>
              <a:ea typeface="Meiryo UI" panose="020B0604030504040204" pitchFamily="50" charset="-128"/>
              <a:cs typeface="メイリオ" pitchFamily="50" charset="-128"/>
            </a:endParaRPr>
          </a:p>
        </p:txBody>
      </p:sp>
      <p:sp>
        <p:nvSpPr>
          <p:cNvPr id="6" name="正方形/長方形 5">
            <a:extLst>
              <a:ext uri="{FF2B5EF4-FFF2-40B4-BE49-F238E27FC236}">
                <a16:creationId xmlns:a16="http://schemas.microsoft.com/office/drawing/2014/main" id="{C1EA3A4F-1EF2-4A9E-BD1F-DE9A3E01A425}"/>
              </a:ext>
            </a:extLst>
          </p:cNvPr>
          <p:cNvSpPr/>
          <p:nvPr userDrawn="1"/>
        </p:nvSpPr>
        <p:spPr>
          <a:xfrm>
            <a:off x="69725" y="666126"/>
            <a:ext cx="2592000" cy="29237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Meiryo UI" panose="020B0604030504040204" pitchFamily="50" charset="-128"/>
                <a:ea typeface="Meiryo UI" panose="020B0604030504040204" pitchFamily="50" charset="-128"/>
              </a:rPr>
              <a:t>お打合せ事項</a:t>
            </a:r>
            <a:endParaRPr kumimoji="1" lang="ja-JP" altLang="en-US" sz="1600" b="1" dirty="0">
              <a:latin typeface="Meiryo UI" panose="020B0604030504040204" pitchFamily="50" charset="-128"/>
              <a:ea typeface="Meiryo UI" panose="020B0604030504040204" pitchFamily="50" charset="-128"/>
            </a:endParaRPr>
          </a:p>
        </p:txBody>
      </p:sp>
      <p:sp>
        <p:nvSpPr>
          <p:cNvPr id="8" name="正方形/長方形 7">
            <a:extLst>
              <a:ext uri="{FF2B5EF4-FFF2-40B4-BE49-F238E27FC236}">
                <a16:creationId xmlns:a16="http://schemas.microsoft.com/office/drawing/2014/main" id="{E7B66B0E-B525-4135-A640-3C5077DFBABA}"/>
              </a:ext>
            </a:extLst>
          </p:cNvPr>
          <p:cNvSpPr/>
          <p:nvPr userDrawn="1"/>
        </p:nvSpPr>
        <p:spPr>
          <a:xfrm>
            <a:off x="72749" y="3911838"/>
            <a:ext cx="2592000" cy="292374"/>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600" b="1" dirty="0">
                <a:latin typeface="Meiryo UI" panose="020B0604030504040204" pitchFamily="50" charset="-128"/>
                <a:ea typeface="Meiryo UI" panose="020B0604030504040204" pitchFamily="50" charset="-128"/>
              </a:rPr>
              <a:t>次回お打合せ日程</a:t>
            </a:r>
            <a:endParaRPr kumimoji="1" lang="ja-JP" altLang="en-US" sz="1600" b="1" dirty="0">
              <a:latin typeface="Meiryo UI" panose="020B0604030504040204" pitchFamily="50" charset="-128"/>
              <a:ea typeface="Meiryo UI" panose="020B0604030504040204" pitchFamily="50" charset="-128"/>
            </a:endParaRPr>
          </a:p>
        </p:txBody>
      </p:sp>
      <p:cxnSp>
        <p:nvCxnSpPr>
          <p:cNvPr id="11" name="直線コネクタ 10">
            <a:extLst>
              <a:ext uri="{FF2B5EF4-FFF2-40B4-BE49-F238E27FC236}">
                <a16:creationId xmlns:a16="http://schemas.microsoft.com/office/drawing/2014/main" id="{F0CE6683-2EEC-4A4B-B2A1-E385C7062BF3}"/>
              </a:ext>
            </a:extLst>
          </p:cNvPr>
          <p:cNvCxnSpPr/>
          <p:nvPr userDrawn="1"/>
        </p:nvCxnSpPr>
        <p:spPr>
          <a:xfrm>
            <a:off x="0" y="620688"/>
            <a:ext cx="990600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12" name="Picture 1" descr="C:\Users\F2034\Pictures\6.会社データ(ロゴ・サイン）\パターンC(タグ無し）\パターンC(タグ無し）カラー.png">
            <a:extLst>
              <a:ext uri="{FF2B5EF4-FFF2-40B4-BE49-F238E27FC236}">
                <a16:creationId xmlns:a16="http://schemas.microsoft.com/office/drawing/2014/main" id="{8872FC31-1813-49E9-8E6B-E9B5CED7B01D}"/>
              </a:ext>
            </a:extLst>
          </p:cNvPr>
          <p:cNvPicPr>
            <a:picLocks noChangeAspect="1" noChangeArrowheads="1"/>
          </p:cNvPicPr>
          <p:nvPr userDrawn="1"/>
        </p:nvPicPr>
        <p:blipFill>
          <a:blip r:embed="rId2" cstate="print"/>
          <a:srcRect/>
          <a:stretch>
            <a:fillRect/>
          </a:stretch>
        </p:blipFill>
        <p:spPr bwMode="auto">
          <a:xfrm>
            <a:off x="8841432" y="68626"/>
            <a:ext cx="979838" cy="504000"/>
          </a:xfrm>
          <a:prstGeom prst="rect">
            <a:avLst/>
          </a:prstGeom>
          <a:noFill/>
        </p:spPr>
      </p:pic>
      <p:sp>
        <p:nvSpPr>
          <p:cNvPr id="13" name="正方形/長方形 12">
            <a:extLst>
              <a:ext uri="{FF2B5EF4-FFF2-40B4-BE49-F238E27FC236}">
                <a16:creationId xmlns:a16="http://schemas.microsoft.com/office/drawing/2014/main" id="{AC1EA9E4-A15B-418D-B69C-E609A5DDD9EC}"/>
              </a:ext>
            </a:extLst>
          </p:cNvPr>
          <p:cNvSpPr/>
          <p:nvPr userDrawn="1"/>
        </p:nvSpPr>
        <p:spPr>
          <a:xfrm>
            <a:off x="0" y="6678000"/>
            <a:ext cx="9906000" cy="18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78DDC5E-044B-4C3D-BEA8-24AF979B3258}"/>
              </a:ext>
            </a:extLst>
          </p:cNvPr>
          <p:cNvSpPr txBox="1"/>
          <p:nvPr userDrawn="1"/>
        </p:nvSpPr>
        <p:spPr>
          <a:xfrm>
            <a:off x="6609184" y="6649964"/>
            <a:ext cx="3240360" cy="216024"/>
          </a:xfrm>
          <a:prstGeom prst="rect">
            <a:avLst/>
          </a:prstGeom>
          <a:noFill/>
        </p:spPr>
        <p:txBody>
          <a:bodyPr wrap="square" lIns="0" tIns="0" rIns="0" bIns="0" rtlCol="0" anchor="ctr">
            <a:noAutofit/>
          </a:bodyPr>
          <a:lstStyle/>
          <a:p>
            <a:pPr marL="0" marR="0" indent="0" algn="r" defTabSz="914400" rtl="0" eaLnBrk="1" fontAlgn="base" latinLnBrk="0" hangingPunct="1">
              <a:lnSpc>
                <a:spcPct val="125000"/>
              </a:lnSpc>
              <a:spcBef>
                <a:spcPct val="0"/>
              </a:spcBef>
              <a:spcAft>
                <a:spcPct val="0"/>
              </a:spcAft>
              <a:buClrTx/>
              <a:buSzTx/>
              <a:buFontTx/>
              <a:buNone/>
              <a:tabLst/>
              <a:defRPr/>
            </a:pPr>
            <a:r>
              <a:rPr lang="en-US" altLang="ja-JP" sz="800" dirty="0">
                <a:solidFill>
                  <a:schemeClr val="bg1"/>
                </a:solidFill>
                <a:latin typeface="Lucida Calligraphy" pitchFamily="66" charset="0"/>
                <a:ea typeface="Arial Unicode MS" pitchFamily="50" charset="-128"/>
                <a:cs typeface="Arial Unicode MS" pitchFamily="50" charset="-128"/>
              </a:rPr>
              <a:t>Copyright</a:t>
            </a:r>
            <a:r>
              <a:rPr lang="ja-JP" altLang="en-US" sz="800" dirty="0">
                <a:solidFill>
                  <a:schemeClr val="bg1"/>
                </a:solidFill>
                <a:latin typeface="Lucida Calligraphy" pitchFamily="66" charset="0"/>
                <a:ea typeface="Arial Unicode MS" pitchFamily="50" charset="-128"/>
                <a:cs typeface="Arial Unicode MS" pitchFamily="50" charset="-128"/>
              </a:rPr>
              <a:t> </a:t>
            </a:r>
            <a:r>
              <a:rPr lang="en-US" altLang="ja-JP" sz="800" dirty="0">
                <a:solidFill>
                  <a:schemeClr val="bg1"/>
                </a:solidFill>
                <a:latin typeface="Lucida Calligraphy" pitchFamily="66" charset="0"/>
                <a:ea typeface="Arial Unicode MS" pitchFamily="50" charset="-128"/>
                <a:cs typeface="Arial Unicode MS" pitchFamily="50" charset="-128"/>
              </a:rPr>
              <a:t>Funai Consulting Inc.</a:t>
            </a:r>
            <a:r>
              <a:rPr lang="ja-JP" altLang="en-US" sz="800" baseline="0" dirty="0">
                <a:solidFill>
                  <a:schemeClr val="bg1"/>
                </a:solidFill>
                <a:latin typeface="Lucida Calligraphy" pitchFamily="66" charset="0"/>
                <a:ea typeface="Arial Unicode MS" pitchFamily="50" charset="-128"/>
                <a:cs typeface="Arial Unicode MS" pitchFamily="50" charset="-128"/>
              </a:rPr>
              <a:t> </a:t>
            </a:r>
            <a:r>
              <a:rPr lang="en-US" altLang="ja-JP" sz="800" baseline="0" dirty="0">
                <a:solidFill>
                  <a:schemeClr val="bg1"/>
                </a:solidFill>
                <a:latin typeface="Lucida Calligraphy" pitchFamily="66" charset="0"/>
                <a:ea typeface="Arial Unicode MS" pitchFamily="50" charset="-128"/>
                <a:cs typeface="Arial Unicode MS" pitchFamily="50" charset="-128"/>
              </a:rPr>
              <a:t>All Rights Reserved.</a:t>
            </a:r>
            <a:endParaRPr kumimoji="1" lang="ja-JP" altLang="en-US" sz="800" kern="1200" dirty="0">
              <a:solidFill>
                <a:schemeClr val="bg1"/>
              </a:solidFill>
              <a:latin typeface="Lucida Calligraphy" pitchFamily="66" charset="0"/>
              <a:ea typeface="Arial Unicode MS" pitchFamily="50" charset="-128"/>
              <a:cs typeface="Arial Unicode MS" pitchFamily="50" charset="-128"/>
            </a:endParaRPr>
          </a:p>
        </p:txBody>
      </p:sp>
      <p:sp>
        <p:nvSpPr>
          <p:cNvPr id="15" name="スライド番号プレースホルダ 5">
            <a:extLst>
              <a:ext uri="{FF2B5EF4-FFF2-40B4-BE49-F238E27FC236}">
                <a16:creationId xmlns:a16="http://schemas.microsoft.com/office/drawing/2014/main" id="{52F86702-B75D-40EF-96B7-30E910044692}"/>
              </a:ext>
            </a:extLst>
          </p:cNvPr>
          <p:cNvSpPr txBox="1">
            <a:spLocks/>
          </p:cNvSpPr>
          <p:nvPr userDrawn="1"/>
        </p:nvSpPr>
        <p:spPr>
          <a:xfrm>
            <a:off x="3797300" y="6592267"/>
            <a:ext cx="2311400" cy="365125"/>
          </a:xfrm>
          <a:prstGeom prst="rect">
            <a:avLst/>
          </a:prstGeom>
        </p:spPr>
        <p:txBody>
          <a:bodyPr vert="horz" lIns="91440" tIns="45720" rIns="91440" bIns="45720" rtlCol="0" anchor="ctr"/>
          <a:lstStyle>
            <a:lvl1pPr algn="ctr">
              <a:defRPr sz="900">
                <a:solidFill>
                  <a:schemeClr val="bg1"/>
                </a:solidFill>
                <a:latin typeface="HGSｺﾞｼｯｸM" pitchFamily="50" charset="-128"/>
                <a:ea typeface="HGSｺﾞｼｯｸM"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1682566-0BE5-4691-A89E-B3D89F8502D1}" type="slidenum">
              <a:rPr kumimoji="1" lang="ja-JP" altLang="en-US" sz="900" b="0" i="0" u="none" strike="noStrike" kern="1200" cap="none" spc="0" normalizeH="0" baseline="0" noProof="0" smtClean="0">
                <a:ln>
                  <a:noFill/>
                </a:ln>
                <a:solidFill>
                  <a:schemeClr val="bg1"/>
                </a:solidFill>
                <a:effectLst/>
                <a:uLnTx/>
                <a:uFillTx/>
                <a:latin typeface="HGSｺﾞｼｯｸM" pitchFamily="50" charset="-128"/>
                <a:ea typeface="HGSｺﾞｼｯｸM"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schemeClr val="bg1"/>
              </a:solidFill>
              <a:effectLst/>
              <a:uLnTx/>
              <a:uFillTx/>
              <a:latin typeface="HGSｺﾞｼｯｸM" pitchFamily="50" charset="-128"/>
              <a:ea typeface="HGSｺﾞｼｯｸM" pitchFamily="50" charset="-128"/>
              <a:cs typeface="+mn-cs"/>
            </a:endParaRPr>
          </a:p>
        </p:txBody>
      </p:sp>
      <p:sp>
        <p:nvSpPr>
          <p:cNvPr id="17" name="テキスト プレースホルダー 16">
            <a:extLst>
              <a:ext uri="{FF2B5EF4-FFF2-40B4-BE49-F238E27FC236}">
                <a16:creationId xmlns:a16="http://schemas.microsoft.com/office/drawing/2014/main" id="{8C66AEEA-90B1-4FF5-983E-12E09DD675E4}"/>
              </a:ext>
            </a:extLst>
          </p:cNvPr>
          <p:cNvSpPr>
            <a:spLocks noGrp="1"/>
          </p:cNvSpPr>
          <p:nvPr>
            <p:ph type="body" sz="quarter" idx="12" hasCustomPrompt="1"/>
          </p:nvPr>
        </p:nvSpPr>
        <p:spPr>
          <a:xfrm>
            <a:off x="239500" y="1129818"/>
            <a:ext cx="5505450" cy="1792288"/>
          </a:xfrm>
        </p:spPr>
        <p:txBody>
          <a:bodyPr>
            <a:normAutofit/>
          </a:bodyPr>
          <a:lstStyle>
            <a:lvl1pPr marL="0" indent="0">
              <a:buFont typeface="+mj-ea"/>
              <a:buNone/>
              <a:defRPr sz="2400" b="1"/>
            </a:lvl1pPr>
          </a:lstStyle>
          <a:p>
            <a:pPr lvl="0"/>
            <a:r>
              <a:rPr kumimoji="1" lang="ja-JP" altLang="en-US" dirty="0"/>
              <a:t>①</a:t>
            </a:r>
            <a:endParaRPr kumimoji="1" lang="en-US" altLang="ja-JP" dirty="0"/>
          </a:p>
          <a:p>
            <a:pPr lvl="0"/>
            <a:r>
              <a:rPr kumimoji="1" lang="ja-JP" altLang="en-US" dirty="0"/>
              <a:t>②</a:t>
            </a:r>
            <a:endParaRPr kumimoji="1" lang="en-US" altLang="ja-JP" dirty="0"/>
          </a:p>
        </p:txBody>
      </p:sp>
      <p:sp>
        <p:nvSpPr>
          <p:cNvPr id="20" name="テキスト プレースホルダー 16">
            <a:extLst>
              <a:ext uri="{FF2B5EF4-FFF2-40B4-BE49-F238E27FC236}">
                <a16:creationId xmlns:a16="http://schemas.microsoft.com/office/drawing/2014/main" id="{347F4DAF-2DE1-4CC8-9835-4DFC642B513E}"/>
              </a:ext>
            </a:extLst>
          </p:cNvPr>
          <p:cNvSpPr>
            <a:spLocks noGrp="1"/>
          </p:cNvSpPr>
          <p:nvPr>
            <p:ph type="body" sz="quarter" idx="13" hasCustomPrompt="1"/>
          </p:nvPr>
        </p:nvSpPr>
        <p:spPr>
          <a:xfrm>
            <a:off x="239500" y="4374514"/>
            <a:ext cx="5505450" cy="1792288"/>
          </a:xfrm>
        </p:spPr>
        <p:txBody>
          <a:bodyPr>
            <a:normAutofit/>
          </a:bodyPr>
          <a:lstStyle>
            <a:lvl1pPr marL="0" indent="0">
              <a:buFont typeface="+mj-ea"/>
              <a:buNone/>
              <a:defRPr sz="1800" b="1"/>
            </a:lvl1pPr>
          </a:lstStyle>
          <a:p>
            <a:pPr lvl="0"/>
            <a:r>
              <a:rPr kumimoji="1" lang="en-US" altLang="ja-JP" dirty="0"/>
              <a:t>2024</a:t>
            </a:r>
            <a:r>
              <a:rPr kumimoji="1" lang="ja-JP" altLang="en-US" dirty="0"/>
              <a:t>年</a:t>
            </a:r>
            <a:endParaRPr kumimoji="1" lang="en-US" altLang="ja-JP" dirty="0"/>
          </a:p>
        </p:txBody>
      </p:sp>
    </p:spTree>
    <p:extLst>
      <p:ext uri="{BB962C8B-B14F-4D97-AF65-F5344CB8AC3E}">
        <p14:creationId xmlns:p14="http://schemas.microsoft.com/office/powerpoint/2010/main" val="369616197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E3600E18-DBF4-4DED-A3E8-EBDE8D9EA3B5}"/>
              </a:ext>
            </a:extLst>
          </p:cNvPr>
          <p:cNvSpPr/>
          <p:nvPr userDrawn="1"/>
        </p:nvSpPr>
        <p:spPr bwMode="auto">
          <a:xfrm>
            <a:off x="272480" y="332656"/>
            <a:ext cx="9454650" cy="6264696"/>
          </a:xfrm>
          <a:prstGeom prst="rect">
            <a:avLst/>
          </a:prstGeom>
          <a:solidFill>
            <a:schemeClr val="accent1">
              <a:lumMod val="20000"/>
              <a:lumOff val="80000"/>
            </a:schemeClr>
          </a:solidFill>
          <a:ln w="28575">
            <a:solidFill>
              <a:schemeClr val="tx2">
                <a:lumMod val="75000"/>
              </a:schemeClr>
            </a:solidFill>
            <a:miter lim="800000"/>
            <a:headEnd/>
            <a:tailEnd/>
          </a:ln>
        </p:spPr>
        <p:txBody>
          <a:bodyPr wrap="none" rtlCol="0" anchor="t"/>
          <a:lstStyle/>
          <a:p>
            <a:endParaRPr lang="en-US" altLang="ja-JP" sz="1400" dirty="0">
              <a:latin typeface="Meiryo UI" panose="020B0604030504040204" pitchFamily="50" charset="-128"/>
              <a:ea typeface="Meiryo UI" panose="020B0604030504040204" pitchFamily="50" charset="-128"/>
            </a:endParaRPr>
          </a:p>
          <a:p>
            <a:endParaRPr lang="en-US" altLang="ja-JP" sz="1400" dirty="0">
              <a:latin typeface="Meiryo UI" panose="020B0604030504040204" pitchFamily="50" charset="-128"/>
              <a:ea typeface="Meiryo UI" panose="020B0604030504040204" pitchFamily="50" charset="-128"/>
            </a:endParaRPr>
          </a:p>
          <a:p>
            <a:pPr lvl="2"/>
            <a:r>
              <a:rPr lang="ja-JP" altLang="en-US" sz="1600" dirty="0">
                <a:latin typeface="Meiryo UI" panose="020B0604030504040204" pitchFamily="50" charset="-128"/>
                <a:ea typeface="Meiryo UI" panose="020B0604030504040204" pitchFamily="50" charset="-128"/>
              </a:rPr>
              <a:t>   </a:t>
            </a:r>
          </a:p>
          <a:p>
            <a:pPr lvl="2"/>
            <a:endParaRPr lang="en-US" altLang="ja-JP" sz="1400" dirty="0">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84EF40AA-2D98-4C1A-9B75-77B4B1EC2A46}"/>
              </a:ext>
            </a:extLst>
          </p:cNvPr>
          <p:cNvSpPr/>
          <p:nvPr userDrawn="1"/>
        </p:nvSpPr>
        <p:spPr bwMode="auto">
          <a:xfrm>
            <a:off x="128464" y="188640"/>
            <a:ext cx="2592288" cy="432048"/>
          </a:xfrm>
          <a:prstGeom prst="rect">
            <a:avLst/>
          </a:prstGeom>
          <a:solidFill>
            <a:schemeClr val="tx2">
              <a:lumMod val="75000"/>
            </a:schemeClr>
          </a:solidFill>
          <a:ln w="9525">
            <a:noFill/>
            <a:miter lim="800000"/>
            <a:headEnd/>
            <a:tailEnd/>
          </a:ln>
        </p:spPr>
        <p:txBody>
          <a:bodyPr wrap="none" rtlCol="0" anchor="ctr"/>
          <a:lstStyle/>
          <a:p>
            <a:pPr algn="ctr"/>
            <a:r>
              <a:rPr kumimoji="1" lang="ja-JP" altLang="en-US" sz="1600" b="1" dirty="0">
                <a:solidFill>
                  <a:schemeClr val="bg1"/>
                </a:solidFill>
                <a:latin typeface="Meiryo UI" panose="020B0604030504040204" pitchFamily="50" charset="-128"/>
                <a:ea typeface="Meiryo UI" panose="020B0604030504040204" pitchFamily="50" charset="-128"/>
              </a:rPr>
              <a:t>決定事項</a:t>
            </a:r>
          </a:p>
        </p:txBody>
      </p:sp>
    </p:spTree>
    <p:extLst>
      <p:ext uri="{BB962C8B-B14F-4D97-AF65-F5344CB8AC3E}">
        <p14:creationId xmlns:p14="http://schemas.microsoft.com/office/powerpoint/2010/main" val="2542922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アジェンダ">
    <p:spTree>
      <p:nvGrpSpPr>
        <p:cNvPr id="1" name=""/>
        <p:cNvGrpSpPr/>
        <p:nvPr/>
      </p:nvGrpSpPr>
      <p:grpSpPr>
        <a:xfrm>
          <a:off x="0" y="0"/>
          <a:ext cx="0" cy="0"/>
          <a:chOff x="0" y="0"/>
          <a:chExt cx="0" cy="0"/>
        </a:xfrm>
      </p:grpSpPr>
      <p:cxnSp>
        <p:nvCxnSpPr>
          <p:cNvPr id="11" name="直線コネクタ 10">
            <a:extLst>
              <a:ext uri="{FF2B5EF4-FFF2-40B4-BE49-F238E27FC236}">
                <a16:creationId xmlns:a16="http://schemas.microsoft.com/office/drawing/2014/main" id="{F0CE6683-2EEC-4A4B-B2A1-E385C7062BF3}"/>
              </a:ext>
            </a:extLst>
          </p:cNvPr>
          <p:cNvCxnSpPr/>
          <p:nvPr userDrawn="1"/>
        </p:nvCxnSpPr>
        <p:spPr>
          <a:xfrm>
            <a:off x="0" y="620688"/>
            <a:ext cx="9906000" cy="0"/>
          </a:xfrm>
          <a:prstGeom prst="line">
            <a:avLst/>
          </a:prstGeom>
          <a:ln w="28575">
            <a:solidFill>
              <a:srgbClr val="002060"/>
            </a:solidFill>
          </a:ln>
        </p:spPr>
        <p:style>
          <a:lnRef idx="1">
            <a:schemeClr val="accent1"/>
          </a:lnRef>
          <a:fillRef idx="0">
            <a:schemeClr val="accent1"/>
          </a:fillRef>
          <a:effectRef idx="0">
            <a:schemeClr val="accent1"/>
          </a:effectRef>
          <a:fontRef idx="minor">
            <a:schemeClr val="tx1"/>
          </a:fontRef>
        </p:style>
      </p:cxnSp>
      <p:pic>
        <p:nvPicPr>
          <p:cNvPr id="12" name="Picture 1" descr="C:\Users\F2034\Pictures\6.会社データ(ロゴ・サイン）\パターンC(タグ無し）\パターンC(タグ無し）カラー.png">
            <a:extLst>
              <a:ext uri="{FF2B5EF4-FFF2-40B4-BE49-F238E27FC236}">
                <a16:creationId xmlns:a16="http://schemas.microsoft.com/office/drawing/2014/main" id="{8872FC31-1813-49E9-8E6B-E9B5CED7B01D}"/>
              </a:ext>
            </a:extLst>
          </p:cNvPr>
          <p:cNvPicPr>
            <a:picLocks noChangeAspect="1" noChangeArrowheads="1"/>
          </p:cNvPicPr>
          <p:nvPr userDrawn="1"/>
        </p:nvPicPr>
        <p:blipFill>
          <a:blip r:embed="rId2" cstate="print"/>
          <a:srcRect/>
          <a:stretch>
            <a:fillRect/>
          </a:stretch>
        </p:blipFill>
        <p:spPr bwMode="auto">
          <a:xfrm>
            <a:off x="8841432" y="68626"/>
            <a:ext cx="979838" cy="504000"/>
          </a:xfrm>
          <a:prstGeom prst="rect">
            <a:avLst/>
          </a:prstGeom>
          <a:noFill/>
        </p:spPr>
      </p:pic>
      <p:sp>
        <p:nvSpPr>
          <p:cNvPr id="13" name="正方形/長方形 12">
            <a:extLst>
              <a:ext uri="{FF2B5EF4-FFF2-40B4-BE49-F238E27FC236}">
                <a16:creationId xmlns:a16="http://schemas.microsoft.com/office/drawing/2014/main" id="{AC1EA9E4-A15B-418D-B69C-E609A5DDD9EC}"/>
              </a:ext>
            </a:extLst>
          </p:cNvPr>
          <p:cNvSpPr/>
          <p:nvPr userDrawn="1"/>
        </p:nvSpPr>
        <p:spPr>
          <a:xfrm>
            <a:off x="0" y="6678000"/>
            <a:ext cx="9906000" cy="18000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A78DDC5E-044B-4C3D-BEA8-24AF979B3258}"/>
              </a:ext>
            </a:extLst>
          </p:cNvPr>
          <p:cNvSpPr txBox="1"/>
          <p:nvPr userDrawn="1"/>
        </p:nvSpPr>
        <p:spPr>
          <a:xfrm>
            <a:off x="6609184" y="6649964"/>
            <a:ext cx="3240360" cy="216024"/>
          </a:xfrm>
          <a:prstGeom prst="rect">
            <a:avLst/>
          </a:prstGeom>
          <a:noFill/>
        </p:spPr>
        <p:txBody>
          <a:bodyPr wrap="square" lIns="0" tIns="0" rIns="0" bIns="0" rtlCol="0" anchor="ctr">
            <a:noAutofit/>
          </a:bodyPr>
          <a:lstStyle/>
          <a:p>
            <a:pPr marL="0" marR="0" indent="0" algn="r" defTabSz="914400" rtl="0" eaLnBrk="1" fontAlgn="base" latinLnBrk="0" hangingPunct="1">
              <a:lnSpc>
                <a:spcPct val="125000"/>
              </a:lnSpc>
              <a:spcBef>
                <a:spcPct val="0"/>
              </a:spcBef>
              <a:spcAft>
                <a:spcPct val="0"/>
              </a:spcAft>
              <a:buClrTx/>
              <a:buSzTx/>
              <a:buFontTx/>
              <a:buNone/>
              <a:tabLst/>
              <a:defRPr/>
            </a:pPr>
            <a:r>
              <a:rPr lang="en-US" altLang="ja-JP" sz="800" dirty="0">
                <a:solidFill>
                  <a:schemeClr val="bg1"/>
                </a:solidFill>
                <a:latin typeface="Lucida Calligraphy" pitchFamily="66" charset="0"/>
                <a:ea typeface="Arial Unicode MS" pitchFamily="50" charset="-128"/>
                <a:cs typeface="Arial Unicode MS" pitchFamily="50" charset="-128"/>
              </a:rPr>
              <a:t>Copyright</a:t>
            </a:r>
            <a:r>
              <a:rPr lang="ja-JP" altLang="en-US" sz="800" dirty="0">
                <a:solidFill>
                  <a:schemeClr val="bg1"/>
                </a:solidFill>
                <a:latin typeface="Lucida Calligraphy" pitchFamily="66" charset="0"/>
                <a:ea typeface="Arial Unicode MS" pitchFamily="50" charset="-128"/>
                <a:cs typeface="Arial Unicode MS" pitchFamily="50" charset="-128"/>
              </a:rPr>
              <a:t> </a:t>
            </a:r>
            <a:r>
              <a:rPr lang="en-US" altLang="ja-JP" sz="800" dirty="0">
                <a:solidFill>
                  <a:schemeClr val="bg1"/>
                </a:solidFill>
                <a:latin typeface="Lucida Calligraphy" pitchFamily="66" charset="0"/>
                <a:ea typeface="Arial Unicode MS" pitchFamily="50" charset="-128"/>
                <a:cs typeface="Arial Unicode MS" pitchFamily="50" charset="-128"/>
              </a:rPr>
              <a:t>Funai Consulting Inc.</a:t>
            </a:r>
            <a:r>
              <a:rPr lang="ja-JP" altLang="en-US" sz="800" baseline="0" dirty="0">
                <a:solidFill>
                  <a:schemeClr val="bg1"/>
                </a:solidFill>
                <a:latin typeface="Lucida Calligraphy" pitchFamily="66" charset="0"/>
                <a:ea typeface="Arial Unicode MS" pitchFamily="50" charset="-128"/>
                <a:cs typeface="Arial Unicode MS" pitchFamily="50" charset="-128"/>
              </a:rPr>
              <a:t> </a:t>
            </a:r>
            <a:r>
              <a:rPr lang="en-US" altLang="ja-JP" sz="800" baseline="0" dirty="0">
                <a:solidFill>
                  <a:schemeClr val="bg1"/>
                </a:solidFill>
                <a:latin typeface="Lucida Calligraphy" pitchFamily="66" charset="0"/>
                <a:ea typeface="Arial Unicode MS" pitchFamily="50" charset="-128"/>
                <a:cs typeface="Arial Unicode MS" pitchFamily="50" charset="-128"/>
              </a:rPr>
              <a:t>All Rights Reserved.</a:t>
            </a:r>
            <a:endParaRPr kumimoji="1" lang="ja-JP" altLang="en-US" sz="800" kern="1200" dirty="0">
              <a:solidFill>
                <a:schemeClr val="bg1"/>
              </a:solidFill>
              <a:latin typeface="Lucida Calligraphy" pitchFamily="66" charset="0"/>
              <a:ea typeface="Arial Unicode MS" pitchFamily="50" charset="-128"/>
              <a:cs typeface="Arial Unicode MS" pitchFamily="50" charset="-128"/>
            </a:endParaRPr>
          </a:p>
        </p:txBody>
      </p:sp>
      <p:sp>
        <p:nvSpPr>
          <p:cNvPr id="15" name="スライド番号プレースホルダ 5">
            <a:extLst>
              <a:ext uri="{FF2B5EF4-FFF2-40B4-BE49-F238E27FC236}">
                <a16:creationId xmlns:a16="http://schemas.microsoft.com/office/drawing/2014/main" id="{52F86702-B75D-40EF-96B7-30E910044692}"/>
              </a:ext>
            </a:extLst>
          </p:cNvPr>
          <p:cNvSpPr txBox="1">
            <a:spLocks/>
          </p:cNvSpPr>
          <p:nvPr userDrawn="1"/>
        </p:nvSpPr>
        <p:spPr>
          <a:xfrm>
            <a:off x="3797300" y="6592267"/>
            <a:ext cx="2311400" cy="365125"/>
          </a:xfrm>
          <a:prstGeom prst="rect">
            <a:avLst/>
          </a:prstGeom>
        </p:spPr>
        <p:txBody>
          <a:bodyPr vert="horz" lIns="91440" tIns="45720" rIns="91440" bIns="45720" rtlCol="0" anchor="ctr"/>
          <a:lstStyle>
            <a:lvl1pPr algn="ctr">
              <a:defRPr sz="900">
                <a:solidFill>
                  <a:schemeClr val="bg1"/>
                </a:solidFill>
                <a:latin typeface="HGSｺﾞｼｯｸM" pitchFamily="50" charset="-128"/>
                <a:ea typeface="HGSｺﾞｼｯｸM" pitchFamily="50" charset="-128"/>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E1682566-0BE5-4691-A89E-B3D89F8502D1}" type="slidenum">
              <a:rPr kumimoji="1" lang="ja-JP" altLang="en-US" sz="900" b="0" i="0" u="none" strike="noStrike" kern="1200" cap="none" spc="0" normalizeH="0" baseline="0" noProof="0" smtClean="0">
                <a:ln>
                  <a:noFill/>
                </a:ln>
                <a:solidFill>
                  <a:schemeClr val="bg1"/>
                </a:solidFill>
                <a:effectLst/>
                <a:uLnTx/>
                <a:uFillTx/>
                <a:latin typeface="HGSｺﾞｼｯｸM" pitchFamily="50" charset="-128"/>
                <a:ea typeface="HGSｺﾞｼｯｸM" pitchFamily="50" charset="-128"/>
                <a:cs typeface="+mn-cs"/>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a:ln>
                <a:noFill/>
              </a:ln>
              <a:solidFill>
                <a:schemeClr val="bg1"/>
              </a:solidFill>
              <a:effectLst/>
              <a:uLnTx/>
              <a:uFillTx/>
              <a:latin typeface="HGSｺﾞｼｯｸM" pitchFamily="50" charset="-128"/>
              <a:ea typeface="HGSｺﾞｼｯｸM" pitchFamily="50" charset="-128"/>
              <a:cs typeface="+mn-cs"/>
            </a:endParaRPr>
          </a:p>
        </p:txBody>
      </p:sp>
      <p:sp>
        <p:nvSpPr>
          <p:cNvPr id="7" name="テキスト プレースホルダー 6">
            <a:extLst>
              <a:ext uri="{FF2B5EF4-FFF2-40B4-BE49-F238E27FC236}">
                <a16:creationId xmlns:a16="http://schemas.microsoft.com/office/drawing/2014/main" id="{84B55609-F8C4-4A71-A410-286691A67269}"/>
              </a:ext>
            </a:extLst>
          </p:cNvPr>
          <p:cNvSpPr>
            <a:spLocks noGrp="1"/>
          </p:cNvSpPr>
          <p:nvPr>
            <p:ph type="body" sz="quarter" idx="10" hasCustomPrompt="1"/>
          </p:nvPr>
        </p:nvSpPr>
        <p:spPr>
          <a:xfrm>
            <a:off x="200472" y="68627"/>
            <a:ext cx="3960812" cy="552062"/>
          </a:xfrm>
        </p:spPr>
        <p:txBody>
          <a:bodyPr>
            <a:normAutofit/>
          </a:bodyPr>
          <a:lstStyle>
            <a:lvl1pPr marL="0" indent="0">
              <a:buNone/>
              <a:defRPr sz="2800" b="1"/>
            </a:lvl1pPr>
          </a:lstStyle>
          <a:p>
            <a:pPr lvl="0"/>
            <a:r>
              <a:rPr kumimoji="1" lang="ja-JP" altLang="en-US" dirty="0"/>
              <a:t>タイトル</a:t>
            </a:r>
          </a:p>
        </p:txBody>
      </p:sp>
    </p:spTree>
    <p:extLst>
      <p:ext uri="{BB962C8B-B14F-4D97-AF65-F5344CB8AC3E}">
        <p14:creationId xmlns:p14="http://schemas.microsoft.com/office/powerpoint/2010/main" val="19062224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a:xfrm>
            <a:off x="495300" y="1600203"/>
            <a:ext cx="8915400" cy="4525963"/>
          </a:xfrm>
          <a:prstGeom prst="rect">
            <a:avLst/>
          </a:prstGeom>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2E1EC131-7E93-4E21-A3A0-1A53928AA2CA}" type="datetime1">
              <a:rPr kumimoji="1" lang="ja-JP" altLang="en-US" smtClean="0"/>
              <a:t>2026/5/20</a:t>
            </a:fld>
            <a:endParaRPr kumimoji="1" lang="ja-JP" altLang="en-US" dirty="0"/>
          </a:p>
        </p:txBody>
      </p:sp>
      <p:sp>
        <p:nvSpPr>
          <p:cNvPr id="5" name="フッター プレースホルダ 4"/>
          <p:cNvSpPr>
            <a:spLocks noGrp="1"/>
          </p:cNvSpPr>
          <p:nvPr>
            <p:ph type="ftr" sz="quarter" idx="11"/>
          </p:nvPr>
        </p:nvSpPr>
        <p:spPr/>
        <p:txBody>
          <a:bodyPr/>
          <a:lstStyle/>
          <a:p>
            <a:endParaRPr kumimoji="1" lang="ja-JP" altLang="en-US" dirty="0"/>
          </a:p>
        </p:txBody>
      </p:sp>
      <p:sp>
        <p:nvSpPr>
          <p:cNvPr id="6" name="スライド番号プレースホルダ 5"/>
          <p:cNvSpPr>
            <a:spLocks noGrp="1"/>
          </p:cNvSpPr>
          <p:nvPr>
            <p:ph type="sldNum" sz="quarter" idx="12"/>
          </p:nvPr>
        </p:nvSpPr>
        <p:spPr>
          <a:xfrm>
            <a:off x="7538144" y="6491969"/>
            <a:ext cx="2311400" cy="365125"/>
          </a:xfrm>
        </p:spPr>
        <p:txBody>
          <a:bodyPr/>
          <a:lstStyle/>
          <a:p>
            <a:fld id="{619B85A0-BB21-4C42-9028-BB80073B34CD}" type="slidenum">
              <a:rPr kumimoji="1" lang="ja-JP" altLang="en-US" smtClean="0"/>
              <a:pPr/>
              <a:t>‹#›</a:t>
            </a:fld>
            <a:endParaRPr kumimoji="1" lang="ja-JP" altLang="en-US" dirty="0"/>
          </a:p>
        </p:txBody>
      </p:sp>
    </p:spTree>
    <p:extLst>
      <p:ext uri="{BB962C8B-B14F-4D97-AF65-F5344CB8AC3E}">
        <p14:creationId xmlns:p14="http://schemas.microsoft.com/office/powerpoint/2010/main" val="277189390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slideLayout" Target="../slideLayouts/slideLayout55.xml"/><Relationship Id="rId3" Type="http://schemas.openxmlformats.org/officeDocument/2006/relationships/slideLayout" Target="../slideLayouts/slideLayout56.xml"/><Relationship Id="rId4" Type="http://schemas.openxmlformats.org/officeDocument/2006/relationships/slideLayout" Target="../slideLayouts/slideLayout57.xml"/><Relationship Id="rId5" Type="http://schemas.openxmlformats.org/officeDocument/2006/relationships/slideLayout" Target="../slideLayouts/slideLayout58.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正方形/長方形 10"/>
          <p:cNvSpPr/>
          <p:nvPr/>
        </p:nvSpPr>
        <p:spPr>
          <a:xfrm>
            <a:off x="0" y="6642000"/>
            <a:ext cx="9906000" cy="216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日付プレースホル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52DF90-A6ED-4A10-B24A-8E192E896765}" type="datetime1">
              <a:rPr kumimoji="1" lang="ja-JP" altLang="en-US" smtClean="0"/>
              <a:pPr/>
              <a:t>2026/5/20</a:t>
            </a:fld>
            <a:endParaRPr kumimoji="1" lang="ja-JP" altLang="en-US"/>
          </a:p>
        </p:txBody>
      </p:sp>
      <p:sp>
        <p:nvSpPr>
          <p:cNvPr id="5" name="フッター プレースホル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7594600" y="6567437"/>
            <a:ext cx="2311400" cy="365125"/>
          </a:xfrm>
          <a:prstGeom prst="rect">
            <a:avLst/>
          </a:prstGeom>
        </p:spPr>
        <p:txBody>
          <a:bodyPr vert="horz" lIns="91440" tIns="45720" rIns="91440" bIns="45720" rtlCol="0" anchor="ctr"/>
          <a:lstStyle>
            <a:lvl1pPr algn="r">
              <a:defRPr sz="1200">
                <a:solidFill>
                  <a:schemeClr val="bg1"/>
                </a:solidFill>
              </a:defRPr>
            </a:lvl1pPr>
          </a:lstStyle>
          <a:p>
            <a:fld id="{723687FF-647B-4F7E-A20E-637EB01FA9DF}" type="slidenum">
              <a:rPr lang="ja-JP" altLang="en-US" smtClean="0"/>
              <a:pPr/>
              <a:t>‹#›</a:t>
            </a:fld>
            <a:endParaRPr lang="ja-JP" altLang="en-US" dirty="0"/>
          </a:p>
        </p:txBody>
      </p:sp>
      <p:sp>
        <p:nvSpPr>
          <p:cNvPr id="7" name="正方形/長方形 6"/>
          <p:cNvSpPr/>
          <p:nvPr userDrawn="1"/>
        </p:nvSpPr>
        <p:spPr>
          <a:xfrm>
            <a:off x="0" y="0"/>
            <a:ext cx="9906000" cy="54868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p:cNvSpPr txBox="1"/>
          <p:nvPr userDrawn="1"/>
        </p:nvSpPr>
        <p:spPr>
          <a:xfrm>
            <a:off x="0" y="271681"/>
            <a:ext cx="3384550" cy="276999"/>
          </a:xfrm>
          <a:prstGeom prst="rect">
            <a:avLst/>
          </a:prstGeom>
          <a:noFill/>
        </p:spPr>
        <p:txBody>
          <a:bodyPr wrap="square" rtlCol="0">
            <a:spAutoFit/>
          </a:bodyPr>
          <a:lstStyle/>
          <a:p>
            <a:pPr algn="l"/>
            <a:r>
              <a:rPr kumimoji="1" lang="en-US" altLang="ja-JP" sz="1200" b="0">
                <a:solidFill>
                  <a:schemeClr val="bg1"/>
                </a:solidFill>
                <a:latin typeface="HGP創英角ｺﾞｼｯｸUB" panose="020B0900000000000000" pitchFamily="50" charset="-128"/>
                <a:ea typeface="HGP創英角ｺﾞｼｯｸUB" panose="020B0900000000000000" pitchFamily="50" charset="-128"/>
              </a:rPr>
              <a:t>2026</a:t>
            </a:r>
            <a:r>
              <a:rPr kumimoji="1" lang="ja-JP" altLang="en-US" sz="1200" b="0">
                <a:solidFill>
                  <a:schemeClr val="bg1"/>
                </a:solidFill>
                <a:latin typeface="HGP創英角ｺﾞｼｯｸUB" panose="020B0900000000000000" pitchFamily="50" charset="-128"/>
                <a:ea typeface="HGP創英角ｺﾞｼｯｸUB" panose="020B0900000000000000" pitchFamily="50" charset="-128"/>
              </a:rPr>
              <a:t>年度　</a:t>
            </a:r>
            <a:r>
              <a:rPr kumimoji="1" lang="ja-JP" altLang="en-US" sz="1200" b="0" dirty="0">
                <a:solidFill>
                  <a:schemeClr val="bg1"/>
                </a:solidFill>
                <a:latin typeface="HGP創英角ｺﾞｼｯｸUB" panose="020B0900000000000000" pitchFamily="50" charset="-128"/>
                <a:ea typeface="HGP創英角ｺﾞｼｯｸUB" panose="020B0900000000000000" pitchFamily="50" charset="-128"/>
              </a:rPr>
              <a:t>住宅用太陽光・蓄電池研修</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D59477-32A0-4799-AD80-C098563D5CC0}" type="datetime1">
              <a:rPr kumimoji="1" lang="ja-JP" altLang="en-US" smtClean="0"/>
              <a:pPr/>
              <a:t>2026/5/20</a:t>
            </a:fld>
            <a:endParaRPr kumimoji="1" lang="ja-JP" altLang="en-US"/>
          </a:p>
        </p:txBody>
      </p:sp>
      <p:sp>
        <p:nvSpPr>
          <p:cNvPr id="5" name="フッター プレースホルダ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8" name="Text Box 16"/>
          <p:cNvSpPr txBox="1">
            <a:spLocks noChangeArrowheads="1"/>
          </p:cNvSpPr>
          <p:nvPr userDrawn="1"/>
        </p:nvSpPr>
        <p:spPr bwMode="auto">
          <a:xfrm>
            <a:off x="6048044" y="6677175"/>
            <a:ext cx="3934883" cy="230832"/>
          </a:xfrm>
          <a:prstGeom prst="rect">
            <a:avLst/>
          </a:prstGeom>
          <a:noFill/>
          <a:ln w="9525">
            <a:noFill/>
            <a:miter lim="800000"/>
            <a:headEnd/>
            <a:tailEnd/>
          </a:ln>
          <a:effectLst/>
        </p:spPr>
        <p:txBody>
          <a:bodyPr>
            <a:spAutoFit/>
          </a:bodyPr>
          <a:lstStyle/>
          <a:p>
            <a:pPr algn="r">
              <a:spcBef>
                <a:spcPct val="50000"/>
              </a:spcBef>
              <a:defRPr/>
            </a:pPr>
            <a:r>
              <a:rPr lang="en-US" altLang="ja-JP" sz="900" dirty="0">
                <a:ea typeface="ＭＳ Ｐゴシック" pitchFamily="50" charset="-128"/>
              </a:rPr>
              <a:t>Copyright</a:t>
            </a:r>
            <a:r>
              <a:rPr lang="ja-JP" altLang="en-US" sz="900" dirty="0">
                <a:ea typeface="ＭＳ Ｐゴシック" pitchFamily="50" charset="-128"/>
              </a:rPr>
              <a:t>　</a:t>
            </a:r>
            <a:r>
              <a:rPr lang="en-US" altLang="ja-JP" sz="900" dirty="0" err="1">
                <a:ea typeface="ＭＳ Ｐゴシック" pitchFamily="50" charset="-128"/>
              </a:rPr>
              <a:t>Funai</a:t>
            </a:r>
            <a:r>
              <a:rPr lang="en-US" altLang="ja-JP" sz="900" dirty="0">
                <a:ea typeface="ＭＳ Ｐゴシック" pitchFamily="50" charset="-128"/>
              </a:rPr>
              <a:t> Consulting Co.ltd</a:t>
            </a:r>
            <a:r>
              <a:rPr lang="ja-JP" altLang="en-US" sz="900" dirty="0">
                <a:ea typeface="ＭＳ Ｐゴシック" pitchFamily="50" charset="-128"/>
              </a:rPr>
              <a:t>　　禁転載・禁複写</a:t>
            </a:r>
          </a:p>
        </p:txBody>
      </p:sp>
      <p:sp>
        <p:nvSpPr>
          <p:cNvPr id="11" name="スライド番号プレースホルダ 5"/>
          <p:cNvSpPr txBox="1">
            <a:spLocks/>
          </p:cNvSpPr>
          <p:nvPr userDrawn="1"/>
        </p:nvSpPr>
        <p:spPr>
          <a:xfrm>
            <a:off x="3797300" y="6602900"/>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fld id="{2451D2E0-CC30-4DAC-88BB-E6AB37505372}" type="slidenum">
              <a:rPr kumimoji="1" lang="ja-JP" altLang="en-US" sz="900" b="0" i="0" u="none" strike="noStrike" kern="1200" cap="none" spc="0" normalizeH="0" baseline="0" noProof="0" smtClean="0">
                <a:ln>
                  <a:noFill/>
                </a:ln>
                <a:solidFill>
                  <a:schemeClr val="tx1">
                    <a:tint val="75000"/>
                  </a:schemeClr>
                </a:solidFill>
                <a:effectLst/>
                <a:uLnTx/>
                <a:uFillTx/>
                <a:latin typeface="メイリオ" pitchFamily="50" charset="-128"/>
                <a:ea typeface="メイリオ" pitchFamily="50" charset="-128"/>
                <a:cs typeface="メイリオ" pitchFamily="50" charset="-128"/>
              </a:rPr>
              <a:pPr marL="0" marR="0" lvl="0" indent="0" algn="ctr" defTabSz="914400" rtl="0" eaLnBrk="1" fontAlgn="auto" latinLnBrk="0" hangingPunct="1">
                <a:lnSpc>
                  <a:spcPct val="100000"/>
                </a:lnSpc>
                <a:spcBef>
                  <a:spcPts val="0"/>
                </a:spcBef>
                <a:spcAft>
                  <a:spcPts val="0"/>
                </a:spcAft>
                <a:buClrTx/>
                <a:buSzTx/>
                <a:buFontTx/>
                <a:buNone/>
                <a:tabLst/>
                <a:defRPr/>
              </a:pPr>
              <a:t>‹#›</a:t>
            </a:fld>
            <a:endParaRPr kumimoji="1" lang="ja-JP" altLang="en-US" sz="900" b="0" i="0" u="none" strike="noStrike" kern="1200" cap="none" spc="0" normalizeH="0" baseline="0" noProof="0" dirty="0">
              <a:ln>
                <a:noFill/>
              </a:ln>
              <a:solidFill>
                <a:schemeClr val="tx1">
                  <a:tint val="75000"/>
                </a:schemeClr>
              </a:solidFill>
              <a:effectLst/>
              <a:uLnTx/>
              <a:uFillTx/>
              <a:latin typeface="メイリオ" pitchFamily="50" charset="-128"/>
              <a:ea typeface="メイリオ" pitchFamily="50" charset="-128"/>
              <a:cs typeface="メイリオ" pitchFamily="50" charset="-128"/>
            </a:endParaRPr>
          </a:p>
        </p:txBody>
      </p:sp>
    </p:spTree>
    <p:extLst>
      <p:ext uri="{BB962C8B-B14F-4D97-AF65-F5344CB8AC3E}">
        <p14:creationId xmlns:p14="http://schemas.microsoft.com/office/powerpoint/2010/main" val="2276823475"/>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Lst>
  <p:hf hdr="0" ftr="0" dt="0"/>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900.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94C9A310-3AB5-49FE-B1F9-2C427DCC1826}"/>
              </a:ext>
            </a:extLst>
          </p:cNvPr>
          <p:cNvPicPr>
            <a:picLocks noChangeAspect="1"/>
          </p:cNvPicPr>
          <p:nvPr/>
        </p:nvPicPr>
        <p:blipFill rotWithShape="1">
          <a:blip r:embed="rId3">
            <a:extLst>
              <a:ext uri="{28A0092B-C50C-407E-A947-70E740481C1C}">
                <a14:useLocalDpi xmlns:a14="http://schemas.microsoft.com/office/drawing/2010/main" val="0"/>
              </a:ext>
            </a:extLst>
          </a:blip>
          <a:srcRect l="3516" t="1834" r="3141" b="3667"/>
          <a:stretch/>
        </p:blipFill>
        <p:spPr>
          <a:xfrm>
            <a:off x="-15552" y="-27384"/>
            <a:ext cx="9921552" cy="6888954"/>
          </a:xfrm>
          <a:prstGeom prst="rect">
            <a:avLst/>
          </a:prstGeom>
        </p:spPr>
      </p:pic>
      <p:sp>
        <p:nvSpPr>
          <p:cNvPr id="5" name="正方形/長方形 4">
            <a:extLst>
              <a:ext uri="{FF2B5EF4-FFF2-40B4-BE49-F238E27FC236}">
                <a16:creationId xmlns:a16="http://schemas.microsoft.com/office/drawing/2014/main" id="{A50DF95E-7A9A-442E-9966-946D2B476491}"/>
              </a:ext>
            </a:extLst>
          </p:cNvPr>
          <p:cNvSpPr/>
          <p:nvPr/>
        </p:nvSpPr>
        <p:spPr>
          <a:xfrm>
            <a:off x="0" y="0"/>
            <a:ext cx="9906000" cy="6858000"/>
          </a:xfrm>
          <a:prstGeom prst="rect">
            <a:avLst/>
          </a:prstGeom>
          <a:solidFill>
            <a:srgbClr val="00B05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6" name="テキスト ボックス 5">
            <a:extLst>
              <a:ext uri="{FF2B5EF4-FFF2-40B4-BE49-F238E27FC236}">
                <a16:creationId xmlns:a16="http://schemas.microsoft.com/office/drawing/2014/main" id="{2CD832A5-E759-420F-B835-DF29A241CBFB}"/>
              </a:ext>
            </a:extLst>
          </p:cNvPr>
          <p:cNvSpPr txBox="1"/>
          <p:nvPr/>
        </p:nvSpPr>
        <p:spPr>
          <a:xfrm>
            <a:off x="288032" y="1988840"/>
            <a:ext cx="9619052" cy="2923877"/>
          </a:xfrm>
          <a:prstGeom prst="rect">
            <a:avLst/>
          </a:prstGeom>
          <a:noFill/>
        </p:spPr>
        <p:txBody>
          <a:bodyPr wrap="square" lIns="0" rIns="0" rtlCol="0">
            <a:spAutoFit/>
          </a:bodyPr>
          <a:lstStyle/>
          <a:p>
            <a:pPr algn="l">
              <a:spcAft>
                <a:spcPts val="800"/>
              </a:spcAft>
            </a:pPr>
            <a:r>
              <a:rPr sz="3200" b="1">
                <a:solidFill>
                  <a:srgbClr val="FFFFFF"/>
                </a:solidFill>
                <a:latin typeface="BIZ UDPゴシック"/>
                <a:ea typeface="BIZ UDPゴシック"/>
              </a:rPr>
              <a:t>2026年度　営業研修</a:t>
            </a:r>
            <a:endParaRPr lang="en-US" altLang="ja-JP" sz="7200" b="1" dirty="0">
              <a:solidFill>
                <a:schemeClr val="bg1"/>
              </a:solidFill>
              <a:effectLst>
                <a:outerShdw blurRad="38100" dist="38100" dir="2700000" algn="tl">
                  <a:srgbClr val="000000">
                    <a:alpha val="43137"/>
                  </a:srgbClr>
                </a:outerShdw>
              </a:effectLst>
              <a:latin typeface="BIZ UDPゴシック" panose="020B0400000000000000" pitchFamily="50" charset="-128"/>
              <a:ea typeface="BIZ UDPゴシック" panose="020B0400000000000000" pitchFamily="50" charset="-128"/>
            </a:endParaRPr>
          </a:p>
          <a:p>
            <a:pPr algn="l">
              <a:spcAft>
                <a:spcPts val="200"/>
              </a:spcAft>
            </a:pPr>
            <a:r>
              <a:rPr sz="5200" b="1">
                <a:solidFill>
                  <a:srgbClr val="FFFFFF"/>
                </a:solidFill>
                <a:latin typeface="BIZ UDPゴシック"/>
                <a:ea typeface="BIZ UDPゴシック"/>
              </a:rPr>
              <a:t>第2回　聞く姿勢づくり</a:t>
            </a:r>
          </a:p>
          <a:p>
            <a:pPr algn="l">
              <a:spcAft>
                <a:spcPts val="1000"/>
              </a:spcAft>
            </a:pPr>
            <a:r>
              <a:rPr sz="5200" b="1">
                <a:solidFill>
                  <a:srgbClr val="FFFFFF"/>
                </a:solidFill>
                <a:latin typeface="BIZ UDPゴシック"/>
                <a:ea typeface="BIZ UDPゴシック"/>
              </a:rPr>
              <a:t>＆必要性訴求①</a:t>
            </a:r>
          </a:p>
          <a:p>
            <a:pPr algn="l">
              <a:spcAft>
                <a:spcPts val="500"/>
              </a:spcAft>
            </a:pPr>
            <a:r>
              <a:rPr sz="2400" b="1">
                <a:solidFill>
                  <a:srgbClr val="FFFFFF"/>
                </a:solidFill>
                <a:latin typeface="BIZ UDPゴシック"/>
                <a:ea typeface="BIZ UDPゴシック"/>
              </a:rPr>
              <a:t>〜太陽光＋蓄電池セット販売〜</a:t>
            </a:r>
          </a:p>
        </p:txBody>
      </p:sp>
      <p:sp>
        <p:nvSpPr>
          <p:cNvPr id="7" name="テキスト ボックス 6">
            <a:extLst>
              <a:ext uri="{FF2B5EF4-FFF2-40B4-BE49-F238E27FC236}">
                <a16:creationId xmlns:a16="http://schemas.microsoft.com/office/drawing/2014/main" id="{D71E207B-1CE8-4FD8-B86D-32251E1C4C12}"/>
              </a:ext>
            </a:extLst>
          </p:cNvPr>
          <p:cNvSpPr txBox="1"/>
          <p:nvPr/>
        </p:nvSpPr>
        <p:spPr>
          <a:xfrm>
            <a:off x="4664968" y="4471938"/>
            <a:ext cx="5112568" cy="369332"/>
          </a:xfrm>
          <a:prstGeom prst="rect">
            <a:avLst/>
          </a:prstGeom>
          <a:noFill/>
        </p:spPr>
        <p:txBody>
          <a:bodyPr wrap="square" rtlCol="0">
            <a:spAutoFit/>
          </a:bodyPr>
          <a:lstStyle/>
          <a:p>
            <a:pPr algn="r">
              <a:spcAft>
                <a:spcPts val="500"/>
              </a:spcAft>
            </a:pPr>
            <a:r>
              <a:rPr sz="1400" b="0">
                <a:solidFill>
                  <a:srgbClr val="FFFFFF"/>
                </a:solidFill>
                <a:latin typeface="BIZ UDPゴシック"/>
                <a:ea typeface="BIZ UDPゴシック"/>
              </a:rPr>
              <a:t>2026年8月　＠船井総研</a:t>
            </a:r>
          </a:p>
        </p:txBody>
      </p:sp>
      <p:pic>
        <p:nvPicPr>
          <p:cNvPr id="9" name="図 8">
            <a:extLst>
              <a:ext uri="{FF2B5EF4-FFF2-40B4-BE49-F238E27FC236}">
                <a16:creationId xmlns:a16="http://schemas.microsoft.com/office/drawing/2014/main" id="{1B7CC725-B595-4742-A8BF-D882BB45AE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798388" y="5736453"/>
            <a:ext cx="2309225" cy="473385"/>
          </a:xfrm>
          <a:prstGeom prst="rect">
            <a:avLst/>
          </a:prstGeom>
        </p:spPr>
      </p:pic>
    </p:spTree>
    <p:extLst>
      <p:ext uri="{BB962C8B-B14F-4D97-AF65-F5344CB8AC3E}">
        <p14:creationId xmlns:p14="http://schemas.microsoft.com/office/powerpoint/2010/main" val="1450798665"/>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本日のゴール</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a:t>
            </a:r>
          </a:p>
        </p:txBody>
      </p:sp>
      <p:sp>
        <p:nvSpPr>
          <p:cNvPr id="5" name="TextBox 4"/>
          <p:cNvSpPr txBox="1"/>
          <p:nvPr/>
        </p:nvSpPr>
        <p:spPr>
          <a:xfrm>
            <a:off x="411480" y="1325880"/>
            <a:ext cx="9052560" cy="566928"/>
          </a:xfrm>
          <a:prstGeom prst="rect">
            <a:avLst/>
          </a:prstGeom>
          <a:noFill/>
        </p:spPr>
        <p:txBody>
          <a:bodyPr wrap="square" anchor="t" lIns="0" rIns="0" tIns="18288" bIns="18288">
            <a:spAutoFit/>
          </a:bodyPr>
          <a:lstStyle/>
          <a:p>
            <a:pPr algn="l">
              <a:spcAft>
                <a:spcPts val="500"/>
              </a:spcAft>
            </a:pPr>
            <a:r>
              <a:rPr sz="2800" b="1">
                <a:solidFill>
                  <a:srgbClr val="FF0000"/>
                </a:solidFill>
                <a:latin typeface="HGPｺﾞｼｯｸE"/>
                <a:ea typeface="HGPｺﾞｼｯｸE"/>
              </a:rPr>
              <a:t>アプローチブックを使って商談できるようになる</a:t>
            </a:r>
          </a:p>
        </p:txBody>
      </p:sp>
      <p:sp>
        <p:nvSpPr>
          <p:cNvPr id="6" name="Rectangle 5"/>
          <p:cNvSpPr/>
          <p:nvPr/>
        </p:nvSpPr>
        <p:spPr>
          <a:xfrm>
            <a:off x="411480" y="2148840"/>
            <a:ext cx="9098280" cy="278892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1000"/>
              </a:spcAft>
            </a:pPr>
            <a:r>
              <a:rPr sz="1800" b="1">
                <a:solidFill>
                  <a:srgbClr val="000000"/>
                </a:solidFill>
                <a:latin typeface="HGPｺﾞｼｯｸE"/>
                <a:ea typeface="HGPｺﾞｼｯｸE"/>
              </a:rPr>
              <a:t>研修が終わったときの「できる状態」</a:t>
            </a:r>
          </a:p>
          <a:p>
            <a:pPr algn="l">
              <a:spcAft>
                <a:spcPts val="900"/>
              </a:spcAft>
            </a:pPr>
            <a:r>
              <a:rPr sz="1900" b="0">
                <a:solidFill>
                  <a:srgbClr val="000000"/>
                </a:solidFill>
                <a:latin typeface="HGPｺﾞｼｯｸE"/>
                <a:ea typeface="HGPｺﾞｼｯｸE"/>
              </a:rPr>
              <a:t>①　アプローチブックを見ながら、そのページで言うべきことが口から出る</a:t>
            </a:r>
          </a:p>
          <a:p>
            <a:pPr algn="l">
              <a:spcAft>
                <a:spcPts val="900"/>
              </a:spcAft>
            </a:pPr>
            <a:r>
              <a:rPr sz="1900" b="0">
                <a:solidFill>
                  <a:srgbClr val="000000"/>
                </a:solidFill>
                <a:latin typeface="HGPｺﾞｼｯｸE"/>
                <a:ea typeface="HGPｺﾞｼｯｸE"/>
              </a:rPr>
              <a:t>②　各ページの「結論の一文」を、資料を見ずに言える</a:t>
            </a:r>
          </a:p>
          <a:p>
            <a:pPr algn="l">
              <a:spcAft>
                <a:spcPts val="900"/>
              </a:spcAft>
            </a:pPr>
            <a:r>
              <a:rPr sz="1900" b="0">
                <a:solidFill>
                  <a:srgbClr val="000000"/>
                </a:solidFill>
                <a:latin typeface="HGPｺﾞｼｯｸE"/>
                <a:ea typeface="HGPｺﾞｼｯｸE"/>
              </a:rPr>
              <a:t>③　ページごとのゴール（お客様に言わせたい台詞）を引き出す質問が打てる</a:t>
            </a:r>
          </a:p>
          <a:p>
            <a:pPr algn="l">
              <a:spcAft>
                <a:spcPts val="500"/>
              </a:spcAft>
            </a:pPr>
            <a:r>
              <a:rPr sz="1900" b="0">
                <a:solidFill>
                  <a:srgbClr val="000000"/>
                </a:solidFill>
                <a:latin typeface="HGPｺﾞｼｯｸE"/>
                <a:ea typeface="HGPｺﾞｼｯｸE"/>
              </a:rPr>
              <a:t>④　ページをめくる順番と理由を説明できる</a:t>
            </a:r>
          </a:p>
        </p:txBody>
      </p:sp>
      <p:sp>
        <p:nvSpPr>
          <p:cNvPr id="7" name="Rectangle 6"/>
          <p:cNvSpPr/>
          <p:nvPr/>
        </p:nvSpPr>
        <p:spPr>
          <a:xfrm>
            <a:off x="411480" y="5166360"/>
            <a:ext cx="9098280" cy="777240"/>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2200" b="1">
                <a:solidFill>
                  <a:srgbClr val="000000"/>
                </a:solidFill>
                <a:latin typeface="HGPｺﾞｼｯｸE"/>
                <a:ea typeface="HGPｺﾞｼｯｸE"/>
              </a:rPr>
              <a:t>本日の範囲：営業ルール ①〜⑨　／　アプローチブック p.2〜p.17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本日のアジェンダ</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a:t>
            </a:r>
          </a:p>
        </p:txBody>
      </p:sp>
      <p:graphicFrame>
        <p:nvGraphicFramePr>
          <p:cNvPr id="5" name="Table 4"/>
          <p:cNvGraphicFramePr>
            <a:graphicFrameLocks noGrp="1"/>
          </p:cNvGraphicFramePr>
          <p:nvPr/>
        </p:nvGraphicFramePr>
        <p:xfrm>
          <a:off x="411480" y="1508760"/>
          <a:ext cx="9098279" cy="3886200"/>
        </p:xfrm>
        <a:graphic>
          <a:graphicData uri="http://schemas.openxmlformats.org/drawingml/2006/table">
            <a:tbl>
              <a:tblPr firstRow="1">
                <a:tableStyleId>{5C22544A-7EE6-4342-B048-85BDC9FD1C3A}</a:tableStyleId>
              </a:tblPr>
              <a:tblGrid>
                <a:gridCol w="1417320"/>
                <a:gridCol w="3931920"/>
                <a:gridCol w="3749039"/>
              </a:tblGrid>
              <a:tr h="365760">
                <a:tc>
                  <a:txBody>
                    <a:bodyPr wrap="square"/>
                    <a:lstStyle/>
                    <a:p>
                      <a:pPr algn="ctr"/>
                      <a:r>
                        <a:rPr sz="1400" b="1">
                          <a:solidFill>
                            <a:srgbClr val="FFFFFF"/>
                          </a:solidFill>
                          <a:latin typeface="游ゴシック"/>
                          <a:ea typeface="游ゴシック"/>
                        </a:rPr>
                        <a:t>時間</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内容</a:t>
                      </a:r>
                    </a:p>
                  </a:txBody>
                  <a:tcPr marL="45720" marR="45720" marT="18288" marB="18288" anchor="ctr">
                    <a:solidFill>
                      <a:srgbClr val="000000"/>
                    </a:solidFill>
                  </a:tcPr>
                </a:tc>
                <a:tc>
                  <a:txBody>
                    <a:bodyPr wrap="square"/>
                    <a:lstStyle/>
                    <a:p>
                      <a:pPr algn="ctr"/>
                      <a:r>
                        <a:rPr sz="1400" b="1">
                          <a:solidFill>
                            <a:srgbClr val="FFFFFF"/>
                          </a:solidFill>
                          <a:latin typeface="游ゴシック"/>
                          <a:ea typeface="游ゴシック"/>
                        </a:rPr>
                        <a:t>扱うもの</a:t>
                      </a:r>
                    </a:p>
                  </a:txBody>
                  <a:tcPr marL="45720" marR="45720" marT="18288" marB="18288" anchor="ctr">
                    <a:solidFill>
                      <a:srgbClr val="000000"/>
                    </a:solidFill>
                  </a:tcPr>
                </a:tc>
              </a:tr>
              <a:tr h="502920">
                <a:tc>
                  <a:txBody>
                    <a:bodyPr wrap="square"/>
                    <a:lstStyle/>
                    <a:p>
                      <a:pPr algn="l"/>
                      <a:r>
                        <a:rPr sz="1400" b="0">
                          <a:solidFill>
                            <a:srgbClr val="000000"/>
                          </a:solidFill>
                          <a:latin typeface="游ゴシック"/>
                          <a:ea typeface="游ゴシック"/>
                        </a:rPr>
                        <a:t>0:00-0:10</a:t>
                      </a:r>
                    </a:p>
                  </a:txBody>
                  <a:tcPr marL="45720" marR="45720" marT="18288" marB="18288" anchor="ctr">
                    <a:noFill/>
                  </a:tcPr>
                </a:tc>
                <a:tc>
                  <a:txBody>
                    <a:bodyPr wrap="square"/>
                    <a:lstStyle/>
                    <a:p>
                      <a:pPr algn="l"/>
                      <a:r>
                        <a:rPr sz="1400" b="0">
                          <a:solidFill>
                            <a:srgbClr val="000000"/>
                          </a:solidFill>
                          <a:latin typeface="游ゴシック"/>
                          <a:ea typeface="游ゴシック"/>
                        </a:rPr>
                        <a:t>前回の振り返り</a:t>
                      </a:r>
                    </a:p>
                  </a:txBody>
                  <a:tcPr marL="45720" marR="45720" marT="18288" marB="18288" anchor="ctr">
                    <a:noFill/>
                  </a:tcPr>
                </a:tc>
                <a:tc>
                  <a:txBody>
                    <a:bodyPr wrap="square"/>
                    <a:lstStyle/>
                    <a:p>
                      <a:pPr algn="l"/>
                      <a:r>
                        <a:rPr sz="1400" b="0">
                          <a:solidFill>
                            <a:srgbClr val="000000"/>
                          </a:solidFill>
                          <a:latin typeface="游ゴシック"/>
                          <a:ea typeface="游ゴシック"/>
                        </a:rPr>
                        <a:t>第1回：業界・商品知識</a:t>
                      </a:r>
                    </a:p>
                  </a:txBody>
                  <a:tcPr marL="45720" marR="45720" marT="18288" marB="18288" anchor="ctr">
                    <a:noFill/>
                  </a:tcPr>
                </a:tc>
              </a:tr>
              <a:tr h="502920">
                <a:tc>
                  <a:txBody>
                    <a:bodyPr wrap="square"/>
                    <a:lstStyle/>
                    <a:p>
                      <a:pPr algn="l"/>
                      <a:r>
                        <a:rPr sz="1400" b="0">
                          <a:solidFill>
                            <a:srgbClr val="000000"/>
                          </a:solidFill>
                          <a:latin typeface="游ゴシック"/>
                          <a:ea typeface="游ゴシック"/>
                        </a:rPr>
                        <a:t>0:10-0:20</a:t>
                      </a:r>
                    </a:p>
                  </a:txBody>
                  <a:tcPr marL="45720" marR="45720" marT="18288" marB="18288" anchor="ctr">
                    <a:noFill/>
                  </a:tcPr>
                </a:tc>
                <a:tc>
                  <a:txBody>
                    <a:bodyPr wrap="square"/>
                    <a:lstStyle/>
                    <a:p>
                      <a:pPr algn="l"/>
                      <a:r>
                        <a:rPr sz="1400" b="0">
                          <a:solidFill>
                            <a:srgbClr val="000000"/>
                          </a:solidFill>
                          <a:latin typeface="游ゴシック"/>
                          <a:ea typeface="游ゴシック"/>
                        </a:rPr>
                        <a:t>全体像の確認</a:t>
                      </a:r>
                    </a:p>
                  </a:txBody>
                  <a:tcPr marL="45720" marR="45720" marT="18288" marB="18288" anchor="ctr">
                    <a:noFill/>
                  </a:tcPr>
                </a:tc>
                <a:tc>
                  <a:txBody>
                    <a:bodyPr wrap="square"/>
                    <a:lstStyle/>
                    <a:p>
                      <a:pPr algn="l"/>
                      <a:r>
                        <a:rPr sz="1400" b="0">
                          <a:solidFill>
                            <a:srgbClr val="000000"/>
                          </a:solidFill>
                          <a:latin typeface="游ゴシック"/>
                          <a:ea typeface="游ゴシック"/>
                        </a:rPr>
                        <a:t>4ステップ／20のルール／アプローチブックの地図</a:t>
                      </a:r>
                    </a:p>
                  </a:txBody>
                  <a:tcPr marL="45720" marR="45720" marT="18288" marB="18288" anchor="ctr">
                    <a:noFill/>
                  </a:tcPr>
                </a:tc>
              </a:tr>
              <a:tr h="502920">
                <a:tc>
                  <a:txBody>
                    <a:bodyPr wrap="square"/>
                    <a:lstStyle/>
                    <a:p>
                      <a:pPr algn="l"/>
                      <a:r>
                        <a:rPr sz="1400" b="0">
                          <a:solidFill>
                            <a:srgbClr val="000000"/>
                          </a:solidFill>
                          <a:latin typeface="游ゴシック"/>
                          <a:ea typeface="游ゴシック"/>
                        </a:rPr>
                        <a:t>0:20-1:00</a:t>
                      </a:r>
                    </a:p>
                  </a:txBody>
                  <a:tcPr marL="45720" marR="45720" marT="18288" marB="18288" anchor="ctr">
                    <a:noFill/>
                  </a:tcPr>
                </a:tc>
                <a:tc>
                  <a:txBody>
                    <a:bodyPr wrap="square"/>
                    <a:lstStyle/>
                    <a:p>
                      <a:pPr algn="l"/>
                      <a:r>
                        <a:rPr sz="1400" b="1">
                          <a:solidFill>
                            <a:srgbClr val="000000"/>
                          </a:solidFill>
                          <a:latin typeface="游ゴシック"/>
                          <a:ea typeface="游ゴシック"/>
                        </a:rPr>
                        <a:t>聴く姿勢作り　ルール①〜⑥</a:t>
                      </a:r>
                    </a:p>
                  </a:txBody>
                  <a:tcPr marL="45720" marR="45720" marT="18288" marB="18288" anchor="ctr">
                    <a:noFill/>
                  </a:tcPr>
                </a:tc>
                <a:tc>
                  <a:txBody>
                    <a:bodyPr wrap="square"/>
                    <a:lstStyle/>
                    <a:p>
                      <a:pPr algn="l"/>
                      <a:r>
                        <a:rPr sz="1400" b="0">
                          <a:solidFill>
                            <a:srgbClr val="000000"/>
                          </a:solidFill>
                          <a:latin typeface="游ゴシック"/>
                          <a:ea typeface="游ゴシック"/>
                        </a:rPr>
                        <a:t>アプローチブック p.2〜p.7</a:t>
                      </a:r>
                    </a:p>
                  </a:txBody>
                  <a:tcPr marL="45720" marR="45720" marT="18288" marB="18288" anchor="ctr">
                    <a:noFill/>
                  </a:tcPr>
                </a:tc>
              </a:tr>
              <a:tr h="502920">
                <a:tc>
                  <a:txBody>
                    <a:bodyPr wrap="square"/>
                    <a:lstStyle/>
                    <a:p>
                      <a:pPr algn="l"/>
                      <a:r>
                        <a:rPr sz="1400" b="0">
                          <a:solidFill>
                            <a:srgbClr val="000000"/>
                          </a:solidFill>
                          <a:latin typeface="游ゴシック"/>
                          <a:ea typeface="游ゴシック"/>
                        </a:rPr>
                        <a:t>1:00-1:10</a:t>
                      </a:r>
                    </a:p>
                  </a:txBody>
                  <a:tcPr marL="45720" marR="45720" marT="18288" marB="18288" anchor="ctr">
                    <a:noFill/>
                  </a:tcPr>
                </a:tc>
                <a:tc>
                  <a:txBody>
                    <a:bodyPr wrap="square"/>
                    <a:lstStyle/>
                    <a:p>
                      <a:pPr algn="l"/>
                      <a:r>
                        <a:rPr sz="1400" b="0">
                          <a:solidFill>
                            <a:srgbClr val="000000"/>
                          </a:solidFill>
                          <a:latin typeface="游ゴシック"/>
                          <a:ea typeface="游ゴシック"/>
                        </a:rPr>
                        <a:t>休憩</a:t>
                      </a:r>
                    </a:p>
                  </a:txBody>
                  <a:tcPr marL="45720" marR="45720" marT="18288" marB="18288" anchor="ctr">
                    <a:noFill/>
                  </a:tcPr>
                </a:tc>
                <a:tc>
                  <a:txBody>
                    <a:bodyPr wrap="square"/>
                    <a:lstStyle/>
                    <a:p>
                      <a:pPr algn="l"/>
                      <a:r>
                        <a:rPr sz="1400" b="0">
                          <a:solidFill>
                            <a:srgbClr val="000000"/>
                          </a:solidFill>
                          <a:latin typeface="游ゴシック"/>
                          <a:ea typeface="游ゴシック"/>
                        </a:rPr>
                        <a:t>−</a:t>
                      </a:r>
                    </a:p>
                  </a:txBody>
                  <a:tcPr marL="45720" marR="45720" marT="18288" marB="18288" anchor="ctr">
                    <a:noFill/>
                  </a:tcPr>
                </a:tc>
              </a:tr>
              <a:tr h="502920">
                <a:tc>
                  <a:txBody>
                    <a:bodyPr wrap="square"/>
                    <a:lstStyle/>
                    <a:p>
                      <a:pPr algn="l"/>
                      <a:r>
                        <a:rPr sz="1400" b="0">
                          <a:solidFill>
                            <a:srgbClr val="000000"/>
                          </a:solidFill>
                          <a:latin typeface="游ゴシック"/>
                          <a:ea typeface="游ゴシック"/>
                        </a:rPr>
                        <a:t>1:10-1:40</a:t>
                      </a:r>
                    </a:p>
                  </a:txBody>
                  <a:tcPr marL="45720" marR="45720" marT="18288" marB="18288" anchor="ctr">
                    <a:noFill/>
                  </a:tcPr>
                </a:tc>
                <a:tc>
                  <a:txBody>
                    <a:bodyPr wrap="square"/>
                    <a:lstStyle/>
                    <a:p>
                      <a:pPr algn="l"/>
                      <a:r>
                        <a:rPr sz="1400" b="1">
                          <a:solidFill>
                            <a:srgbClr val="000000"/>
                          </a:solidFill>
                          <a:latin typeface="游ゴシック"/>
                          <a:ea typeface="游ゴシック"/>
                        </a:rPr>
                        <a:t>必要性訴求①　ルール⑦〜⑨</a:t>
                      </a:r>
                    </a:p>
                  </a:txBody>
                  <a:tcPr marL="45720" marR="45720" marT="18288" marB="18288" anchor="ctr">
                    <a:noFill/>
                  </a:tcPr>
                </a:tc>
                <a:tc>
                  <a:txBody>
                    <a:bodyPr wrap="square"/>
                    <a:lstStyle/>
                    <a:p>
                      <a:pPr algn="l"/>
                      <a:r>
                        <a:rPr sz="1400" b="0">
                          <a:solidFill>
                            <a:srgbClr val="000000"/>
                          </a:solidFill>
                          <a:latin typeface="游ゴシック"/>
                          <a:ea typeface="游ゴシック"/>
                        </a:rPr>
                        <a:t>アプローチブック p.9〜p.17</a:t>
                      </a:r>
                    </a:p>
                  </a:txBody>
                  <a:tcPr marL="45720" marR="45720" marT="18288" marB="18288" anchor="ctr">
                    <a:noFill/>
                  </a:tcPr>
                </a:tc>
              </a:tr>
              <a:tr h="502920">
                <a:tc>
                  <a:txBody>
                    <a:bodyPr wrap="square"/>
                    <a:lstStyle/>
                    <a:p>
                      <a:pPr algn="l"/>
                      <a:r>
                        <a:rPr sz="1400" b="0">
                          <a:solidFill>
                            <a:srgbClr val="000000"/>
                          </a:solidFill>
                          <a:latin typeface="游ゴシック"/>
                          <a:ea typeface="游ゴシック"/>
                        </a:rPr>
                        <a:t>1:40-1:55</a:t>
                      </a:r>
                    </a:p>
                  </a:txBody>
                  <a:tcPr marL="45720" marR="45720" marT="18288" marB="18288" anchor="ctr">
                    <a:noFill/>
                  </a:tcPr>
                </a:tc>
                <a:tc>
                  <a:txBody>
                    <a:bodyPr wrap="square"/>
                    <a:lstStyle/>
                    <a:p>
                      <a:pPr algn="l"/>
                      <a:r>
                        <a:rPr sz="1400" b="0">
                          <a:solidFill>
                            <a:srgbClr val="000000"/>
                          </a:solidFill>
                          <a:latin typeface="游ゴシック"/>
                          <a:ea typeface="游ゴシック"/>
                        </a:rPr>
                        <a:t>ロールプレイング</a:t>
                      </a:r>
                    </a:p>
                  </a:txBody>
                  <a:tcPr marL="45720" marR="45720" marT="18288" marB="18288" anchor="ctr">
                    <a:noFill/>
                  </a:tcPr>
                </a:tc>
                <a:tc>
                  <a:txBody>
                    <a:bodyPr wrap="square"/>
                    <a:lstStyle/>
                    <a:p>
                      <a:pPr algn="l"/>
                      <a:r>
                        <a:rPr sz="1400" b="0">
                          <a:solidFill>
                            <a:srgbClr val="000000"/>
                          </a:solidFill>
                          <a:latin typeface="游ゴシック"/>
                          <a:ea typeface="游ゴシック"/>
                        </a:rPr>
                        <a:t>アプローチブック p.2〜p.17 通し</a:t>
                      </a:r>
                    </a:p>
                  </a:txBody>
                  <a:tcPr marL="45720" marR="45720" marT="18288" marB="18288" anchor="ctr">
                    <a:noFill/>
                  </a:tcPr>
                </a:tc>
              </a:tr>
              <a:tr h="502920">
                <a:tc>
                  <a:txBody>
                    <a:bodyPr wrap="square"/>
                    <a:lstStyle/>
                    <a:p>
                      <a:pPr algn="l"/>
                      <a:r>
                        <a:rPr sz="1400" b="0">
                          <a:solidFill>
                            <a:srgbClr val="000000"/>
                          </a:solidFill>
                          <a:latin typeface="游ゴシック"/>
                          <a:ea typeface="游ゴシック"/>
                        </a:rPr>
                        <a:t>1:55-2:00</a:t>
                      </a:r>
                    </a:p>
                  </a:txBody>
                  <a:tcPr marL="45720" marR="45720" marT="18288" marB="18288" anchor="ctr">
                    <a:noFill/>
                  </a:tcPr>
                </a:tc>
                <a:tc>
                  <a:txBody>
                    <a:bodyPr wrap="square"/>
                    <a:lstStyle/>
                    <a:p>
                      <a:pPr algn="l"/>
                      <a:r>
                        <a:rPr sz="1400" b="0">
                          <a:solidFill>
                            <a:srgbClr val="000000"/>
                          </a:solidFill>
                          <a:latin typeface="游ゴシック"/>
                          <a:ea typeface="游ゴシック"/>
                        </a:rPr>
                        <a:t>暗唱チェック／まとめ／宿題</a:t>
                      </a:r>
                    </a:p>
                  </a:txBody>
                  <a:tcPr marL="45720" marR="45720" marT="18288" marB="18288" anchor="ctr">
                    <a:noFill/>
                  </a:tcPr>
                </a:tc>
                <a:tc>
                  <a:txBody>
                    <a:bodyPr wrap="square"/>
                    <a:lstStyle/>
                    <a:p>
                      <a:pPr algn="l"/>
                      <a:r>
                        <a:rPr sz="1400" b="0">
                          <a:solidFill>
                            <a:srgbClr val="000000"/>
                          </a:solidFill>
                          <a:latin typeface="游ゴシック"/>
                          <a:ea typeface="游ゴシック"/>
                        </a:rPr>
                        <a:t>−</a:t>
                      </a:r>
                    </a:p>
                  </a:txBody>
                  <a:tcPr marL="45720" marR="45720" marT="18288" marB="18288" anchor="ctr">
                    <a:no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前回の振り返り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4</a:t>
            </a:r>
          </a:p>
        </p:txBody>
      </p:sp>
      <p:sp>
        <p:nvSpPr>
          <p:cNvPr id="5" name="TextBox 4"/>
          <p:cNvSpPr txBox="1"/>
          <p:nvPr/>
        </p:nvSpPr>
        <p:spPr>
          <a:xfrm>
            <a:off x="411480" y="1298448"/>
            <a:ext cx="905256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第1回「業界商材の知識講座」で押さえたこと</a:t>
            </a:r>
          </a:p>
        </p:txBody>
      </p:sp>
      <p:sp>
        <p:nvSpPr>
          <p:cNvPr id="6" name="Rectangle 5"/>
          <p:cNvSpPr/>
          <p:nvPr/>
        </p:nvSpPr>
        <p:spPr>
          <a:xfrm>
            <a:off x="411480" y="1828800"/>
            <a:ext cx="4434840"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エネルギー業界の3つの特徴</a:t>
            </a:r>
          </a:p>
          <a:p>
            <a:pPr algn="l">
              <a:spcAft>
                <a:spcPts val="400"/>
              </a:spcAft>
            </a:pPr>
            <a:r>
              <a:rPr sz="1400" b="0">
                <a:solidFill>
                  <a:srgbClr val="000000"/>
                </a:solidFill>
                <a:latin typeface="HGPｺﾞｼｯｸE"/>
                <a:ea typeface="HGPｺﾞｼｯｸE"/>
              </a:rPr>
              <a:t>① 普及率が低い（戸建ての12〜13％）</a:t>
            </a:r>
          </a:p>
          <a:p>
            <a:pPr algn="l">
              <a:spcAft>
                <a:spcPts val="800"/>
              </a:spcAft>
            </a:pPr>
            <a:r>
              <a:rPr sz="1400" b="0">
                <a:solidFill>
                  <a:srgbClr val="595959"/>
                </a:solidFill>
                <a:latin typeface="HGPｺﾞｼｯｸE"/>
                <a:ea typeface="HGPｺﾞｼｯｸE"/>
              </a:rPr>
              <a:t>　→ 商品説明力が要る</a:t>
            </a:r>
          </a:p>
          <a:p>
            <a:pPr algn="l">
              <a:spcAft>
                <a:spcPts val="400"/>
              </a:spcAft>
            </a:pPr>
            <a:r>
              <a:rPr sz="1400" b="0">
                <a:solidFill>
                  <a:srgbClr val="000000"/>
                </a:solidFill>
                <a:latin typeface="HGPｺﾞｼｯｸE"/>
                <a:ea typeface="HGPｺﾞｼｯｸE"/>
              </a:rPr>
              <a:t>② 単価が高く購買頻度が低い（1件200万円超）</a:t>
            </a:r>
          </a:p>
          <a:p>
            <a:pPr algn="l">
              <a:spcAft>
                <a:spcPts val="800"/>
              </a:spcAft>
            </a:pPr>
            <a:r>
              <a:rPr sz="1400" b="0">
                <a:solidFill>
                  <a:srgbClr val="595959"/>
                </a:solidFill>
                <a:latin typeface="HGPｺﾞｼｯｸE"/>
                <a:ea typeface="HGPｺﾞｼｯｸE"/>
              </a:rPr>
              <a:t>　→ 人柄力と知識量が要る</a:t>
            </a:r>
          </a:p>
          <a:p>
            <a:pPr algn="l">
              <a:spcAft>
                <a:spcPts val="400"/>
              </a:spcAft>
            </a:pPr>
            <a:r>
              <a:rPr sz="1400" b="0">
                <a:solidFill>
                  <a:srgbClr val="000000"/>
                </a:solidFill>
                <a:latin typeface="HGPｺﾞｼｯｸE"/>
                <a:ea typeface="HGPｺﾞｼｯｸE"/>
              </a:rPr>
              <a:t>③ 耐用年数が長い（20年以上）</a:t>
            </a:r>
          </a:p>
          <a:p>
            <a:pPr algn="l">
              <a:spcAft>
                <a:spcPts val="500"/>
              </a:spcAft>
            </a:pPr>
            <a:r>
              <a:rPr sz="1400" b="0">
                <a:solidFill>
                  <a:srgbClr val="595959"/>
                </a:solidFill>
                <a:latin typeface="HGPｺﾞｼｯｸE"/>
                <a:ea typeface="HGPｺﾞｼｯｸE"/>
              </a:rPr>
              <a:t>　→ 20年後まで見据えた提案が要る</a:t>
            </a:r>
          </a:p>
        </p:txBody>
      </p:sp>
      <p:sp>
        <p:nvSpPr>
          <p:cNvPr id="7" name="Rectangle 6"/>
          <p:cNvSpPr/>
          <p:nvPr/>
        </p:nvSpPr>
        <p:spPr>
          <a:xfrm>
            <a:off x="5074920" y="1828800"/>
            <a:ext cx="4434840" cy="22402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日本のエネルギー事情</a:t>
            </a:r>
          </a:p>
          <a:p>
            <a:pPr algn="l">
              <a:spcAft>
                <a:spcPts val="600"/>
              </a:spcAft>
            </a:pPr>
            <a:r>
              <a:rPr sz="1500" b="0">
                <a:solidFill>
                  <a:srgbClr val="000000"/>
                </a:solidFill>
                <a:latin typeface="HGPｺﾞｼｯｸE"/>
                <a:ea typeface="HGPｺﾞｼｯｸE"/>
              </a:rPr>
              <a:t>・エネルギー自給率は 11.3％</a:t>
            </a:r>
          </a:p>
          <a:p>
            <a:pPr algn="l">
              <a:spcAft>
                <a:spcPts val="600"/>
              </a:spcAft>
            </a:pPr>
            <a:r>
              <a:rPr sz="1500" b="0">
                <a:solidFill>
                  <a:srgbClr val="000000"/>
                </a:solidFill>
                <a:latin typeface="HGPｺﾞｼｯｸE"/>
                <a:ea typeface="HGPｺﾞｼｯｸE"/>
              </a:rPr>
              <a:t>・火力発電が全体の 約7割</a:t>
            </a:r>
          </a:p>
          <a:p>
            <a:pPr algn="l">
              <a:spcAft>
                <a:spcPts val="1000"/>
              </a:spcAft>
            </a:pPr>
            <a:r>
              <a:rPr sz="1500" b="0">
                <a:solidFill>
                  <a:srgbClr val="000000"/>
                </a:solidFill>
                <a:latin typeface="HGPｺﾞｼｯｸE"/>
                <a:ea typeface="HGPｺﾞｼｯｸE"/>
              </a:rPr>
              <a:t>・火力の資源は 99％が輸入</a:t>
            </a:r>
          </a:p>
          <a:p>
            <a:pPr algn="l">
              <a:spcAft>
                <a:spcPts val="500"/>
              </a:spcAft>
            </a:pPr>
            <a:r>
              <a:rPr sz="1500" b="1">
                <a:solidFill>
                  <a:srgbClr val="FF0000"/>
                </a:solidFill>
                <a:latin typeface="HGPｺﾞｼｯｸE"/>
                <a:ea typeface="HGPｺﾞｼｯｸE"/>
              </a:rPr>
              <a:t>だから燃料価格の高騰が、そのまま電気代に乗る</a:t>
            </a:r>
          </a:p>
        </p:txBody>
      </p:sp>
      <p:sp>
        <p:nvSpPr>
          <p:cNvPr id="8" name="Rectangle 7"/>
          <p:cNvSpPr/>
          <p:nvPr/>
        </p:nvSpPr>
        <p:spPr>
          <a:xfrm>
            <a:off x="411480" y="4343400"/>
            <a:ext cx="9098280" cy="141732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2000" b="1">
                <a:solidFill>
                  <a:srgbClr val="000000"/>
                </a:solidFill>
                <a:latin typeface="HGPｺﾞｼｯｸE"/>
                <a:ea typeface="HGPｺﾞｼｯｸE"/>
              </a:rPr>
              <a:t>第1回は「知識」＝自信の材料をつくる回でした。</a:t>
            </a:r>
          </a:p>
          <a:p>
            <a:pPr algn="l">
              <a:spcAft>
                <a:spcPts val="0"/>
              </a:spcAft>
            </a:pPr>
            <a:r>
              <a:rPr sz="2000" b="1">
                <a:solidFill>
                  <a:srgbClr val="000000"/>
                </a:solidFill>
                <a:latin typeface="HGPｺﾞｼｯｸE"/>
                <a:ea typeface="HGPｺﾞｼｯｸE"/>
              </a:rPr>
              <a:t>第2回からは、その知識を</a:t>
            </a:r>
            <a:r>
              <a:rPr sz="2000" b="1">
                <a:solidFill>
                  <a:srgbClr val="FF0000"/>
                </a:solidFill>
                <a:latin typeface="HGPｺﾞｼｯｸE"/>
                <a:ea typeface="HGPｺﾞｼｯｸE"/>
              </a:rPr>
              <a:t>どの順番で、どのページで出すか</a:t>
            </a:r>
            <a:r>
              <a:rPr sz="2000" b="1">
                <a:solidFill>
                  <a:srgbClr val="000000"/>
                </a:solidFill>
                <a:latin typeface="HGPｺﾞｼｯｸE"/>
                <a:ea typeface="HGPｺﾞｼｯｸE"/>
              </a:rPr>
              <a:t> を学びます。</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全体像①：契約までの4ステップ</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5</a:t>
            </a:r>
          </a:p>
        </p:txBody>
      </p:sp>
      <p:pic>
        <p:nvPicPr>
          <p:cNvPr id="5" name="Picture 4" descr="pyramid.png"/>
          <p:cNvPicPr>
            <a:picLocks noChangeAspect="1"/>
          </p:cNvPicPr>
          <p:nvPr/>
        </p:nvPicPr>
        <p:blipFill>
          <a:blip r:embed="rId2"/>
          <a:stretch>
            <a:fillRect/>
          </a:stretch>
        </p:blipFill>
        <p:spPr>
          <a:xfrm>
            <a:off x="502920" y="1417320"/>
            <a:ext cx="5486400" cy="3455719"/>
          </a:xfrm>
          <a:prstGeom prst="rect">
            <a:avLst/>
          </a:prstGeom>
        </p:spPr>
      </p:pic>
      <p:sp>
        <p:nvSpPr>
          <p:cNvPr id="6" name="Rectangle 5"/>
          <p:cNvSpPr/>
          <p:nvPr/>
        </p:nvSpPr>
        <p:spPr>
          <a:xfrm>
            <a:off x="6355080" y="1600200"/>
            <a:ext cx="3154680" cy="1600200"/>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800"/>
              </a:spcAft>
            </a:pPr>
            <a:r>
              <a:rPr sz="2000" b="1">
                <a:solidFill>
                  <a:srgbClr val="FF0000"/>
                </a:solidFill>
                <a:latin typeface="HGPｺﾞｼｯｸE"/>
                <a:ea typeface="HGPｺﾞｼｯｸE"/>
              </a:rPr>
              <a:t>本日の範囲</a:t>
            </a:r>
          </a:p>
          <a:p>
            <a:pPr algn="l">
              <a:spcAft>
                <a:spcPts val="500"/>
              </a:spcAft>
            </a:pPr>
            <a:r>
              <a:rPr sz="1700" b="1">
                <a:solidFill>
                  <a:srgbClr val="000000"/>
                </a:solidFill>
                <a:latin typeface="HGPｺﾞｼｯｸE"/>
                <a:ea typeface="HGPｺﾞｼｯｸE"/>
              </a:rPr>
              <a:t>STEP1　聴く姿勢づくり</a:t>
            </a:r>
          </a:p>
          <a:p>
            <a:pPr algn="l">
              <a:spcAft>
                <a:spcPts val="500"/>
              </a:spcAft>
            </a:pPr>
            <a:r>
              <a:rPr sz="1700" b="1">
                <a:solidFill>
                  <a:srgbClr val="000000"/>
                </a:solidFill>
                <a:latin typeface="HGPｺﾞｼｯｸE"/>
                <a:ea typeface="HGPｺﾞｼｯｸE"/>
              </a:rPr>
              <a:t>STEP2　必要性訴求（前半）</a:t>
            </a:r>
          </a:p>
        </p:txBody>
      </p:sp>
      <p:sp>
        <p:nvSpPr>
          <p:cNvPr id="7" name="Rectangle 6"/>
          <p:cNvSpPr/>
          <p:nvPr/>
        </p:nvSpPr>
        <p:spPr>
          <a:xfrm>
            <a:off x="6355080" y="3429000"/>
            <a:ext cx="3154680" cy="2148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積む順番が決まっている</a:t>
            </a:r>
          </a:p>
          <a:p>
            <a:pPr algn="l">
              <a:spcAft>
                <a:spcPts val="600"/>
              </a:spcAft>
            </a:pPr>
            <a:r>
              <a:rPr sz="1400" b="0">
                <a:solidFill>
                  <a:srgbClr val="000000"/>
                </a:solidFill>
                <a:latin typeface="HGPｺﾞｼｯｸE"/>
                <a:ea typeface="HGPｺﾞｼｯｸE"/>
              </a:rPr>
              <a:t>下から4→3→2→1の順に積む。</a:t>
            </a:r>
          </a:p>
          <a:p>
            <a:pPr algn="l">
              <a:spcAft>
                <a:spcPts val="0"/>
              </a:spcAft>
            </a:pPr>
            <a:r>
              <a:rPr sz="1400" b="0">
                <a:solidFill>
                  <a:srgbClr val="000000"/>
                </a:solidFill>
                <a:latin typeface="HGPｺﾞｼｯｸE"/>
                <a:ea typeface="HGPｺﾞｼｯｸE"/>
              </a:rPr>
              <a:t>土台の「聴く姿勢」ができていない</a:t>
            </a:r>
          </a:p>
          <a:p>
            <a:pPr algn="l">
              <a:spcAft>
                <a:spcPts val="0"/>
              </a:spcAft>
            </a:pPr>
            <a:r>
              <a:rPr sz="1400" b="0">
                <a:solidFill>
                  <a:srgbClr val="000000"/>
                </a:solidFill>
                <a:latin typeface="HGPｺﾞｼｯｸE"/>
                <a:ea typeface="HGPｺﾞｼｯｸE"/>
              </a:rPr>
              <a:t>まま金額の話をしても、価格だけで</a:t>
            </a:r>
          </a:p>
          <a:p>
            <a:pPr algn="l">
              <a:spcAft>
                <a:spcPts val="800"/>
              </a:spcAft>
            </a:pPr>
            <a:r>
              <a:rPr sz="1400" b="0">
                <a:solidFill>
                  <a:srgbClr val="000000"/>
                </a:solidFill>
                <a:latin typeface="HGPｺﾞｼｯｸE"/>
                <a:ea typeface="HGPｺﾞｼｯｸE"/>
              </a:rPr>
              <a:t>判断されて終わります。</a:t>
            </a:r>
          </a:p>
          <a:p>
            <a:pPr algn="l">
              <a:spcAft>
                <a:spcPts val="0"/>
              </a:spcAft>
            </a:pPr>
            <a:r>
              <a:rPr sz="1400" b="1">
                <a:solidFill>
                  <a:srgbClr val="000000"/>
                </a:solidFill>
                <a:latin typeface="HGPｺﾞｼｯｸE"/>
                <a:ea typeface="HGPｺﾞｼｯｸE"/>
              </a:rPr>
              <a:t>だから今日は一番下の2段を</a:t>
            </a:r>
          </a:p>
          <a:p>
            <a:pPr algn="l">
              <a:spcAft>
                <a:spcPts val="500"/>
              </a:spcAft>
            </a:pPr>
            <a:r>
              <a:rPr sz="1400" b="1">
                <a:solidFill>
                  <a:srgbClr val="000000"/>
                </a:solidFill>
                <a:latin typeface="HGPｺﾞｼｯｸE"/>
                <a:ea typeface="HGPｺﾞｼｯｸE"/>
              </a:rPr>
              <a:t>徹底的にやります。</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全体像②：太陽光＋蓄電池営業 20のルール</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6</a:t>
            </a:r>
          </a:p>
        </p:txBody>
      </p:sp>
      <p:graphicFrame>
        <p:nvGraphicFramePr>
          <p:cNvPr id="5" name="Table 4"/>
          <p:cNvGraphicFramePr>
            <a:graphicFrameLocks noGrp="1"/>
          </p:cNvGraphicFramePr>
          <p:nvPr/>
        </p:nvGraphicFramePr>
        <p:xfrm>
          <a:off x="274320" y="1371600"/>
          <a:ext cx="9372600" cy="4256532"/>
        </p:xfrm>
        <a:graphic>
          <a:graphicData uri="http://schemas.openxmlformats.org/drawingml/2006/table">
            <a:tbl>
              <a:tblPr firstRow="1">
                <a:tableStyleId>{5C22544A-7EE6-4342-B048-85BDC9FD1C3A}</a:tableStyleId>
              </a:tblPr>
              <a:tblGrid>
                <a:gridCol w="1051560"/>
                <a:gridCol w="1554480"/>
                <a:gridCol w="2468880"/>
                <a:gridCol w="4297680"/>
              </a:tblGrid>
              <a:tr h="274320">
                <a:tc>
                  <a:txBody>
                    <a:bodyPr wrap="square"/>
                    <a:lstStyle/>
                    <a:p>
                      <a:pPr algn="ctr"/>
                      <a:r>
                        <a:rPr sz="100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000" b="1">
                          <a:solidFill>
                            <a:srgbClr val="FFFFFF"/>
                          </a:solidFill>
                          <a:latin typeface="游ゴシック"/>
                          <a:ea typeface="游ゴシック"/>
                        </a:rPr>
                        <a:t>ゴール</a:t>
                      </a:r>
                    </a:p>
                  </a:txBody>
                  <a:tcPr marL="45720" marR="45720" marT="18288" marB="18288" anchor="ctr">
                    <a:solidFill>
                      <a:srgbClr val="000000"/>
                    </a:solidFill>
                  </a:tcPr>
                </a:tc>
                <a:tc>
                  <a:txBody>
                    <a:bodyPr wrap="square"/>
                    <a:lstStyle/>
                    <a:p>
                      <a:pPr algn="ctr"/>
                      <a:r>
                        <a:rPr sz="100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000" b="1">
                          <a:solidFill>
                            <a:srgbClr val="FFFFFF"/>
                          </a:solidFill>
                          <a:latin typeface="游ゴシック"/>
                          <a:ea typeface="游ゴシック"/>
                        </a:rPr>
                        <a:t>詳細</a:t>
                      </a:r>
                    </a:p>
                  </a:txBody>
                  <a:tcPr marL="45720" marR="45720" marT="18288" marB="18288" anchor="ctr">
                    <a:solidFill>
                      <a:srgbClr val="000000"/>
                    </a:solidFill>
                  </a:tcPr>
                </a:tc>
              </a:tr>
              <a:tr h="306324">
                <a:tc>
                  <a:txBody>
                    <a:bodyPr wrap="square"/>
                    <a:lstStyle/>
                    <a:p>
                      <a:pPr algn="l"/>
                      <a:r>
                        <a:rPr sz="1000" b="0">
                          <a:solidFill>
                            <a:srgbClr val="000000"/>
                          </a:solidFill>
                          <a:latin typeface="游ゴシック"/>
                          <a:ea typeface="游ゴシック"/>
                        </a:rPr>
                        <a:t>前準備</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必要な情報を揃える</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①商談テーブルの確認</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検針票・図面が手元にある状態で夫婦両主権者・1時間以上の時間を抑える</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聴く姿勢作り</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商談の趣旨を認識する</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②自社の概要・訪問趣旨の理解</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この地域で実績が豊富にあり、今回はその説明であることを理解してもらう</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③未導入理由の確認</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これまで太陽光＋蓄電池を導入してこなかった理由を尋ねる</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④前向きな検討に対する言質</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導入しなかった理由が解消できれば導入する予定であることに同意を得る</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⑤太陽光が当たり前であることの理解</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10年の歴史を経て、蓄電池とのセット導入が標準になったことを理解してもらう</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⑥直近の国策動向のおさらい</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国策を踏まえ、ますますスマートハウスが普及することを実感してもらう</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必要性訴求</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現状を正確に把握する</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⑦直近数か年の電気代推移の理解</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電力自由化でも電気代は下がっていないことを実感してもらう</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⑧再エネ賦課金の構造の理解</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賦課金の上昇もあり、今後ますます光熱費が膨らむことを想像してもらう</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⑨長期で支払う電気代総額の理解</a:t>
                      </a:r>
                    </a:p>
                  </a:txBody>
                  <a:tcPr marL="45720" marR="45720" marT="18288" marB="18288" anchor="ctr">
                    <a:solidFill>
                      <a:srgbClr val="FFF2CC"/>
                    </a:solidFill>
                  </a:tcPr>
                </a:tc>
                <a:tc>
                  <a:txBody>
                    <a:bodyPr wrap="square"/>
                    <a:lstStyle/>
                    <a:p>
                      <a:pPr algn="l"/>
                      <a:r>
                        <a:rPr sz="1000" b="0">
                          <a:solidFill>
                            <a:srgbClr val="000000"/>
                          </a:solidFill>
                          <a:latin typeface="游ゴシック"/>
                          <a:ea typeface="游ゴシック"/>
                        </a:rPr>
                        <a:t>30年で400万円以上を支払う未来を創造してもらう</a:t>
                      </a:r>
                    </a:p>
                  </a:txBody>
                  <a:tcPr marL="45720" marR="45720" marT="18288" marB="18288" anchor="ctr">
                    <a:solidFill>
                      <a:srgbClr val="FFF2CC"/>
                    </a:solid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noFill/>
                  </a:tcPr>
                </a:tc>
                <a:tc>
                  <a:txBody>
                    <a:bodyPr wrap="square"/>
                    <a:lstStyle/>
                    <a:p>
                      <a:pPr algn="l"/>
                      <a:r>
                        <a:rPr sz="1000" b="0">
                          <a:solidFill>
                            <a:srgbClr val="000000"/>
                          </a:solidFill>
                          <a:latin typeface="游ゴシック"/>
                          <a:ea typeface="游ゴシック"/>
                        </a:rPr>
                        <a:t/>
                      </a:r>
                    </a:p>
                  </a:txBody>
                  <a:tcPr marL="45720" marR="45720" marT="18288" marB="18288" anchor="ctr">
                    <a:noFill/>
                  </a:tcPr>
                </a:tc>
                <a:tc>
                  <a:txBody>
                    <a:bodyPr wrap="square"/>
                    <a:lstStyle/>
                    <a:p>
                      <a:pPr algn="l"/>
                      <a:r>
                        <a:rPr sz="1000" b="0">
                          <a:solidFill>
                            <a:srgbClr val="000000"/>
                          </a:solidFill>
                          <a:latin typeface="游ゴシック"/>
                          <a:ea typeface="游ゴシック"/>
                        </a:rPr>
                        <a:t>⑩非常時に備える意義の理解</a:t>
                      </a:r>
                    </a:p>
                  </a:txBody>
                  <a:tcPr marL="45720" marR="45720" marT="18288" marB="18288" anchor="ctr">
                    <a:noFill/>
                  </a:tcPr>
                </a:tc>
                <a:tc>
                  <a:txBody>
                    <a:bodyPr wrap="square"/>
                    <a:lstStyle/>
                    <a:p>
                      <a:pPr algn="l"/>
                      <a:r>
                        <a:rPr sz="1000" b="0">
                          <a:solidFill>
                            <a:srgbClr val="000000"/>
                          </a:solidFill>
                          <a:latin typeface="游ゴシック"/>
                          <a:ea typeface="游ゴシック"/>
                        </a:rPr>
                        <a:t>第3回</a:t>
                      </a:r>
                    </a:p>
                  </a:txBody>
                  <a:tcPr marL="45720" marR="45720" marT="18288" marB="18288" anchor="ctr">
                    <a:noFill/>
                  </a:tcPr>
                </a:tc>
              </a:tr>
              <a:tr h="306324">
                <a:tc>
                  <a:txBody>
                    <a:bodyPr wrap="square"/>
                    <a:lstStyle/>
                    <a:p>
                      <a:pPr algn="l"/>
                      <a:r>
                        <a:rPr sz="1000" b="0">
                          <a:solidFill>
                            <a:srgbClr val="000000"/>
                          </a:solidFill>
                          <a:latin typeface="游ゴシック"/>
                          <a:ea typeface="游ゴシック"/>
                        </a:rPr>
                        <a:t/>
                      </a:r>
                    </a:p>
                  </a:txBody>
                  <a:tcPr marL="45720" marR="45720" marT="18288" marB="18288" anchor="ctr">
                    <a:noFill/>
                  </a:tcPr>
                </a:tc>
                <a:tc>
                  <a:txBody>
                    <a:bodyPr wrap="square"/>
                    <a:lstStyle/>
                    <a:p>
                      <a:pPr algn="l"/>
                      <a:r>
                        <a:rPr sz="1000" b="0">
                          <a:solidFill>
                            <a:srgbClr val="000000"/>
                          </a:solidFill>
                          <a:latin typeface="游ゴシック"/>
                          <a:ea typeface="游ゴシック"/>
                        </a:rPr>
                        <a:t/>
                      </a:r>
                    </a:p>
                  </a:txBody>
                  <a:tcPr marL="45720" marR="45720" marT="18288" marB="18288" anchor="ctr">
                    <a:noFill/>
                  </a:tcPr>
                </a:tc>
                <a:tc>
                  <a:txBody>
                    <a:bodyPr wrap="square"/>
                    <a:lstStyle/>
                    <a:p>
                      <a:pPr algn="l"/>
                      <a:r>
                        <a:rPr sz="1000" b="0">
                          <a:solidFill>
                            <a:srgbClr val="000000"/>
                          </a:solidFill>
                          <a:latin typeface="游ゴシック"/>
                          <a:ea typeface="游ゴシック"/>
                        </a:rPr>
                        <a:t>⑪〜⑫</a:t>
                      </a:r>
                    </a:p>
                  </a:txBody>
                  <a:tcPr marL="45720" marR="45720" marT="18288" marB="18288" anchor="ctr">
                    <a:noFill/>
                  </a:tcPr>
                </a:tc>
                <a:tc>
                  <a:txBody>
                    <a:bodyPr wrap="square"/>
                    <a:lstStyle/>
                    <a:p>
                      <a:pPr algn="l"/>
                      <a:r>
                        <a:rPr sz="1000" b="0">
                          <a:solidFill>
                            <a:srgbClr val="000000"/>
                          </a:solidFill>
                          <a:latin typeface="游ゴシック"/>
                          <a:ea typeface="游ゴシック"/>
                        </a:rPr>
                        <a:t>第3回</a:t>
                      </a:r>
                    </a:p>
                  </a:txBody>
                  <a:tcPr marL="45720" marR="45720" marT="18288" marB="18288" anchor="ctr">
                    <a:noFill/>
                  </a:tcPr>
                </a:tc>
              </a:tr>
              <a:tr h="306324">
                <a:tc>
                  <a:txBody>
                    <a:bodyPr wrap="square"/>
                    <a:lstStyle/>
                    <a:p>
                      <a:pPr algn="l"/>
                      <a:r>
                        <a:rPr sz="1000" b="0">
                          <a:solidFill>
                            <a:srgbClr val="000000"/>
                          </a:solidFill>
                          <a:latin typeface="游ゴシック"/>
                          <a:ea typeface="游ゴシック"/>
                        </a:rPr>
                        <a:t>時期訴求</a:t>
                      </a:r>
                    </a:p>
                  </a:txBody>
                  <a:tcPr marL="45720" marR="45720" marT="18288" marB="18288" anchor="ctr">
                    <a:noFill/>
                  </a:tcPr>
                </a:tc>
                <a:tc>
                  <a:txBody>
                    <a:bodyPr wrap="square"/>
                    <a:lstStyle/>
                    <a:p>
                      <a:pPr algn="l"/>
                      <a:r>
                        <a:rPr sz="1000" b="0">
                          <a:solidFill>
                            <a:srgbClr val="000000"/>
                          </a:solidFill>
                          <a:latin typeface="游ゴシック"/>
                          <a:ea typeface="游ゴシック"/>
                        </a:rPr>
                        <a:t>早期対策を進める</a:t>
                      </a:r>
                    </a:p>
                  </a:txBody>
                  <a:tcPr marL="45720" marR="45720" marT="18288" marB="18288" anchor="ctr">
                    <a:noFill/>
                  </a:tcPr>
                </a:tc>
                <a:tc>
                  <a:txBody>
                    <a:bodyPr wrap="square"/>
                    <a:lstStyle/>
                    <a:p>
                      <a:pPr algn="l"/>
                      <a:r>
                        <a:rPr sz="1000" b="0">
                          <a:solidFill>
                            <a:srgbClr val="000000"/>
                          </a:solidFill>
                          <a:latin typeface="游ゴシック"/>
                          <a:ea typeface="游ゴシック"/>
                        </a:rPr>
                        <a:t>⑬〜⑮</a:t>
                      </a:r>
                    </a:p>
                  </a:txBody>
                  <a:tcPr marL="45720" marR="45720" marT="18288" marB="18288" anchor="ctr">
                    <a:noFill/>
                  </a:tcPr>
                </a:tc>
                <a:tc>
                  <a:txBody>
                    <a:bodyPr wrap="square"/>
                    <a:lstStyle/>
                    <a:p>
                      <a:pPr algn="l"/>
                      <a:r>
                        <a:rPr sz="1000" b="0">
                          <a:solidFill>
                            <a:srgbClr val="000000"/>
                          </a:solidFill>
                          <a:latin typeface="游ゴシック"/>
                          <a:ea typeface="游ゴシック"/>
                        </a:rPr>
                        <a:t>第4回</a:t>
                      </a:r>
                    </a:p>
                  </a:txBody>
                  <a:tcPr marL="45720" marR="45720" marT="18288" marB="18288" anchor="ctr">
                    <a:noFill/>
                  </a:tcPr>
                </a:tc>
              </a:tr>
              <a:tr h="306324">
                <a:tc>
                  <a:txBody>
                    <a:bodyPr wrap="square"/>
                    <a:lstStyle/>
                    <a:p>
                      <a:pPr algn="l"/>
                      <a:r>
                        <a:rPr sz="1000" b="0">
                          <a:solidFill>
                            <a:srgbClr val="000000"/>
                          </a:solidFill>
                          <a:latin typeface="游ゴシック"/>
                          <a:ea typeface="游ゴシック"/>
                        </a:rPr>
                        <a:t>金額訴求</a:t>
                      </a:r>
                    </a:p>
                  </a:txBody>
                  <a:tcPr marL="45720" marR="45720" marT="18288" marB="18288" anchor="ctr">
                    <a:noFill/>
                  </a:tcPr>
                </a:tc>
                <a:tc>
                  <a:txBody>
                    <a:bodyPr wrap="square"/>
                    <a:lstStyle/>
                    <a:p>
                      <a:pPr algn="l"/>
                      <a:r>
                        <a:rPr sz="1000" b="0">
                          <a:solidFill>
                            <a:srgbClr val="000000"/>
                          </a:solidFill>
                          <a:latin typeface="游ゴシック"/>
                          <a:ea typeface="游ゴシック"/>
                        </a:rPr>
                        <a:t>費用対効果に納得する</a:t>
                      </a:r>
                    </a:p>
                  </a:txBody>
                  <a:tcPr marL="45720" marR="45720" marT="18288" marB="18288" anchor="ctr">
                    <a:noFill/>
                  </a:tcPr>
                </a:tc>
                <a:tc>
                  <a:txBody>
                    <a:bodyPr wrap="square"/>
                    <a:lstStyle/>
                    <a:p>
                      <a:pPr algn="l"/>
                      <a:r>
                        <a:rPr sz="1000" b="0">
                          <a:solidFill>
                            <a:srgbClr val="000000"/>
                          </a:solidFill>
                          <a:latin typeface="游ゴシック"/>
                          <a:ea typeface="游ゴシック"/>
                        </a:rPr>
                        <a:t>⑯〜⑳</a:t>
                      </a:r>
                    </a:p>
                  </a:txBody>
                  <a:tcPr marL="45720" marR="45720" marT="18288" marB="18288" anchor="ctr">
                    <a:noFill/>
                  </a:tcPr>
                </a:tc>
                <a:tc>
                  <a:txBody>
                    <a:bodyPr wrap="square"/>
                    <a:lstStyle/>
                    <a:p>
                      <a:pPr algn="l"/>
                      <a:r>
                        <a:rPr sz="1000" b="0">
                          <a:solidFill>
                            <a:srgbClr val="000000"/>
                          </a:solidFill>
                          <a:latin typeface="游ゴシック"/>
                          <a:ea typeface="游ゴシック"/>
                        </a:rPr>
                        <a:t>第4回</a:t>
                      </a:r>
                    </a:p>
                  </a:txBody>
                  <a:tcPr marL="45720" marR="45720" marT="18288" marB="18288" anchor="ctr">
                    <a:noFill/>
                  </a:tcPr>
                </a:tc>
              </a:tr>
            </a:tbl>
          </a:graphicData>
        </a:graphic>
      </p:graphicFrame>
      <p:sp>
        <p:nvSpPr>
          <p:cNvPr id="6" name="Rectangle 5"/>
          <p:cNvSpPr/>
          <p:nvPr/>
        </p:nvSpPr>
        <p:spPr>
          <a:xfrm>
            <a:off x="274320" y="5870448"/>
            <a:ext cx="9372600" cy="38404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600" b="1">
                <a:solidFill>
                  <a:srgbClr val="000000"/>
                </a:solidFill>
                <a:latin typeface="HGPｺﾞｼｯｸE"/>
                <a:ea typeface="HGPｺﾞｼｯｸE"/>
              </a:rPr>
              <a:t>黄色が本日の範囲。①〜⑨で「話を聞く姿勢」と「このままではまずい」までを作ります</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全体像③：アプローチブック26ページの地図</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7</a:t>
            </a:r>
          </a:p>
        </p:txBody>
      </p:sp>
      <p:sp>
        <p:nvSpPr>
          <p:cNvPr id="5" name="TextBox 4"/>
          <p:cNvSpPr txBox="1"/>
          <p:nvPr/>
        </p:nvSpPr>
        <p:spPr>
          <a:xfrm>
            <a:off x="411480" y="1261872"/>
            <a:ext cx="9052560" cy="365760"/>
          </a:xfrm>
          <a:prstGeom prst="rect">
            <a:avLst/>
          </a:prstGeom>
          <a:noFill/>
        </p:spPr>
        <p:txBody>
          <a:bodyPr wrap="square" anchor="t" lIns="0" rIns="0" tIns="18288" bIns="18288">
            <a:spAutoFit/>
          </a:bodyPr>
          <a:lstStyle/>
          <a:p>
            <a:pPr algn="l">
              <a:spcAft>
                <a:spcPts val="500"/>
              </a:spcAft>
            </a:pPr>
            <a:r>
              <a:rPr sz="2000" b="1">
                <a:solidFill>
                  <a:srgbClr val="000000"/>
                </a:solidFill>
                <a:latin typeface="HGPｺﾞｼｯｸE"/>
                <a:ea typeface="HGPｺﾞｼｯｸE"/>
              </a:rPr>
              <a:t>商談でお客様の前にめくるのは、この1冊だけです</a:t>
            </a:r>
          </a:p>
        </p:txBody>
      </p:sp>
      <p:sp>
        <p:nvSpPr>
          <p:cNvPr id="6" name="Rectangle 5"/>
          <p:cNvSpPr/>
          <p:nvPr/>
        </p:nvSpPr>
        <p:spPr>
          <a:xfrm>
            <a:off x="411480" y="1691640"/>
            <a:ext cx="7360920" cy="1078992"/>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500"/>
              </a:spcAft>
            </a:pPr>
            <a:r>
              <a:rPr sz="1800" b="1">
                <a:solidFill>
                  <a:srgbClr val="000000"/>
                </a:solidFill>
                <a:latin typeface="HGPｺﾞｼｯｸE"/>
                <a:ea typeface="HGPｺﾞｼｯｸE"/>
              </a:rPr>
              <a:t>Paragraph 01　これまでの10年と、これからの10年</a:t>
            </a:r>
          </a:p>
          <a:p>
            <a:pPr algn="l">
              <a:spcAft>
                <a:spcPts val="500"/>
              </a:spcAft>
            </a:pPr>
            <a:r>
              <a:rPr sz="1400" b="0">
                <a:solidFill>
                  <a:srgbClr val="595959"/>
                </a:solidFill>
                <a:latin typeface="HGPｺﾞｼｯｸE"/>
                <a:ea typeface="HGPｺﾞｼｯｸE"/>
              </a:rPr>
              <a:t>p.1〜p.7　／　ルール⑤⑥　→　本日</a:t>
            </a:r>
          </a:p>
        </p:txBody>
      </p:sp>
      <p:sp>
        <p:nvSpPr>
          <p:cNvPr id="7" name="Rectangle 6"/>
          <p:cNvSpPr/>
          <p:nvPr/>
        </p:nvSpPr>
        <p:spPr>
          <a:xfrm>
            <a:off x="7955279" y="1947672"/>
            <a:ext cx="1554480" cy="56692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500" b="1">
                <a:solidFill>
                  <a:srgbClr val="FFFFFF"/>
                </a:solidFill>
                <a:latin typeface="HGPｺﾞｼｯｸE"/>
                <a:ea typeface="HGPｺﾞｼｯｸE"/>
              </a:rPr>
              <a:t>本日</a:t>
            </a:r>
          </a:p>
        </p:txBody>
      </p:sp>
      <p:sp>
        <p:nvSpPr>
          <p:cNvPr id="8" name="Rectangle 7"/>
          <p:cNvSpPr/>
          <p:nvPr/>
        </p:nvSpPr>
        <p:spPr>
          <a:xfrm>
            <a:off x="411480" y="2926080"/>
            <a:ext cx="7360920" cy="1078992"/>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500"/>
              </a:spcAft>
            </a:pPr>
            <a:r>
              <a:rPr sz="1800" b="1">
                <a:solidFill>
                  <a:srgbClr val="000000"/>
                </a:solidFill>
                <a:latin typeface="HGPｺﾞｼｯｸE"/>
                <a:ea typeface="HGPｺﾞｼｯｸE"/>
              </a:rPr>
              <a:t>Paragraph 02　なぜ必要とされているのか？</a:t>
            </a:r>
          </a:p>
          <a:p>
            <a:pPr algn="l">
              <a:spcAft>
                <a:spcPts val="500"/>
              </a:spcAft>
            </a:pPr>
            <a:r>
              <a:rPr sz="1400" b="0">
                <a:solidFill>
                  <a:srgbClr val="595959"/>
                </a:solidFill>
                <a:latin typeface="HGPｺﾞｼｯｸE"/>
                <a:ea typeface="HGPｺﾞｼｯｸE"/>
              </a:rPr>
              <a:t>p.8〜p.21　／　ルール⑦〜⑫　→　p.9〜17は本日／p.18〜21は第3回</a:t>
            </a:r>
          </a:p>
        </p:txBody>
      </p:sp>
      <p:sp>
        <p:nvSpPr>
          <p:cNvPr id="9" name="Rectangle 8"/>
          <p:cNvSpPr/>
          <p:nvPr/>
        </p:nvSpPr>
        <p:spPr>
          <a:xfrm>
            <a:off x="7955279" y="3182112"/>
            <a:ext cx="1554480" cy="566928"/>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500" b="1">
                <a:solidFill>
                  <a:srgbClr val="FFFFFF"/>
                </a:solidFill>
                <a:latin typeface="HGPｺﾞｼｯｸE"/>
                <a:ea typeface="HGPｺﾞｼｯｸE"/>
              </a:rPr>
              <a:t>本日＋第3回</a:t>
            </a:r>
          </a:p>
        </p:txBody>
      </p:sp>
      <p:sp>
        <p:nvSpPr>
          <p:cNvPr id="10" name="Rectangle 9"/>
          <p:cNvSpPr/>
          <p:nvPr/>
        </p:nvSpPr>
        <p:spPr>
          <a:xfrm>
            <a:off x="411480" y="4160520"/>
            <a:ext cx="7360920" cy="10789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500"/>
              </a:spcAft>
            </a:pPr>
            <a:r>
              <a:rPr sz="1800" b="1">
                <a:solidFill>
                  <a:srgbClr val="000000"/>
                </a:solidFill>
                <a:latin typeface="HGPｺﾞｼｯｸE"/>
                <a:ea typeface="HGPｺﾞｼｯｸE"/>
              </a:rPr>
              <a:t>Paragraph 03　お得に導入できるのは？</a:t>
            </a:r>
          </a:p>
          <a:p>
            <a:pPr algn="l">
              <a:spcAft>
                <a:spcPts val="500"/>
              </a:spcAft>
            </a:pPr>
            <a:r>
              <a:rPr sz="1400" b="0">
                <a:solidFill>
                  <a:srgbClr val="595959"/>
                </a:solidFill>
                <a:latin typeface="HGPｺﾞｼｯｸE"/>
                <a:ea typeface="HGPｺﾞｼｯｸE"/>
              </a:rPr>
              <a:t>p.22〜p.26　／　ルール⑬〜⑮　→　第4回</a:t>
            </a:r>
          </a:p>
        </p:txBody>
      </p:sp>
      <p:sp>
        <p:nvSpPr>
          <p:cNvPr id="11" name="Rectangle 10"/>
          <p:cNvSpPr/>
          <p:nvPr/>
        </p:nvSpPr>
        <p:spPr>
          <a:xfrm>
            <a:off x="7955279" y="4416552"/>
            <a:ext cx="1554480" cy="566928"/>
          </a:xfrm>
          <a:prstGeom prst="rect">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500" b="1">
                <a:solidFill>
                  <a:srgbClr val="FFFFFF"/>
                </a:solidFill>
                <a:latin typeface="HGPｺﾞｼｯｸE"/>
                <a:ea typeface="HGPｺﾞｼｯｸE"/>
              </a:rPr>
              <a:t>第4回</a:t>
            </a:r>
          </a:p>
        </p:txBody>
      </p:sp>
      <p:sp>
        <p:nvSpPr>
          <p:cNvPr id="12" name="Rectangle 11"/>
          <p:cNvSpPr/>
          <p:nvPr/>
        </p:nvSpPr>
        <p:spPr>
          <a:xfrm>
            <a:off x="411480" y="5394960"/>
            <a:ext cx="9098280" cy="86868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500"/>
              </a:spcAft>
            </a:pPr>
            <a:r>
              <a:rPr sz="1700" b="1">
                <a:solidFill>
                  <a:srgbClr val="000000"/>
                </a:solidFill>
                <a:latin typeface="HGPｺﾞｼｯｸE"/>
                <a:ea typeface="HGPｺﾞｼｯｸE"/>
              </a:rPr>
              <a:t>金額訴求（ルール⑯〜⑳）はアプローチブックの外。</a:t>
            </a:r>
          </a:p>
          <a:p>
            <a:pPr algn="l">
              <a:spcAft>
                <a:spcPts val="500"/>
              </a:spcAft>
            </a:pPr>
            <a:r>
              <a:rPr sz="1700" b="0">
                <a:solidFill>
                  <a:srgbClr val="000000"/>
                </a:solidFill>
                <a:latin typeface="HGPｺﾞｼｯｸE"/>
                <a:ea typeface="HGPｺﾞｼｯｸE"/>
              </a:rPr>
              <a:t>シミュレーション・概算見積・カタログに持ち替えます（第4回）。</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なぜ「セット販売」なのか</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8</a:t>
            </a:r>
          </a:p>
        </p:txBody>
      </p:sp>
      <p:sp>
        <p:nvSpPr>
          <p:cNvPr id="5" name="TextBox 4"/>
          <p:cNvSpPr txBox="1"/>
          <p:nvPr/>
        </p:nvSpPr>
        <p:spPr>
          <a:xfrm>
            <a:off x="411480" y="1261872"/>
            <a:ext cx="9052560" cy="384048"/>
          </a:xfrm>
          <a:prstGeom prst="rect">
            <a:avLst/>
          </a:prstGeom>
          <a:noFill/>
        </p:spPr>
        <p:txBody>
          <a:bodyPr wrap="square" anchor="t" lIns="0" rIns="0" tIns="18288" bIns="18288">
            <a:spAutoFit/>
          </a:bodyPr>
          <a:lstStyle/>
          <a:p>
            <a:pPr algn="l">
              <a:spcAft>
                <a:spcPts val="500"/>
              </a:spcAft>
            </a:pPr>
            <a:r>
              <a:rPr sz="2200" b="1">
                <a:solidFill>
                  <a:srgbClr val="FF0000"/>
                </a:solidFill>
                <a:latin typeface="HGPｺﾞｼｯｸE"/>
                <a:ea typeface="HGPｺﾞｼｯｸE"/>
              </a:rPr>
              <a:t>太陽光と蓄電池は切り離さない。常にセットで話を進めます</a:t>
            </a:r>
          </a:p>
        </p:txBody>
      </p:sp>
      <p:graphicFrame>
        <p:nvGraphicFramePr>
          <p:cNvPr id="6" name="Table 5"/>
          <p:cNvGraphicFramePr>
            <a:graphicFrameLocks noGrp="1"/>
          </p:cNvGraphicFramePr>
          <p:nvPr/>
        </p:nvGraphicFramePr>
        <p:xfrm>
          <a:off x="411480" y="1755648"/>
          <a:ext cx="9098280" cy="3675888"/>
        </p:xfrm>
        <a:graphic>
          <a:graphicData uri="http://schemas.openxmlformats.org/drawingml/2006/table">
            <a:tbl>
              <a:tblPr firstRow="1">
                <a:tableStyleId>{5C22544A-7EE6-4342-B048-85BDC9FD1C3A}</a:tableStyleId>
              </a:tblPr>
              <a:tblGrid>
                <a:gridCol w="457200"/>
                <a:gridCol w="2880360"/>
                <a:gridCol w="5760720"/>
              </a:tblGrid>
              <a:tr h="292608">
                <a:tc>
                  <a:txBody>
                    <a:bodyPr wrap="square"/>
                    <a:lstStyle/>
                    <a:p>
                      <a:pPr algn="ctr"/>
                      <a:r>
                        <a:rPr sz="1200" b="1">
                          <a:solidFill>
                            <a:srgbClr val="FFFFFF"/>
                          </a:solidFill>
                          <a:latin typeface="游ゴシック"/>
                          <a:ea typeface="游ゴシック"/>
                        </a:rPr>
                        <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根拠</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中身</a:t>
                      </a:r>
                    </a:p>
                  </a:txBody>
                  <a:tcPr marL="45720" marR="45720" marT="18288" marB="18288" anchor="ctr">
                    <a:solidFill>
                      <a:srgbClr val="000000"/>
                    </a:solidFill>
                  </a:tcPr>
                </a:tc>
              </a:tr>
              <a:tr h="676656">
                <a:tc>
                  <a:txBody>
                    <a:bodyPr wrap="square"/>
                    <a:lstStyle/>
                    <a:p>
                      <a:pPr algn="l"/>
                      <a:r>
                        <a:rPr sz="1200" b="0">
                          <a:solidFill>
                            <a:srgbClr val="000000"/>
                          </a:solidFill>
                          <a:latin typeface="游ゴシック"/>
                          <a:ea typeface="游ゴシック"/>
                        </a:rPr>
                        <a:t>①</a:t>
                      </a:r>
                    </a:p>
                  </a:txBody>
                  <a:tcPr marL="45720" marR="45720" marT="18288" marB="18288" anchor="ctr">
                    <a:noFill/>
                  </a:tcPr>
                </a:tc>
                <a:tc>
                  <a:txBody>
                    <a:bodyPr wrap="square"/>
                    <a:lstStyle/>
                    <a:p>
                      <a:pPr algn="l"/>
                      <a:r>
                        <a:rPr sz="1200" b="0">
                          <a:solidFill>
                            <a:srgbClr val="000000"/>
                          </a:solidFill>
                          <a:latin typeface="游ゴシック"/>
                          <a:ea typeface="游ゴシック"/>
                        </a:rPr>
                        <a:t>シングル販売は「価格市場」に移行していく</a:t>
                      </a:r>
                    </a:p>
                  </a:txBody>
                  <a:tcPr marL="45720" marR="45720" marT="18288" marB="18288" anchor="ctr">
                    <a:noFill/>
                  </a:tcPr>
                </a:tc>
                <a:tc>
                  <a:txBody>
                    <a:bodyPr wrap="square"/>
                    <a:lstStyle/>
                    <a:p>
                      <a:pPr algn="l"/>
                      <a:r>
                        <a:rPr sz="1200" b="0">
                          <a:solidFill>
                            <a:srgbClr val="000000"/>
                          </a:solidFill>
                          <a:latin typeface="游ゴシック"/>
                          <a:ea typeface="游ゴシック"/>
                        </a:rPr>
                        <a:t>成約の決め手は「実績」→「価格」→「紹介」へ移る。D2Cの参入で価格崩壊が起きている地域もある</a:t>
                      </a:r>
                    </a:p>
                  </a:txBody>
                  <a:tcPr marL="45720" marR="45720" marT="18288" marB="18288" anchor="ctr">
                    <a:noFill/>
                  </a:tcPr>
                </a:tc>
              </a:tr>
              <a:tr h="676656">
                <a:tc>
                  <a:txBody>
                    <a:bodyPr wrap="square"/>
                    <a:lstStyle/>
                    <a:p>
                      <a:pPr algn="l"/>
                      <a:r>
                        <a:rPr sz="1200" b="0">
                          <a:solidFill>
                            <a:srgbClr val="000000"/>
                          </a:solidFill>
                          <a:latin typeface="游ゴシック"/>
                          <a:ea typeface="游ゴシック"/>
                        </a:rPr>
                        <a:t>②</a:t>
                      </a:r>
                    </a:p>
                  </a:txBody>
                  <a:tcPr marL="45720" marR="45720" marT="18288" marB="18288" anchor="ctr">
                    <a:noFill/>
                  </a:tcPr>
                </a:tc>
                <a:tc>
                  <a:txBody>
                    <a:bodyPr wrap="square"/>
                    <a:lstStyle/>
                    <a:p>
                      <a:pPr algn="l"/>
                      <a:r>
                        <a:rPr sz="1200" b="0">
                          <a:solidFill>
                            <a:srgbClr val="000000"/>
                          </a:solidFill>
                          <a:latin typeface="游ゴシック"/>
                          <a:ea typeface="游ゴシック"/>
                        </a:rPr>
                        <a:t>セット販売は「空白市場」である</a:t>
                      </a:r>
                    </a:p>
                  </a:txBody>
                  <a:tcPr marL="45720" marR="45720" marT="18288" marB="18288" anchor="ctr">
                    <a:noFill/>
                  </a:tcPr>
                </a:tc>
                <a:tc>
                  <a:txBody>
                    <a:bodyPr wrap="square"/>
                    <a:lstStyle/>
                    <a:p>
                      <a:pPr algn="l"/>
                      <a:r>
                        <a:rPr sz="1200" b="0">
                          <a:solidFill>
                            <a:srgbClr val="000000"/>
                          </a:solidFill>
                          <a:latin typeface="游ゴシック"/>
                          <a:ea typeface="游ゴシック"/>
                        </a:rPr>
                        <a:t>太陽光設置済み約240万（総世帯の4％）に販売店が集中。持家は約3,000万（52％）、総世帯は約5,700万</a:t>
                      </a:r>
                    </a:p>
                  </a:txBody>
                  <a:tcPr marL="45720" marR="45720" marT="18288" marB="18288" anchor="ctr">
                    <a:noFill/>
                  </a:tcPr>
                </a:tc>
              </a:tr>
              <a:tr h="676656">
                <a:tc>
                  <a:txBody>
                    <a:bodyPr wrap="square"/>
                    <a:lstStyle/>
                    <a:p>
                      <a:pPr algn="l"/>
                      <a:r>
                        <a:rPr sz="1200" b="0">
                          <a:solidFill>
                            <a:srgbClr val="000000"/>
                          </a:solidFill>
                          <a:latin typeface="游ゴシック"/>
                          <a:ea typeface="游ゴシック"/>
                        </a:rPr>
                        <a:t>③</a:t>
                      </a:r>
                    </a:p>
                  </a:txBody>
                  <a:tcPr marL="45720" marR="45720" marT="18288" marB="18288" anchor="ctr">
                    <a:noFill/>
                  </a:tcPr>
                </a:tc>
                <a:tc>
                  <a:txBody>
                    <a:bodyPr wrap="square"/>
                    <a:lstStyle/>
                    <a:p>
                      <a:pPr algn="l"/>
                      <a:r>
                        <a:rPr sz="1200" b="0">
                          <a:solidFill>
                            <a:srgbClr val="000000"/>
                          </a:solidFill>
                          <a:latin typeface="游ゴシック"/>
                          <a:ea typeface="游ゴシック"/>
                        </a:rPr>
                        <a:t>経済合理性がセットにある</a:t>
                      </a:r>
                    </a:p>
                  </a:txBody>
                  <a:tcPr marL="45720" marR="45720" marT="18288" marB="18288" anchor="ctr">
                    <a:noFill/>
                  </a:tcPr>
                </a:tc>
                <a:tc>
                  <a:txBody>
                    <a:bodyPr wrap="square"/>
                    <a:lstStyle/>
                    <a:p>
                      <a:pPr algn="l"/>
                      <a:r>
                        <a:rPr sz="1200" b="0">
                          <a:solidFill>
                            <a:srgbClr val="000000"/>
                          </a:solidFill>
                          <a:latin typeface="游ゴシック"/>
                          <a:ea typeface="游ゴシック"/>
                        </a:rPr>
                        <a:t>売電単価15円 ＜ 買電単価30円。売るより貯めて使う方が得なので、太陽光だけでは最適化できない</a:t>
                      </a:r>
                    </a:p>
                  </a:txBody>
                  <a:tcPr marL="45720" marR="45720" marT="18288" marB="18288" anchor="ctr">
                    <a:noFill/>
                  </a:tcPr>
                </a:tc>
              </a:tr>
              <a:tr h="676656">
                <a:tc>
                  <a:txBody>
                    <a:bodyPr wrap="square"/>
                    <a:lstStyle/>
                    <a:p>
                      <a:pPr algn="l"/>
                      <a:r>
                        <a:rPr sz="1200" b="0">
                          <a:solidFill>
                            <a:srgbClr val="000000"/>
                          </a:solidFill>
                          <a:latin typeface="游ゴシック"/>
                          <a:ea typeface="游ゴシック"/>
                        </a:rPr>
                        <a:t>④</a:t>
                      </a:r>
                    </a:p>
                  </a:txBody>
                  <a:tcPr marL="45720" marR="45720" marT="18288" marB="18288" anchor="ctr">
                    <a:noFill/>
                  </a:tcPr>
                </a:tc>
                <a:tc>
                  <a:txBody>
                    <a:bodyPr wrap="square"/>
                    <a:lstStyle/>
                    <a:p>
                      <a:pPr algn="l"/>
                      <a:r>
                        <a:rPr sz="1200" b="0">
                          <a:solidFill>
                            <a:srgbClr val="000000"/>
                          </a:solidFill>
                          <a:latin typeface="游ゴシック"/>
                          <a:ea typeface="游ゴシック"/>
                        </a:rPr>
                        <a:t>設備面でもセットが前提になった</a:t>
                      </a:r>
                    </a:p>
                  </a:txBody>
                  <a:tcPr marL="45720" marR="45720" marT="18288" marB="18288" anchor="ctr">
                    <a:noFill/>
                  </a:tcPr>
                </a:tc>
                <a:tc>
                  <a:txBody>
                    <a:bodyPr wrap="square"/>
                    <a:lstStyle/>
                    <a:p>
                      <a:pPr algn="l"/>
                      <a:r>
                        <a:rPr sz="1200" b="0">
                          <a:solidFill>
                            <a:srgbClr val="000000"/>
                          </a:solidFill>
                          <a:latin typeface="游ゴシック"/>
                          <a:ea typeface="游ゴシック"/>
                        </a:rPr>
                        <a:t>ハイブリッドパワコンが普及（1台で制御でき変換効率も高い）。ZEH要件に蓄電池必須の基準案も提出</a:t>
                      </a:r>
                    </a:p>
                  </a:txBody>
                  <a:tcPr marL="45720" marR="45720" marT="18288" marB="18288" anchor="ctr">
                    <a:noFill/>
                  </a:tcPr>
                </a:tc>
              </a:tr>
              <a:tr h="676656">
                <a:tc>
                  <a:txBody>
                    <a:bodyPr wrap="square"/>
                    <a:lstStyle/>
                    <a:p>
                      <a:pPr algn="l"/>
                      <a:r>
                        <a:rPr sz="1200" b="0">
                          <a:solidFill>
                            <a:srgbClr val="000000"/>
                          </a:solidFill>
                          <a:latin typeface="游ゴシック"/>
                          <a:ea typeface="游ゴシック"/>
                        </a:rPr>
                        <a:t>⑤</a:t>
                      </a:r>
                    </a:p>
                  </a:txBody>
                  <a:tcPr marL="45720" marR="45720" marT="18288" marB="18288" anchor="ctr">
                    <a:noFill/>
                  </a:tcPr>
                </a:tc>
                <a:tc>
                  <a:txBody>
                    <a:bodyPr wrap="square"/>
                    <a:lstStyle/>
                    <a:p>
                      <a:pPr algn="l"/>
                      <a:r>
                        <a:rPr sz="1200" b="0">
                          <a:solidFill>
                            <a:srgbClr val="000000"/>
                          </a:solidFill>
                          <a:latin typeface="游ゴシック"/>
                          <a:ea typeface="游ゴシック"/>
                        </a:rPr>
                        <a:t>セット販売の成功事例が出ている</a:t>
                      </a:r>
                    </a:p>
                  </a:txBody>
                  <a:tcPr marL="45720" marR="45720" marT="18288" marB="18288" anchor="ctr">
                    <a:noFill/>
                  </a:tcPr>
                </a:tc>
                <a:tc>
                  <a:txBody>
                    <a:bodyPr wrap="square"/>
                    <a:lstStyle/>
                    <a:p>
                      <a:pPr algn="l"/>
                      <a:r>
                        <a:rPr sz="1200" b="0">
                          <a:solidFill>
                            <a:srgbClr val="000000"/>
                          </a:solidFill>
                          <a:latin typeface="游ゴシック"/>
                          <a:ea typeface="游ゴシック"/>
                        </a:rPr>
                        <a:t>陽幸＝セット比率99％で月販110台／日本ライフサポート＝月販90台／プレジャーハウス＝7名で月販30台</a:t>
                      </a:r>
                    </a:p>
                  </a:txBody>
                  <a:tcPr marL="45720" marR="45720" marT="18288" marB="18288" anchor="ctr">
                    <a:noFill/>
                  </a:tcPr>
                </a:tc>
              </a:tr>
            </a:tbl>
          </a:graphicData>
        </a:graphic>
      </p:graphicFrame>
      <p:sp>
        <p:nvSpPr>
          <p:cNvPr id="7" name="Rectangle 6"/>
          <p:cNvSpPr/>
          <p:nvPr/>
        </p:nvSpPr>
        <p:spPr>
          <a:xfrm>
            <a:off x="411480" y="5760720"/>
            <a:ext cx="9098280" cy="530352"/>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2000" b="1">
                <a:solidFill>
                  <a:srgbClr val="000000"/>
                </a:solidFill>
                <a:latin typeface="HGPｺﾞｼｯｸE"/>
                <a:ea typeface="HGPｺﾞｼｯｸE"/>
              </a:rPr>
              <a:t>「蓄電池を売る」ではなく「スマートハウスを導入いただく」と言い切る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9</a:t>
            </a:r>
          </a:p>
        </p:txBody>
      </p:sp>
      <p:sp>
        <p:nvSpPr>
          <p:cNvPr id="5" name="TextBox 4"/>
          <p:cNvSpPr txBox="1"/>
          <p:nvPr/>
        </p:nvSpPr>
        <p:spPr>
          <a:xfrm>
            <a:off x="411480" y="1261872"/>
            <a:ext cx="9052560" cy="384048"/>
          </a:xfrm>
          <a:prstGeom prst="rect">
            <a:avLst/>
          </a:prstGeom>
          <a:noFill/>
        </p:spPr>
        <p:txBody>
          <a:bodyPr wrap="square" anchor="t" lIns="0" rIns="0" tIns="18288" bIns="18288">
            <a:spAutoFit/>
          </a:bodyPr>
          <a:lstStyle/>
          <a:p>
            <a:pPr algn="l">
              <a:spcAft>
                <a:spcPts val="500"/>
              </a:spcAft>
            </a:pPr>
            <a:r>
              <a:rPr sz="2200" b="1">
                <a:solidFill>
                  <a:srgbClr val="000000"/>
                </a:solidFill>
                <a:latin typeface="HGPｺﾞｼｯｸE"/>
                <a:ea typeface="HGPｺﾞｼｯｸE"/>
              </a:rPr>
              <a:t>ゴール：この営業マンの話を聞きたい、と思わせる</a:t>
            </a:r>
          </a:p>
        </p:txBody>
      </p:sp>
      <p:graphicFrame>
        <p:nvGraphicFramePr>
          <p:cNvPr id="6" name="Table 5"/>
          <p:cNvGraphicFramePr>
            <a:graphicFrameLocks noGrp="1"/>
          </p:cNvGraphicFramePr>
          <p:nvPr/>
        </p:nvGraphicFramePr>
        <p:xfrm>
          <a:off x="274320" y="1783080"/>
          <a:ext cx="9372600" cy="2578608"/>
        </p:xfrm>
        <a:graphic>
          <a:graphicData uri="http://schemas.openxmlformats.org/drawingml/2006/table">
            <a:tbl>
              <a:tblPr firstRow="1">
                <a:tableStyleId>{5C22544A-7EE6-4342-B048-85BDC9FD1C3A}</a:tableStyleId>
              </a:tblPr>
              <a:tblGrid>
                <a:gridCol w="1143000"/>
                <a:gridCol w="1600200"/>
                <a:gridCol w="2606040"/>
                <a:gridCol w="4023360"/>
              </a:tblGrid>
              <a:tr h="274320">
                <a:tc>
                  <a:txBody>
                    <a:bodyPr wrap="square"/>
                    <a:lstStyle/>
                    <a:p>
                      <a:pPr algn="ctr"/>
                      <a:r>
                        <a:rPr sz="110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ゴール</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詳細</a:t>
                      </a:r>
                    </a:p>
                  </a:txBody>
                  <a:tcPr marL="45720" marR="45720" marT="18288" marB="18288" anchor="ctr">
                    <a:solidFill>
                      <a:srgbClr val="000000"/>
                    </a:solidFill>
                  </a:tcPr>
                </a:tc>
              </a:tr>
              <a:tr h="384048">
                <a:tc>
                  <a:txBody>
                    <a:bodyPr wrap="square"/>
                    <a:lstStyle/>
                    <a:p>
                      <a:pPr algn="l"/>
                      <a:r>
                        <a:rPr sz="1100" b="0">
                          <a:solidFill>
                            <a:srgbClr val="000000"/>
                          </a:solidFill>
                          <a:latin typeface="游ゴシック"/>
                          <a:ea typeface="游ゴシック"/>
                        </a:rPr>
                        <a:t>前準備</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必要な情報を揃える</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①商談テーブルの確認</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検針票・図面が手元にある状態で夫婦両主権者・1時間以上の時間を抑える</a:t>
                      </a:r>
                    </a:p>
                  </a:txBody>
                  <a:tcPr marL="45720" marR="45720" marT="18288" marB="18288" anchor="ctr">
                    <a:solidFill>
                      <a:srgbClr val="EAF1DD"/>
                    </a:solidFill>
                  </a:tcPr>
                </a:tc>
              </a:tr>
              <a:tr h="384048">
                <a:tc>
                  <a:txBody>
                    <a:bodyPr wrap="square"/>
                    <a:lstStyle/>
                    <a:p>
                      <a:pPr algn="l"/>
                      <a:r>
                        <a:rPr sz="1100" b="0">
                          <a:solidFill>
                            <a:srgbClr val="000000"/>
                          </a:solidFill>
                          <a:latin typeface="游ゴシック"/>
                          <a:ea typeface="游ゴシック"/>
                        </a:rPr>
                        <a:t>聴く姿勢作り</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商談の趣旨を認識する</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②自社の概要・今回の訪問趣旨の理解</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この地域で実績が豊富にあり、今回はその説明であることを理解してもらう</a:t>
                      </a:r>
                    </a:p>
                  </a:txBody>
                  <a:tcPr marL="45720" marR="45720" marT="18288" marB="18288" anchor="ctr">
                    <a:solidFill>
                      <a:srgbClr val="EAF1DD"/>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③太陽光＋蓄電池の未導入理由の確認</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これまで導入してこなかった理由を尋ねる</a:t>
                      </a:r>
                    </a:p>
                  </a:txBody>
                  <a:tcPr marL="45720" marR="45720" marT="18288" marB="18288" anchor="ctr">
                    <a:solidFill>
                      <a:srgbClr val="EAF1DD"/>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④前向きな検討に対する言質</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導入しなかった理由が解消できれば導入する予定であることに同意を得る</a:t>
                      </a:r>
                    </a:p>
                  </a:txBody>
                  <a:tcPr marL="45720" marR="45720" marT="18288" marB="18288" anchor="ctr">
                    <a:solidFill>
                      <a:srgbClr val="EAF1DD"/>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⑤太陽光が当たり前であることの理解</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10年の歴史を経て、蓄電池とのセット導入が標準になったことを理解してもらう</a:t>
                      </a:r>
                    </a:p>
                  </a:txBody>
                  <a:tcPr marL="45720" marR="45720" marT="18288" marB="18288" anchor="ctr">
                    <a:solidFill>
                      <a:srgbClr val="EAF1DD"/>
                    </a:solidFill>
                  </a:tcPr>
                </a:tc>
              </a:tr>
              <a:tr h="384048">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⑥直近の国策動向のおさらい</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国策を踏まえ、ますますスマートハウスが普及することを実感してもらう</a:t>
                      </a:r>
                    </a:p>
                  </a:txBody>
                  <a:tcPr marL="45720" marR="45720" marT="18288" marB="18288" anchor="ctr">
                    <a:solidFill>
                      <a:srgbClr val="EAF1DD"/>
                    </a:solidFill>
                  </a:tcPr>
                </a:tc>
              </a:tr>
            </a:tbl>
          </a:graphicData>
        </a:graphic>
      </p:graphicFrame>
      <p:sp>
        <p:nvSpPr>
          <p:cNvPr id="7" name="Rectangle 6"/>
          <p:cNvSpPr/>
          <p:nvPr/>
        </p:nvSpPr>
        <p:spPr>
          <a:xfrm>
            <a:off x="274320" y="4462272"/>
            <a:ext cx="4526280" cy="18288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使うアプローチブック</a:t>
            </a:r>
          </a:p>
          <a:p>
            <a:pPr algn="l">
              <a:spcAft>
                <a:spcPts val="500"/>
              </a:spcAft>
            </a:pPr>
            <a:r>
              <a:rPr sz="1500" b="0">
                <a:solidFill>
                  <a:srgbClr val="000000"/>
                </a:solidFill>
                <a:latin typeface="HGPｺﾞｼｯｸE"/>
                <a:ea typeface="HGPｺﾞｼｯｸE"/>
              </a:rPr>
              <a:t>p.2　本日お話ししたいこと</a:t>
            </a:r>
          </a:p>
          <a:p>
            <a:pPr algn="l">
              <a:spcAft>
                <a:spcPts val="500"/>
              </a:spcAft>
            </a:pPr>
            <a:r>
              <a:rPr sz="1500" b="0">
                <a:solidFill>
                  <a:srgbClr val="000000"/>
                </a:solidFill>
                <a:latin typeface="HGPｺﾞｼｯｸE"/>
                <a:ea typeface="HGPｺﾞｼｯｸE"/>
              </a:rPr>
              <a:t>p.3　脱炭素社会に向け</a:t>
            </a:r>
          </a:p>
          <a:p>
            <a:pPr algn="l">
              <a:spcAft>
                <a:spcPts val="500"/>
              </a:spcAft>
            </a:pPr>
            <a:r>
              <a:rPr sz="1500" b="0">
                <a:solidFill>
                  <a:srgbClr val="000000"/>
                </a:solidFill>
                <a:latin typeface="HGPｺﾞｼｯｸE"/>
                <a:ea typeface="HGPｺﾞｼｯｸE"/>
              </a:rPr>
              <a:t>p.4　10年の普及年表</a:t>
            </a:r>
          </a:p>
          <a:p>
            <a:pPr algn="l">
              <a:spcAft>
                <a:spcPts val="500"/>
              </a:spcAft>
            </a:pPr>
            <a:r>
              <a:rPr sz="1500" b="0">
                <a:solidFill>
                  <a:srgbClr val="000000"/>
                </a:solidFill>
                <a:latin typeface="HGPｺﾞｼｯｸE"/>
                <a:ea typeface="HGPｺﾞｼｯｸE"/>
              </a:rPr>
              <a:t>p.5　大手ハウスメーカー</a:t>
            </a:r>
          </a:p>
          <a:p>
            <a:pPr algn="l">
              <a:spcAft>
                <a:spcPts val="500"/>
              </a:spcAft>
            </a:pPr>
            <a:r>
              <a:rPr sz="1500" b="0">
                <a:solidFill>
                  <a:srgbClr val="000000"/>
                </a:solidFill>
                <a:latin typeface="HGPｺﾞｼｯｸE"/>
                <a:ea typeface="HGPｺﾞｼｯｸE"/>
              </a:rPr>
              <a:t>p.6　お客様の声</a:t>
            </a:r>
          </a:p>
          <a:p>
            <a:pPr algn="l">
              <a:spcAft>
                <a:spcPts val="500"/>
              </a:spcAft>
            </a:pPr>
            <a:r>
              <a:rPr sz="1500" b="0">
                <a:solidFill>
                  <a:srgbClr val="000000"/>
                </a:solidFill>
                <a:latin typeface="HGPｺﾞｼｯｸE"/>
                <a:ea typeface="HGPｺﾞｼｯｸE"/>
              </a:rPr>
              <a:t>p.7　未導入のお家 vs 太陽光＋蓄電池</a:t>
            </a:r>
          </a:p>
        </p:txBody>
      </p:sp>
      <p:sp>
        <p:nvSpPr>
          <p:cNvPr id="8" name="Rectangle 7"/>
          <p:cNvSpPr/>
          <p:nvPr/>
        </p:nvSpPr>
        <p:spPr>
          <a:xfrm>
            <a:off x="5120640" y="4462272"/>
            <a:ext cx="4526280" cy="182880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このパートの勝ち筋</a:t>
            </a:r>
          </a:p>
          <a:p>
            <a:pPr algn="l">
              <a:spcAft>
                <a:spcPts val="600"/>
              </a:spcAft>
            </a:pPr>
            <a:r>
              <a:rPr sz="1500" b="0">
                <a:solidFill>
                  <a:srgbClr val="000000"/>
                </a:solidFill>
                <a:latin typeface="HGPｺﾞｼｯｸE"/>
                <a:ea typeface="HGPｺﾞｼｯｸE"/>
              </a:rPr>
              <a:t>①③④は資料を使わない「ヒアリング」。</a:t>
            </a:r>
          </a:p>
          <a:p>
            <a:pPr algn="l">
              <a:spcAft>
                <a:spcPts val="0"/>
              </a:spcAft>
            </a:pPr>
            <a:r>
              <a:rPr sz="1500" b="0">
                <a:solidFill>
                  <a:srgbClr val="000000"/>
                </a:solidFill>
                <a:latin typeface="HGPｺﾞｼｯｸE"/>
                <a:ea typeface="HGPｺﾞｼｯｸE"/>
              </a:rPr>
              <a:t>先に相手の話を聞くことが、</a:t>
            </a:r>
          </a:p>
          <a:p>
            <a:pPr algn="l">
              <a:spcAft>
                <a:spcPts val="800"/>
              </a:spcAft>
            </a:pPr>
            <a:r>
              <a:rPr sz="1500" b="0">
                <a:solidFill>
                  <a:srgbClr val="000000"/>
                </a:solidFill>
                <a:latin typeface="HGPｺﾞｼｯｸE"/>
                <a:ea typeface="HGPｺﾞｼｯｸE"/>
              </a:rPr>
              <a:t>自分の話を聞いてもらうことに直結します。</a:t>
            </a:r>
          </a:p>
          <a:p>
            <a:pPr algn="l">
              <a:spcAft>
                <a:spcPts val="0"/>
              </a:spcAft>
            </a:pPr>
            <a:r>
              <a:rPr sz="1500" b="0">
                <a:solidFill>
                  <a:srgbClr val="000000"/>
                </a:solidFill>
                <a:latin typeface="HGPｺﾞｼｯｸE"/>
                <a:ea typeface="HGPｺﾞｼｯｸE"/>
              </a:rPr>
              <a:t>②⑤⑥で資料を開き、</a:t>
            </a:r>
          </a:p>
          <a:p>
            <a:pPr algn="l">
              <a:spcAft>
                <a:spcPts val="500"/>
              </a:spcAft>
            </a:pPr>
            <a:r>
              <a:rPr sz="1500" b="0">
                <a:solidFill>
                  <a:srgbClr val="000000"/>
                </a:solidFill>
                <a:latin typeface="HGPｺﾞｼｯｸE"/>
                <a:ea typeface="HGPｺﾞｼｯｸE"/>
              </a:rPr>
              <a:t>「先生－生徒」の関係をつくります。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10</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ルール①：商談テーブルの確認</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太陽光＋蓄電池商談の3条件＝検針票と図面／夫婦の両主権者／1時間</a:t>
            </a:r>
          </a:p>
        </p:txBody>
      </p:sp>
      <p:sp>
        <p:nvSpPr>
          <p:cNvPr id="7" name="Rectangle 6"/>
          <p:cNvSpPr/>
          <p:nvPr/>
        </p:nvSpPr>
        <p:spPr>
          <a:xfrm>
            <a:off x="411480" y="2331720"/>
            <a:ext cx="2788920" cy="105156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200"/>
              </a:spcAft>
            </a:pPr>
            <a:r>
              <a:rPr sz="1900" b="1">
                <a:solidFill>
                  <a:srgbClr val="000000"/>
                </a:solidFill>
                <a:latin typeface="HGPｺﾞｼｯｸE"/>
                <a:ea typeface="HGPｺﾞｼｯｸE"/>
              </a:rPr>
              <a:t>検針票・図面が</a:t>
            </a:r>
          </a:p>
          <a:p>
            <a:pPr algn="ctr">
              <a:spcAft>
                <a:spcPts val="200"/>
              </a:spcAft>
            </a:pPr>
            <a:r>
              <a:rPr sz="1900" b="1">
                <a:solidFill>
                  <a:srgbClr val="000000"/>
                </a:solidFill>
                <a:latin typeface="HGPｺﾞｼｯｸE"/>
                <a:ea typeface="HGPｺﾞｼｯｸE"/>
              </a:rPr>
              <a:t>手元にある</a:t>
            </a:r>
          </a:p>
        </p:txBody>
      </p:sp>
      <p:sp>
        <p:nvSpPr>
          <p:cNvPr id="8" name="Rectangle 7"/>
          <p:cNvSpPr/>
          <p:nvPr/>
        </p:nvSpPr>
        <p:spPr>
          <a:xfrm>
            <a:off x="3447288" y="2331720"/>
            <a:ext cx="2788920" cy="105156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200"/>
              </a:spcAft>
            </a:pPr>
            <a:r>
              <a:rPr sz="1900" b="1">
                <a:solidFill>
                  <a:srgbClr val="000000"/>
                </a:solidFill>
                <a:latin typeface="HGPｺﾞｼｯｸE"/>
                <a:ea typeface="HGPｺﾞｼｯｸE"/>
              </a:rPr>
              <a:t>夫婦</a:t>
            </a:r>
          </a:p>
          <a:p>
            <a:pPr algn="ctr">
              <a:spcAft>
                <a:spcPts val="200"/>
              </a:spcAft>
            </a:pPr>
            <a:r>
              <a:rPr sz="1900" b="1">
                <a:solidFill>
                  <a:srgbClr val="000000"/>
                </a:solidFill>
                <a:latin typeface="HGPｺﾞｼｯｸE"/>
                <a:ea typeface="HGPｺﾞｼｯｸE"/>
              </a:rPr>
              <a:t>両主権者</a:t>
            </a:r>
          </a:p>
        </p:txBody>
      </p:sp>
      <p:sp>
        <p:nvSpPr>
          <p:cNvPr id="9" name="Rectangle 8"/>
          <p:cNvSpPr/>
          <p:nvPr/>
        </p:nvSpPr>
        <p:spPr>
          <a:xfrm>
            <a:off x="6483096" y="2331720"/>
            <a:ext cx="2788920" cy="105156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200"/>
              </a:spcAft>
            </a:pPr>
            <a:r>
              <a:rPr sz="1900" b="1">
                <a:solidFill>
                  <a:srgbClr val="000000"/>
                </a:solidFill>
                <a:latin typeface="HGPｺﾞｼｯｸE"/>
                <a:ea typeface="HGPｺﾞｼｯｸE"/>
              </a:rPr>
              <a:t>1時間以上の</a:t>
            </a:r>
          </a:p>
          <a:p>
            <a:pPr algn="ctr">
              <a:spcAft>
                <a:spcPts val="200"/>
              </a:spcAft>
            </a:pPr>
            <a:r>
              <a:rPr sz="1900" b="1">
                <a:solidFill>
                  <a:srgbClr val="000000"/>
                </a:solidFill>
                <a:latin typeface="HGPｺﾞｼｯｸE"/>
                <a:ea typeface="HGPｺﾞｼｯｸE"/>
              </a:rPr>
              <a:t>時間を抑える</a:t>
            </a:r>
          </a:p>
        </p:txBody>
      </p:sp>
      <p:sp>
        <p:nvSpPr>
          <p:cNvPr id="10" name="Rectangle 9"/>
          <p:cNvSpPr/>
          <p:nvPr/>
        </p:nvSpPr>
        <p:spPr>
          <a:xfrm>
            <a:off x="411480" y="3611880"/>
            <a:ext cx="9098280" cy="2148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400" b="1">
                <a:solidFill>
                  <a:srgbClr val="595959"/>
                </a:solidFill>
                <a:latin typeface="HGPｺﾞｼｯｸE"/>
                <a:ea typeface="HGPｺﾞｼｯｸE"/>
              </a:rPr>
              <a:t>考え方</a:t>
            </a:r>
          </a:p>
          <a:p>
            <a:pPr algn="l">
              <a:spcAft>
                <a:spcPts val="600"/>
              </a:spcAft>
            </a:pPr>
            <a:r>
              <a:rPr sz="1600" b="0">
                <a:solidFill>
                  <a:srgbClr val="000000"/>
                </a:solidFill>
                <a:latin typeface="HGPｺﾞｼｯｸE"/>
                <a:ea typeface="HGPｺﾞｼｯｸE"/>
              </a:rPr>
              <a:t>太陽光・蓄電池の失注理由は、「商談設定」か「商談内容」のどちらかしかありません。</a:t>
            </a:r>
          </a:p>
          <a:p>
            <a:pPr algn="l">
              <a:spcAft>
                <a:spcPts val="600"/>
              </a:spcAft>
            </a:pPr>
            <a:r>
              <a:rPr sz="1600" b="0">
                <a:solidFill>
                  <a:srgbClr val="000000"/>
                </a:solidFill>
                <a:latin typeface="HGPｺﾞｼｯｸE"/>
                <a:ea typeface="HGPｺﾞｼｯｸE"/>
              </a:rPr>
              <a:t>営業トークを磨けば「商談内容」の失注は防げますが、</a:t>
            </a:r>
          </a:p>
          <a:p>
            <a:pPr algn="l">
              <a:spcAft>
                <a:spcPts val="1200"/>
              </a:spcAft>
            </a:pPr>
            <a:r>
              <a:rPr sz="1600" b="0">
                <a:solidFill>
                  <a:srgbClr val="000000"/>
                </a:solidFill>
                <a:latin typeface="HGPｺﾞｼｯｸE"/>
                <a:ea typeface="HGPｺﾞｼｯｸE"/>
              </a:rPr>
              <a:t>「商談設定」が適切に行われていなければ、決まるはずのものも決まらなくなります。</a:t>
            </a:r>
          </a:p>
          <a:p>
            <a:pPr algn="l">
              <a:spcAft>
                <a:spcPts val="600"/>
              </a:spcAft>
            </a:pPr>
            <a:r>
              <a:rPr sz="1800" b="1">
                <a:solidFill>
                  <a:srgbClr val="FF0000"/>
                </a:solidFill>
                <a:latin typeface="HGPｺﾞｼｯｸE"/>
                <a:ea typeface="HGPｺﾞｼｯｸE"/>
              </a:rPr>
              <a:t>だから、太陽光・蓄電池営業の第一歩は、この商談テーブルの設定です。</a:t>
            </a:r>
          </a:p>
          <a:p>
            <a:pPr algn="l">
              <a:spcAft>
                <a:spcPts val="500"/>
              </a:spcAft>
            </a:pPr>
            <a:r>
              <a:rPr sz="1600" b="1">
                <a:solidFill>
                  <a:srgbClr val="000000"/>
                </a:solidFill>
                <a:latin typeface="HGPｺﾞｼｯｸE"/>
                <a:ea typeface="HGPｺﾞｼｯｸE"/>
              </a:rPr>
              <a:t>確認は商談の前日に入れることを推奨します。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11</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ルール①：よくあるネガと解消法</a:t>
            </a:r>
          </a:p>
        </p:txBody>
      </p:sp>
      <p:graphicFrame>
        <p:nvGraphicFramePr>
          <p:cNvPr id="6" name="Table 5"/>
          <p:cNvGraphicFramePr>
            <a:graphicFrameLocks noGrp="1"/>
          </p:cNvGraphicFramePr>
          <p:nvPr/>
        </p:nvGraphicFramePr>
        <p:xfrm>
          <a:off x="411480" y="1783080"/>
          <a:ext cx="9098280" cy="2624328"/>
        </p:xfrm>
        <a:graphic>
          <a:graphicData uri="http://schemas.openxmlformats.org/drawingml/2006/table">
            <a:tbl>
              <a:tblPr firstRow="1">
                <a:tableStyleId>{5C22544A-7EE6-4342-B048-85BDC9FD1C3A}</a:tableStyleId>
              </a:tblPr>
              <a:tblGrid>
                <a:gridCol w="2240280"/>
                <a:gridCol w="2240280"/>
                <a:gridCol w="4617720"/>
              </a:tblGrid>
              <a:tr h="292608">
                <a:tc>
                  <a:txBody>
                    <a:bodyPr wrap="square"/>
                    <a:lstStyle/>
                    <a:p>
                      <a:pPr algn="ctr"/>
                      <a:r>
                        <a:rPr sz="1300" b="1">
                          <a:solidFill>
                            <a:srgbClr val="FFFFFF"/>
                          </a:solidFill>
                          <a:latin typeface="游ゴシック"/>
                          <a:ea typeface="游ゴシック"/>
                        </a:rPr>
                        <a:t>条件</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よくあるネガ</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解消法</a:t>
                      </a:r>
                    </a:p>
                  </a:txBody>
                  <a:tcPr marL="45720" marR="45720" marT="18288" marB="18288" anchor="ctr">
                    <a:solidFill>
                      <a:srgbClr val="000000"/>
                    </a:solidFill>
                  </a:tcPr>
                </a:tc>
              </a:tr>
              <a:tr h="777240">
                <a:tc>
                  <a:txBody>
                    <a:bodyPr wrap="square"/>
                    <a:lstStyle/>
                    <a:p>
                      <a:pPr algn="l"/>
                      <a:r>
                        <a:rPr sz="1300" b="0">
                          <a:solidFill>
                            <a:srgbClr val="000000"/>
                          </a:solidFill>
                          <a:latin typeface="游ゴシック"/>
                          <a:ea typeface="游ゴシック"/>
                        </a:rPr>
                        <a:t>①検針票・図面が手元にある</a:t>
                      </a:r>
                    </a:p>
                  </a:txBody>
                  <a:tcPr marL="45720" marR="45720" marT="18288" marB="18288" anchor="ctr">
                    <a:noFill/>
                  </a:tcPr>
                </a:tc>
                <a:tc>
                  <a:txBody>
                    <a:bodyPr wrap="square"/>
                    <a:lstStyle/>
                    <a:p>
                      <a:pPr algn="l"/>
                      <a:r>
                        <a:rPr sz="1300" b="0">
                          <a:solidFill>
                            <a:srgbClr val="000000"/>
                          </a:solidFill>
                          <a:latin typeface="游ゴシック"/>
                          <a:ea typeface="游ゴシック"/>
                        </a:rPr>
                        <a:t>図面が見つからない</a:t>
                      </a:r>
                    </a:p>
                  </a:txBody>
                  <a:tcPr marL="45720" marR="45720" marT="18288" marB="18288" anchor="ctr">
                    <a:noFill/>
                  </a:tcPr>
                </a:tc>
                <a:tc>
                  <a:txBody>
                    <a:bodyPr wrap="square"/>
                    <a:lstStyle/>
                    <a:p>
                      <a:pPr algn="l"/>
                      <a:r>
                        <a:rPr sz="1300" b="0">
                          <a:solidFill>
                            <a:srgbClr val="000000"/>
                          </a:solidFill>
                          <a:latin typeface="游ゴシック"/>
                          <a:ea typeface="游ゴシック"/>
                        </a:rPr>
                        <a:t>築20年以内のものであれば、住所のある役所に問い合わせれば入手可能です</a:t>
                      </a:r>
                    </a:p>
                  </a:txBody>
                  <a:tcPr marL="45720" marR="45720" marT="18288" marB="18288" anchor="ctr">
                    <a:noFill/>
                  </a:tcPr>
                </a:tc>
              </a:tr>
              <a:tr h="777240">
                <a:tc>
                  <a:txBody>
                    <a:bodyPr wrap="square"/>
                    <a:lstStyle/>
                    <a:p>
                      <a:pPr algn="l"/>
                      <a:r>
                        <a:rPr sz="1300" b="0">
                          <a:solidFill>
                            <a:srgbClr val="000000"/>
                          </a:solidFill>
                          <a:latin typeface="游ゴシック"/>
                          <a:ea typeface="游ゴシック"/>
                        </a:rPr>
                        <a:t>②夫婦両主権者</a:t>
                      </a:r>
                    </a:p>
                  </a:txBody>
                  <a:tcPr marL="45720" marR="45720" marT="18288" marB="18288" anchor="ctr">
                    <a:noFill/>
                  </a:tcPr>
                </a:tc>
                <a:tc>
                  <a:txBody>
                    <a:bodyPr wrap="square"/>
                    <a:lstStyle/>
                    <a:p>
                      <a:pPr algn="l"/>
                      <a:r>
                        <a:rPr sz="1300" b="0">
                          <a:solidFill>
                            <a:srgbClr val="000000"/>
                          </a:solidFill>
                          <a:latin typeface="游ゴシック"/>
                          <a:ea typeface="游ゴシック"/>
                        </a:rPr>
                        <a:t>片主権者が揃わない</a:t>
                      </a:r>
                    </a:p>
                  </a:txBody>
                  <a:tcPr marL="45720" marR="45720" marT="18288" marB="18288" anchor="ctr">
                    <a:noFill/>
                  </a:tcPr>
                </a:tc>
                <a:tc>
                  <a:txBody>
                    <a:bodyPr wrap="square"/>
                    <a:lstStyle/>
                    <a:p>
                      <a:pPr algn="l"/>
                      <a:r>
                        <a:rPr sz="1300" b="0">
                          <a:solidFill>
                            <a:srgbClr val="000000"/>
                          </a:solidFill>
                          <a:latin typeface="游ゴシック"/>
                          <a:ea typeface="游ゴシック"/>
                        </a:rPr>
                        <a:t>（1）双方それぞれ別の観点で同席してほしい、または（2）当社の規定上そうしている旨を伝えます</a:t>
                      </a:r>
                    </a:p>
                  </a:txBody>
                  <a:tcPr marL="45720" marR="45720" marT="18288" marB="18288" anchor="ctr">
                    <a:noFill/>
                  </a:tcPr>
                </a:tc>
              </a:tr>
              <a:tr h="777240">
                <a:tc>
                  <a:txBody>
                    <a:bodyPr wrap="square"/>
                    <a:lstStyle/>
                    <a:p>
                      <a:pPr algn="l"/>
                      <a:r>
                        <a:rPr sz="1300" b="0">
                          <a:solidFill>
                            <a:srgbClr val="000000"/>
                          </a:solidFill>
                          <a:latin typeface="游ゴシック"/>
                          <a:ea typeface="游ゴシック"/>
                        </a:rPr>
                        <a:t>③1時間以上の時間を抑える</a:t>
                      </a:r>
                    </a:p>
                  </a:txBody>
                  <a:tcPr marL="45720" marR="45720" marT="18288" marB="18288" anchor="ctr">
                    <a:noFill/>
                  </a:tcPr>
                </a:tc>
                <a:tc>
                  <a:txBody>
                    <a:bodyPr wrap="square"/>
                    <a:lstStyle/>
                    <a:p>
                      <a:pPr algn="l"/>
                      <a:r>
                        <a:rPr sz="1300" b="0">
                          <a:solidFill>
                            <a:srgbClr val="000000"/>
                          </a:solidFill>
                          <a:latin typeface="游ゴシック"/>
                          <a:ea typeface="游ゴシック"/>
                        </a:rPr>
                        <a:t>短くしてほしいと言われる</a:t>
                      </a:r>
                    </a:p>
                  </a:txBody>
                  <a:tcPr marL="45720" marR="45720" marT="18288" marB="18288" anchor="ctr">
                    <a:noFill/>
                  </a:tcPr>
                </a:tc>
                <a:tc>
                  <a:txBody>
                    <a:bodyPr wrap="square"/>
                    <a:lstStyle/>
                    <a:p>
                      <a:pPr algn="l"/>
                      <a:r>
                        <a:rPr sz="1300" b="0">
                          <a:solidFill>
                            <a:srgbClr val="000000"/>
                          </a:solidFill>
                          <a:latin typeface="游ゴシック"/>
                          <a:ea typeface="游ゴシック"/>
                        </a:rPr>
                        <a:t>「お家に合った話をしないと意味が無いので」ということを伝えます</a:t>
                      </a:r>
                    </a:p>
                  </a:txBody>
                  <a:tcPr marL="45720" marR="45720" marT="18288" marB="18288" anchor="ctr">
                    <a:noFill/>
                  </a:tcPr>
                </a:tc>
              </a:tr>
            </a:tbl>
          </a:graphicData>
        </a:graphic>
      </p:graphicFrame>
      <p:sp>
        <p:nvSpPr>
          <p:cNvPr id="7" name="Rectangle 6"/>
          <p:cNvSpPr/>
          <p:nvPr/>
        </p:nvSpPr>
        <p:spPr>
          <a:xfrm>
            <a:off x="411480" y="4480560"/>
            <a:ext cx="9098280" cy="123444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ワーク（3分）</a:t>
            </a:r>
          </a:p>
          <a:p>
            <a:pPr algn="l">
              <a:spcAft>
                <a:spcPts val="500"/>
              </a:spcAft>
            </a:pPr>
            <a:r>
              <a:rPr sz="1600" b="0">
                <a:solidFill>
                  <a:srgbClr val="000000"/>
                </a:solidFill>
                <a:latin typeface="HGPｺﾞｼｯｸE"/>
                <a:ea typeface="HGPｺﾞｼｯｸE"/>
              </a:rPr>
              <a:t>自分が直近に失注した商談を1件思い出し、3条件のうち欠けていたものに印をつけてください。</a:t>
            </a:r>
          </a:p>
          <a:p>
            <a:pPr algn="l">
              <a:spcAft>
                <a:spcPts val="500"/>
              </a:spcAft>
            </a:pPr>
            <a:r>
              <a:rPr sz="1600" b="0">
                <a:solidFill>
                  <a:srgbClr val="000000"/>
                </a:solidFill>
                <a:latin typeface="HGPｺﾞｼｯｸE"/>
                <a:ea typeface="HGPｺﾞｼｯｸE"/>
              </a:rPr>
              <a:t>前日確認をしていれば防げたかどうか、ペアで共有します。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12</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ルール②：自社の概要・今回の訪問趣旨の理解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自社に関する「ストーリー」は、商談冒頭に売る</a:t>
            </a:r>
          </a:p>
        </p:txBody>
      </p:sp>
      <p:pic>
        <p:nvPicPr>
          <p:cNvPr id="7" name="Picture 6" descr="ab-02.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p.2　本日お話ししたいこと</a:t>
            </a:r>
          </a:p>
        </p:txBody>
      </p:sp>
      <p:sp>
        <p:nvSpPr>
          <p:cNvPr id="9" name="Rounded Rectangle 8"/>
          <p:cNvSpPr/>
          <p:nvPr/>
        </p:nvSpPr>
        <p:spPr>
          <a:xfrm>
            <a:off x="4892040" y="2286000"/>
            <a:ext cx="4617720" cy="96012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「商談の構成が分かる」</a:t>
            </a:r>
          </a:p>
        </p:txBody>
      </p:sp>
      <p:sp>
        <p:nvSpPr>
          <p:cNvPr id="10" name="Rectangle 9"/>
          <p:cNvSpPr/>
          <p:nvPr/>
        </p:nvSpPr>
        <p:spPr>
          <a:xfrm>
            <a:off x="4892040" y="3383280"/>
            <a:ext cx="4617720" cy="23774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250" b="1">
                <a:solidFill>
                  <a:srgbClr val="000000"/>
                </a:solidFill>
                <a:latin typeface="HGPｺﾞｼｯｸE"/>
                <a:ea typeface="HGPｺﾞｼｯｸE"/>
              </a:rPr>
              <a:t>「で、金額は？」と言われないためにも、最初に商談の構成・内容をお伝えする</a:t>
            </a:r>
          </a:p>
          <a:p>
            <a:pPr algn="l">
              <a:spcAft>
                <a:spcPts val="600"/>
              </a:spcAft>
            </a:pPr>
            <a:r>
              <a:rPr sz="1250" b="0">
                <a:solidFill>
                  <a:srgbClr val="000000"/>
                </a:solidFill>
                <a:latin typeface="HGPｺﾞｼｯｸE"/>
                <a:ea typeface="HGPｺﾞｼｯｸE"/>
              </a:rPr>
              <a:t>ジャパネットHDは創業者の退任後、数千あった商品を600に絞った。話者が本当にその価値を語れる商品だけを残したという</a:t>
            </a:r>
          </a:p>
          <a:p>
            <a:pPr algn="l">
              <a:spcAft>
                <a:spcPts val="600"/>
              </a:spcAft>
            </a:pPr>
            <a:r>
              <a:rPr sz="1250" b="0">
                <a:solidFill>
                  <a:srgbClr val="000000"/>
                </a:solidFill>
                <a:latin typeface="HGPｺﾞｼｯｸE"/>
                <a:ea typeface="HGPｺﾞｼｯｸE"/>
              </a:rPr>
              <a:t>モノがあふれる時代、高価格商材の最大のポイントは「コトを売る」こと</a:t>
            </a:r>
          </a:p>
          <a:p>
            <a:pPr algn="l">
              <a:spcAft>
                <a:spcPts val="600"/>
              </a:spcAft>
            </a:pPr>
            <a:r>
              <a:rPr sz="1300" b="1">
                <a:solidFill>
                  <a:srgbClr val="FF0000"/>
                </a:solidFill>
                <a:latin typeface="HGPｺﾞｼｯｸE"/>
                <a:ea typeface="HGPｺﾞｼｯｸE"/>
              </a:rPr>
              <a:t>自社の「ストーリー」の価値が、選ばれる理由になる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13</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ルール②：自社ストーリーの5段構成</a:t>
            </a:r>
          </a:p>
        </p:txBody>
      </p:sp>
      <p:graphicFrame>
        <p:nvGraphicFramePr>
          <p:cNvPr id="6" name="Table 5"/>
          <p:cNvGraphicFramePr>
            <a:graphicFrameLocks noGrp="1"/>
          </p:cNvGraphicFramePr>
          <p:nvPr/>
        </p:nvGraphicFramePr>
        <p:xfrm>
          <a:off x="411480" y="1783080"/>
          <a:ext cx="5806440" cy="3703320"/>
        </p:xfrm>
        <a:graphic>
          <a:graphicData uri="http://schemas.openxmlformats.org/drawingml/2006/table">
            <a:tbl>
              <a:tblPr firstRow="1">
                <a:tableStyleId>{5C22544A-7EE6-4342-B048-85BDC9FD1C3A}</a:tableStyleId>
              </a:tblPr>
              <a:tblGrid>
                <a:gridCol w="365760"/>
                <a:gridCol w="1417320"/>
                <a:gridCol w="4023360"/>
              </a:tblGrid>
              <a:tr h="274320">
                <a:tc>
                  <a:txBody>
                    <a:bodyPr wrap="square"/>
                    <a:lstStyle/>
                    <a:p>
                      <a:pPr algn="ctr"/>
                      <a:r>
                        <a:rPr sz="1100" b="1">
                          <a:solidFill>
                            <a:srgbClr val="FFFFFF"/>
                          </a:solidFill>
                          <a:latin typeface="游ゴシック"/>
                          <a:ea typeface="游ゴシック"/>
                        </a:rPr>
                        <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目次</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トーク例</a:t>
                      </a:r>
                    </a:p>
                  </a:txBody>
                  <a:tcPr marL="45720" marR="45720" marT="18288" marB="18288" anchor="ctr">
                    <a:solidFill>
                      <a:srgbClr val="000000"/>
                    </a:solidFill>
                  </a:tcPr>
                </a:tc>
              </a:tr>
              <a:tr h="685800">
                <a:tc>
                  <a:txBody>
                    <a:bodyPr wrap="square"/>
                    <a:lstStyle/>
                    <a:p>
                      <a:pPr algn="l"/>
                      <a:r>
                        <a:rPr sz="1100" b="0">
                          <a:solidFill>
                            <a:srgbClr val="000000"/>
                          </a:solidFill>
                          <a:latin typeface="游ゴシック"/>
                          <a:ea typeface="游ゴシック"/>
                        </a:rPr>
                        <a:t>①</a:t>
                      </a:r>
                    </a:p>
                  </a:txBody>
                  <a:tcPr marL="45720" marR="45720" marT="18288" marB="18288" anchor="ctr">
                    <a:noFill/>
                  </a:tcPr>
                </a:tc>
                <a:tc>
                  <a:txBody>
                    <a:bodyPr wrap="square"/>
                    <a:lstStyle/>
                    <a:p>
                      <a:pPr algn="l"/>
                      <a:r>
                        <a:rPr sz="1100" b="0">
                          <a:solidFill>
                            <a:srgbClr val="000000"/>
                          </a:solidFill>
                          <a:latin typeface="游ゴシック"/>
                          <a:ea typeface="游ゴシック"/>
                        </a:rPr>
                        <a:t>企業理念</a:t>
                      </a:r>
                    </a:p>
                  </a:txBody>
                  <a:tcPr marL="45720" marR="45720" marT="18288" marB="18288" anchor="ctr">
                    <a:noFill/>
                  </a:tcPr>
                </a:tc>
                <a:tc>
                  <a:txBody>
                    <a:bodyPr wrap="square"/>
                    <a:lstStyle/>
                    <a:p>
                      <a:pPr algn="l"/>
                      <a:r>
                        <a:rPr sz="1100" b="0">
                          <a:solidFill>
                            <a:srgbClr val="000000"/>
                          </a:solidFill>
                          <a:latin typeface="游ゴシック"/>
                          <a:ea typeface="游ゴシック"/>
                        </a:rPr>
                        <a:t>当社は「太陽光を通じて幸せを届ける」ということを大事にさせて頂いています</a:t>
                      </a:r>
                    </a:p>
                  </a:txBody>
                  <a:tcPr marL="45720" marR="45720" marT="18288" marB="18288" anchor="ctr">
                    <a:noFill/>
                  </a:tcPr>
                </a:tc>
              </a:tr>
              <a:tr h="685800">
                <a:tc>
                  <a:txBody>
                    <a:bodyPr wrap="square"/>
                    <a:lstStyle/>
                    <a:p>
                      <a:pPr algn="l"/>
                      <a:r>
                        <a:rPr sz="1100" b="0">
                          <a:solidFill>
                            <a:srgbClr val="000000"/>
                          </a:solidFill>
                          <a:latin typeface="游ゴシック"/>
                          <a:ea typeface="游ゴシック"/>
                        </a:rPr>
                        <a:t>②</a:t>
                      </a:r>
                    </a:p>
                  </a:txBody>
                  <a:tcPr marL="45720" marR="45720" marT="18288" marB="18288" anchor="ctr">
                    <a:noFill/>
                  </a:tcPr>
                </a:tc>
                <a:tc>
                  <a:txBody>
                    <a:bodyPr wrap="square"/>
                    <a:lstStyle/>
                    <a:p>
                      <a:pPr algn="l"/>
                      <a:r>
                        <a:rPr sz="1100" b="0">
                          <a:solidFill>
                            <a:srgbClr val="000000"/>
                          </a:solidFill>
                          <a:latin typeface="游ゴシック"/>
                          <a:ea typeface="游ゴシック"/>
                        </a:rPr>
                        <a:t>創業ヒストリー</a:t>
                      </a:r>
                    </a:p>
                  </a:txBody>
                  <a:tcPr marL="45720" marR="45720" marT="18288" marB="18288" anchor="ctr">
                    <a:noFill/>
                  </a:tcPr>
                </a:tc>
                <a:tc>
                  <a:txBody>
                    <a:bodyPr wrap="square"/>
                    <a:lstStyle/>
                    <a:p>
                      <a:pPr algn="l"/>
                      <a:r>
                        <a:rPr sz="1100" b="0">
                          <a:solidFill>
                            <a:srgbClr val="000000"/>
                          </a:solidFill>
                          <a:latin typeface="游ゴシック"/>
                          <a:ea typeface="游ゴシック"/>
                        </a:rPr>
                        <a:t>元々、代表の田中が勤めていた訪販の会社では顧客目線で考えることが少なく、大クレームに発展して痛い目を見たことがありまして</a:t>
                      </a:r>
                    </a:p>
                  </a:txBody>
                  <a:tcPr marL="45720" marR="45720" marT="18288" marB="18288" anchor="ctr">
                    <a:noFill/>
                  </a:tcPr>
                </a:tc>
              </a:tr>
              <a:tr h="685800">
                <a:tc>
                  <a:txBody>
                    <a:bodyPr wrap="square"/>
                    <a:lstStyle/>
                    <a:p>
                      <a:pPr algn="l"/>
                      <a:r>
                        <a:rPr sz="1100" b="0">
                          <a:solidFill>
                            <a:srgbClr val="000000"/>
                          </a:solidFill>
                          <a:latin typeface="游ゴシック"/>
                          <a:ea typeface="游ゴシック"/>
                        </a:rPr>
                        <a:t>③</a:t>
                      </a:r>
                    </a:p>
                  </a:txBody>
                  <a:tcPr marL="45720" marR="45720" marT="18288" marB="18288" anchor="ctr">
                    <a:noFill/>
                  </a:tcPr>
                </a:tc>
                <a:tc>
                  <a:txBody>
                    <a:bodyPr wrap="square"/>
                    <a:lstStyle/>
                    <a:p>
                      <a:pPr algn="l"/>
                      <a:r>
                        <a:rPr sz="1100" b="0">
                          <a:solidFill>
                            <a:srgbClr val="000000"/>
                          </a:solidFill>
                          <a:latin typeface="游ゴシック"/>
                          <a:ea typeface="游ゴシック"/>
                        </a:rPr>
                        <a:t>当社のコダワリ</a:t>
                      </a:r>
                    </a:p>
                  </a:txBody>
                  <a:tcPr marL="45720" marR="45720" marT="18288" marB="18288" anchor="ctr">
                    <a:noFill/>
                  </a:tcPr>
                </a:tc>
                <a:tc>
                  <a:txBody>
                    <a:bodyPr wrap="square"/>
                    <a:lstStyle/>
                    <a:p>
                      <a:pPr algn="l"/>
                      <a:r>
                        <a:rPr sz="1100" b="0">
                          <a:solidFill>
                            <a:srgbClr val="000000"/>
                          </a:solidFill>
                          <a:latin typeface="游ゴシック"/>
                          <a:ea typeface="游ゴシック"/>
                        </a:rPr>
                        <a:t>なので「目の前のお客様を大事にする」ということだけは譲らないようにしているのですよね</a:t>
                      </a:r>
                    </a:p>
                  </a:txBody>
                  <a:tcPr marL="45720" marR="45720" marT="18288" marB="18288" anchor="ctr">
                    <a:noFill/>
                  </a:tcPr>
                </a:tc>
              </a:tr>
              <a:tr h="685800">
                <a:tc>
                  <a:txBody>
                    <a:bodyPr wrap="square"/>
                    <a:lstStyle/>
                    <a:p>
                      <a:pPr algn="l"/>
                      <a:r>
                        <a:rPr sz="1100" b="0">
                          <a:solidFill>
                            <a:srgbClr val="000000"/>
                          </a:solidFill>
                          <a:latin typeface="游ゴシック"/>
                          <a:ea typeface="游ゴシック"/>
                        </a:rPr>
                        <a:t>④</a:t>
                      </a:r>
                    </a:p>
                  </a:txBody>
                  <a:tcPr marL="45720" marR="45720" marT="18288" marB="18288" anchor="ctr">
                    <a:noFill/>
                  </a:tcPr>
                </a:tc>
                <a:tc>
                  <a:txBody>
                    <a:bodyPr wrap="square"/>
                    <a:lstStyle/>
                    <a:p>
                      <a:pPr algn="l"/>
                      <a:r>
                        <a:rPr sz="1100" b="0">
                          <a:solidFill>
                            <a:srgbClr val="000000"/>
                          </a:solidFill>
                          <a:latin typeface="游ゴシック"/>
                          <a:ea typeface="游ゴシック"/>
                        </a:rPr>
                        <a:t>サービス内容</a:t>
                      </a:r>
                    </a:p>
                  </a:txBody>
                  <a:tcPr marL="45720" marR="45720" marT="18288" marB="18288" anchor="ctr">
                    <a:noFill/>
                  </a:tcPr>
                </a:tc>
                <a:tc>
                  <a:txBody>
                    <a:bodyPr wrap="square"/>
                    <a:lstStyle/>
                    <a:p>
                      <a:pPr algn="l"/>
                      <a:r>
                        <a:rPr sz="1100" b="0">
                          <a:solidFill>
                            <a:srgbClr val="000000"/>
                          </a:solidFill>
                          <a:latin typeface="游ゴシック"/>
                          <a:ea typeface="游ゴシック"/>
                        </a:rPr>
                        <a:t>施工いただいたお客様には、必ず3年ごとに訪問させていただいています。形だけにならないよう報告書も書いて、モニターの写真も撮らせていただいています</a:t>
                      </a:r>
                    </a:p>
                  </a:txBody>
                  <a:tcPr marL="45720" marR="45720" marT="18288" marB="18288" anchor="ctr">
                    <a:noFill/>
                  </a:tcPr>
                </a:tc>
              </a:tr>
              <a:tr h="685800">
                <a:tc>
                  <a:txBody>
                    <a:bodyPr wrap="square"/>
                    <a:lstStyle/>
                    <a:p>
                      <a:pPr algn="l"/>
                      <a:r>
                        <a:rPr sz="1100" b="0">
                          <a:solidFill>
                            <a:srgbClr val="000000"/>
                          </a:solidFill>
                          <a:latin typeface="游ゴシック"/>
                          <a:ea typeface="游ゴシック"/>
                        </a:rPr>
                        <a:t>⑤</a:t>
                      </a:r>
                    </a:p>
                  </a:txBody>
                  <a:tcPr marL="45720" marR="45720" marT="18288" marB="18288" anchor="ctr">
                    <a:noFill/>
                  </a:tcPr>
                </a:tc>
                <a:tc>
                  <a:txBody>
                    <a:bodyPr wrap="square"/>
                    <a:lstStyle/>
                    <a:p>
                      <a:pPr algn="l"/>
                      <a:r>
                        <a:rPr sz="1100" b="0">
                          <a:solidFill>
                            <a:srgbClr val="000000"/>
                          </a:solidFill>
                          <a:latin typeface="游ゴシック"/>
                          <a:ea typeface="游ゴシック"/>
                        </a:rPr>
                        <a:t>営業マンの信条</a:t>
                      </a:r>
                    </a:p>
                  </a:txBody>
                  <a:tcPr marL="45720" marR="45720" marT="18288" marB="18288" anchor="ctr">
                    <a:noFill/>
                  </a:tcPr>
                </a:tc>
                <a:tc>
                  <a:txBody>
                    <a:bodyPr wrap="square"/>
                    <a:lstStyle/>
                    <a:p>
                      <a:pPr algn="l"/>
                      <a:r>
                        <a:rPr sz="1100" b="0">
                          <a:solidFill>
                            <a:srgbClr val="000000"/>
                          </a:solidFill>
                          <a:latin typeface="游ゴシック"/>
                          <a:ea typeface="游ゴシック"/>
                        </a:rPr>
                        <a:t>だから正直、私たちも末永いお付き合いだから嘘が付けなくって（笑）今回はぜひ、光熱費に関するリアルなお話が出来たらと思っています</a:t>
                      </a:r>
                    </a:p>
                  </a:txBody>
                  <a:tcPr marL="45720" marR="45720" marT="18288" marB="18288" anchor="ctr">
                    <a:noFill/>
                  </a:tcPr>
                </a:tc>
              </a:tr>
            </a:tbl>
          </a:graphicData>
        </a:graphic>
      </p:graphicFrame>
      <p:sp>
        <p:nvSpPr>
          <p:cNvPr id="7" name="Rectangle 6"/>
          <p:cNvSpPr/>
          <p:nvPr/>
        </p:nvSpPr>
        <p:spPr>
          <a:xfrm>
            <a:off x="6400800" y="1783080"/>
            <a:ext cx="3108960" cy="37033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1000"/>
              </a:spcAft>
            </a:pPr>
            <a:r>
              <a:rPr sz="1500" b="1">
                <a:solidFill>
                  <a:srgbClr val="000000"/>
                </a:solidFill>
                <a:latin typeface="HGPｺﾞｼｯｸE"/>
                <a:ea typeface="HGPｺﾞｼｯｸE"/>
              </a:rPr>
              <a:t>効いている心理法則</a:t>
            </a:r>
          </a:p>
          <a:p>
            <a:pPr algn="l">
              <a:spcAft>
                <a:spcPts val="300"/>
              </a:spcAft>
            </a:pPr>
            <a:r>
              <a:rPr sz="1400" b="1">
                <a:solidFill>
                  <a:srgbClr val="0070C0"/>
                </a:solidFill>
                <a:latin typeface="HGPｺﾞｼｯｸE"/>
                <a:ea typeface="HGPｺﾞｼｯｸE"/>
              </a:rPr>
              <a:t>物語効果</a:t>
            </a:r>
          </a:p>
          <a:p>
            <a:pPr algn="l">
              <a:spcAft>
                <a:spcPts val="1000"/>
              </a:spcAft>
            </a:pPr>
            <a:r>
              <a:rPr sz="1200" b="0">
                <a:solidFill>
                  <a:srgbClr val="000000"/>
                </a:solidFill>
                <a:latin typeface="HGPｺﾞｼｯｸE"/>
                <a:ea typeface="HGPｺﾞｼｯｸE"/>
              </a:rPr>
              <a:t>事実の羅列より、物語の方が理解しやすく記憶に残る</a:t>
            </a:r>
          </a:p>
          <a:p>
            <a:pPr algn="l">
              <a:spcAft>
                <a:spcPts val="300"/>
              </a:spcAft>
            </a:pPr>
            <a:r>
              <a:rPr sz="1400" b="1">
                <a:solidFill>
                  <a:srgbClr val="0070C0"/>
                </a:solidFill>
                <a:latin typeface="HGPｺﾞｼｯｸE"/>
                <a:ea typeface="HGPｺﾞｼｯｸE"/>
              </a:rPr>
              <a:t>ラポール形成</a:t>
            </a:r>
          </a:p>
          <a:p>
            <a:pPr algn="l">
              <a:spcAft>
                <a:spcPts val="1000"/>
              </a:spcAft>
            </a:pPr>
            <a:r>
              <a:rPr sz="1200" b="0">
                <a:solidFill>
                  <a:srgbClr val="000000"/>
                </a:solidFill>
                <a:latin typeface="HGPｺﾞｼｯｸE"/>
                <a:ea typeface="HGPｺﾞｼｯｸE"/>
              </a:rPr>
              <a:t>信条やコダワリが、個人的なつながりと共感を育む</a:t>
            </a:r>
          </a:p>
          <a:p>
            <a:pPr algn="l">
              <a:spcAft>
                <a:spcPts val="300"/>
              </a:spcAft>
            </a:pPr>
            <a:r>
              <a:rPr sz="1400" b="1">
                <a:solidFill>
                  <a:srgbClr val="0070C0"/>
                </a:solidFill>
                <a:latin typeface="HGPｺﾞｼｯｸE"/>
                <a:ea typeface="HGPｺﾞｼｯｸE"/>
              </a:rPr>
              <a:t>自己開示の法則</a:t>
            </a:r>
          </a:p>
          <a:p>
            <a:pPr algn="l">
              <a:spcAft>
                <a:spcPts val="1000"/>
              </a:spcAft>
            </a:pPr>
            <a:r>
              <a:rPr sz="1200" b="0">
                <a:solidFill>
                  <a:srgbClr val="000000"/>
                </a:solidFill>
                <a:latin typeface="HGPｺﾞｼｯｸE"/>
                <a:ea typeface="HGPｺﾞｼｯｸE"/>
              </a:rPr>
              <a:t>一方が開示すると相手も開示しやすくなる</a:t>
            </a:r>
          </a:p>
          <a:p>
            <a:pPr algn="l">
              <a:spcAft>
                <a:spcPts val="300"/>
              </a:spcAft>
            </a:pPr>
            <a:r>
              <a:rPr sz="1400" b="1">
                <a:solidFill>
                  <a:srgbClr val="0070C0"/>
                </a:solidFill>
                <a:latin typeface="HGPｺﾞｼｯｸE"/>
                <a:ea typeface="HGPｺﾞｼｯｸE"/>
              </a:rPr>
              <a:t>独自の価値提案の明確化</a:t>
            </a:r>
          </a:p>
          <a:p>
            <a:pPr algn="l">
              <a:spcAft>
                <a:spcPts val="500"/>
              </a:spcAft>
            </a:pPr>
            <a:r>
              <a:rPr sz="1200" b="0">
                <a:solidFill>
                  <a:srgbClr val="000000"/>
                </a:solidFill>
                <a:latin typeface="HGPｺﾞｼｯｸE"/>
                <a:ea typeface="HGPｺﾞｼｯｸE"/>
              </a:rPr>
              <a:t>3年ごとの定期訪問など、他社にない強みが選ばれる理由になる</a:t>
            </a:r>
          </a:p>
        </p:txBody>
      </p:sp>
      <p:sp>
        <p:nvSpPr>
          <p:cNvPr id="8" name="Rectangle 7"/>
          <p:cNvSpPr/>
          <p:nvPr/>
        </p:nvSpPr>
        <p:spPr>
          <a:xfrm>
            <a:off x="411480" y="566928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パンフレットを使いながら、鉄板で使える自社のストーリーを組み立てておく</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14</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ワーク：自社のストーリーを書く（10分）</a:t>
            </a:r>
          </a:p>
        </p:txBody>
      </p:sp>
      <p:sp>
        <p:nvSpPr>
          <p:cNvPr id="6" name="TextBox 5"/>
          <p:cNvSpPr txBox="1"/>
          <p:nvPr/>
        </p:nvSpPr>
        <p:spPr>
          <a:xfrm>
            <a:off x="411480" y="1719072"/>
            <a:ext cx="9098280" cy="530352"/>
          </a:xfrm>
          <a:prstGeom prst="rect">
            <a:avLst/>
          </a:prstGeom>
          <a:noFill/>
        </p:spPr>
        <p:txBody>
          <a:bodyPr wrap="square" anchor="t" lIns="0" rIns="0" tIns="18288" bIns="18288">
            <a:spAutoFit/>
          </a:bodyPr>
          <a:lstStyle/>
          <a:p>
            <a:pPr algn="l">
              <a:spcAft>
                <a:spcPts val="500"/>
              </a:spcAft>
            </a:pPr>
            <a:r>
              <a:rPr sz="1400" b="0">
                <a:solidFill>
                  <a:srgbClr val="595959"/>
                </a:solidFill>
                <a:latin typeface="HGPｺﾞｼｯｸE"/>
                <a:ea typeface="HGPｺﾞｼｯｸE"/>
              </a:rPr>
              <a:t>実例をもとに「お客様から選ばれる自社（自分）のストーリー」を明確にしてみましょう。自社のパンフレットがあると尚良いです。</a:t>
            </a:r>
          </a:p>
        </p:txBody>
      </p:sp>
      <p:graphicFrame>
        <p:nvGraphicFramePr>
          <p:cNvPr id="7" name="Table 6"/>
          <p:cNvGraphicFramePr>
            <a:graphicFrameLocks noGrp="1"/>
          </p:cNvGraphicFramePr>
          <p:nvPr/>
        </p:nvGraphicFramePr>
        <p:xfrm>
          <a:off x="411480" y="2304288"/>
          <a:ext cx="9098280" cy="3310128"/>
        </p:xfrm>
        <a:graphic>
          <a:graphicData uri="http://schemas.openxmlformats.org/drawingml/2006/table">
            <a:tbl>
              <a:tblPr firstRow="1">
                <a:tableStyleId>{5C22544A-7EE6-4342-B048-85BDC9FD1C3A}</a:tableStyleId>
              </a:tblPr>
              <a:tblGrid>
                <a:gridCol w="411480"/>
                <a:gridCol w="1691640"/>
                <a:gridCol w="6995160"/>
              </a:tblGrid>
              <a:tr h="292608">
                <a:tc>
                  <a:txBody>
                    <a:bodyPr wrap="square"/>
                    <a:lstStyle/>
                    <a:p>
                      <a:pPr algn="ctr"/>
                      <a:r>
                        <a:rPr sz="1300" b="1">
                          <a:solidFill>
                            <a:srgbClr val="FFFFFF"/>
                          </a:solidFill>
                          <a:latin typeface="游ゴシック"/>
                          <a:ea typeface="游ゴシック"/>
                        </a:rPr>
                        <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目次</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自分のトーク（記入してください）</a:t>
                      </a:r>
                    </a:p>
                  </a:txBody>
                  <a:tcPr marL="45720" marR="45720" marT="18288" marB="18288" anchor="ctr">
                    <a:solidFill>
                      <a:srgbClr val="000000"/>
                    </a:solidFill>
                  </a:tcPr>
                </a:tc>
              </a:tr>
              <a:tr h="603504">
                <a:tc>
                  <a:txBody>
                    <a:bodyPr wrap="square"/>
                    <a:lstStyle/>
                    <a:p>
                      <a:pPr algn="l"/>
                      <a:r>
                        <a:rPr sz="1300" b="0">
                          <a:solidFill>
                            <a:srgbClr val="000000"/>
                          </a:solidFill>
                          <a:latin typeface="游ゴシック"/>
                          <a:ea typeface="游ゴシック"/>
                        </a:rPr>
                        <a:t>①</a:t>
                      </a:r>
                    </a:p>
                  </a:txBody>
                  <a:tcPr marL="45720" marR="45720" marT="18288" marB="18288" anchor="ctr">
                    <a:noFill/>
                  </a:tcPr>
                </a:tc>
                <a:tc>
                  <a:txBody>
                    <a:bodyPr wrap="square"/>
                    <a:lstStyle/>
                    <a:p>
                      <a:pPr algn="l"/>
                      <a:r>
                        <a:rPr sz="1300" b="0">
                          <a:solidFill>
                            <a:srgbClr val="000000"/>
                          </a:solidFill>
                          <a:latin typeface="游ゴシック"/>
                          <a:ea typeface="游ゴシック"/>
                        </a:rPr>
                        <a:t>企業理念</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03504">
                <a:tc>
                  <a:txBody>
                    <a:bodyPr wrap="square"/>
                    <a:lstStyle/>
                    <a:p>
                      <a:pPr algn="l"/>
                      <a:r>
                        <a:rPr sz="1300" b="0">
                          <a:solidFill>
                            <a:srgbClr val="000000"/>
                          </a:solidFill>
                          <a:latin typeface="游ゴシック"/>
                          <a:ea typeface="游ゴシック"/>
                        </a:rPr>
                        <a:t>②</a:t>
                      </a:r>
                    </a:p>
                  </a:txBody>
                  <a:tcPr marL="45720" marR="45720" marT="18288" marB="18288" anchor="ctr">
                    <a:noFill/>
                  </a:tcPr>
                </a:tc>
                <a:tc>
                  <a:txBody>
                    <a:bodyPr wrap="square"/>
                    <a:lstStyle/>
                    <a:p>
                      <a:pPr algn="l"/>
                      <a:r>
                        <a:rPr sz="1300" b="0">
                          <a:solidFill>
                            <a:srgbClr val="000000"/>
                          </a:solidFill>
                          <a:latin typeface="游ゴシック"/>
                          <a:ea typeface="游ゴシック"/>
                        </a:rPr>
                        <a:t>創業ヒストリー</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03504">
                <a:tc>
                  <a:txBody>
                    <a:bodyPr wrap="square"/>
                    <a:lstStyle/>
                    <a:p>
                      <a:pPr algn="l"/>
                      <a:r>
                        <a:rPr sz="1300" b="0">
                          <a:solidFill>
                            <a:srgbClr val="000000"/>
                          </a:solidFill>
                          <a:latin typeface="游ゴシック"/>
                          <a:ea typeface="游ゴシック"/>
                        </a:rPr>
                        <a:t>③</a:t>
                      </a:r>
                    </a:p>
                  </a:txBody>
                  <a:tcPr marL="45720" marR="45720" marT="18288" marB="18288" anchor="ctr">
                    <a:noFill/>
                  </a:tcPr>
                </a:tc>
                <a:tc>
                  <a:txBody>
                    <a:bodyPr wrap="square"/>
                    <a:lstStyle/>
                    <a:p>
                      <a:pPr algn="l"/>
                      <a:r>
                        <a:rPr sz="1300" b="0">
                          <a:solidFill>
                            <a:srgbClr val="000000"/>
                          </a:solidFill>
                          <a:latin typeface="游ゴシック"/>
                          <a:ea typeface="游ゴシック"/>
                        </a:rPr>
                        <a:t>当社のコダワリ</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03504">
                <a:tc>
                  <a:txBody>
                    <a:bodyPr wrap="square"/>
                    <a:lstStyle/>
                    <a:p>
                      <a:pPr algn="l"/>
                      <a:r>
                        <a:rPr sz="1300" b="0">
                          <a:solidFill>
                            <a:srgbClr val="000000"/>
                          </a:solidFill>
                          <a:latin typeface="游ゴシック"/>
                          <a:ea typeface="游ゴシック"/>
                        </a:rPr>
                        <a:t>④</a:t>
                      </a:r>
                    </a:p>
                  </a:txBody>
                  <a:tcPr marL="45720" marR="45720" marT="18288" marB="18288" anchor="ctr">
                    <a:noFill/>
                  </a:tcPr>
                </a:tc>
                <a:tc>
                  <a:txBody>
                    <a:bodyPr wrap="square"/>
                    <a:lstStyle/>
                    <a:p>
                      <a:pPr algn="l"/>
                      <a:r>
                        <a:rPr sz="1300" b="0">
                          <a:solidFill>
                            <a:srgbClr val="000000"/>
                          </a:solidFill>
                          <a:latin typeface="游ゴシック"/>
                          <a:ea typeface="游ゴシック"/>
                        </a:rPr>
                        <a:t>サービス内容</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r h="603504">
                <a:tc>
                  <a:txBody>
                    <a:bodyPr wrap="square"/>
                    <a:lstStyle/>
                    <a:p>
                      <a:pPr algn="l"/>
                      <a:r>
                        <a:rPr sz="1300" b="0">
                          <a:solidFill>
                            <a:srgbClr val="000000"/>
                          </a:solidFill>
                          <a:latin typeface="游ゴシック"/>
                          <a:ea typeface="游ゴシック"/>
                        </a:rPr>
                        <a:t>⑤</a:t>
                      </a:r>
                    </a:p>
                  </a:txBody>
                  <a:tcPr marL="45720" marR="45720" marT="18288" marB="18288" anchor="ctr">
                    <a:noFill/>
                  </a:tcPr>
                </a:tc>
                <a:tc>
                  <a:txBody>
                    <a:bodyPr wrap="square"/>
                    <a:lstStyle/>
                    <a:p>
                      <a:pPr algn="l"/>
                      <a:r>
                        <a:rPr sz="1300" b="0">
                          <a:solidFill>
                            <a:srgbClr val="000000"/>
                          </a:solidFill>
                          <a:latin typeface="游ゴシック"/>
                          <a:ea typeface="游ゴシック"/>
                        </a:rPr>
                        <a:t>営業マンの信条</a:t>
                      </a:r>
                    </a:p>
                  </a:txBody>
                  <a:tcPr marL="45720" marR="45720" marT="18288" marB="18288" anchor="ctr">
                    <a:noFill/>
                  </a:tcPr>
                </a:tc>
                <a:tc>
                  <a:txBody>
                    <a:bodyPr wrap="square"/>
                    <a:lstStyle/>
                    <a:p>
                      <a:pPr algn="l"/>
                      <a:r>
                        <a:rPr sz="1300" b="0">
                          <a:solidFill>
                            <a:srgbClr val="000000"/>
                          </a:solidFill>
                          <a:latin typeface="游ゴシック"/>
                          <a:ea typeface="游ゴシック"/>
                        </a:rPr>
                        <a:t/>
                      </a:r>
                    </a:p>
                  </a:txBody>
                  <a:tcPr marL="45720" marR="45720" marT="18288" marB="18288" anchor="ctr">
                    <a:noFill/>
                  </a:tcPr>
                </a:tc>
              </a:tr>
            </a:tbl>
          </a:graphicData>
        </a:graphic>
      </p:graphicFrame>
      <p:sp>
        <p:nvSpPr>
          <p:cNvPr id="8" name="Rectangle 7"/>
          <p:cNvSpPr/>
          <p:nvPr/>
        </p:nvSpPr>
        <p:spPr>
          <a:xfrm>
            <a:off x="411480" y="5779008"/>
            <a:ext cx="9098280" cy="475488"/>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700" b="1">
                <a:solidFill>
                  <a:srgbClr val="000000"/>
                </a:solidFill>
                <a:latin typeface="HGPｺﾞｼｯｸE"/>
                <a:ea typeface="HGPｺﾞｼｯｸE"/>
              </a:rPr>
              <a:t>書けたらペアで実演。聞き手は「この人から買ってもいいと思えたか」を答える</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15</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ルール③：太陽光＋蓄電池の未導入理由の確認</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3回聞くことで、お客様のNOに近づくヒアリング</a:t>
            </a:r>
          </a:p>
        </p:txBody>
      </p:sp>
      <p:sp>
        <p:nvSpPr>
          <p:cNvPr id="7" name="Rectangle 6"/>
          <p:cNvSpPr/>
          <p:nvPr/>
        </p:nvSpPr>
        <p:spPr>
          <a:xfrm>
            <a:off x="411480" y="2286000"/>
            <a:ext cx="4160520" cy="329184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1200"/>
              </a:spcAft>
            </a:pPr>
            <a:r>
              <a:rPr sz="1700" b="1">
                <a:solidFill>
                  <a:srgbClr val="000000"/>
                </a:solidFill>
                <a:latin typeface="HGPｺﾞｼｯｸE"/>
                <a:ea typeface="HGPｺﾞｼｯｸE"/>
              </a:rPr>
              <a:t>このルールは資料を使いません</a:t>
            </a:r>
          </a:p>
          <a:p>
            <a:pPr algn="l">
              <a:spcAft>
                <a:spcPts val="400"/>
              </a:spcAft>
            </a:pPr>
            <a:r>
              <a:rPr sz="1500" b="0">
                <a:solidFill>
                  <a:srgbClr val="000000"/>
                </a:solidFill>
                <a:latin typeface="HGPｺﾞｼｯｸE"/>
                <a:ea typeface="HGPｺﾞｼｯｸE"/>
              </a:rPr>
              <a:t>アプローチブックは閉じたまま、</a:t>
            </a:r>
          </a:p>
          <a:p>
            <a:pPr algn="l">
              <a:spcAft>
                <a:spcPts val="1400"/>
              </a:spcAft>
            </a:pPr>
            <a:r>
              <a:rPr sz="1500" b="0">
                <a:solidFill>
                  <a:srgbClr val="000000"/>
                </a:solidFill>
                <a:latin typeface="HGPｺﾞｼｯｸE"/>
                <a:ea typeface="HGPｺﾞｼｯｸE"/>
              </a:rPr>
              <a:t>お客様の顔を見て聞くパートです。</a:t>
            </a:r>
          </a:p>
          <a:p>
            <a:pPr algn="l">
              <a:spcAft>
                <a:spcPts val="600"/>
              </a:spcAft>
            </a:pPr>
            <a:r>
              <a:rPr sz="1400" b="1">
                <a:solidFill>
                  <a:srgbClr val="595959"/>
                </a:solidFill>
                <a:latin typeface="HGPｺﾞｼｯｸE"/>
                <a:ea typeface="HGPｺﾞｼｯｸE"/>
              </a:rPr>
              <a:t>手元に置くもの</a:t>
            </a:r>
          </a:p>
          <a:p>
            <a:pPr algn="l">
              <a:spcAft>
                <a:spcPts val="400"/>
              </a:spcAft>
            </a:pPr>
            <a:r>
              <a:rPr sz="1400" b="0">
                <a:solidFill>
                  <a:srgbClr val="000000"/>
                </a:solidFill>
                <a:latin typeface="HGPｺﾞｼｯｸE"/>
                <a:ea typeface="HGPｺﾞｼｯｸE"/>
              </a:rPr>
              <a:t>・検針票（お客様が出したもの）</a:t>
            </a:r>
          </a:p>
          <a:p>
            <a:pPr algn="l">
              <a:spcAft>
                <a:spcPts val="400"/>
              </a:spcAft>
            </a:pPr>
            <a:r>
              <a:rPr sz="1400" b="0">
                <a:solidFill>
                  <a:srgbClr val="000000"/>
                </a:solidFill>
                <a:latin typeface="HGPｺﾞｼｯｸE"/>
                <a:ea typeface="HGPｺﾞｼｯｸE"/>
              </a:rPr>
              <a:t>・ご自宅の図面</a:t>
            </a:r>
          </a:p>
          <a:p>
            <a:pPr algn="l">
              <a:spcAft>
                <a:spcPts val="500"/>
              </a:spcAft>
            </a:pPr>
            <a:r>
              <a:rPr sz="1400" b="0">
                <a:solidFill>
                  <a:srgbClr val="000000"/>
                </a:solidFill>
                <a:latin typeface="HGPｺﾞｼｯｸE"/>
                <a:ea typeface="HGPｺﾞｼｯｸE"/>
              </a:rPr>
              <a:t>・メモ（聞いた内容を必ず書き取る）</a:t>
            </a:r>
          </a:p>
        </p:txBody>
      </p:sp>
      <p:sp>
        <p:nvSpPr>
          <p:cNvPr id="8" name="Rectangle 7"/>
          <p:cNvSpPr/>
          <p:nvPr/>
        </p:nvSpPr>
        <p:spPr>
          <a:xfrm>
            <a:off x="4892040" y="2286000"/>
            <a:ext cx="4617720" cy="3291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考え方</a:t>
            </a:r>
          </a:p>
          <a:p>
            <a:pPr algn="l">
              <a:spcAft>
                <a:spcPts val="600"/>
              </a:spcAft>
            </a:pPr>
            <a:r>
              <a:rPr sz="1500" b="1">
                <a:solidFill>
                  <a:srgbClr val="000000"/>
                </a:solidFill>
                <a:latin typeface="HGPｺﾞｼｯｸE"/>
                <a:ea typeface="HGPｺﾞｼｯｸE"/>
              </a:rPr>
              <a:t>太陽光・蓄電池営業の基本は「お客様のNO（導入しない理由）を潰すこと」</a:t>
            </a:r>
          </a:p>
          <a:p>
            <a:pPr algn="l">
              <a:spcAft>
                <a:spcPts val="600"/>
              </a:spcAft>
            </a:pPr>
            <a:r>
              <a:rPr sz="1250" b="0">
                <a:solidFill>
                  <a:srgbClr val="000000"/>
                </a:solidFill>
                <a:latin typeface="HGPｺﾞｼｯｸE"/>
                <a:ea typeface="HGPｺﾞｼｯｸE"/>
              </a:rPr>
              <a:t>商品力が高い（10数年で元を取れる）のに踏み切れないのは、お客様の中で何らかのNO（不便・不満・不安）が解消されなかったから</a:t>
            </a:r>
          </a:p>
          <a:p>
            <a:pPr algn="l">
              <a:spcAft>
                <a:spcPts val="600"/>
              </a:spcAft>
            </a:pPr>
            <a:r>
              <a:rPr sz="1250" b="0">
                <a:solidFill>
                  <a:srgbClr val="000000"/>
                </a:solidFill>
                <a:latin typeface="HGPｺﾞｼｯｸE"/>
                <a:ea typeface="HGPｺﾞｼｯｸE"/>
              </a:rPr>
              <a:t>訪問販売・催事販売・テレアポ等で、大多数の方は過去に太陽光の話を耳に入れている。基礎知識は持っている前提で、「導入しなかった理由」を明確にしてから商談に入る</a:t>
            </a:r>
          </a:p>
          <a:p>
            <a:pPr algn="l">
              <a:spcAft>
                <a:spcPts val="600"/>
              </a:spcAft>
            </a:pPr>
            <a:r>
              <a:rPr sz="1500" b="1">
                <a:solidFill>
                  <a:srgbClr val="FF0000"/>
                </a:solidFill>
                <a:latin typeface="HGPｺﾞｼｯｸE"/>
                <a:ea typeface="HGPｺﾞｼｯｸE"/>
              </a:rPr>
              <a:t>冒頭に相手の話を「聞く」ことが、自分の話を「聞いてもらう」ことに直結する</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16</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ルール③：3回のオープンクエスチョン</a:t>
            </a:r>
          </a:p>
        </p:txBody>
      </p:sp>
      <p:sp>
        <p:nvSpPr>
          <p:cNvPr id="6" name="Rectangle 5"/>
          <p:cNvSpPr/>
          <p:nvPr/>
        </p:nvSpPr>
        <p:spPr>
          <a:xfrm>
            <a:off x="411480" y="1755648"/>
            <a:ext cx="736092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Q1「どうしてこれまでは太陽光を導入されてこなかったのですか？」</a:t>
            </a:r>
          </a:p>
          <a:p>
            <a:pPr algn="l">
              <a:spcAft>
                <a:spcPts val="300"/>
              </a:spcAft>
            </a:pPr>
            <a:r>
              <a:rPr sz="1400" b="0">
                <a:solidFill>
                  <a:srgbClr val="000000"/>
                </a:solidFill>
                <a:latin typeface="HGPｺﾞｼｯｸE"/>
                <a:ea typeface="HGPｺﾞｼｯｸE"/>
              </a:rPr>
              <a:t>＜よくある展開＞価格が高かったから／シミュレーションを見てピンとこなかったから／会社が信用しきれなかったから</a:t>
            </a:r>
          </a:p>
        </p:txBody>
      </p:sp>
      <p:sp>
        <p:nvSpPr>
          <p:cNvPr id="7" name="Rectangle 6"/>
          <p:cNvSpPr/>
          <p:nvPr/>
        </p:nvSpPr>
        <p:spPr>
          <a:xfrm>
            <a:off x="7936992" y="1755648"/>
            <a:ext cx="1572768" cy="96012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オープンQ①</a:t>
            </a:r>
          </a:p>
        </p:txBody>
      </p:sp>
      <p:sp>
        <p:nvSpPr>
          <p:cNvPr id="8" name="Rectangle 7"/>
          <p:cNvSpPr/>
          <p:nvPr/>
        </p:nvSpPr>
        <p:spPr>
          <a:xfrm>
            <a:off x="411480" y="2862072"/>
            <a:ext cx="736092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Q2「何がキッカケで、今回は当社に聞いてみようと思われたのですか？」</a:t>
            </a:r>
          </a:p>
          <a:p>
            <a:pPr algn="l">
              <a:spcAft>
                <a:spcPts val="300"/>
              </a:spcAft>
            </a:pPr>
            <a:r>
              <a:rPr sz="1400" b="0">
                <a:solidFill>
                  <a:srgbClr val="000000"/>
                </a:solidFill>
                <a:latin typeface="HGPｺﾞｼｯｸE"/>
                <a:ea typeface="HGPｺﾞｼｯｸE"/>
              </a:rPr>
              <a:t>＜よくある展開＞たまたまチラシが入っていたのを見たので／買い物に来ていたついでに聞いた／安くなったから</a:t>
            </a:r>
          </a:p>
        </p:txBody>
      </p:sp>
      <p:sp>
        <p:nvSpPr>
          <p:cNvPr id="9" name="Rectangle 8"/>
          <p:cNvSpPr/>
          <p:nvPr/>
        </p:nvSpPr>
        <p:spPr>
          <a:xfrm>
            <a:off x="7936992" y="2862072"/>
            <a:ext cx="1572768" cy="96012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オープンQ②</a:t>
            </a:r>
          </a:p>
        </p:txBody>
      </p:sp>
      <p:sp>
        <p:nvSpPr>
          <p:cNvPr id="10" name="Rectangle 9"/>
          <p:cNvSpPr/>
          <p:nvPr/>
        </p:nvSpPr>
        <p:spPr>
          <a:xfrm>
            <a:off x="411480" y="3968496"/>
            <a:ext cx="7360920" cy="9601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Q3「蓄電池や太陽光には、どんなイメージをお持ちですか？」</a:t>
            </a:r>
          </a:p>
          <a:p>
            <a:pPr algn="l">
              <a:spcAft>
                <a:spcPts val="300"/>
              </a:spcAft>
            </a:pPr>
            <a:r>
              <a:rPr sz="1400" b="0">
                <a:solidFill>
                  <a:srgbClr val="000000"/>
                </a:solidFill>
                <a:latin typeface="HGPｺﾞｼｯｸE"/>
                <a:ea typeface="HGPｺﾞｼｯｸE"/>
              </a:rPr>
              <a:t>＜よくある展開＞まだ高そう／最近改めて国が推している／電気自動車の方がいいのでは</a:t>
            </a:r>
          </a:p>
        </p:txBody>
      </p:sp>
      <p:sp>
        <p:nvSpPr>
          <p:cNvPr id="11" name="Rectangle 10"/>
          <p:cNvSpPr/>
          <p:nvPr/>
        </p:nvSpPr>
        <p:spPr>
          <a:xfrm>
            <a:off x="7936992" y="3968496"/>
            <a:ext cx="1572768" cy="96012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オープンQ③</a:t>
            </a:r>
          </a:p>
        </p:txBody>
      </p:sp>
      <p:sp>
        <p:nvSpPr>
          <p:cNvPr id="12" name="Rectangle 11"/>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ここで出たNOを、⑤⑥と⑦〜⑨で1つずつ潰していく</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17</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ルール④：前向きな検討に対する言質</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「やる／やらないを今日決める」ことの言質を取る</a:t>
            </a:r>
          </a:p>
        </p:txBody>
      </p:sp>
      <p:sp>
        <p:nvSpPr>
          <p:cNvPr id="7" name="Rectangle 6"/>
          <p:cNvSpPr/>
          <p:nvPr/>
        </p:nvSpPr>
        <p:spPr>
          <a:xfrm>
            <a:off x="411480" y="2286000"/>
            <a:ext cx="4526280" cy="32918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考え方</a:t>
            </a:r>
          </a:p>
          <a:p>
            <a:pPr algn="l">
              <a:spcAft>
                <a:spcPts val="600"/>
              </a:spcAft>
            </a:pPr>
            <a:r>
              <a:rPr sz="1600" b="1">
                <a:solidFill>
                  <a:srgbClr val="FF0000"/>
                </a:solidFill>
                <a:latin typeface="HGPｺﾞｼｯｸE"/>
                <a:ea typeface="HGPｺﾞｼｯｸE"/>
              </a:rPr>
              <a:t>太陽光・蓄電池の営業は基本的に「即決」</a:t>
            </a:r>
          </a:p>
          <a:p>
            <a:pPr algn="l">
              <a:spcAft>
                <a:spcPts val="600"/>
              </a:spcAft>
            </a:pPr>
            <a:r>
              <a:rPr sz="1250" b="0">
                <a:solidFill>
                  <a:srgbClr val="000000"/>
                </a:solidFill>
                <a:latin typeface="HGPｺﾞｼｯｸE"/>
                <a:ea typeface="HGPｺﾞｼｯｸE"/>
              </a:rPr>
              <a:t>日にちをおくことで△（少し考える）が〇（成約）になることは多くありません。アポも商談も、その日に決めてもらうことを中心に考える必要があります</a:t>
            </a:r>
          </a:p>
          <a:p>
            <a:pPr algn="l">
              <a:spcAft>
                <a:spcPts val="600"/>
              </a:spcAft>
            </a:pPr>
            <a:r>
              <a:rPr sz="1600" b="1">
                <a:solidFill>
                  <a:srgbClr val="000000"/>
                </a:solidFill>
                <a:latin typeface="HGPｺﾞｼｯｸE"/>
                <a:ea typeface="HGPｺﾞｼｯｸE"/>
              </a:rPr>
              <a:t>活用するのは「一貫性の法則」</a:t>
            </a:r>
          </a:p>
          <a:p>
            <a:pPr algn="l">
              <a:spcAft>
                <a:spcPts val="600"/>
              </a:spcAft>
            </a:pPr>
            <a:r>
              <a:rPr sz="1250" b="0">
                <a:solidFill>
                  <a:srgbClr val="000000"/>
                </a:solidFill>
                <a:latin typeface="HGPｺﾞｼｯｸE"/>
                <a:ea typeface="HGPｺﾞｼｯｸE"/>
              </a:rPr>
              <a:t>一度Yesと首を縦に振ったことについて、人は否定することをためらうという原則です</a:t>
            </a:r>
          </a:p>
          <a:p>
            <a:pPr algn="l">
              <a:spcAft>
                <a:spcPts val="600"/>
              </a:spcAft>
            </a:pPr>
            <a:r>
              <a:rPr sz="1250" b="0">
                <a:solidFill>
                  <a:srgbClr val="000000"/>
                </a:solidFill>
                <a:latin typeface="HGPｺﾞｼｯｸE"/>
                <a:ea typeface="HGPｺﾞｼｯｸE"/>
              </a:rPr>
              <a:t>ルール③でヒアリングした「以前に太陽光を導入しなかった理由」が解消されるのであれば前向きに検討いただけそうか、について言質を取っておきます</a:t>
            </a:r>
          </a:p>
        </p:txBody>
      </p:sp>
      <p:sp>
        <p:nvSpPr>
          <p:cNvPr id="8" name="Rectangle 7"/>
          <p:cNvSpPr/>
          <p:nvPr/>
        </p:nvSpPr>
        <p:spPr>
          <a:xfrm>
            <a:off x="5257800" y="2286000"/>
            <a:ext cx="4251960" cy="155448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600" b="1">
                <a:solidFill>
                  <a:srgbClr val="000000"/>
                </a:solidFill>
                <a:latin typeface="HGPｺﾞｼｯｸE"/>
                <a:ea typeface="HGPｺﾞｼｯｸE"/>
              </a:rPr>
              <a:t>注意1　自然に行う</a:t>
            </a:r>
          </a:p>
          <a:p>
            <a:pPr algn="l">
              <a:spcAft>
                <a:spcPts val="400"/>
              </a:spcAft>
            </a:pPr>
            <a:r>
              <a:rPr sz="1300" b="0">
                <a:solidFill>
                  <a:srgbClr val="000000"/>
                </a:solidFill>
                <a:latin typeface="HGPｺﾞｼｯｸE"/>
                <a:ea typeface="HGPｺﾞｼｯｸE"/>
              </a:rPr>
              <a:t>前段のトークより間を開けず、わざとらしさ・営業っぽさを一切なくすこと。</a:t>
            </a:r>
          </a:p>
          <a:p>
            <a:pPr algn="l">
              <a:spcAft>
                <a:spcPts val="500"/>
              </a:spcAft>
            </a:pPr>
            <a:r>
              <a:rPr sz="1300" b="0">
                <a:solidFill>
                  <a:srgbClr val="000000"/>
                </a:solidFill>
                <a:latin typeface="HGPｺﾞｼｯｸE"/>
                <a:ea typeface="HGPｺﾞｼｯｸE"/>
              </a:rPr>
              <a:t>間が空いたり言葉遣いが変だと一瞬で見抜かれ、主導権が逆転します。</a:t>
            </a:r>
          </a:p>
        </p:txBody>
      </p:sp>
      <p:sp>
        <p:nvSpPr>
          <p:cNvPr id="9" name="Rectangle 8"/>
          <p:cNvSpPr/>
          <p:nvPr/>
        </p:nvSpPr>
        <p:spPr>
          <a:xfrm>
            <a:off x="5257800" y="4023360"/>
            <a:ext cx="4251960" cy="1554480"/>
          </a:xfrm>
          <a:prstGeom prst="rect">
            <a:avLst/>
          </a:prstGeom>
          <a:solidFill>
            <a:srgbClr val="FCE4E4"/>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600" b="1">
                <a:solidFill>
                  <a:srgbClr val="FF0000"/>
                </a:solidFill>
                <a:latin typeface="HGPｺﾞｼｯｸE"/>
                <a:ea typeface="HGPｺﾞｼｯｸE"/>
              </a:rPr>
              <a:t>注意2　特定商取引法への抵触</a:t>
            </a:r>
          </a:p>
          <a:p>
            <a:pPr algn="l">
              <a:spcAft>
                <a:spcPts val="400"/>
              </a:spcAft>
            </a:pPr>
            <a:r>
              <a:rPr sz="1300" b="0">
                <a:solidFill>
                  <a:srgbClr val="000000"/>
                </a:solidFill>
                <a:latin typeface="HGPｺﾞｼｯｸE"/>
                <a:ea typeface="HGPｺﾞｼｯｸE"/>
              </a:rPr>
              <a:t>訪問目的を秘匿して商品を売るのは違法行為で、通報されれば営業停止処分もありえます。</a:t>
            </a:r>
          </a:p>
          <a:p>
            <a:pPr algn="l">
              <a:spcAft>
                <a:spcPts val="500"/>
              </a:spcAft>
            </a:pPr>
            <a:r>
              <a:rPr sz="1300" b="0">
                <a:solidFill>
                  <a:srgbClr val="000000"/>
                </a:solidFill>
                <a:latin typeface="HGPｺﾞｼｯｸE"/>
                <a:ea typeface="HGPｺﾞｼｯｸE"/>
              </a:rPr>
              <a:t>アポ取得時の言い回しを必ず確認してください。</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18</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切り返しの鉄則（①〜④で使い倒す）</a:t>
            </a:r>
          </a:p>
        </p:txBody>
      </p:sp>
      <p:sp>
        <p:nvSpPr>
          <p:cNvPr id="6" name="Rectangle 5"/>
          <p:cNvSpPr/>
          <p:nvPr/>
        </p:nvSpPr>
        <p:spPr>
          <a:xfrm>
            <a:off x="411480" y="1755648"/>
            <a:ext cx="7360920" cy="7772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まず全力で同意する。相手は意見を受け入れてもらえたことで安心し、こちらの話も聞いてくれるようになる。</a:t>
            </a:r>
          </a:p>
          <a:p>
            <a:pPr algn="l">
              <a:spcAft>
                <a:spcPts val="300"/>
              </a:spcAft>
            </a:pPr>
            <a:r>
              <a:rPr sz="1400" b="0">
                <a:solidFill>
                  <a:srgbClr val="000000"/>
                </a:solidFill>
                <a:latin typeface="HGPｺﾞｼｯｸE"/>
                <a:ea typeface="HGPｺﾞｼｯｸE"/>
              </a:rPr>
              <a:t>「出費増えるのは大変ですよね！ただ、災害時の対策といった災害保険の観点もありますし」</a:t>
            </a:r>
          </a:p>
        </p:txBody>
      </p:sp>
      <p:sp>
        <p:nvSpPr>
          <p:cNvPr id="7" name="Rectangle 6"/>
          <p:cNvSpPr/>
          <p:nvPr/>
        </p:nvSpPr>
        <p:spPr>
          <a:xfrm>
            <a:off x="7936992" y="1755648"/>
            <a:ext cx="1572768" cy="77724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Yes, but法</a:t>
            </a:r>
          </a:p>
        </p:txBody>
      </p:sp>
      <p:sp>
        <p:nvSpPr>
          <p:cNvPr id="8" name="Rectangle 7"/>
          <p:cNvSpPr/>
          <p:nvPr/>
        </p:nvSpPr>
        <p:spPr>
          <a:xfrm>
            <a:off x="411480" y="2679191"/>
            <a:ext cx="7360920" cy="86868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相手の意見に自分の意見を重ねるのは最大のNG。事例・事実で返す。</a:t>
            </a:r>
          </a:p>
          <a:p>
            <a:pPr algn="l">
              <a:spcAft>
                <a:spcPts val="300"/>
              </a:spcAft>
            </a:pPr>
            <a:r>
              <a:rPr sz="1400" b="0">
                <a:solidFill>
                  <a:srgbClr val="000000"/>
                </a:solidFill>
                <a:latin typeface="HGPｺﾞｼｯｸE"/>
                <a:ea typeface="HGPｺﾞｼｯｸE"/>
              </a:rPr>
              <a:t>「そうですよね、ご心配ですよね！B様というお客様も全く同じことをおっしゃってました！ただ、お話を聞いた後『やっぱり太陽光いいかも…』と言われたんですよね！」</a:t>
            </a:r>
          </a:p>
        </p:txBody>
      </p:sp>
      <p:sp>
        <p:nvSpPr>
          <p:cNvPr id="9" name="Rectangle 8"/>
          <p:cNvSpPr/>
          <p:nvPr/>
        </p:nvSpPr>
        <p:spPr>
          <a:xfrm>
            <a:off x="7936992" y="2679191"/>
            <a:ext cx="1572768" cy="86868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第三者話法</a:t>
            </a:r>
          </a:p>
        </p:txBody>
      </p:sp>
      <p:sp>
        <p:nvSpPr>
          <p:cNvPr id="10" name="Rectangle 9"/>
          <p:cNvSpPr/>
          <p:nvPr/>
        </p:nvSpPr>
        <p:spPr>
          <a:xfrm>
            <a:off x="411480" y="3694175"/>
            <a:ext cx="7360920" cy="56692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「なんで、最初は出費が増えるのが嫌だっておっしゃってたB様が最終的に導入した理由、気になりませんか？」⇒「はい」</a:t>
            </a:r>
          </a:p>
        </p:txBody>
      </p:sp>
      <p:sp>
        <p:nvSpPr>
          <p:cNvPr id="11" name="Rectangle 10"/>
          <p:cNvSpPr/>
          <p:nvPr/>
        </p:nvSpPr>
        <p:spPr>
          <a:xfrm>
            <a:off x="7936992" y="3694175"/>
            <a:ext cx="1572768" cy="566928"/>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YES取り</a:t>
            </a:r>
          </a:p>
        </p:txBody>
      </p:sp>
      <p:sp>
        <p:nvSpPr>
          <p:cNvPr id="12" name="Rectangle 11"/>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話を真に受けない。ずれたら「後でしっかりお伝えします！」で戻す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19</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ルール⑤：太陽光が当たり前であることの理解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包み込みの法則①　太陽光の歴史を押さえる</a:t>
            </a:r>
          </a:p>
        </p:txBody>
      </p:sp>
      <p:pic>
        <p:nvPicPr>
          <p:cNvPr id="7" name="Picture 6" descr="ab-04.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p.4　10年の普及年表</a:t>
            </a:r>
          </a:p>
        </p:txBody>
      </p:sp>
      <p:sp>
        <p:nvSpPr>
          <p:cNvPr id="9" name="Rounded Rectangle 8"/>
          <p:cNvSpPr/>
          <p:nvPr/>
        </p:nvSpPr>
        <p:spPr>
          <a:xfrm>
            <a:off x="4892040" y="2286000"/>
            <a:ext cx="4617720" cy="118872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「皆さん、太陽光・蓄電池をつけているのですね」</a:t>
            </a:r>
          </a:p>
          <a:p>
            <a:pPr algn="l">
              <a:spcAft>
                <a:spcPts val="300"/>
              </a:spcAft>
            </a:pPr>
            <a:r>
              <a:rPr sz="1600" b="1">
                <a:solidFill>
                  <a:srgbClr val="000000"/>
                </a:solidFill>
                <a:latin typeface="HGPｺﾞｼｯｸE"/>
                <a:ea typeface="HGPｺﾞｼｯｸE"/>
              </a:rPr>
              <a:t>「義務化・今後必須の流れになるの!?」</a:t>
            </a:r>
          </a:p>
        </p:txBody>
      </p:sp>
      <p:sp>
        <p:nvSpPr>
          <p:cNvPr id="10" name="Rectangle 9"/>
          <p:cNvSpPr/>
          <p:nvPr/>
        </p:nvSpPr>
        <p:spPr>
          <a:xfrm>
            <a:off x="4892040" y="3584448"/>
            <a:ext cx="4617720" cy="21762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300" b="1">
                <a:solidFill>
                  <a:srgbClr val="000000"/>
                </a:solidFill>
                <a:latin typeface="HGPｺﾞｼｯｸE"/>
                <a:ea typeface="HGPｺﾞｼｯｸE"/>
              </a:rPr>
              <a:t>2012年 FIT開始 → 2021年 義務化の協議開始 → 2025年 東京都で新築に義務化 → 2030年 ZEH義務化</a:t>
            </a:r>
          </a:p>
          <a:p>
            <a:pPr algn="l">
              <a:spcAft>
                <a:spcPts val="600"/>
              </a:spcAft>
            </a:pPr>
            <a:r>
              <a:rPr sz="1250" b="0">
                <a:solidFill>
                  <a:srgbClr val="000000"/>
                </a:solidFill>
                <a:latin typeface="HGPｺﾞｼｯｸE"/>
                <a:ea typeface="HGPｺﾞｼｯｸE"/>
              </a:rPr>
              <a:t>累計件数は 約120万件 → 約270万件 → 約350万件（2024年度末）と伸びている</a:t>
            </a:r>
          </a:p>
          <a:p>
            <a:pPr algn="l">
              <a:spcAft>
                <a:spcPts val="600"/>
              </a:spcAft>
            </a:pPr>
            <a:r>
              <a:rPr sz="1250" b="0">
                <a:solidFill>
                  <a:srgbClr val="000000"/>
                </a:solidFill>
                <a:latin typeface="HGPｺﾞｼｯｸE"/>
                <a:ea typeface="HGPｺﾞｼｯｸE"/>
              </a:rPr>
              <a:t>ZEH住宅の要件に蓄電池が必須になる基準案が提出されていることまで伝える</a:t>
            </a:r>
          </a:p>
          <a:p>
            <a:pPr algn="l">
              <a:spcAft>
                <a:spcPts val="600"/>
              </a:spcAft>
            </a:pPr>
            <a:r>
              <a:rPr sz="1300" b="1">
                <a:solidFill>
                  <a:srgbClr val="FF0000"/>
                </a:solidFill>
                <a:latin typeface="HGPｺﾞｼｯｸE"/>
                <a:ea typeface="HGPｺﾞｼｯｸE"/>
              </a:rPr>
              <a:t>営業が優位に立てるのは、商品の「歴史」と「現状」を知っていること</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国の政策はすべて「電気を極力使わない生活へ」という方向に動いているのです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20</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ルール⑤：お客様のイメージ別・反論処理</a:t>
            </a:r>
          </a:p>
        </p:txBody>
      </p:sp>
      <p:sp>
        <p:nvSpPr>
          <p:cNvPr id="6" name="TextBox 5"/>
          <p:cNvSpPr txBox="1"/>
          <p:nvPr/>
        </p:nvSpPr>
        <p:spPr>
          <a:xfrm>
            <a:off x="411480" y="1719072"/>
            <a:ext cx="9098280" cy="320040"/>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「そういう風に考えられてしまう時もありますよね」と包み込みながら、時系列で処理します</a:t>
            </a:r>
          </a:p>
        </p:txBody>
      </p:sp>
      <p:graphicFrame>
        <p:nvGraphicFramePr>
          <p:cNvPr id="7" name="Table 6"/>
          <p:cNvGraphicFramePr>
            <a:graphicFrameLocks noGrp="1"/>
          </p:cNvGraphicFramePr>
          <p:nvPr/>
        </p:nvGraphicFramePr>
        <p:xfrm>
          <a:off x="411480" y="2148840"/>
          <a:ext cx="9098280" cy="3172968"/>
        </p:xfrm>
        <a:graphic>
          <a:graphicData uri="http://schemas.openxmlformats.org/drawingml/2006/table">
            <a:tbl>
              <a:tblPr firstRow="1">
                <a:tableStyleId>{5C22544A-7EE6-4342-B048-85BDC9FD1C3A}</a:tableStyleId>
              </a:tblPr>
              <a:tblGrid>
                <a:gridCol w="1417320"/>
                <a:gridCol w="2834640"/>
                <a:gridCol w="4846320"/>
              </a:tblGrid>
              <a:tr h="292608">
                <a:tc>
                  <a:txBody>
                    <a:bodyPr wrap="square"/>
                    <a:lstStyle/>
                    <a:p>
                      <a:pPr algn="ctr"/>
                      <a:r>
                        <a:rPr sz="1200" b="1">
                          <a:solidFill>
                            <a:srgbClr val="FFFFFF"/>
                          </a:solidFill>
                          <a:latin typeface="游ゴシック"/>
                          <a:ea typeface="游ゴシック"/>
                        </a:rPr>
                        <a:t>お持ちのイメージ</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よくある誤解</a:t>
                      </a:r>
                    </a:p>
                  </a:txBody>
                  <a:tcPr marL="45720" marR="45720" marT="18288" marB="18288" anchor="ctr">
                    <a:solidFill>
                      <a:srgbClr val="000000"/>
                    </a:solidFill>
                  </a:tcPr>
                </a:tc>
                <a:tc>
                  <a:txBody>
                    <a:bodyPr wrap="square"/>
                    <a:lstStyle/>
                    <a:p>
                      <a:pPr algn="ctr"/>
                      <a:r>
                        <a:rPr sz="1200" b="1">
                          <a:solidFill>
                            <a:srgbClr val="FFFFFF"/>
                          </a:solidFill>
                          <a:latin typeface="游ゴシック"/>
                          <a:ea typeface="游ゴシック"/>
                        </a:rPr>
                        <a:t>理解してもらうこと</a:t>
                      </a:r>
                    </a:p>
                  </a:txBody>
                  <a:tcPr marL="45720" marR="45720" marT="18288" marB="18288" anchor="ctr">
                    <a:solidFill>
                      <a:srgbClr val="000000"/>
                    </a:solidFill>
                  </a:tcPr>
                </a:tc>
              </a:tr>
              <a:tr h="960120">
                <a:tc>
                  <a:txBody>
                    <a:bodyPr wrap="square"/>
                    <a:lstStyle/>
                    <a:p>
                      <a:pPr algn="l"/>
                      <a:r>
                        <a:rPr sz="1200" b="0">
                          <a:solidFill>
                            <a:srgbClr val="000000"/>
                          </a:solidFill>
                          <a:latin typeface="游ゴシック"/>
                          <a:ea typeface="游ゴシック"/>
                        </a:rPr>
                        <a:t>導入初期</a:t>
                      </a:r>
                    </a:p>
                  </a:txBody>
                  <a:tcPr marL="45720" marR="45720" marT="18288" marB="18288" anchor="ctr">
                    <a:noFill/>
                  </a:tcPr>
                </a:tc>
                <a:tc>
                  <a:txBody>
                    <a:bodyPr wrap="square"/>
                    <a:lstStyle/>
                    <a:p>
                      <a:pPr algn="l"/>
                      <a:r>
                        <a:rPr sz="1200" b="0">
                          <a:solidFill>
                            <a:srgbClr val="000000"/>
                          </a:solidFill>
                          <a:latin typeface="游ゴシック"/>
                          <a:ea typeface="游ゴシック"/>
                        </a:rPr>
                        <a:t>「FITありきで太陽光が増えた」</a:t>
                      </a:r>
                    </a:p>
                  </a:txBody>
                  <a:tcPr marL="45720" marR="45720" marT="18288" marB="18288" anchor="ctr">
                    <a:noFill/>
                  </a:tcPr>
                </a:tc>
                <a:tc>
                  <a:txBody>
                    <a:bodyPr wrap="square"/>
                    <a:lstStyle/>
                    <a:p>
                      <a:pPr algn="l"/>
                      <a:r>
                        <a:rPr sz="1200" b="0">
                          <a:solidFill>
                            <a:srgbClr val="000000"/>
                          </a:solidFill>
                          <a:latin typeface="游ゴシック"/>
                          <a:ea typeface="游ゴシック"/>
                        </a:rPr>
                        <a:t>① 制度施行以前にも50万件以上の実績があったこと　② 諸外国ではFIT制度で日本ほど爆増している所は少ないこと</a:t>
                      </a:r>
                    </a:p>
                  </a:txBody>
                  <a:tcPr marL="45720" marR="45720" marT="18288" marB="18288" anchor="ctr">
                    <a:noFill/>
                  </a:tcPr>
                </a:tc>
              </a:tr>
              <a:tr h="960120">
                <a:tc>
                  <a:txBody>
                    <a:bodyPr wrap="square"/>
                    <a:lstStyle/>
                    <a:p>
                      <a:pPr algn="l"/>
                      <a:r>
                        <a:rPr sz="1200" b="0">
                          <a:solidFill>
                            <a:srgbClr val="000000"/>
                          </a:solidFill>
                          <a:latin typeface="游ゴシック"/>
                          <a:ea typeface="游ゴシック"/>
                        </a:rPr>
                        <a:t>導入中期</a:t>
                      </a:r>
                    </a:p>
                  </a:txBody>
                  <a:tcPr marL="45720" marR="45720" marT="18288" marB="18288" anchor="ctr">
                    <a:noFill/>
                  </a:tcPr>
                </a:tc>
                <a:tc>
                  <a:txBody>
                    <a:bodyPr wrap="square"/>
                    <a:lstStyle/>
                    <a:p>
                      <a:pPr algn="l"/>
                      <a:r>
                        <a:rPr sz="1200" b="0">
                          <a:solidFill>
                            <a:srgbClr val="000000"/>
                          </a:solidFill>
                          <a:latin typeface="游ゴシック"/>
                          <a:ea typeface="游ゴシック"/>
                        </a:rPr>
                        <a:t>「補助金ありきの商品（設置しているのは一部）」</a:t>
                      </a:r>
                    </a:p>
                  </a:txBody>
                  <a:tcPr marL="45720" marR="45720" marT="18288" marB="18288" anchor="ctr">
                    <a:noFill/>
                  </a:tcPr>
                </a:tc>
                <a:tc>
                  <a:txBody>
                    <a:bodyPr wrap="square"/>
                    <a:lstStyle/>
                    <a:p>
                      <a:pPr algn="l"/>
                      <a:r>
                        <a:rPr sz="1200" b="0">
                          <a:solidFill>
                            <a:srgbClr val="000000"/>
                          </a:solidFill>
                          <a:latin typeface="游ゴシック"/>
                          <a:ea typeface="游ゴシック"/>
                        </a:rPr>
                        <a:t>① 安倍首相はじめ主要官僚のもと各ハウスメーカーに号令がかかったこと　② 設置対象外（築30年以上）を除けば設置率20％前後であること</a:t>
                      </a:r>
                    </a:p>
                  </a:txBody>
                  <a:tcPr marL="45720" marR="45720" marT="18288" marB="18288" anchor="ctr">
                    <a:noFill/>
                  </a:tcPr>
                </a:tc>
              </a:tr>
              <a:tr h="960120">
                <a:tc>
                  <a:txBody>
                    <a:bodyPr wrap="square"/>
                    <a:lstStyle/>
                    <a:p>
                      <a:pPr algn="l"/>
                      <a:r>
                        <a:rPr sz="1200" b="0">
                          <a:solidFill>
                            <a:srgbClr val="000000"/>
                          </a:solidFill>
                          <a:latin typeface="游ゴシック"/>
                          <a:ea typeface="游ゴシック"/>
                        </a:rPr>
                        <a:t>導入後期</a:t>
                      </a:r>
                    </a:p>
                  </a:txBody>
                  <a:tcPr marL="45720" marR="45720" marT="18288" marB="18288" anchor="ctr">
                    <a:noFill/>
                  </a:tcPr>
                </a:tc>
                <a:tc>
                  <a:txBody>
                    <a:bodyPr wrap="square"/>
                    <a:lstStyle/>
                    <a:p>
                      <a:pPr algn="l"/>
                      <a:r>
                        <a:rPr sz="1200" b="0">
                          <a:solidFill>
                            <a:srgbClr val="000000"/>
                          </a:solidFill>
                          <a:latin typeface="游ゴシック"/>
                          <a:ea typeface="游ゴシック"/>
                        </a:rPr>
                        <a:t>「もう機を逃しているのでは？」</a:t>
                      </a:r>
                    </a:p>
                  </a:txBody>
                  <a:tcPr marL="45720" marR="45720" marT="18288" marB="18288" anchor="ctr">
                    <a:noFill/>
                  </a:tcPr>
                </a:tc>
                <a:tc>
                  <a:txBody>
                    <a:bodyPr wrap="square"/>
                    <a:lstStyle/>
                    <a:p>
                      <a:pPr algn="l"/>
                      <a:r>
                        <a:rPr sz="1200" b="0">
                          <a:solidFill>
                            <a:srgbClr val="000000"/>
                          </a:solidFill>
                          <a:latin typeface="游ゴシック"/>
                          <a:ea typeface="游ゴシック"/>
                        </a:rPr>
                        <a:t>① 義務化が議論できるほど広く普及できるレベルになったこと　② 最もネックだったイニシャルコストが規定範囲内に収まってきたこと</a:t>
                      </a:r>
                    </a:p>
                  </a:txBody>
                  <a:tcPr marL="45720" marR="45720" marT="18288" marB="18288" anchor="ctr">
                    <a:noFill/>
                  </a:tcPr>
                </a:tc>
              </a:tr>
            </a:tbl>
          </a:graphicData>
        </a:graphic>
      </p:graphicFrame>
      <p:sp>
        <p:nvSpPr>
          <p:cNvPr id="8" name="Rectangle 7"/>
          <p:cNvSpPr/>
          <p:nvPr/>
        </p:nvSpPr>
        <p:spPr>
          <a:xfrm>
            <a:off x="411480" y="5486400"/>
            <a:ext cx="9098280" cy="73152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600" b="1">
                <a:solidFill>
                  <a:srgbClr val="000000"/>
                </a:solidFill>
                <a:latin typeface="HGPｺﾞｼｯｸE"/>
                <a:ea typeface="HGPｺﾞｼｯｸE"/>
              </a:rPr>
              <a:t>包み込みの法則＝お客様より優位に立てる範囲を明確にし、「先生－生徒」の関係をつくること</a:t>
            </a:r>
          </a:p>
          <a:p>
            <a:pPr algn="l">
              <a:spcAft>
                <a:spcPts val="500"/>
              </a:spcAft>
            </a:pPr>
            <a:r>
              <a:rPr sz="1400" b="0">
                <a:solidFill>
                  <a:srgbClr val="000000"/>
                </a:solidFill>
                <a:latin typeface="HGPｺﾞｼｯｸE"/>
                <a:ea typeface="HGPｺﾞｼｯｸE"/>
              </a:rPr>
              <a:t>「私も当時その道は通りましたが、歴史を知ったことでその意気は脱しました」というトーンで。</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21</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ルール⑥：直近の国策動向のおさらい</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包み込みの法則②　多数派の意見を押さえる</a:t>
            </a:r>
          </a:p>
        </p:txBody>
      </p:sp>
      <p:pic>
        <p:nvPicPr>
          <p:cNvPr id="7" name="Picture 6" descr="ab-05.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p.5　大手ハウスメーカー</a:t>
            </a:r>
          </a:p>
        </p:txBody>
      </p:sp>
      <p:sp>
        <p:nvSpPr>
          <p:cNvPr id="9" name="Rounded Rectangle 8"/>
          <p:cNvSpPr/>
          <p:nvPr/>
        </p:nvSpPr>
        <p:spPr>
          <a:xfrm>
            <a:off x="4892040" y="2286000"/>
            <a:ext cx="4617720" cy="118872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「これからはスマートハウスが当たり前になるのですね」</a:t>
            </a:r>
          </a:p>
        </p:txBody>
      </p:sp>
      <p:sp>
        <p:nvSpPr>
          <p:cNvPr id="10" name="Rectangle 9"/>
          <p:cNvSpPr/>
          <p:nvPr/>
        </p:nvSpPr>
        <p:spPr>
          <a:xfrm>
            <a:off x="4892040" y="3584448"/>
            <a:ext cx="4617720" cy="21762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300" b="1">
                <a:solidFill>
                  <a:srgbClr val="000000"/>
                </a:solidFill>
                <a:latin typeface="HGPｺﾞｼｯｸE"/>
                <a:ea typeface="HGPｺﾞｼｯｸE"/>
              </a:rPr>
              <a:t>積水ハウスの戸建住宅ZEH率は96％（ZEH累積世界No.1）</a:t>
            </a:r>
          </a:p>
          <a:p>
            <a:pPr algn="l">
              <a:spcAft>
                <a:spcPts val="600"/>
              </a:spcAft>
            </a:pPr>
            <a:r>
              <a:rPr sz="1250" b="0">
                <a:solidFill>
                  <a:srgbClr val="000000"/>
                </a:solidFill>
                <a:latin typeface="HGPｺﾞｼｯｸE"/>
                <a:ea typeface="HGPｺﾞｼｯｸE"/>
              </a:rPr>
              <a:t>大和ハウスは2011年に堺市で全65区画をZEH化。1戸あたり太陽光5.2kW・蓄電池6.2kWh</a:t>
            </a:r>
          </a:p>
          <a:p>
            <a:pPr algn="l">
              <a:spcAft>
                <a:spcPts val="600"/>
              </a:spcAft>
            </a:pPr>
            <a:r>
              <a:rPr sz="1250" b="0">
                <a:solidFill>
                  <a:srgbClr val="000000"/>
                </a:solidFill>
                <a:latin typeface="HGPｺﾞｼｯｸE"/>
                <a:ea typeface="HGPｺﾞｼｯｸE"/>
              </a:rPr>
              <a:t>1922年の借家率は7％。「持ち家信仰」もたった100年の変化にすぎない</a:t>
            </a:r>
          </a:p>
          <a:p>
            <a:pPr algn="l">
              <a:spcAft>
                <a:spcPts val="600"/>
              </a:spcAft>
            </a:pPr>
            <a:r>
              <a:rPr sz="1300" b="1">
                <a:solidFill>
                  <a:srgbClr val="FF0000"/>
                </a:solidFill>
                <a:latin typeface="HGPｺﾞｼｯｸE"/>
                <a:ea typeface="HGPｺﾞｼｯｸE"/>
              </a:rPr>
              <a:t>他の商品に例えながら「導入が当たり前になる」と強調する</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至るところでスマートハウスのお家が増えていっています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聴く姿勢作り</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22</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ルール⑥：営業マンが持つべき「2つの当然意識」</a:t>
            </a:r>
          </a:p>
        </p:txBody>
      </p:sp>
      <p:sp>
        <p:nvSpPr>
          <p:cNvPr id="6" name="TextBox 5"/>
          <p:cNvSpPr txBox="1"/>
          <p:nvPr/>
        </p:nvSpPr>
        <p:spPr>
          <a:xfrm>
            <a:off x="411480" y="1719072"/>
            <a:ext cx="9098280" cy="292608"/>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売り手側の自信の無さは、買い手側にすぐ分かると言われます</a:t>
            </a:r>
          </a:p>
        </p:txBody>
      </p:sp>
      <p:sp>
        <p:nvSpPr>
          <p:cNvPr id="7" name="Rectangle 6"/>
          <p:cNvSpPr/>
          <p:nvPr/>
        </p:nvSpPr>
        <p:spPr>
          <a:xfrm>
            <a:off x="411480" y="2103120"/>
            <a:ext cx="4526280" cy="214884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600" b="1">
                <a:solidFill>
                  <a:srgbClr val="000000"/>
                </a:solidFill>
                <a:latin typeface="HGPｺﾞｼｯｸE"/>
                <a:ea typeface="HGPｺﾞｼｯｸE"/>
              </a:rPr>
              <a:t>意識①　太陽光・蓄電池のあるお家が普通になっていく</a:t>
            </a:r>
          </a:p>
          <a:p>
            <a:pPr algn="l">
              <a:spcAft>
                <a:spcPts val="500"/>
              </a:spcAft>
            </a:pPr>
            <a:r>
              <a:rPr sz="1400" b="0">
                <a:solidFill>
                  <a:srgbClr val="000000"/>
                </a:solidFill>
                <a:latin typeface="HGPｺﾞｼｯｸE"/>
                <a:ea typeface="HGPｺﾞｼｯｸE"/>
              </a:rPr>
              <a:t>・東京都での新築への太陽光パネル設置義務化</a:t>
            </a:r>
          </a:p>
          <a:p>
            <a:pPr algn="l">
              <a:spcAft>
                <a:spcPts val="500"/>
              </a:spcAft>
            </a:pPr>
            <a:r>
              <a:rPr sz="1400" b="0">
                <a:solidFill>
                  <a:srgbClr val="000000"/>
                </a:solidFill>
                <a:latin typeface="HGPｺﾞｼｯｸE"/>
                <a:ea typeface="HGPｺﾞｼｯｸE"/>
              </a:rPr>
              <a:t>・パリ協定の目標により、2050年までにネットゼロを達成するため国・地方自治体が設置を進めている</a:t>
            </a:r>
          </a:p>
          <a:p>
            <a:pPr algn="l">
              <a:spcAft>
                <a:spcPts val="500"/>
              </a:spcAft>
            </a:pPr>
            <a:r>
              <a:rPr sz="1400" b="0">
                <a:solidFill>
                  <a:srgbClr val="000000"/>
                </a:solidFill>
                <a:latin typeface="HGPｺﾞｼｯｸE"/>
                <a:ea typeface="HGPｺﾞｼｯｸE"/>
              </a:rPr>
              <a:t>・国交省「子育てグリーン住宅支援事業」で太陽光・蓄電池付き高性能住宅への補助金が増額し続けている</a:t>
            </a:r>
          </a:p>
        </p:txBody>
      </p:sp>
      <p:sp>
        <p:nvSpPr>
          <p:cNvPr id="8" name="Rectangle 7"/>
          <p:cNvSpPr/>
          <p:nvPr/>
        </p:nvSpPr>
        <p:spPr>
          <a:xfrm>
            <a:off x="5120640" y="2103120"/>
            <a:ext cx="4526280" cy="214884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600" b="1">
                <a:solidFill>
                  <a:srgbClr val="000000"/>
                </a:solidFill>
                <a:latin typeface="HGPｺﾞｼｯｸE"/>
                <a:ea typeface="HGPｺﾞｼｯｸE"/>
              </a:rPr>
              <a:t>意識②　太陽光・蓄電池は基本的に一緒に導入する</a:t>
            </a:r>
          </a:p>
          <a:p>
            <a:pPr algn="l">
              <a:spcAft>
                <a:spcPts val="500"/>
              </a:spcAft>
            </a:pPr>
            <a:r>
              <a:rPr sz="1400" b="0">
                <a:solidFill>
                  <a:srgbClr val="000000"/>
                </a:solidFill>
                <a:latin typeface="HGPｺﾞｼｯｸE"/>
                <a:ea typeface="HGPｺﾞｼｯｸE"/>
              </a:rPr>
              <a:t>・売電単価（15円）よりも買電単価（30円）が上回っている</a:t>
            </a:r>
          </a:p>
          <a:p>
            <a:pPr algn="l">
              <a:spcAft>
                <a:spcPts val="1200"/>
              </a:spcAft>
            </a:pPr>
            <a:r>
              <a:rPr sz="1400" b="0">
                <a:solidFill>
                  <a:srgbClr val="000000"/>
                </a:solidFill>
                <a:latin typeface="HGPｺﾞｼｯｸE"/>
                <a:ea typeface="HGPｺﾞｼｯｸE"/>
              </a:rPr>
              <a:t>・ハイブリッドパワコンが広く普及している</a:t>
            </a:r>
          </a:p>
          <a:p>
            <a:pPr algn="l">
              <a:spcAft>
                <a:spcPts val="500"/>
              </a:spcAft>
            </a:pPr>
            <a:r>
              <a:rPr sz="1500" b="1">
                <a:solidFill>
                  <a:srgbClr val="FF0000"/>
                </a:solidFill>
                <a:latin typeface="HGPｺﾞｼｯｸE"/>
                <a:ea typeface="HGPｺﾞｼｯｸE"/>
              </a:rPr>
              <a:t>太陽光・蓄電池は切り離さず、基本的にセットで話を進めるのがポイント</a:t>
            </a:r>
          </a:p>
        </p:txBody>
      </p:sp>
      <p:pic>
        <p:nvPicPr>
          <p:cNvPr id="9" name="Picture 8" descr="ab-07.jpg"/>
          <p:cNvPicPr>
            <a:picLocks noChangeAspect="1"/>
          </p:cNvPicPr>
          <p:nvPr/>
        </p:nvPicPr>
        <p:blipFill>
          <a:blip r:embed="rId2"/>
          <a:stretch>
            <a:fillRect/>
          </a:stretch>
        </p:blipFill>
        <p:spPr>
          <a:xfrm>
            <a:off x="6309360" y="4315968"/>
            <a:ext cx="2834640" cy="1961894"/>
          </a:xfrm>
          <a:prstGeom prst="rect">
            <a:avLst/>
          </a:prstGeom>
          <a:ln w="12700">
            <a:solidFill>
              <a:srgbClr val="808080"/>
            </a:solidFill>
          </a:ln>
        </p:spPr>
      </p:pic>
      <p:sp>
        <p:nvSpPr>
          <p:cNvPr id="10" name="TextBox 9"/>
          <p:cNvSpPr txBox="1"/>
          <p:nvPr/>
        </p:nvSpPr>
        <p:spPr>
          <a:xfrm>
            <a:off x="6309360" y="6327648"/>
            <a:ext cx="2834640" cy="237744"/>
          </a:xfrm>
          <a:prstGeom prst="rect">
            <a:avLst/>
          </a:prstGeom>
          <a:noFill/>
        </p:spPr>
        <p:txBody>
          <a:bodyPr wrap="square" anchor="t" lIns="0" rIns="0" tIns="18288" bIns="18288">
            <a:spAutoFit/>
          </a:bodyPr>
          <a:lstStyle/>
          <a:p>
            <a:pPr algn="l">
              <a:spcAft>
                <a:spcPts val="500"/>
              </a:spcAft>
            </a:pPr>
            <a:r>
              <a:rPr sz="1100" b="0">
                <a:solidFill>
                  <a:srgbClr val="595959"/>
                </a:solidFill>
                <a:latin typeface="HGPｺﾞｼｯｸE"/>
                <a:ea typeface="HGPｺﾞｼｯｸE"/>
              </a:rPr>
              <a:t>アプローチブック p.7</a:t>
            </a:r>
          </a:p>
        </p:txBody>
      </p:sp>
      <p:sp>
        <p:nvSpPr>
          <p:cNvPr id="11" name="Rectangle 10"/>
          <p:cNvSpPr/>
          <p:nvPr/>
        </p:nvSpPr>
        <p:spPr>
          <a:xfrm>
            <a:off x="411480" y="4389120"/>
            <a:ext cx="5394960" cy="1600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600" b="1">
                <a:solidFill>
                  <a:srgbClr val="000000"/>
                </a:solidFill>
                <a:latin typeface="HGPｺﾞｼｯｸE"/>
                <a:ea typeface="HGPｺﾞｼｯｸE"/>
              </a:rPr>
              <a:t>p.7でテストクロージング（二者択一話法）</a:t>
            </a:r>
          </a:p>
          <a:p>
            <a:pPr algn="l">
              <a:spcAft>
                <a:spcPts val="200"/>
              </a:spcAft>
            </a:pPr>
            <a:r>
              <a:rPr sz="1500" b="0">
                <a:solidFill>
                  <a:srgbClr val="000000"/>
                </a:solidFill>
                <a:latin typeface="HGPｺﾞｼｯｸE"/>
                <a:ea typeface="HGPｺﾞｼｯｸE"/>
              </a:rPr>
              <a:t>「未導入のお家と、太陽光＋蓄電池のお家、</a:t>
            </a:r>
          </a:p>
          <a:p>
            <a:pPr algn="l">
              <a:spcAft>
                <a:spcPts val="800"/>
              </a:spcAft>
            </a:pPr>
            <a:r>
              <a:rPr sz="1500" b="0">
                <a:solidFill>
                  <a:srgbClr val="000000"/>
                </a:solidFill>
                <a:latin typeface="HGPｺﾞｼｯｸE"/>
                <a:ea typeface="HGPｺﾞｼｯｸE"/>
              </a:rPr>
              <a:t>　どちらが良さそうですか？」</a:t>
            </a:r>
          </a:p>
          <a:p>
            <a:pPr algn="l">
              <a:spcAft>
                <a:spcPts val="500"/>
              </a:spcAft>
            </a:pPr>
            <a:r>
              <a:rPr sz="1500" b="1">
                <a:solidFill>
                  <a:srgbClr val="FF0000"/>
                </a:solidFill>
                <a:latin typeface="HGPｺﾞｼｯｸE"/>
                <a:ea typeface="HGPｺﾞｼｯｸE"/>
              </a:rPr>
              <a:t>→ ここでYESを取ってから必要性訴求へ進む</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23</a:t>
            </a:r>
          </a:p>
        </p:txBody>
      </p:sp>
      <p:sp>
        <p:nvSpPr>
          <p:cNvPr id="3" name="Rounded Rectangle 2"/>
          <p:cNvSpPr/>
          <p:nvPr/>
        </p:nvSpPr>
        <p:spPr>
          <a:xfrm>
            <a:off x="2194560" y="2606040"/>
            <a:ext cx="5532120" cy="1645920"/>
          </a:xfrm>
          <a:prstGeom prst="round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1000"/>
              </a:spcAft>
            </a:pPr>
            <a:r>
              <a:rPr sz="4400" b="1">
                <a:solidFill>
                  <a:srgbClr val="000000"/>
                </a:solidFill>
                <a:latin typeface="HGPｺﾞｼｯｸE"/>
                <a:ea typeface="HGPｺﾞｼｯｸE"/>
              </a:rPr>
              <a:t>休憩　10分</a:t>
            </a:r>
          </a:p>
          <a:p>
            <a:pPr algn="ctr">
              <a:spcAft>
                <a:spcPts val="500"/>
              </a:spcAft>
            </a:pPr>
            <a:r>
              <a:rPr sz="1800" b="0">
                <a:solidFill>
                  <a:srgbClr val="000000"/>
                </a:solidFill>
                <a:latin typeface="HGPｺﾞｼｯｸE"/>
                <a:ea typeface="HGPｺﾞｼｯｸE"/>
              </a:rPr>
              <a:t>後半は「必要性訴求」に入ります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24</a:t>
            </a:r>
          </a:p>
        </p:txBody>
      </p:sp>
      <p:sp>
        <p:nvSpPr>
          <p:cNvPr id="5" name="TextBox 4"/>
          <p:cNvSpPr txBox="1"/>
          <p:nvPr/>
        </p:nvSpPr>
        <p:spPr>
          <a:xfrm>
            <a:off x="411480" y="1261872"/>
            <a:ext cx="9052560" cy="384048"/>
          </a:xfrm>
          <a:prstGeom prst="rect">
            <a:avLst/>
          </a:prstGeom>
          <a:noFill/>
        </p:spPr>
        <p:txBody>
          <a:bodyPr wrap="square" anchor="t" lIns="0" rIns="0" tIns="18288" bIns="18288">
            <a:spAutoFit/>
          </a:bodyPr>
          <a:lstStyle/>
          <a:p>
            <a:pPr algn="l">
              <a:spcAft>
                <a:spcPts val="500"/>
              </a:spcAft>
            </a:pPr>
            <a:r>
              <a:rPr sz="2200" b="1">
                <a:solidFill>
                  <a:srgbClr val="000000"/>
                </a:solidFill>
                <a:latin typeface="HGPｺﾞｼｯｸE"/>
                <a:ea typeface="HGPｺﾞｼｯｸE"/>
              </a:rPr>
              <a:t>ゴール：現状を正確に把握してもらう</a:t>
            </a:r>
          </a:p>
        </p:txBody>
      </p:sp>
      <p:graphicFrame>
        <p:nvGraphicFramePr>
          <p:cNvPr id="6" name="Table 5"/>
          <p:cNvGraphicFramePr>
            <a:graphicFrameLocks noGrp="1"/>
          </p:cNvGraphicFramePr>
          <p:nvPr/>
        </p:nvGraphicFramePr>
        <p:xfrm>
          <a:off x="274320" y="1783080"/>
          <a:ext cx="9372600" cy="2688336"/>
        </p:xfrm>
        <a:graphic>
          <a:graphicData uri="http://schemas.openxmlformats.org/drawingml/2006/table">
            <a:tbl>
              <a:tblPr firstRow="1">
                <a:tableStyleId>{5C22544A-7EE6-4342-B048-85BDC9FD1C3A}</a:tableStyleId>
              </a:tblPr>
              <a:tblGrid>
                <a:gridCol w="1097280"/>
                <a:gridCol w="1508760"/>
                <a:gridCol w="2377440"/>
                <a:gridCol w="3566160"/>
                <a:gridCol w="822960"/>
              </a:tblGrid>
              <a:tr h="274320">
                <a:tc>
                  <a:txBody>
                    <a:bodyPr wrap="square"/>
                    <a:lstStyle/>
                    <a:p>
                      <a:pPr algn="ctr"/>
                      <a:r>
                        <a:rPr sz="110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ゴール</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詳細</a:t>
                      </a:r>
                    </a:p>
                  </a:txBody>
                  <a:tcPr marL="45720" marR="45720" marT="18288" marB="18288" anchor="ctr">
                    <a:solidFill>
                      <a:srgbClr val="000000"/>
                    </a:solidFill>
                  </a:tcPr>
                </a:tc>
                <a:tc>
                  <a:txBody>
                    <a:bodyPr wrap="square"/>
                    <a:lstStyle/>
                    <a:p>
                      <a:pPr algn="ctr"/>
                      <a:r>
                        <a:rPr sz="1100" b="1">
                          <a:solidFill>
                            <a:srgbClr val="FFFFFF"/>
                          </a:solidFill>
                          <a:latin typeface="游ゴシック"/>
                          <a:ea typeface="游ゴシック"/>
                        </a:rPr>
                        <a:t>本日</a:t>
                      </a:r>
                    </a:p>
                  </a:txBody>
                  <a:tcPr marL="45720" marR="45720" marT="18288" marB="18288" anchor="ctr">
                    <a:solidFill>
                      <a:srgbClr val="000000"/>
                    </a:solidFill>
                  </a:tcPr>
                </a:tc>
              </a:tr>
              <a:tr h="402336">
                <a:tc>
                  <a:txBody>
                    <a:bodyPr wrap="square"/>
                    <a:lstStyle/>
                    <a:p>
                      <a:pPr algn="l"/>
                      <a:r>
                        <a:rPr sz="1100" b="0">
                          <a:solidFill>
                            <a:srgbClr val="000000"/>
                          </a:solidFill>
                          <a:latin typeface="游ゴシック"/>
                          <a:ea typeface="游ゴシック"/>
                        </a:rPr>
                        <a:t>必要性訴求</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現状を正確に把握する</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⑦直近数か年の電気代推移の理解</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電力自由化でも電気代は下がっていないことを実感してもらう</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a:t>
                      </a:r>
                    </a:p>
                  </a:txBody>
                  <a:tcPr marL="45720" marR="45720" marT="18288" marB="18288" anchor="ctr">
                    <a:solidFill>
                      <a:srgbClr val="EAF1DD"/>
                    </a:solidFill>
                  </a:tcPr>
                </a:tc>
              </a:tr>
              <a:tr h="402336">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⑧再エネ賦課金の構造の理解</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賦課金の上昇もあり、今後ますます光熱費が膨らむことを想像してもらう</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a:t>
                      </a:r>
                    </a:p>
                  </a:txBody>
                  <a:tcPr marL="45720" marR="45720" marT="18288" marB="18288" anchor="ctr">
                    <a:solidFill>
                      <a:srgbClr val="EAF1DD"/>
                    </a:solidFill>
                  </a:tcPr>
                </a:tc>
              </a:tr>
              <a:tr h="402336">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⑨長期で支払う電気代総額の理解</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30年で400万円以上を支払う未来を創造してもらう</a:t>
                      </a:r>
                    </a:p>
                  </a:txBody>
                  <a:tcPr marL="45720" marR="45720" marT="18288" marB="18288" anchor="ctr">
                    <a:solidFill>
                      <a:srgbClr val="EAF1DD"/>
                    </a:solidFill>
                  </a:tcPr>
                </a:tc>
                <a:tc>
                  <a:txBody>
                    <a:bodyPr wrap="square"/>
                    <a:lstStyle/>
                    <a:p>
                      <a:pPr algn="l"/>
                      <a:r>
                        <a:rPr sz="1100" b="0">
                          <a:solidFill>
                            <a:srgbClr val="000000"/>
                          </a:solidFill>
                          <a:latin typeface="游ゴシック"/>
                          <a:ea typeface="游ゴシック"/>
                        </a:rPr>
                        <a:t>○</a:t>
                      </a:r>
                    </a:p>
                  </a:txBody>
                  <a:tcPr marL="45720" marR="45720" marT="18288" marB="18288" anchor="ctr">
                    <a:solidFill>
                      <a:srgbClr val="EAF1DD"/>
                    </a:solidFill>
                  </a:tcPr>
                </a:tc>
              </a:tr>
              <a:tr h="402336">
                <a:tc>
                  <a:txBody>
                    <a:bodyPr wrap="square"/>
                    <a:lstStyle/>
                    <a:p>
                      <a:pPr algn="l"/>
                      <a:r>
                        <a:rPr sz="1100" b="0">
                          <a:solidFill>
                            <a:srgbClr val="000000"/>
                          </a:solidFill>
                          <a:latin typeface="游ゴシック"/>
                          <a:ea typeface="游ゴシック"/>
                        </a:rPr>
                        <a:t/>
                      </a:r>
                    </a:p>
                  </a:txBody>
                  <a:tcPr marL="45720" marR="45720" marT="18288" marB="18288" anchor="ctr">
                    <a:noFill/>
                  </a:tcPr>
                </a:tc>
                <a:tc>
                  <a:txBody>
                    <a:bodyPr wrap="square"/>
                    <a:lstStyle/>
                    <a:p>
                      <a:pPr algn="l"/>
                      <a:r>
                        <a:rPr sz="1100" b="0">
                          <a:solidFill>
                            <a:srgbClr val="000000"/>
                          </a:solidFill>
                          <a:latin typeface="游ゴシック"/>
                          <a:ea typeface="游ゴシック"/>
                        </a:rPr>
                        <a:t/>
                      </a:r>
                    </a:p>
                  </a:txBody>
                  <a:tcPr marL="45720" marR="45720" marT="18288" marB="18288" anchor="ctr">
                    <a:noFill/>
                  </a:tcPr>
                </a:tc>
                <a:tc>
                  <a:txBody>
                    <a:bodyPr wrap="square"/>
                    <a:lstStyle/>
                    <a:p>
                      <a:pPr algn="l"/>
                      <a:r>
                        <a:rPr sz="1100" b="0">
                          <a:solidFill>
                            <a:srgbClr val="000000"/>
                          </a:solidFill>
                          <a:latin typeface="游ゴシック"/>
                          <a:ea typeface="游ゴシック"/>
                        </a:rPr>
                        <a:t>⑩非常時に備える意義の理解</a:t>
                      </a:r>
                    </a:p>
                  </a:txBody>
                  <a:tcPr marL="45720" marR="45720" marT="18288" marB="18288" anchor="ctr">
                    <a:noFill/>
                  </a:tcPr>
                </a:tc>
                <a:tc>
                  <a:txBody>
                    <a:bodyPr wrap="square"/>
                    <a:lstStyle/>
                    <a:p>
                      <a:pPr algn="l"/>
                      <a:r>
                        <a:rPr sz="1100" b="0">
                          <a:solidFill>
                            <a:srgbClr val="000000"/>
                          </a:solidFill>
                          <a:latin typeface="游ゴシック"/>
                          <a:ea typeface="游ゴシック"/>
                        </a:rPr>
                        <a:t>度重なる災害から、非常時に備える必要があることを理解してもらう</a:t>
                      </a:r>
                    </a:p>
                  </a:txBody>
                  <a:tcPr marL="45720" marR="45720" marT="18288" marB="18288" anchor="ctr">
                    <a:noFill/>
                  </a:tcPr>
                </a:tc>
                <a:tc>
                  <a:txBody>
                    <a:bodyPr wrap="square"/>
                    <a:lstStyle/>
                    <a:p>
                      <a:pPr algn="l"/>
                      <a:r>
                        <a:rPr sz="1100" b="0">
                          <a:solidFill>
                            <a:srgbClr val="000000"/>
                          </a:solidFill>
                          <a:latin typeface="游ゴシック"/>
                          <a:ea typeface="游ゴシック"/>
                        </a:rPr>
                        <a:t>第3回</a:t>
                      </a:r>
                    </a:p>
                  </a:txBody>
                  <a:tcPr marL="45720" marR="45720" marT="18288" marB="18288" anchor="ctr">
                    <a:noFill/>
                  </a:tcPr>
                </a:tc>
              </a:tr>
              <a:tr h="402336">
                <a:tc>
                  <a:txBody>
                    <a:bodyPr wrap="square"/>
                    <a:lstStyle/>
                    <a:p>
                      <a:pPr algn="l"/>
                      <a:r>
                        <a:rPr sz="1100" b="0">
                          <a:solidFill>
                            <a:srgbClr val="000000"/>
                          </a:solidFill>
                          <a:latin typeface="游ゴシック"/>
                          <a:ea typeface="游ゴシック"/>
                        </a:rPr>
                        <a:t/>
                      </a:r>
                    </a:p>
                  </a:txBody>
                  <a:tcPr marL="45720" marR="45720" marT="18288" marB="18288" anchor="ctr">
                    <a:noFill/>
                  </a:tcPr>
                </a:tc>
                <a:tc>
                  <a:txBody>
                    <a:bodyPr wrap="square"/>
                    <a:lstStyle/>
                    <a:p>
                      <a:pPr algn="l"/>
                      <a:r>
                        <a:rPr sz="1100" b="0">
                          <a:solidFill>
                            <a:srgbClr val="000000"/>
                          </a:solidFill>
                          <a:latin typeface="游ゴシック"/>
                          <a:ea typeface="游ゴシック"/>
                        </a:rPr>
                        <a:t/>
                      </a:r>
                    </a:p>
                  </a:txBody>
                  <a:tcPr marL="45720" marR="45720" marT="18288" marB="18288" anchor="ctr">
                    <a:noFill/>
                  </a:tcPr>
                </a:tc>
                <a:tc>
                  <a:txBody>
                    <a:bodyPr wrap="square"/>
                    <a:lstStyle/>
                    <a:p>
                      <a:pPr algn="l"/>
                      <a:r>
                        <a:rPr sz="1100" b="0">
                          <a:solidFill>
                            <a:srgbClr val="000000"/>
                          </a:solidFill>
                          <a:latin typeface="游ゴシック"/>
                          <a:ea typeface="游ゴシック"/>
                        </a:rPr>
                        <a:t>⑪非常時対策の効果の確認</a:t>
                      </a:r>
                    </a:p>
                  </a:txBody>
                  <a:tcPr marL="45720" marR="45720" marT="18288" marB="18288" anchor="ctr">
                    <a:noFill/>
                  </a:tcPr>
                </a:tc>
                <a:tc>
                  <a:txBody>
                    <a:bodyPr wrap="square"/>
                    <a:lstStyle/>
                    <a:p>
                      <a:pPr algn="l"/>
                      <a:r>
                        <a:rPr sz="1100" b="0">
                          <a:solidFill>
                            <a:srgbClr val="000000"/>
                          </a:solidFill>
                          <a:latin typeface="游ゴシック"/>
                          <a:ea typeface="游ゴシック"/>
                        </a:rPr>
                        <a:t>30年近く停電時の保証が得られることを理解してもらう</a:t>
                      </a:r>
                    </a:p>
                  </a:txBody>
                  <a:tcPr marL="45720" marR="45720" marT="18288" marB="18288" anchor="ctr">
                    <a:noFill/>
                  </a:tcPr>
                </a:tc>
                <a:tc>
                  <a:txBody>
                    <a:bodyPr wrap="square"/>
                    <a:lstStyle/>
                    <a:p>
                      <a:pPr algn="l"/>
                      <a:r>
                        <a:rPr sz="1100" b="0">
                          <a:solidFill>
                            <a:srgbClr val="000000"/>
                          </a:solidFill>
                          <a:latin typeface="游ゴシック"/>
                          <a:ea typeface="游ゴシック"/>
                        </a:rPr>
                        <a:t>第3回</a:t>
                      </a:r>
                    </a:p>
                  </a:txBody>
                  <a:tcPr marL="45720" marR="45720" marT="18288" marB="18288" anchor="ctr">
                    <a:noFill/>
                  </a:tcPr>
                </a:tc>
              </a:tr>
              <a:tr h="402336">
                <a:tc>
                  <a:txBody>
                    <a:bodyPr wrap="square"/>
                    <a:lstStyle/>
                    <a:p>
                      <a:pPr algn="l"/>
                      <a:r>
                        <a:rPr sz="1100" b="0">
                          <a:solidFill>
                            <a:srgbClr val="000000"/>
                          </a:solidFill>
                          <a:latin typeface="游ゴシック"/>
                          <a:ea typeface="游ゴシック"/>
                        </a:rPr>
                        <a:t/>
                      </a:r>
                    </a:p>
                  </a:txBody>
                  <a:tcPr marL="45720" marR="45720" marT="18288" marB="18288" anchor="ctr">
                    <a:noFill/>
                  </a:tcPr>
                </a:tc>
                <a:tc>
                  <a:txBody>
                    <a:bodyPr wrap="square"/>
                    <a:lstStyle/>
                    <a:p>
                      <a:pPr algn="l"/>
                      <a:r>
                        <a:rPr sz="1100" b="0">
                          <a:solidFill>
                            <a:srgbClr val="000000"/>
                          </a:solidFill>
                          <a:latin typeface="游ゴシック"/>
                          <a:ea typeface="游ゴシック"/>
                        </a:rPr>
                        <a:t/>
                      </a:r>
                    </a:p>
                  </a:txBody>
                  <a:tcPr marL="45720" marR="45720" marT="18288" marB="18288" anchor="ctr">
                    <a:noFill/>
                  </a:tcPr>
                </a:tc>
                <a:tc>
                  <a:txBody>
                    <a:bodyPr wrap="square"/>
                    <a:lstStyle/>
                    <a:p>
                      <a:pPr algn="l"/>
                      <a:r>
                        <a:rPr sz="1100" b="0">
                          <a:solidFill>
                            <a:srgbClr val="000000"/>
                          </a:solidFill>
                          <a:latin typeface="游ゴシック"/>
                          <a:ea typeface="游ゴシック"/>
                        </a:rPr>
                        <a:t>⑫太陽光・蓄電池の使い方の理解</a:t>
                      </a:r>
                    </a:p>
                  </a:txBody>
                  <a:tcPr marL="45720" marR="45720" marT="18288" marB="18288" anchor="ctr">
                    <a:noFill/>
                  </a:tcPr>
                </a:tc>
                <a:tc>
                  <a:txBody>
                    <a:bodyPr wrap="square"/>
                    <a:lstStyle/>
                    <a:p>
                      <a:pPr algn="l"/>
                      <a:r>
                        <a:rPr sz="1100" b="0">
                          <a:solidFill>
                            <a:srgbClr val="000000"/>
                          </a:solidFill>
                          <a:latin typeface="游ゴシック"/>
                          <a:ea typeface="游ゴシック"/>
                        </a:rPr>
                        <a:t>シミュレーションに移る前に一般的な使い方を理解してもらう</a:t>
                      </a:r>
                    </a:p>
                  </a:txBody>
                  <a:tcPr marL="45720" marR="45720" marT="18288" marB="18288" anchor="ctr">
                    <a:noFill/>
                  </a:tcPr>
                </a:tc>
                <a:tc>
                  <a:txBody>
                    <a:bodyPr wrap="square"/>
                    <a:lstStyle/>
                    <a:p>
                      <a:pPr algn="l"/>
                      <a:r>
                        <a:rPr sz="1100" b="0">
                          <a:solidFill>
                            <a:srgbClr val="000000"/>
                          </a:solidFill>
                          <a:latin typeface="游ゴシック"/>
                          <a:ea typeface="游ゴシック"/>
                        </a:rPr>
                        <a:t>第3回</a:t>
                      </a:r>
                    </a:p>
                  </a:txBody>
                  <a:tcPr marL="45720" marR="45720" marT="18288" marB="18288" anchor="ctr">
                    <a:noFill/>
                  </a:tcPr>
                </a:tc>
              </a:tr>
            </a:tbl>
          </a:graphicData>
        </a:graphic>
      </p:graphicFrame>
      <p:sp>
        <p:nvSpPr>
          <p:cNvPr id="7" name="Rectangle 6"/>
          <p:cNvSpPr/>
          <p:nvPr/>
        </p:nvSpPr>
        <p:spPr>
          <a:xfrm>
            <a:off x="274320" y="4709160"/>
            <a:ext cx="9372600" cy="155448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2000" b="1">
                <a:solidFill>
                  <a:srgbClr val="FF0000"/>
                </a:solidFill>
                <a:latin typeface="HGPｺﾞｼｯｸE"/>
                <a:ea typeface="HGPｺﾞｼｯｸE"/>
              </a:rPr>
              <a:t>このパートの基本設計は「下げてから上げる」</a:t>
            </a:r>
          </a:p>
          <a:p>
            <a:pPr algn="l">
              <a:spcAft>
                <a:spcPts val="500"/>
              </a:spcAft>
            </a:pPr>
            <a:r>
              <a:rPr sz="1600" b="0">
                <a:solidFill>
                  <a:srgbClr val="000000"/>
                </a:solidFill>
                <a:latin typeface="HGPｺﾞｼｯｸE"/>
                <a:ea typeface="HGPｺﾞｼｯｸE"/>
              </a:rPr>
              <a:t>ネガティブな現状を踏まえた上でポジティブな解決策を提示すると、商品の価値が高まります。</a:t>
            </a:r>
          </a:p>
          <a:p>
            <a:pPr algn="l">
              <a:spcAft>
                <a:spcPts val="500"/>
              </a:spcAft>
            </a:pPr>
            <a:r>
              <a:rPr sz="1600" b="0">
                <a:solidFill>
                  <a:srgbClr val="000000"/>
                </a:solidFill>
                <a:latin typeface="HGPｺﾞｼｯｸE"/>
                <a:ea typeface="HGPｺﾞｼｯｸE"/>
              </a:rPr>
              <a:t>お客様が「欲しい」と思う動機は、ネガ→ポジの「振れ幅」です。</a:t>
            </a:r>
          </a:p>
          <a:p>
            <a:pPr algn="l">
              <a:spcAft>
                <a:spcPts val="500"/>
              </a:spcAft>
            </a:pPr>
            <a:r>
              <a:rPr sz="1600" b="1">
                <a:solidFill>
                  <a:srgbClr val="000000"/>
                </a:solidFill>
                <a:latin typeface="HGPｺﾞｼｯｸE"/>
                <a:ea typeface="HGPｺﾞｼｯｸE"/>
              </a:rPr>
              <a:t>ポイントは、ネガティブな現状を「自分事」にすること。「ウチは関係ないしね」を無くします。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25</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ルール⑦：直近数か年の電気代推移の理解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「しばらく電気代が下がっていない」事実に納得させる</a:t>
            </a:r>
          </a:p>
        </p:txBody>
      </p:sp>
      <p:pic>
        <p:nvPicPr>
          <p:cNvPr id="7" name="Picture 6" descr="ab-09.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p.9　電気料金の推移</a:t>
            </a:r>
          </a:p>
        </p:txBody>
      </p:sp>
      <p:sp>
        <p:nvSpPr>
          <p:cNvPr id="9" name="Rounded Rectangle 8"/>
          <p:cNvSpPr/>
          <p:nvPr/>
        </p:nvSpPr>
        <p:spPr>
          <a:xfrm>
            <a:off x="4892040" y="2286000"/>
            <a:ext cx="4617720" cy="105156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「10年間で5.5万円も電気代は上がっているのですね」</a:t>
            </a:r>
          </a:p>
        </p:txBody>
      </p:sp>
      <p:sp>
        <p:nvSpPr>
          <p:cNvPr id="10" name="Rectangle 9"/>
          <p:cNvSpPr/>
          <p:nvPr/>
        </p:nvSpPr>
        <p:spPr>
          <a:xfrm>
            <a:off x="4892040" y="3456432"/>
            <a:ext cx="461772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400" b="1">
                <a:solidFill>
                  <a:srgbClr val="000000"/>
                </a:solidFill>
                <a:latin typeface="HGPｺﾞｼｯｸE"/>
                <a:ea typeface="HGPｺﾞｼｯｸE"/>
              </a:rPr>
              <a:t>電気代が具体的にいくら上がっているのかをヒアリングし、正解を伝えてあげる</a:t>
            </a:r>
          </a:p>
          <a:p>
            <a:pPr algn="l">
              <a:spcAft>
                <a:spcPts val="600"/>
              </a:spcAft>
            </a:pPr>
            <a:r>
              <a:rPr sz="1250" b="0">
                <a:solidFill>
                  <a:srgbClr val="000000"/>
                </a:solidFill>
                <a:latin typeface="HGPｺﾞｼｯｸE"/>
                <a:ea typeface="HGPｺﾞｼｯｸE"/>
              </a:rPr>
              <a:t>2010年 ¥119,602 → 2025年 ¥180,675（4人家族・年5,500kWh想定）</a:t>
            </a:r>
          </a:p>
          <a:p>
            <a:pPr algn="l">
              <a:spcAft>
                <a:spcPts val="600"/>
              </a:spcAft>
            </a:pPr>
            <a:r>
              <a:rPr sz="1250" b="0">
                <a:solidFill>
                  <a:srgbClr val="000000"/>
                </a:solidFill>
                <a:latin typeface="HGPｺﾞｼｯｸE"/>
                <a:ea typeface="HGPｺﾞｼｯｸE"/>
              </a:rPr>
              <a:t>p.10「電力自由化でも下がらなかった」（21円→32円）、p.12「全国的な値上げ」まで続けて見せる</a:t>
            </a:r>
          </a:p>
          <a:p>
            <a:pPr algn="l">
              <a:spcAft>
                <a:spcPts val="600"/>
              </a:spcAft>
            </a:pPr>
            <a:r>
              <a:rPr sz="1300" b="1">
                <a:solidFill>
                  <a:srgbClr val="FF0000"/>
                </a:solidFill>
                <a:latin typeface="HGPｺﾞｼｯｸE"/>
                <a:ea typeface="HGPｺﾞｼｯｸE"/>
              </a:rPr>
              <a:t>「全国平均の話で、ウチは関係ない」を無くすのが目的</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電気料金は2011年以降45％、約5.5万円も上昇している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26</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ルール⑦：よくあるネガと切り返し</a:t>
            </a:r>
          </a:p>
        </p:txBody>
      </p:sp>
      <p:sp>
        <p:nvSpPr>
          <p:cNvPr id="6" name="TextBox 5"/>
          <p:cNvSpPr txBox="1"/>
          <p:nvPr/>
        </p:nvSpPr>
        <p:spPr>
          <a:xfrm>
            <a:off x="411480" y="1719072"/>
            <a:ext cx="9098280" cy="292608"/>
          </a:xfrm>
          <a:prstGeom prst="rect">
            <a:avLst/>
          </a:prstGeom>
          <a:noFill/>
        </p:spPr>
        <p:txBody>
          <a:bodyPr wrap="square" anchor="t" lIns="0" rIns="0" tIns="18288" bIns="18288">
            <a:spAutoFit/>
          </a:bodyPr>
          <a:lstStyle/>
          <a:p>
            <a:pPr algn="l">
              <a:spcAft>
                <a:spcPts val="500"/>
              </a:spcAft>
            </a:pPr>
            <a:r>
              <a:rPr sz="1500" b="0">
                <a:solidFill>
                  <a:srgbClr val="595959"/>
                </a:solidFill>
                <a:latin typeface="HGPｺﾞｼｯｸE"/>
                <a:ea typeface="HGPｺﾞｼｯｸE"/>
              </a:rPr>
              <a:t>逃げ道を無くすことが目的です。お客様の細かなネガにも、なるべく対応できるようにしておきましょう</a:t>
            </a:r>
          </a:p>
        </p:txBody>
      </p:sp>
      <p:graphicFrame>
        <p:nvGraphicFramePr>
          <p:cNvPr id="7" name="Table 6"/>
          <p:cNvGraphicFramePr>
            <a:graphicFrameLocks noGrp="1"/>
          </p:cNvGraphicFramePr>
          <p:nvPr/>
        </p:nvGraphicFramePr>
        <p:xfrm>
          <a:off x="411480" y="2121408"/>
          <a:ext cx="9098279" cy="3328416"/>
        </p:xfrm>
        <a:graphic>
          <a:graphicData uri="http://schemas.openxmlformats.org/drawingml/2006/table">
            <a:tbl>
              <a:tblPr firstRow="1">
                <a:tableStyleId>{5C22544A-7EE6-4342-B048-85BDC9FD1C3A}</a:tableStyleId>
              </a:tblPr>
              <a:tblGrid>
                <a:gridCol w="3977639"/>
                <a:gridCol w="5120640"/>
              </a:tblGrid>
              <a:tr h="310896">
                <a:tc>
                  <a:txBody>
                    <a:bodyPr wrap="square"/>
                    <a:lstStyle/>
                    <a:p>
                      <a:pPr algn="ctr"/>
                      <a:r>
                        <a:rPr sz="1500" b="1">
                          <a:solidFill>
                            <a:srgbClr val="FFFFFF"/>
                          </a:solidFill>
                          <a:latin typeface="游ゴシック"/>
                          <a:ea typeface="游ゴシック"/>
                        </a:rPr>
                        <a:t>よくあるネガ</a:t>
                      </a:r>
                    </a:p>
                  </a:txBody>
                  <a:tcPr marL="45720" marR="45720" marT="18288" marB="18288" anchor="ctr">
                    <a:solidFill>
                      <a:srgbClr val="000000"/>
                    </a:solidFill>
                  </a:tcPr>
                </a:tc>
                <a:tc>
                  <a:txBody>
                    <a:bodyPr wrap="square"/>
                    <a:lstStyle/>
                    <a:p>
                      <a:pPr algn="ctr"/>
                      <a:r>
                        <a:rPr sz="1500" b="1">
                          <a:solidFill>
                            <a:srgbClr val="FFFFFF"/>
                          </a:solidFill>
                          <a:latin typeface="游ゴシック"/>
                          <a:ea typeface="游ゴシック"/>
                        </a:rPr>
                        <a:t>切り返し方</a:t>
                      </a:r>
                    </a:p>
                  </a:txBody>
                  <a:tcPr marL="45720" marR="45720" marT="18288" marB="18288" anchor="ctr">
                    <a:solidFill>
                      <a:srgbClr val="000000"/>
                    </a:solidFill>
                  </a:tcPr>
                </a:tc>
              </a:tr>
              <a:tr h="603504">
                <a:tc>
                  <a:txBody>
                    <a:bodyPr wrap="square"/>
                    <a:lstStyle/>
                    <a:p>
                      <a:pPr algn="l"/>
                      <a:r>
                        <a:rPr sz="1500" b="0">
                          <a:solidFill>
                            <a:srgbClr val="000000"/>
                          </a:solidFill>
                          <a:latin typeface="游ゴシック"/>
                          <a:ea typeface="游ゴシック"/>
                        </a:rPr>
                        <a:t>検針票が届かないので、いくらか把握できていない</a:t>
                      </a:r>
                    </a:p>
                  </a:txBody>
                  <a:tcPr marL="45720" marR="45720" marT="18288" marB="18288" anchor="ctr">
                    <a:noFill/>
                  </a:tcPr>
                </a:tc>
                <a:tc>
                  <a:txBody>
                    <a:bodyPr wrap="square"/>
                    <a:lstStyle/>
                    <a:p>
                      <a:pPr algn="l"/>
                      <a:r>
                        <a:rPr sz="1500" b="0">
                          <a:solidFill>
                            <a:srgbClr val="000000"/>
                          </a:solidFill>
                          <a:latin typeface="游ゴシック"/>
                          <a:ea typeface="游ゴシック"/>
                        </a:rPr>
                        <a:t>口座引き落としをご覧ください</a:t>
                      </a:r>
                    </a:p>
                  </a:txBody>
                  <a:tcPr marL="45720" marR="45720" marT="18288" marB="18288" anchor="ctr">
                    <a:noFill/>
                  </a:tcPr>
                </a:tc>
              </a:tr>
              <a:tr h="603504">
                <a:tc>
                  <a:txBody>
                    <a:bodyPr wrap="square"/>
                    <a:lstStyle/>
                    <a:p>
                      <a:pPr algn="l"/>
                      <a:r>
                        <a:rPr sz="1500" b="0">
                          <a:solidFill>
                            <a:srgbClr val="000000"/>
                          </a:solidFill>
                          <a:latin typeface="游ゴシック"/>
                          <a:ea typeface="游ゴシック"/>
                        </a:rPr>
                        <a:t>あまり費用が大きいと感じたことはない</a:t>
                      </a:r>
                    </a:p>
                  </a:txBody>
                  <a:tcPr marL="45720" marR="45720" marT="18288" marB="18288" anchor="ctr">
                    <a:noFill/>
                  </a:tcPr>
                </a:tc>
                <a:tc>
                  <a:txBody>
                    <a:bodyPr wrap="square"/>
                    <a:lstStyle/>
                    <a:p>
                      <a:pPr algn="l"/>
                      <a:r>
                        <a:rPr sz="1500" b="0">
                          <a:solidFill>
                            <a:srgbClr val="000000"/>
                          </a:solidFill>
                          <a:latin typeface="游ゴシック"/>
                          <a:ea typeface="游ゴシック"/>
                        </a:rPr>
                        <a:t>季節によっても変わります</a:t>
                      </a:r>
                    </a:p>
                  </a:txBody>
                  <a:tcPr marL="45720" marR="45720" marT="18288" marB="18288" anchor="ctr">
                    <a:noFill/>
                  </a:tcPr>
                </a:tc>
              </a:tr>
              <a:tr h="603504">
                <a:tc>
                  <a:txBody>
                    <a:bodyPr wrap="square"/>
                    <a:lstStyle/>
                    <a:p>
                      <a:pPr algn="l"/>
                      <a:r>
                        <a:rPr sz="1500" b="0">
                          <a:solidFill>
                            <a:srgbClr val="000000"/>
                          </a:solidFill>
                          <a:latin typeface="游ゴシック"/>
                          <a:ea typeface="游ゴシック"/>
                        </a:rPr>
                        <a:t>長く住んでいるので今さら…</a:t>
                      </a:r>
                    </a:p>
                  </a:txBody>
                  <a:tcPr marL="45720" marR="45720" marT="18288" marB="18288" anchor="ctr">
                    <a:noFill/>
                  </a:tcPr>
                </a:tc>
                <a:tc>
                  <a:txBody>
                    <a:bodyPr wrap="square"/>
                    <a:lstStyle/>
                    <a:p>
                      <a:pPr algn="l"/>
                      <a:r>
                        <a:rPr sz="1500" b="0">
                          <a:solidFill>
                            <a:srgbClr val="000000"/>
                          </a:solidFill>
                          <a:latin typeface="游ゴシック"/>
                          <a:ea typeface="游ゴシック"/>
                        </a:rPr>
                        <a:t>平均寿命を考えれば、定年からでも20年は払い続けますよね？</a:t>
                      </a:r>
                    </a:p>
                  </a:txBody>
                  <a:tcPr marL="45720" marR="45720" marT="18288" marB="18288" anchor="ctr">
                    <a:noFill/>
                  </a:tcPr>
                </a:tc>
              </a:tr>
              <a:tr h="603504">
                <a:tc>
                  <a:txBody>
                    <a:bodyPr wrap="square"/>
                    <a:lstStyle/>
                    <a:p>
                      <a:pPr algn="l"/>
                      <a:r>
                        <a:rPr sz="1500" b="0">
                          <a:solidFill>
                            <a:srgbClr val="000000"/>
                          </a:solidFill>
                          <a:latin typeface="游ゴシック"/>
                          <a:ea typeface="游ゴシック"/>
                        </a:rPr>
                        <a:t>節電対策はそれなりにやっている</a:t>
                      </a:r>
                    </a:p>
                  </a:txBody>
                  <a:tcPr marL="45720" marR="45720" marT="18288" marB="18288" anchor="ctr">
                    <a:noFill/>
                  </a:tcPr>
                </a:tc>
                <a:tc>
                  <a:txBody>
                    <a:bodyPr wrap="square"/>
                    <a:lstStyle/>
                    <a:p>
                      <a:pPr algn="l"/>
                      <a:r>
                        <a:rPr sz="1500" b="0">
                          <a:solidFill>
                            <a:srgbClr val="000000"/>
                          </a:solidFill>
                          <a:latin typeface="游ゴシック"/>
                          <a:ea typeface="游ゴシック"/>
                        </a:rPr>
                        <a:t>こまめな節電は大事ですが、せいぜい1000円ぐらいです</a:t>
                      </a:r>
                    </a:p>
                  </a:txBody>
                  <a:tcPr marL="45720" marR="45720" marT="18288" marB="18288" anchor="ctr">
                    <a:noFill/>
                  </a:tcPr>
                </a:tc>
              </a:tr>
              <a:tr h="603504">
                <a:tc>
                  <a:txBody>
                    <a:bodyPr wrap="square"/>
                    <a:lstStyle/>
                    <a:p>
                      <a:pPr algn="l"/>
                      <a:r>
                        <a:rPr sz="1500" b="0">
                          <a:solidFill>
                            <a:srgbClr val="000000"/>
                          </a:solidFill>
                          <a:latin typeface="游ゴシック"/>
                          <a:ea typeface="游ゴシック"/>
                        </a:rPr>
                        <a:t>子供次第？</a:t>
                      </a:r>
                    </a:p>
                  </a:txBody>
                  <a:tcPr marL="45720" marR="45720" marT="18288" marB="18288" anchor="ctr">
                    <a:noFill/>
                  </a:tcPr>
                </a:tc>
                <a:tc>
                  <a:txBody>
                    <a:bodyPr wrap="square"/>
                    <a:lstStyle/>
                    <a:p>
                      <a:pPr algn="l"/>
                      <a:r>
                        <a:rPr sz="1500" b="0">
                          <a:solidFill>
                            <a:srgbClr val="000000"/>
                          </a:solidFill>
                          <a:latin typeface="游ゴシック"/>
                          <a:ea typeface="游ゴシック"/>
                        </a:rPr>
                        <a:t>大きくなって部屋も別々になれば、増えていきます</a:t>
                      </a:r>
                    </a:p>
                  </a:txBody>
                  <a:tcPr marL="45720" marR="45720" marT="18288" marB="18288" anchor="ctr">
                    <a:noFill/>
                  </a:tcPr>
                </a:tc>
              </a:tr>
            </a:tbl>
          </a:graphicData>
        </a:graphic>
      </p:graphicFrame>
      <p:sp>
        <p:nvSpPr>
          <p:cNvPr id="8" name="Rectangle 7"/>
          <p:cNvSpPr/>
          <p:nvPr/>
        </p:nvSpPr>
        <p:spPr>
          <a:xfrm>
            <a:off x="411480" y="5623560"/>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節電で削減できるのは年13,646円が限界。買い続ける限り対策は「使用量を減らす」だけ</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27</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ルール⑧：再エネ賦課金の構造の理解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賦課金は「13年で18倍」に上がり、その賦課金は「わざわざ払っている」</a:t>
            </a:r>
          </a:p>
        </p:txBody>
      </p:sp>
      <p:pic>
        <p:nvPicPr>
          <p:cNvPr id="7" name="Picture 6" descr="ab-14.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p.14　再エネ賦課金の推移</a:t>
            </a:r>
          </a:p>
        </p:txBody>
      </p:sp>
      <p:sp>
        <p:nvSpPr>
          <p:cNvPr id="9" name="Rounded Rectangle 8"/>
          <p:cNvSpPr/>
          <p:nvPr/>
        </p:nvSpPr>
        <p:spPr>
          <a:xfrm>
            <a:off x="4892040" y="2286000"/>
            <a:ext cx="4617720" cy="105156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「再エネ賦課金が上昇することで、電気代が上昇するのですね」</a:t>
            </a:r>
          </a:p>
        </p:txBody>
      </p:sp>
      <p:sp>
        <p:nvSpPr>
          <p:cNvPr id="10" name="Rectangle 9"/>
          <p:cNvSpPr/>
          <p:nvPr/>
        </p:nvSpPr>
        <p:spPr>
          <a:xfrm>
            <a:off x="4892040" y="3456432"/>
            <a:ext cx="461772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400" b="1">
                <a:solidFill>
                  <a:srgbClr val="000000"/>
                </a:solidFill>
                <a:latin typeface="HGPｺﾞｼｯｸE"/>
                <a:ea typeface="HGPｺﾞｼｯｸE"/>
              </a:rPr>
              <a:t>太陽光を設置している人ですら、今でも知らない人が大多数</a:t>
            </a:r>
          </a:p>
          <a:p>
            <a:pPr algn="l">
              <a:spcAft>
                <a:spcPts val="600"/>
              </a:spcAft>
            </a:pPr>
            <a:r>
              <a:rPr sz="1250" b="0">
                <a:solidFill>
                  <a:srgbClr val="000000"/>
                </a:solidFill>
                <a:latin typeface="HGPｺﾞｼｯｸE"/>
                <a:ea typeface="HGPｺﾞｼｯｸE"/>
              </a:rPr>
              <a:t>検針票も電子化され、上昇を把握しているケースは稀。丁寧に説明して理解してもらう</a:t>
            </a:r>
          </a:p>
          <a:p>
            <a:pPr algn="l">
              <a:spcAft>
                <a:spcPts val="600"/>
              </a:spcAft>
            </a:pPr>
            <a:r>
              <a:rPr sz="1250" b="0">
                <a:solidFill>
                  <a:srgbClr val="000000"/>
                </a:solidFill>
                <a:latin typeface="HGPｺﾞｼｯｸE"/>
                <a:ea typeface="HGPｺﾞｼｯｸE"/>
              </a:rPr>
              <a:t>2012年 0.22円/kWh（世帯負担1,210円）→ 2026年 4.18円/kWh（世帯負担22,990円）</a:t>
            </a:r>
          </a:p>
          <a:p>
            <a:pPr algn="l">
              <a:spcAft>
                <a:spcPts val="600"/>
              </a:spcAft>
            </a:pPr>
            <a:r>
              <a:rPr sz="1300" b="1">
                <a:solidFill>
                  <a:srgbClr val="FF0000"/>
                </a:solidFill>
                <a:latin typeface="HGPｺﾞｼｯｸE"/>
                <a:ea typeface="HGPｺﾞｼｯｸE"/>
              </a:rPr>
              <a:t>⑦の上にもう一押し「今のままじゃダメだ」を突きつける</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裏返せば、太陽光を導入している方は続々とお得になっています！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28</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ルール⑧：3段で説明し、確実にYESを取る</a:t>
            </a:r>
          </a:p>
        </p:txBody>
      </p:sp>
      <p:sp>
        <p:nvSpPr>
          <p:cNvPr id="6" name="Rectangle 5"/>
          <p:cNvSpPr/>
          <p:nvPr/>
        </p:nvSpPr>
        <p:spPr>
          <a:xfrm>
            <a:off x="411480" y="1755648"/>
            <a:ext cx="7360920"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・使用量に応じて10年近く払い続けていること（年間で2万円程度にもなること）</a:t>
            </a:r>
          </a:p>
          <a:p>
            <a:pPr algn="l">
              <a:spcAft>
                <a:spcPts val="300"/>
              </a:spcAft>
            </a:pPr>
            <a:r>
              <a:rPr sz="1400" b="0">
                <a:solidFill>
                  <a:srgbClr val="000000"/>
                </a:solidFill>
                <a:latin typeface="HGPｺﾞｼｯｸE"/>
                <a:ea typeface="HGPｺﾞｼｯｸE"/>
              </a:rPr>
              <a:t>・検針票にも小さくしか書いておらず、気づかないうちに支払っていること</a:t>
            </a:r>
          </a:p>
        </p:txBody>
      </p:sp>
      <p:sp>
        <p:nvSpPr>
          <p:cNvPr id="7" name="Rectangle 6"/>
          <p:cNvSpPr/>
          <p:nvPr/>
        </p:nvSpPr>
        <p:spPr>
          <a:xfrm>
            <a:off x="7936992" y="1755648"/>
            <a:ext cx="1572768" cy="71323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①賦課金とは</a:t>
            </a:r>
          </a:p>
        </p:txBody>
      </p:sp>
      <p:sp>
        <p:nvSpPr>
          <p:cNvPr id="8" name="Rectangle 7"/>
          <p:cNvSpPr/>
          <p:nvPr/>
        </p:nvSpPr>
        <p:spPr>
          <a:xfrm>
            <a:off x="411480" y="2615184"/>
            <a:ext cx="7360920"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・基本料金とは別に課されているお金であること</a:t>
            </a:r>
          </a:p>
          <a:p>
            <a:pPr algn="l">
              <a:spcAft>
                <a:spcPts val="300"/>
              </a:spcAft>
            </a:pPr>
            <a:r>
              <a:rPr sz="1400" b="0">
                <a:solidFill>
                  <a:srgbClr val="000000"/>
                </a:solidFill>
                <a:latin typeface="HGPｺﾞｼｯｸE"/>
                <a:ea typeface="HGPｺﾞｼｯｸE"/>
              </a:rPr>
              <a:t>・裏返すと、太陽光・蓄電池を導入している方は続々とお得になってきていること</a:t>
            </a:r>
          </a:p>
        </p:txBody>
      </p:sp>
      <p:sp>
        <p:nvSpPr>
          <p:cNvPr id="9" name="Rectangle 8"/>
          <p:cNvSpPr/>
          <p:nvPr/>
        </p:nvSpPr>
        <p:spPr>
          <a:xfrm>
            <a:off x="7936992" y="2615184"/>
            <a:ext cx="1572768" cy="71323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②徴収構造</a:t>
            </a:r>
          </a:p>
        </p:txBody>
      </p:sp>
      <p:sp>
        <p:nvSpPr>
          <p:cNvPr id="10" name="Rectangle 9"/>
          <p:cNvSpPr/>
          <p:nvPr/>
        </p:nvSpPr>
        <p:spPr>
          <a:xfrm>
            <a:off x="411480" y="3474720"/>
            <a:ext cx="7360920"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・（少なくとも）5円／kWh程度まで上昇する見込みがあること</a:t>
            </a:r>
          </a:p>
          <a:p>
            <a:pPr algn="l">
              <a:spcAft>
                <a:spcPts val="300"/>
              </a:spcAft>
            </a:pPr>
            <a:r>
              <a:rPr sz="1400" b="0">
                <a:solidFill>
                  <a:srgbClr val="000000"/>
                </a:solidFill>
                <a:latin typeface="HGPｺﾞｼｯｸE"/>
                <a:ea typeface="HGPｺﾞｼｯｸE"/>
              </a:rPr>
              <a:t>・制度が先行して施行されている国では、更に上昇している地域もあること</a:t>
            </a:r>
          </a:p>
        </p:txBody>
      </p:sp>
      <p:sp>
        <p:nvSpPr>
          <p:cNvPr id="11" name="Rectangle 10"/>
          <p:cNvSpPr/>
          <p:nvPr/>
        </p:nvSpPr>
        <p:spPr>
          <a:xfrm>
            <a:off x="7936992" y="3474720"/>
            <a:ext cx="1572768" cy="71323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③今後の上昇幅</a:t>
            </a:r>
          </a:p>
        </p:txBody>
      </p:sp>
      <p:sp>
        <p:nvSpPr>
          <p:cNvPr id="12" name="Rectangle 11"/>
          <p:cNvSpPr/>
          <p:nvPr/>
        </p:nvSpPr>
        <p:spPr>
          <a:xfrm>
            <a:off x="411480" y="4334256"/>
            <a:ext cx="7360920" cy="47548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「これからも電気代、上がりそうですよね？」⇒ ここでYESを取ってから⑨へ進む</a:t>
            </a:r>
          </a:p>
        </p:txBody>
      </p:sp>
      <p:sp>
        <p:nvSpPr>
          <p:cNvPr id="13" name="Rectangle 12"/>
          <p:cNvSpPr/>
          <p:nvPr/>
        </p:nvSpPr>
        <p:spPr>
          <a:xfrm>
            <a:off x="7936992" y="4334256"/>
            <a:ext cx="1572768" cy="475488"/>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YES取り</a:t>
            </a:r>
          </a:p>
        </p:txBody>
      </p:sp>
      <p:sp>
        <p:nvSpPr>
          <p:cNvPr id="14" name="Rectangle 13"/>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電気を買い続ける＝賦課金を払い続けること</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29</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ルール⑨：長期で支払う電気代総額の理解</a:t>
            </a:r>
          </a:p>
        </p:txBody>
      </p:sp>
      <p:sp>
        <p:nvSpPr>
          <p:cNvPr id="6" name="Rectangle 5"/>
          <p:cNvSpPr/>
          <p:nvPr/>
        </p:nvSpPr>
        <p:spPr>
          <a:xfrm>
            <a:off x="411480" y="1719072"/>
            <a:ext cx="9098280" cy="420624"/>
          </a:xfrm>
          <a:prstGeom prst="rect">
            <a:avLst/>
          </a:prstGeom>
          <a:noFill/>
          <a:ln w="15875">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400"/>
              </a:spcAft>
            </a:pPr>
            <a:r>
              <a:rPr sz="1500" b="1">
                <a:solidFill>
                  <a:srgbClr val="FF0000"/>
                </a:solidFill>
                <a:latin typeface="HGPｺﾞｼｯｸE"/>
                <a:ea typeface="HGPｺﾞｼｯｸE"/>
              </a:rPr>
              <a:t>POINT　</a:t>
            </a:r>
            <a:r>
              <a:rPr sz="1600" b="1">
                <a:solidFill>
                  <a:srgbClr val="000000"/>
                </a:solidFill>
                <a:latin typeface="HGPｺﾞｼｯｸE"/>
                <a:ea typeface="HGPｺﾞｼｯｸE"/>
              </a:rPr>
              <a:t>第三者話法で「だから太陽光・蓄電池が導入されている」事実を伝える</a:t>
            </a:r>
          </a:p>
        </p:txBody>
      </p:sp>
      <p:pic>
        <p:nvPicPr>
          <p:cNvPr id="7" name="Picture 6" descr="ab-17.jpg"/>
          <p:cNvPicPr>
            <a:picLocks noChangeAspect="1"/>
          </p:cNvPicPr>
          <p:nvPr/>
        </p:nvPicPr>
        <p:blipFill>
          <a:blip r:embed="rId2"/>
          <a:stretch>
            <a:fillRect/>
          </a:stretch>
        </p:blipFill>
        <p:spPr>
          <a:xfrm>
            <a:off x="411480" y="2286000"/>
            <a:ext cx="4160520" cy="2879555"/>
          </a:xfrm>
          <a:prstGeom prst="rect">
            <a:avLst/>
          </a:prstGeom>
          <a:ln w="12700">
            <a:solidFill>
              <a:srgbClr val="808080"/>
            </a:solidFill>
          </a:ln>
        </p:spPr>
      </p:pic>
      <p:sp>
        <p:nvSpPr>
          <p:cNvPr id="8" name="TextBox 7"/>
          <p:cNvSpPr txBox="1"/>
          <p:nvPr/>
        </p:nvSpPr>
        <p:spPr>
          <a:xfrm>
            <a:off x="411480" y="5349240"/>
            <a:ext cx="4160520" cy="274320"/>
          </a:xfrm>
          <a:prstGeom prst="rect">
            <a:avLst/>
          </a:prstGeom>
          <a:noFill/>
        </p:spPr>
        <p:txBody>
          <a:bodyPr wrap="square" anchor="t" lIns="0" rIns="0" tIns="18288" bIns="18288">
            <a:spAutoFit/>
          </a:bodyPr>
          <a:lstStyle/>
          <a:p>
            <a:pPr algn="l">
              <a:spcAft>
                <a:spcPts val="500"/>
              </a:spcAft>
            </a:pPr>
            <a:r>
              <a:rPr sz="1200" b="0">
                <a:solidFill>
                  <a:srgbClr val="595959"/>
                </a:solidFill>
                <a:latin typeface="HGPｺﾞｼｯｸE"/>
                <a:ea typeface="HGPｺﾞｼｯｸE"/>
              </a:rPr>
              <a:t>アプローチブック p.17　生涯に支払う電気代</a:t>
            </a:r>
          </a:p>
        </p:txBody>
      </p:sp>
      <p:sp>
        <p:nvSpPr>
          <p:cNvPr id="9" name="Rounded Rectangle 8"/>
          <p:cNvSpPr/>
          <p:nvPr/>
        </p:nvSpPr>
        <p:spPr>
          <a:xfrm>
            <a:off x="4892040" y="2286000"/>
            <a:ext cx="4617720" cy="1051560"/>
          </a:xfrm>
          <a:prstGeom prst="roundRect">
            <a:avLst/>
          </a:prstGeom>
          <a:solidFill>
            <a:srgbClr val="DEEBF7"/>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0070C0"/>
                </a:solidFill>
                <a:latin typeface="HGPｺﾞｼｯｸE"/>
                <a:ea typeface="HGPｺﾞｼｯｸE"/>
              </a:rPr>
              <a:t>ゴール（お客様の反応）</a:t>
            </a:r>
          </a:p>
          <a:p>
            <a:pPr algn="l">
              <a:spcAft>
                <a:spcPts val="300"/>
              </a:spcAft>
            </a:pPr>
            <a:r>
              <a:rPr sz="1600" b="1">
                <a:solidFill>
                  <a:srgbClr val="000000"/>
                </a:solidFill>
                <a:latin typeface="HGPｺﾞｼｯｸE"/>
                <a:ea typeface="HGPｺﾞｼｯｸE"/>
              </a:rPr>
              <a:t>「30年間でそんなにも電気代を払わないといけないのですね」</a:t>
            </a:r>
          </a:p>
        </p:txBody>
      </p:sp>
      <p:sp>
        <p:nvSpPr>
          <p:cNvPr id="10" name="Rectangle 9"/>
          <p:cNvSpPr/>
          <p:nvPr/>
        </p:nvSpPr>
        <p:spPr>
          <a:xfrm>
            <a:off x="4892040" y="3456432"/>
            <a:ext cx="4617720" cy="228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600"/>
              </a:spcAft>
            </a:pPr>
            <a:r>
              <a:rPr sz="1300" b="1">
                <a:solidFill>
                  <a:srgbClr val="595959"/>
                </a:solidFill>
                <a:latin typeface="HGPｺﾞｼｯｸE"/>
                <a:ea typeface="HGPｺﾞｼｯｸE"/>
              </a:rPr>
              <a:t>説明のポイント</a:t>
            </a:r>
          </a:p>
          <a:p>
            <a:pPr algn="l">
              <a:spcAft>
                <a:spcPts val="600"/>
              </a:spcAft>
            </a:pPr>
            <a:r>
              <a:rPr sz="1400" b="1">
                <a:solidFill>
                  <a:srgbClr val="000000"/>
                </a:solidFill>
                <a:latin typeface="HGPｺﾞｼｯｸE"/>
                <a:ea typeface="HGPｺﾞｼｯｸE"/>
              </a:rPr>
              <a:t>月12,000円の方は、30年間で432万円。住宅ローンの一部に匹敵する金額</a:t>
            </a:r>
          </a:p>
          <a:p>
            <a:pPr algn="l">
              <a:spcAft>
                <a:spcPts val="600"/>
              </a:spcAft>
            </a:pPr>
            <a:r>
              <a:rPr sz="1250" b="0">
                <a:solidFill>
                  <a:srgbClr val="000000"/>
                </a:solidFill>
                <a:latin typeface="HGPｺﾞｼｯｸE"/>
                <a:ea typeface="HGPｺﾞｼｯｸE"/>
              </a:rPr>
              <a:t>月2万円なら30年で700万円以上。毎月の支出としては認識していても、生涯でこれほどの金額とは想像していない</a:t>
            </a:r>
          </a:p>
          <a:p>
            <a:pPr algn="l">
              <a:spcAft>
                <a:spcPts val="600"/>
              </a:spcAft>
            </a:pPr>
            <a:r>
              <a:rPr sz="1250" b="0">
                <a:solidFill>
                  <a:srgbClr val="000000"/>
                </a:solidFill>
                <a:latin typeface="HGPｺﾞｼｯｸE"/>
                <a:ea typeface="HGPｺﾞｼｯｸE"/>
              </a:rPr>
              <a:t>この「見過ごされてきた巨額の支出」を明示し、「このままではいけない」という危機感を喚起する</a:t>
            </a:r>
          </a:p>
          <a:p>
            <a:pPr algn="l">
              <a:spcAft>
                <a:spcPts val="600"/>
              </a:spcAft>
            </a:pPr>
            <a:r>
              <a:rPr sz="1300" b="1">
                <a:solidFill>
                  <a:srgbClr val="FF0000"/>
                </a:solidFill>
                <a:latin typeface="HGPｺﾞｼｯｸE"/>
                <a:ea typeface="HGPｺﾞｼｯｸE"/>
              </a:rPr>
              <a:t>煽るだけで終わらせず、解決策があることを示唆する</a:t>
            </a:r>
          </a:p>
        </p:txBody>
      </p:sp>
      <p:sp>
        <p:nvSpPr>
          <p:cNvPr id="11" name="Rectangle 10"/>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月々2万円なら、30年間の負担額は700万円以上にもなる見通しです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必要性訴求</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30</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ルール⑨：4ステップで自分事にする</a:t>
            </a:r>
          </a:p>
        </p:txBody>
      </p:sp>
      <p:sp>
        <p:nvSpPr>
          <p:cNvPr id="6" name="Rectangle 5"/>
          <p:cNvSpPr/>
          <p:nvPr/>
        </p:nvSpPr>
        <p:spPr>
          <a:xfrm>
            <a:off x="411480" y="1755648"/>
            <a:ext cx="7360920"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「これはあくまで一般的なご家庭の例ですが…」と前置きすることで、</a:t>
            </a:r>
          </a:p>
          <a:p>
            <a:pPr algn="l">
              <a:spcAft>
                <a:spcPts val="300"/>
              </a:spcAft>
            </a:pPr>
            <a:r>
              <a:rPr sz="1400" b="0">
                <a:solidFill>
                  <a:srgbClr val="000000"/>
                </a:solidFill>
                <a:latin typeface="HGPｺﾞｼｯｸE"/>
                <a:ea typeface="HGPｺﾞｼｯｸE"/>
              </a:rPr>
              <a:t>「自分の家もこれくらいか、あるいはもっとかかっているかもしれない」と捉えやすくさせる。</a:t>
            </a:r>
          </a:p>
        </p:txBody>
      </p:sp>
      <p:sp>
        <p:nvSpPr>
          <p:cNvPr id="7" name="Rectangle 6"/>
          <p:cNvSpPr/>
          <p:nvPr/>
        </p:nvSpPr>
        <p:spPr>
          <a:xfrm>
            <a:off x="7936992" y="1755648"/>
            <a:ext cx="1572768" cy="71323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①自分事化</a:t>
            </a:r>
          </a:p>
        </p:txBody>
      </p:sp>
      <p:sp>
        <p:nvSpPr>
          <p:cNvPr id="8" name="Rectangle 7"/>
          <p:cNvSpPr/>
          <p:nvPr/>
        </p:nvSpPr>
        <p:spPr>
          <a:xfrm>
            <a:off x="411480" y="2615184"/>
            <a:ext cx="7360920" cy="502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教育費など、他の大きな支出や人生の重要なイベントと比較し、金額の大きさをリアルに感じさせる。</a:t>
            </a:r>
          </a:p>
        </p:txBody>
      </p:sp>
      <p:sp>
        <p:nvSpPr>
          <p:cNvPr id="9" name="Rectangle 8"/>
          <p:cNvSpPr/>
          <p:nvPr/>
        </p:nvSpPr>
        <p:spPr>
          <a:xfrm>
            <a:off x="7936992" y="2615184"/>
            <a:ext cx="1572768" cy="50292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②実感させる</a:t>
            </a:r>
          </a:p>
        </p:txBody>
      </p:sp>
      <p:sp>
        <p:nvSpPr>
          <p:cNvPr id="10" name="Rectangle 9"/>
          <p:cNvSpPr/>
          <p:nvPr/>
        </p:nvSpPr>
        <p:spPr>
          <a:xfrm>
            <a:off x="411480" y="3264408"/>
            <a:ext cx="7360920" cy="71323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「これは、今の生活を続けていれば『必ず』支払うことになるお金、とも言えますよね。」</a:t>
            </a:r>
          </a:p>
          <a:p>
            <a:pPr algn="l">
              <a:spcAft>
                <a:spcPts val="300"/>
              </a:spcAft>
            </a:pPr>
            <a:r>
              <a:rPr sz="1400" b="0">
                <a:solidFill>
                  <a:srgbClr val="000000"/>
                </a:solidFill>
                <a:latin typeface="HGPｺﾞｼｯｸE"/>
                <a:ea typeface="HGPｺﾞｼｯｸE"/>
              </a:rPr>
              <a:t>「しかも、先ほどお話ししたように、電気代は上がることはあっても、大幅に下がることは考えにくい状況です。」</a:t>
            </a:r>
          </a:p>
        </p:txBody>
      </p:sp>
      <p:sp>
        <p:nvSpPr>
          <p:cNvPr id="11" name="Rectangle 10"/>
          <p:cNvSpPr/>
          <p:nvPr/>
        </p:nvSpPr>
        <p:spPr>
          <a:xfrm>
            <a:off x="7936992" y="3264408"/>
            <a:ext cx="1572768" cy="713232"/>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③損失回避</a:t>
            </a:r>
          </a:p>
        </p:txBody>
      </p:sp>
      <p:sp>
        <p:nvSpPr>
          <p:cNvPr id="12" name="Rectangle 11"/>
          <p:cNvSpPr/>
          <p:nvPr/>
        </p:nvSpPr>
        <p:spPr>
          <a:xfrm>
            <a:off x="411480" y="4123944"/>
            <a:ext cx="7360920" cy="5029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l">
              <a:spcAft>
                <a:spcPts val="300"/>
              </a:spcAft>
            </a:pPr>
            <a:r>
              <a:rPr sz="1400" b="0">
                <a:solidFill>
                  <a:srgbClr val="000000"/>
                </a:solidFill>
                <a:latin typeface="HGPｺﾞｼｯｸE"/>
                <a:ea typeface="HGPｺﾞｼｯｸE"/>
              </a:rPr>
              <a:t>「もし、この432万円という支出を、賢く活用する方法があるとしたら、少しお話を聞いてみたいと思われませんか？」</a:t>
            </a:r>
          </a:p>
        </p:txBody>
      </p:sp>
      <p:sp>
        <p:nvSpPr>
          <p:cNvPr id="13" name="Rectangle 12"/>
          <p:cNvSpPr/>
          <p:nvPr/>
        </p:nvSpPr>
        <p:spPr>
          <a:xfrm>
            <a:off x="7936992" y="4123944"/>
            <a:ext cx="1572768" cy="502920"/>
          </a:xfrm>
          <a:prstGeom prst="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36576" bIns="36576"/>
          <a:lstStyle/>
          <a:p>
            <a:pPr algn="ctr">
              <a:spcAft>
                <a:spcPts val="500"/>
              </a:spcAft>
            </a:pPr>
            <a:r>
              <a:rPr sz="1300" b="1">
                <a:solidFill>
                  <a:srgbClr val="FFFFFF"/>
                </a:solidFill>
                <a:latin typeface="HGPｺﾞｼｯｸE"/>
                <a:ea typeface="HGPｺﾞｼｯｸE"/>
              </a:rPr>
              <a:t>④次への誘導</a:t>
            </a:r>
          </a:p>
        </p:txBody>
      </p:sp>
      <p:sp>
        <p:nvSpPr>
          <p:cNvPr id="14" name="Rectangle 13"/>
          <p:cNvSpPr/>
          <p:nvPr/>
        </p:nvSpPr>
        <p:spPr>
          <a:xfrm>
            <a:off x="411480" y="5815584"/>
            <a:ext cx="9098280" cy="603504"/>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400"/>
              </a:spcAft>
            </a:pPr>
            <a:r>
              <a:rPr sz="1200" b="1">
                <a:solidFill>
                  <a:srgbClr val="595959"/>
                </a:solidFill>
                <a:latin typeface="HGPｺﾞｼｯｸE"/>
                <a:ea typeface="HGPｺﾞｼｯｸE"/>
              </a:rPr>
              <a:t>このページの結論　</a:t>
            </a:r>
            <a:r>
              <a:rPr sz="1500" b="1">
                <a:solidFill>
                  <a:srgbClr val="000000"/>
                </a:solidFill>
                <a:highlight>
                  <a:srgbClr val="FFFF00"/>
                </a:highlight>
                <a:latin typeface="HGPｺﾞｼｯｸE"/>
                <a:ea typeface="HGPｺﾞｼｯｸE"/>
              </a:rPr>
              <a:t>静かに、しかし確実に迫るリスクとして伝える</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ロールプレイング</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31</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アプローチブックを手に持って、p.2〜p.17を通す（15分）</a:t>
            </a:r>
          </a:p>
        </p:txBody>
      </p:sp>
      <p:sp>
        <p:nvSpPr>
          <p:cNvPr id="6" name="Rectangle 5"/>
          <p:cNvSpPr/>
          <p:nvPr/>
        </p:nvSpPr>
        <p:spPr>
          <a:xfrm>
            <a:off x="411480" y="1783080"/>
            <a:ext cx="4526280" cy="233172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やること</a:t>
            </a:r>
          </a:p>
          <a:p>
            <a:pPr algn="l">
              <a:spcAft>
                <a:spcPts val="600"/>
              </a:spcAft>
            </a:pPr>
            <a:r>
              <a:rPr sz="1500" b="0">
                <a:solidFill>
                  <a:srgbClr val="000000"/>
                </a:solidFill>
                <a:latin typeface="HGPｺﾞｼｯｸE"/>
                <a:ea typeface="HGPｺﾞｼｯｸE"/>
              </a:rPr>
              <a:t>① 3人1組（営業／お客様役ご主人／お客様役奥様）</a:t>
            </a:r>
          </a:p>
          <a:p>
            <a:pPr algn="l">
              <a:spcAft>
                <a:spcPts val="600"/>
              </a:spcAft>
            </a:pPr>
            <a:r>
              <a:rPr sz="1500" b="0">
                <a:solidFill>
                  <a:srgbClr val="000000"/>
                </a:solidFill>
                <a:latin typeface="HGPｺﾞｼｯｸE"/>
                <a:ea typeface="HGPｺﾞｼｯｸE"/>
              </a:rPr>
              <a:t>② 営業役はアプローチブックを実際にめくる</a:t>
            </a:r>
          </a:p>
          <a:p>
            <a:pPr algn="l">
              <a:spcAft>
                <a:spcPts val="600"/>
              </a:spcAft>
            </a:pPr>
            <a:r>
              <a:rPr sz="1500" b="0">
                <a:solidFill>
                  <a:srgbClr val="000000"/>
                </a:solidFill>
                <a:latin typeface="HGPｺﾞｼｯｸE"/>
                <a:ea typeface="HGPｺﾞｼｯｸE"/>
              </a:rPr>
              <a:t>③ ルール①〜⑨の順にひと通り進める</a:t>
            </a:r>
          </a:p>
          <a:p>
            <a:pPr algn="l">
              <a:spcAft>
                <a:spcPts val="500"/>
              </a:spcAft>
            </a:pPr>
            <a:r>
              <a:rPr sz="1500" b="0">
                <a:solidFill>
                  <a:srgbClr val="000000"/>
                </a:solidFill>
                <a:latin typeface="HGPｺﾞｼｯｸE"/>
                <a:ea typeface="HGPｺﾞｼｯｸE"/>
              </a:rPr>
              <a:t>④ 5分で交代。全員が営業役をやる</a:t>
            </a:r>
          </a:p>
        </p:txBody>
      </p:sp>
      <p:sp>
        <p:nvSpPr>
          <p:cNvPr id="7" name="Rectangle 6"/>
          <p:cNvSpPr/>
          <p:nvPr/>
        </p:nvSpPr>
        <p:spPr>
          <a:xfrm>
            <a:off x="5120640" y="1783080"/>
            <a:ext cx="4526280" cy="2331720"/>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800"/>
              </a:spcAft>
            </a:pPr>
            <a:r>
              <a:rPr sz="1700" b="1">
                <a:solidFill>
                  <a:srgbClr val="000000"/>
                </a:solidFill>
                <a:latin typeface="HGPｺﾞｼｯｸE"/>
                <a:ea typeface="HGPｺﾞｼｯｸE"/>
              </a:rPr>
              <a:t>見られているポイント</a:t>
            </a:r>
          </a:p>
          <a:p>
            <a:pPr algn="l">
              <a:spcAft>
                <a:spcPts val="600"/>
              </a:spcAft>
            </a:pPr>
            <a:r>
              <a:rPr sz="1500" b="0">
                <a:solidFill>
                  <a:srgbClr val="000000"/>
                </a:solidFill>
                <a:latin typeface="HGPｺﾞｼｯｸE"/>
                <a:ea typeface="HGPｺﾞｼｯｸE"/>
              </a:rPr>
              <a:t>・発言比率は 営業6：お客様4 になっているか</a:t>
            </a:r>
          </a:p>
          <a:p>
            <a:pPr algn="l">
              <a:spcAft>
                <a:spcPts val="600"/>
              </a:spcAft>
            </a:pPr>
            <a:r>
              <a:rPr sz="1500" b="0">
                <a:solidFill>
                  <a:srgbClr val="000000"/>
                </a:solidFill>
                <a:latin typeface="HGPｺﾞｼｯｸE"/>
                <a:ea typeface="HGPｺﾞｼｯｸE"/>
              </a:rPr>
              <a:t>・お客様側の4は、ご主人2：奥様2 になっているか</a:t>
            </a:r>
          </a:p>
          <a:p>
            <a:pPr algn="l">
              <a:spcAft>
                <a:spcPts val="600"/>
              </a:spcAft>
            </a:pPr>
            <a:r>
              <a:rPr sz="1500" b="0">
                <a:solidFill>
                  <a:srgbClr val="000000"/>
                </a:solidFill>
                <a:latin typeface="HGPｺﾞｼｯｸE"/>
                <a:ea typeface="HGPｺﾞｼｯｸE"/>
              </a:rPr>
              <a:t>・ラリー数は30回に届いているか</a:t>
            </a:r>
          </a:p>
          <a:p>
            <a:pPr algn="l">
              <a:spcAft>
                <a:spcPts val="500"/>
              </a:spcAft>
            </a:pPr>
            <a:r>
              <a:rPr sz="1500" b="1">
                <a:solidFill>
                  <a:srgbClr val="FF0000"/>
                </a:solidFill>
                <a:latin typeface="HGPｺﾞｼｯｸE"/>
                <a:ea typeface="HGPｺﾞｼｯｸE"/>
              </a:rPr>
              <a:t>・最後までセット提案を崩していないか</a:t>
            </a:r>
          </a:p>
        </p:txBody>
      </p:sp>
      <p:graphicFrame>
        <p:nvGraphicFramePr>
          <p:cNvPr id="8" name="Table 7"/>
          <p:cNvGraphicFramePr>
            <a:graphicFrameLocks noGrp="1"/>
          </p:cNvGraphicFramePr>
          <p:nvPr/>
        </p:nvGraphicFramePr>
        <p:xfrm>
          <a:off x="411480" y="4224528"/>
          <a:ext cx="9098280" cy="1810512"/>
        </p:xfrm>
        <a:graphic>
          <a:graphicData uri="http://schemas.openxmlformats.org/drawingml/2006/table">
            <a:tbl>
              <a:tblPr firstRow="1">
                <a:tableStyleId>{5C22544A-7EE6-4342-B048-85BDC9FD1C3A}</a:tableStyleId>
              </a:tblPr>
              <a:tblGrid>
                <a:gridCol w="1463040"/>
                <a:gridCol w="2377440"/>
                <a:gridCol w="5257800"/>
              </a:tblGrid>
              <a:tr h="274320">
                <a:tc>
                  <a:txBody>
                    <a:bodyPr wrap="square"/>
                    <a:lstStyle/>
                    <a:p>
                      <a:pPr algn="ctr"/>
                      <a:r>
                        <a:rPr sz="1300" b="1">
                          <a:solidFill>
                            <a:srgbClr val="FFFFFF"/>
                          </a:solidFill>
                          <a:latin typeface="游ゴシック"/>
                          <a:ea typeface="游ゴシック"/>
                        </a:rPr>
                        <a:t>進行</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アプローチブック</a:t>
                      </a:r>
                    </a:p>
                  </a:txBody>
                  <a:tcPr marL="45720" marR="45720" marT="18288" marB="18288" anchor="ctr">
                    <a:solidFill>
                      <a:srgbClr val="000000"/>
                    </a:solidFill>
                  </a:tcPr>
                </a:tc>
                <a:tc>
                  <a:txBody>
                    <a:bodyPr wrap="square"/>
                    <a:lstStyle/>
                    <a:p>
                      <a:pPr algn="ctr"/>
                      <a:r>
                        <a:rPr sz="1300" b="1">
                          <a:solidFill>
                            <a:srgbClr val="FFFFFF"/>
                          </a:solidFill>
                          <a:latin typeface="游ゴシック"/>
                          <a:ea typeface="游ゴシック"/>
                        </a:rPr>
                        <a:t>狙う反応</a:t>
                      </a:r>
                    </a:p>
                  </a:txBody>
                  <a:tcPr marL="45720" marR="45720" marT="18288" marB="18288" anchor="ctr">
                    <a:solidFill>
                      <a:srgbClr val="000000"/>
                    </a:solidFill>
                  </a:tcPr>
                </a:tc>
              </a:tr>
              <a:tr h="384048">
                <a:tc>
                  <a:txBody>
                    <a:bodyPr wrap="square"/>
                    <a:lstStyle/>
                    <a:p>
                      <a:pPr algn="l"/>
                      <a:r>
                        <a:rPr sz="1300" b="0">
                          <a:solidFill>
                            <a:srgbClr val="000000"/>
                          </a:solidFill>
                          <a:latin typeface="游ゴシック"/>
                          <a:ea typeface="游ゴシック"/>
                        </a:rPr>
                        <a:t>ルール②</a:t>
                      </a:r>
                    </a:p>
                  </a:txBody>
                  <a:tcPr marL="45720" marR="45720" marT="18288" marB="18288" anchor="ctr">
                    <a:noFill/>
                  </a:tcPr>
                </a:tc>
                <a:tc>
                  <a:txBody>
                    <a:bodyPr wrap="square"/>
                    <a:lstStyle/>
                    <a:p>
                      <a:pPr algn="l"/>
                      <a:r>
                        <a:rPr sz="1300" b="0">
                          <a:solidFill>
                            <a:srgbClr val="000000"/>
                          </a:solidFill>
                          <a:latin typeface="游ゴシック"/>
                          <a:ea typeface="游ゴシック"/>
                        </a:rPr>
                        <a:t>p.2</a:t>
                      </a:r>
                    </a:p>
                  </a:txBody>
                  <a:tcPr marL="45720" marR="45720" marT="18288" marB="18288" anchor="ctr">
                    <a:noFill/>
                  </a:tcPr>
                </a:tc>
                <a:tc>
                  <a:txBody>
                    <a:bodyPr wrap="square"/>
                    <a:lstStyle/>
                    <a:p>
                      <a:pPr algn="l"/>
                      <a:r>
                        <a:rPr sz="1300" b="0">
                          <a:solidFill>
                            <a:srgbClr val="000000"/>
                          </a:solidFill>
                          <a:latin typeface="游ゴシック"/>
                          <a:ea typeface="游ゴシック"/>
                        </a:rPr>
                        <a:t>商談の構成が分かる</a:t>
                      </a:r>
                    </a:p>
                  </a:txBody>
                  <a:tcPr marL="45720" marR="45720" marT="18288" marB="18288" anchor="ctr">
                    <a:noFill/>
                  </a:tcPr>
                </a:tc>
              </a:tr>
              <a:tr h="384048">
                <a:tc>
                  <a:txBody>
                    <a:bodyPr wrap="square"/>
                    <a:lstStyle/>
                    <a:p>
                      <a:pPr algn="l"/>
                      <a:r>
                        <a:rPr sz="1300" b="0">
                          <a:solidFill>
                            <a:srgbClr val="000000"/>
                          </a:solidFill>
                          <a:latin typeface="游ゴシック"/>
                          <a:ea typeface="游ゴシック"/>
                        </a:rPr>
                        <a:t>ルール③④</a:t>
                      </a:r>
                    </a:p>
                  </a:txBody>
                  <a:tcPr marL="45720" marR="45720" marT="18288" marB="18288" anchor="ctr">
                    <a:noFill/>
                  </a:tcPr>
                </a:tc>
                <a:tc>
                  <a:txBody>
                    <a:bodyPr wrap="square"/>
                    <a:lstStyle/>
                    <a:p>
                      <a:pPr algn="l"/>
                      <a:r>
                        <a:rPr sz="1300" b="0">
                          <a:solidFill>
                            <a:srgbClr val="000000"/>
                          </a:solidFill>
                          <a:latin typeface="游ゴシック"/>
                          <a:ea typeface="游ゴシック"/>
                        </a:rPr>
                        <a:t>（閉じたまま）</a:t>
                      </a:r>
                    </a:p>
                  </a:txBody>
                  <a:tcPr marL="45720" marR="45720" marT="18288" marB="18288" anchor="ctr">
                    <a:noFill/>
                  </a:tcPr>
                </a:tc>
                <a:tc>
                  <a:txBody>
                    <a:bodyPr wrap="square"/>
                    <a:lstStyle/>
                    <a:p>
                      <a:pPr algn="l"/>
                      <a:r>
                        <a:rPr sz="1300" b="0">
                          <a:solidFill>
                            <a:srgbClr val="000000"/>
                          </a:solidFill>
                          <a:latin typeface="游ゴシック"/>
                          <a:ea typeface="游ゴシック"/>
                        </a:rPr>
                        <a:t>導入しなかった理由が出る／今日決めることに同意</a:t>
                      </a:r>
                    </a:p>
                  </a:txBody>
                  <a:tcPr marL="45720" marR="45720" marT="18288" marB="18288" anchor="ctr">
                    <a:noFill/>
                  </a:tcPr>
                </a:tc>
              </a:tr>
              <a:tr h="384048">
                <a:tc>
                  <a:txBody>
                    <a:bodyPr wrap="square"/>
                    <a:lstStyle/>
                    <a:p>
                      <a:pPr algn="l"/>
                      <a:r>
                        <a:rPr sz="1300" b="0">
                          <a:solidFill>
                            <a:srgbClr val="000000"/>
                          </a:solidFill>
                          <a:latin typeface="游ゴシック"/>
                          <a:ea typeface="游ゴシック"/>
                        </a:rPr>
                        <a:t>ルール⑤⑥</a:t>
                      </a:r>
                    </a:p>
                  </a:txBody>
                  <a:tcPr marL="45720" marR="45720" marT="18288" marB="18288" anchor="ctr">
                    <a:noFill/>
                  </a:tcPr>
                </a:tc>
                <a:tc>
                  <a:txBody>
                    <a:bodyPr wrap="square"/>
                    <a:lstStyle/>
                    <a:p>
                      <a:pPr algn="l"/>
                      <a:r>
                        <a:rPr sz="1300" b="0">
                          <a:solidFill>
                            <a:srgbClr val="000000"/>
                          </a:solidFill>
                          <a:latin typeface="游ゴシック"/>
                          <a:ea typeface="游ゴシック"/>
                        </a:rPr>
                        <a:t>p.3〜p.7</a:t>
                      </a:r>
                    </a:p>
                  </a:txBody>
                  <a:tcPr marL="45720" marR="45720" marT="18288" marB="18288" anchor="ctr">
                    <a:noFill/>
                  </a:tcPr>
                </a:tc>
                <a:tc>
                  <a:txBody>
                    <a:bodyPr wrap="square"/>
                    <a:lstStyle/>
                    <a:p>
                      <a:pPr algn="l"/>
                      <a:r>
                        <a:rPr sz="1300" b="0">
                          <a:solidFill>
                            <a:srgbClr val="000000"/>
                          </a:solidFill>
                          <a:latin typeface="游ゴシック"/>
                          <a:ea typeface="游ゴシック"/>
                        </a:rPr>
                        <a:t>じゃあつけた方がいいかもねえ</a:t>
                      </a:r>
                    </a:p>
                  </a:txBody>
                  <a:tcPr marL="45720" marR="45720" marT="18288" marB="18288" anchor="ctr">
                    <a:noFill/>
                  </a:tcPr>
                </a:tc>
              </a:tr>
              <a:tr h="384048">
                <a:tc>
                  <a:txBody>
                    <a:bodyPr wrap="square"/>
                    <a:lstStyle/>
                    <a:p>
                      <a:pPr algn="l"/>
                      <a:r>
                        <a:rPr sz="1300" b="0">
                          <a:solidFill>
                            <a:srgbClr val="000000"/>
                          </a:solidFill>
                          <a:latin typeface="游ゴシック"/>
                          <a:ea typeface="游ゴシック"/>
                        </a:rPr>
                        <a:t>ルール⑦⑧⑨</a:t>
                      </a:r>
                    </a:p>
                  </a:txBody>
                  <a:tcPr marL="45720" marR="45720" marT="18288" marB="18288" anchor="ctr">
                    <a:noFill/>
                  </a:tcPr>
                </a:tc>
                <a:tc>
                  <a:txBody>
                    <a:bodyPr wrap="square"/>
                    <a:lstStyle/>
                    <a:p>
                      <a:pPr algn="l"/>
                      <a:r>
                        <a:rPr sz="1300" b="0">
                          <a:solidFill>
                            <a:srgbClr val="000000"/>
                          </a:solidFill>
                          <a:latin typeface="游ゴシック"/>
                          <a:ea typeface="游ゴシック"/>
                        </a:rPr>
                        <a:t>p.9〜p.17</a:t>
                      </a:r>
                    </a:p>
                  </a:txBody>
                  <a:tcPr marL="45720" marR="45720" marT="18288" marB="18288" anchor="ctr">
                    <a:noFill/>
                  </a:tcPr>
                </a:tc>
                <a:tc>
                  <a:txBody>
                    <a:bodyPr wrap="square"/>
                    <a:lstStyle/>
                    <a:p>
                      <a:pPr algn="l"/>
                      <a:r>
                        <a:rPr sz="1300" b="0">
                          <a:solidFill>
                            <a:srgbClr val="000000"/>
                          </a:solidFill>
                          <a:latin typeface="游ゴシック"/>
                          <a:ea typeface="游ゴシック"/>
                        </a:rPr>
                        <a:t>30年でそんなにも払わないといけないのですね</a:t>
                      </a:r>
                    </a:p>
                  </a:txBody>
                  <a:tcPr marL="45720" marR="45720" marT="18288" marB="18288" anchor="ctr">
                    <a:noFill/>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ロールプレイング</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32</a:t>
            </a:r>
          </a:p>
        </p:txBody>
      </p:sp>
      <p:sp>
        <p:nvSpPr>
          <p:cNvPr id="5" name="TextBox 4"/>
          <p:cNvSpPr txBox="1"/>
          <p:nvPr/>
        </p:nvSpPr>
        <p:spPr>
          <a:xfrm>
            <a:off x="411480" y="1261872"/>
            <a:ext cx="9098280" cy="411480"/>
          </a:xfrm>
          <a:prstGeom prst="rect">
            <a:avLst/>
          </a:prstGeom>
          <a:noFill/>
        </p:spPr>
        <p:txBody>
          <a:bodyPr wrap="square" anchor="t" lIns="0" rIns="0" tIns="18288" bIns="18288">
            <a:spAutoFit/>
          </a:bodyPr>
          <a:lstStyle/>
          <a:p>
            <a:pPr algn="l">
              <a:spcAft>
                <a:spcPts val="500"/>
              </a:spcAft>
            </a:pPr>
            <a:r>
              <a:rPr sz="2400" b="1">
                <a:solidFill>
                  <a:srgbClr val="000000"/>
                </a:solidFill>
                <a:latin typeface="HGPｺﾞｼｯｸE"/>
                <a:ea typeface="HGPｺﾞｼｯｸE"/>
              </a:rPr>
              <a:t>顧客設定（お客様役はこの設定で演じてください）</a:t>
            </a:r>
          </a:p>
        </p:txBody>
      </p:sp>
      <p:graphicFrame>
        <p:nvGraphicFramePr>
          <p:cNvPr id="6" name="Table 5"/>
          <p:cNvGraphicFramePr>
            <a:graphicFrameLocks noGrp="1"/>
          </p:cNvGraphicFramePr>
          <p:nvPr/>
        </p:nvGraphicFramePr>
        <p:xfrm>
          <a:off x="411480" y="1755648"/>
          <a:ext cx="9098280" cy="3749040"/>
        </p:xfrm>
        <a:graphic>
          <a:graphicData uri="http://schemas.openxmlformats.org/drawingml/2006/table">
            <a:tbl>
              <a:tblPr firstRow="1">
                <a:tableStyleId>{5C22544A-7EE6-4342-B048-85BDC9FD1C3A}</a:tableStyleId>
              </a:tblPr>
              <a:tblGrid>
                <a:gridCol w="1463040"/>
                <a:gridCol w="7635240"/>
              </a:tblGrid>
              <a:tr h="292608">
                <a:tc>
                  <a:txBody>
                    <a:bodyPr wrap="square"/>
                    <a:lstStyle/>
                    <a:p>
                      <a:pPr algn="ctr"/>
                      <a:r>
                        <a:rPr sz="1250" b="1">
                          <a:solidFill>
                            <a:srgbClr val="FFFFFF"/>
                          </a:solidFill>
                          <a:latin typeface="游ゴシック"/>
                          <a:ea typeface="游ゴシック"/>
                        </a:rPr>
                        <a:t>項目</a:t>
                      </a:r>
                    </a:p>
                  </a:txBody>
                  <a:tcPr marL="45720" marR="45720" marT="18288" marB="18288" anchor="ctr">
                    <a:solidFill>
                      <a:srgbClr val="000000"/>
                    </a:solidFill>
                  </a:tcPr>
                </a:tc>
                <a:tc>
                  <a:txBody>
                    <a:bodyPr wrap="square"/>
                    <a:lstStyle/>
                    <a:p>
                      <a:pPr algn="ctr"/>
                      <a:r>
                        <a:rPr sz="1250" b="1">
                          <a:solidFill>
                            <a:srgbClr val="FFFFFF"/>
                          </a:solidFill>
                          <a:latin typeface="游ゴシック"/>
                          <a:ea typeface="游ゴシック"/>
                        </a:rPr>
                        <a:t>設定</a:t>
                      </a:r>
                    </a:p>
                  </a:txBody>
                  <a:tcPr marL="45720" marR="45720" marT="18288" marB="18288" anchor="ctr">
                    <a:solidFill>
                      <a:srgbClr val="000000"/>
                    </a:solidFill>
                  </a:tcPr>
                </a:tc>
              </a:tr>
              <a:tr h="493776">
                <a:tc>
                  <a:txBody>
                    <a:bodyPr wrap="square"/>
                    <a:lstStyle/>
                    <a:p>
                      <a:pPr algn="l"/>
                      <a:r>
                        <a:rPr sz="1250" b="0">
                          <a:solidFill>
                            <a:srgbClr val="000000"/>
                          </a:solidFill>
                          <a:latin typeface="游ゴシック"/>
                          <a:ea typeface="游ゴシック"/>
                        </a:rPr>
                        <a:t>ご家族</a:t>
                      </a:r>
                    </a:p>
                  </a:txBody>
                  <a:tcPr marL="45720" marR="45720" marT="18288" marB="18288" anchor="ctr">
                    <a:noFill/>
                  </a:tcPr>
                </a:tc>
                <a:tc>
                  <a:txBody>
                    <a:bodyPr wrap="square"/>
                    <a:lstStyle/>
                    <a:p>
                      <a:pPr algn="l"/>
                      <a:r>
                        <a:rPr sz="1250" b="0">
                          <a:solidFill>
                            <a:srgbClr val="000000"/>
                          </a:solidFill>
                          <a:latin typeface="游ゴシック"/>
                          <a:ea typeface="游ゴシック"/>
                        </a:rPr>
                        <a:t>田中様ご夫婦（ご主人48歳・会社員／奥様45歳・パート）＋ 高校生・中学生のお子様2人</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お住まい</a:t>
                      </a:r>
                    </a:p>
                  </a:txBody>
                  <a:tcPr marL="45720" marR="45720" marT="18288" marB="18288" anchor="ctr">
                    <a:noFill/>
                  </a:tcPr>
                </a:tc>
                <a:tc>
                  <a:txBody>
                    <a:bodyPr wrap="square"/>
                    <a:lstStyle/>
                    <a:p>
                      <a:pPr algn="l"/>
                      <a:r>
                        <a:rPr sz="1250" b="0">
                          <a:solidFill>
                            <a:srgbClr val="000000"/>
                          </a:solidFill>
                          <a:latin typeface="游ゴシック"/>
                          <a:ea typeface="游ゴシック"/>
                        </a:rPr>
                        <a:t>築14年の戸建て（4LDK）。南向き切妻屋根。オール電化ではない</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導入状況</a:t>
                      </a:r>
                    </a:p>
                  </a:txBody>
                  <a:tcPr marL="45720" marR="45720" marT="18288" marB="18288" anchor="ctr">
                    <a:noFill/>
                  </a:tcPr>
                </a:tc>
                <a:tc>
                  <a:txBody>
                    <a:bodyPr wrap="square"/>
                    <a:lstStyle/>
                    <a:p>
                      <a:pPr algn="l"/>
                      <a:r>
                        <a:rPr sz="1250" b="1">
                          <a:solidFill>
                            <a:srgbClr val="FF0000"/>
                          </a:solidFill>
                          <a:latin typeface="游ゴシック"/>
                          <a:ea typeface="游ゴシック"/>
                        </a:rPr>
                        <a:t>太陽光・蓄電池ともに未導入</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電気代</a:t>
                      </a:r>
                    </a:p>
                  </a:txBody>
                  <a:tcPr marL="45720" marR="45720" marT="18288" marB="18288" anchor="ctr">
                    <a:noFill/>
                  </a:tcPr>
                </a:tc>
                <a:tc>
                  <a:txBody>
                    <a:bodyPr wrap="square"/>
                    <a:lstStyle/>
                    <a:p>
                      <a:pPr algn="l"/>
                      <a:r>
                        <a:rPr sz="1250" b="0">
                          <a:solidFill>
                            <a:srgbClr val="000000"/>
                          </a:solidFill>
                          <a:latin typeface="游ゴシック"/>
                          <a:ea typeface="游ゴシック"/>
                        </a:rPr>
                        <a:t>月平均 18,000円（夏場は24,000円）。検針票はご主人が保管している</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きっかけ</a:t>
                      </a:r>
                    </a:p>
                  </a:txBody>
                  <a:tcPr marL="45720" marR="45720" marT="18288" marB="18288" anchor="ctr">
                    <a:noFill/>
                  </a:tcPr>
                </a:tc>
                <a:tc>
                  <a:txBody>
                    <a:bodyPr wrap="square"/>
                    <a:lstStyle/>
                    <a:p>
                      <a:pPr algn="l"/>
                      <a:r>
                        <a:rPr sz="1250" b="0">
                          <a:solidFill>
                            <a:srgbClr val="000000"/>
                          </a:solidFill>
                          <a:latin typeface="游ゴシック"/>
                          <a:ea typeface="游ゴシック"/>
                        </a:rPr>
                        <a:t>折込チラシを見て、奥様が問い合わせた</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温度感</a:t>
                      </a:r>
                    </a:p>
                  </a:txBody>
                  <a:tcPr marL="45720" marR="45720" marT="18288" marB="18288" anchor="ctr">
                    <a:noFill/>
                  </a:tcPr>
                </a:tc>
                <a:tc>
                  <a:txBody>
                    <a:bodyPr wrap="square"/>
                    <a:lstStyle/>
                    <a:p>
                      <a:pPr algn="l"/>
                      <a:r>
                        <a:rPr sz="1250" b="0">
                          <a:solidFill>
                            <a:srgbClr val="000000"/>
                          </a:solidFill>
                          <a:latin typeface="游ゴシック"/>
                          <a:ea typeface="游ゴシック"/>
                        </a:rPr>
                        <a:t>ご主人＝慎重。「元が取れるのか」が最大の関心。奥様＝前向き。停電と電気代が心配</a:t>
                      </a:r>
                    </a:p>
                  </a:txBody>
                  <a:tcPr marL="45720" marR="45720" marT="18288" marB="18288" anchor="ctr">
                    <a:noFill/>
                  </a:tcPr>
                </a:tc>
              </a:tr>
              <a:tr h="493776">
                <a:tc>
                  <a:txBody>
                    <a:bodyPr wrap="square"/>
                    <a:lstStyle/>
                    <a:p>
                      <a:pPr algn="l"/>
                      <a:r>
                        <a:rPr sz="1250" b="0">
                          <a:solidFill>
                            <a:srgbClr val="000000"/>
                          </a:solidFill>
                          <a:latin typeface="游ゴシック"/>
                          <a:ea typeface="游ゴシック"/>
                        </a:rPr>
                        <a:t>断り文句</a:t>
                      </a:r>
                    </a:p>
                  </a:txBody>
                  <a:tcPr marL="45720" marR="45720" marT="18288" marB="18288" anchor="ctr">
                    <a:noFill/>
                  </a:tcPr>
                </a:tc>
                <a:tc>
                  <a:txBody>
                    <a:bodyPr wrap="square"/>
                    <a:lstStyle/>
                    <a:p>
                      <a:pPr algn="l"/>
                      <a:r>
                        <a:rPr sz="1250" b="0">
                          <a:solidFill>
                            <a:srgbClr val="000000"/>
                          </a:solidFill>
                          <a:latin typeface="游ゴシック"/>
                          <a:ea typeface="游ゴシック"/>
                        </a:rPr>
                        <a:t>「以前も訪問販売が来て、高かったからやめた」「一度持ち帰って考えたい」</a:t>
                      </a:r>
                    </a:p>
                  </a:txBody>
                  <a:tcPr marL="45720" marR="45720" marT="18288" marB="18288" anchor="ctr">
                    <a:noFill/>
                  </a:tcPr>
                </a:tc>
              </a:tr>
            </a:tbl>
          </a:graphicData>
        </a:graphic>
      </p:graphicFrame>
      <p:sp>
        <p:nvSpPr>
          <p:cNvPr id="7" name="Rectangle 6"/>
          <p:cNvSpPr/>
          <p:nvPr/>
        </p:nvSpPr>
        <p:spPr>
          <a:xfrm>
            <a:off x="411480" y="5806440"/>
            <a:ext cx="9098280" cy="512064"/>
          </a:xfrm>
          <a:prstGeom prst="rect">
            <a:avLst/>
          </a:prstGeom>
          <a:solidFill>
            <a:srgbClr val="FFF2C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800" b="1">
                <a:solidFill>
                  <a:srgbClr val="000000"/>
                </a:solidFill>
                <a:latin typeface="HGPｺﾞｼｯｸE"/>
                <a:ea typeface="HGPｺﾞｼｯｸE"/>
              </a:rPr>
              <a:t>この設定は「太陽光も蓄電池も未導入」＝セット販売のケースです</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チェックシート</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33</a:t>
            </a:r>
          </a:p>
        </p:txBody>
      </p:sp>
      <p:sp>
        <p:nvSpPr>
          <p:cNvPr id="5" name="TextBox 4"/>
          <p:cNvSpPr txBox="1"/>
          <p:nvPr/>
        </p:nvSpPr>
        <p:spPr>
          <a:xfrm>
            <a:off x="411480" y="1261872"/>
            <a:ext cx="9098280" cy="384048"/>
          </a:xfrm>
          <a:prstGeom prst="rect">
            <a:avLst/>
          </a:prstGeom>
          <a:noFill/>
        </p:spPr>
        <p:txBody>
          <a:bodyPr wrap="square" anchor="t" lIns="0" rIns="0" tIns="18288" bIns="18288">
            <a:spAutoFit/>
          </a:bodyPr>
          <a:lstStyle/>
          <a:p>
            <a:pPr algn="l">
              <a:spcAft>
                <a:spcPts val="500"/>
              </a:spcAft>
            </a:pPr>
            <a:r>
              <a:rPr sz="2200" b="1">
                <a:solidFill>
                  <a:srgbClr val="000000"/>
                </a:solidFill>
                <a:latin typeface="HGPｺﾞｼｯｸE"/>
                <a:ea typeface="HGPｺﾞｼｯｸE"/>
              </a:rPr>
              <a:t>ロープレのあと、自分で○△×をつけてください</a:t>
            </a:r>
          </a:p>
        </p:txBody>
      </p:sp>
      <p:graphicFrame>
        <p:nvGraphicFramePr>
          <p:cNvPr id="6" name="Table 5"/>
          <p:cNvGraphicFramePr>
            <a:graphicFrameLocks noGrp="1"/>
          </p:cNvGraphicFramePr>
          <p:nvPr/>
        </p:nvGraphicFramePr>
        <p:xfrm>
          <a:off x="274320" y="1737360"/>
          <a:ext cx="9372600" cy="3950208"/>
        </p:xfrm>
        <a:graphic>
          <a:graphicData uri="http://schemas.openxmlformats.org/drawingml/2006/table">
            <a:tbl>
              <a:tblPr firstRow="1">
                <a:tableStyleId>{5C22544A-7EE6-4342-B048-85BDC9FD1C3A}</a:tableStyleId>
              </a:tblPr>
              <a:tblGrid>
                <a:gridCol w="2331720"/>
                <a:gridCol w="1417320"/>
                <a:gridCol w="3063240"/>
                <a:gridCol w="2560320"/>
              </a:tblGrid>
              <a:tr h="292608">
                <a:tc>
                  <a:txBody>
                    <a:bodyPr wrap="square"/>
                    <a:lstStyle/>
                    <a:p>
                      <a:pPr algn="ctr"/>
                      <a:r>
                        <a:rPr sz="1150" b="1">
                          <a:solidFill>
                            <a:srgbClr val="FFFFFF"/>
                          </a:solidFill>
                          <a:latin typeface="游ゴシック"/>
                          <a:ea typeface="游ゴシック"/>
                        </a:rPr>
                        <a:t>ルール</a:t>
                      </a:r>
                    </a:p>
                  </a:txBody>
                  <a:tcPr marL="45720" marR="45720" marT="18288" marB="18288" anchor="ctr">
                    <a:solidFill>
                      <a:srgbClr val="000000"/>
                    </a:solidFill>
                  </a:tcPr>
                </a:tc>
                <a:tc>
                  <a:txBody>
                    <a:bodyPr wrap="square"/>
                    <a:lstStyle/>
                    <a:p>
                      <a:pPr algn="ctr"/>
                      <a:r>
                        <a:rPr sz="1150" b="1">
                          <a:solidFill>
                            <a:srgbClr val="FFFFFF"/>
                          </a:solidFill>
                          <a:latin typeface="游ゴシック"/>
                          <a:ea typeface="游ゴシック"/>
                        </a:rPr>
                        <a:t>該当ページ</a:t>
                      </a:r>
                    </a:p>
                  </a:txBody>
                  <a:tcPr marL="45720" marR="45720" marT="18288" marB="18288" anchor="ctr">
                    <a:solidFill>
                      <a:srgbClr val="000000"/>
                    </a:solidFill>
                  </a:tcPr>
                </a:tc>
                <a:tc>
                  <a:txBody>
                    <a:bodyPr wrap="square"/>
                    <a:lstStyle/>
                    <a:p>
                      <a:pPr algn="ctr"/>
                      <a:r>
                        <a:rPr sz="1150" b="1">
                          <a:solidFill>
                            <a:srgbClr val="FFFFFF"/>
                          </a:solidFill>
                          <a:latin typeface="游ゴシック"/>
                          <a:ea typeface="游ゴシック"/>
                        </a:rPr>
                        <a:t>狙った台詞を引き出せたか</a:t>
                      </a:r>
                    </a:p>
                  </a:txBody>
                  <a:tcPr marL="45720" marR="45720" marT="18288" marB="18288" anchor="ctr">
                    <a:solidFill>
                      <a:srgbClr val="000000"/>
                    </a:solidFill>
                  </a:tcPr>
                </a:tc>
                <a:tc>
                  <a:txBody>
                    <a:bodyPr wrap="square"/>
                    <a:lstStyle/>
                    <a:p>
                      <a:pPr algn="ctr"/>
                      <a:r>
                        <a:rPr sz="1150" b="1">
                          <a:solidFill>
                            <a:srgbClr val="FFFFFF"/>
                          </a:solidFill>
                          <a:latin typeface="游ゴシック"/>
                          <a:ea typeface="游ゴシック"/>
                        </a:rPr>
                        <a:t>結論を言えたか</a:t>
                      </a:r>
                    </a:p>
                  </a:txBody>
                  <a:tcPr marL="45720" marR="45720" marT="18288" marB="18288" anchor="ctr">
                    <a:solidFill>
                      <a:srgbClr val="000000"/>
                    </a:solidFill>
                  </a:tcPr>
                </a:tc>
              </a:tr>
              <a:tr h="365760">
                <a:tc>
                  <a:txBody>
                    <a:bodyPr wrap="square"/>
                    <a:lstStyle/>
                    <a:p>
                      <a:pPr algn="l"/>
                      <a:r>
                        <a:rPr sz="1150" b="0">
                          <a:solidFill>
                            <a:srgbClr val="000000"/>
                          </a:solidFill>
                          <a:latin typeface="游ゴシック"/>
                          <a:ea typeface="游ゴシック"/>
                        </a:rPr>
                        <a:t>①商談テーブルの確認</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0">
                          <a:solidFill>
                            <a:srgbClr val="000000"/>
                          </a:solidFill>
                          <a:latin typeface="游ゴシック"/>
                          <a:ea typeface="游ゴシック"/>
                        </a:rPr>
                        <a:t>3条件を確認できた</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②自社の概要・訪問趣旨</a:t>
                      </a:r>
                    </a:p>
                  </a:txBody>
                  <a:tcPr marL="45720" marR="45720" marT="18288" marB="18288" anchor="ctr">
                    <a:noFill/>
                  </a:tcPr>
                </a:tc>
                <a:tc>
                  <a:txBody>
                    <a:bodyPr wrap="square"/>
                    <a:lstStyle/>
                    <a:p>
                      <a:pPr algn="l"/>
                      <a:r>
                        <a:rPr sz="1150" b="0">
                          <a:solidFill>
                            <a:srgbClr val="000000"/>
                          </a:solidFill>
                          <a:latin typeface="游ゴシック"/>
                          <a:ea typeface="游ゴシック"/>
                        </a:rPr>
                        <a:t>p.2</a:t>
                      </a:r>
                    </a:p>
                  </a:txBody>
                  <a:tcPr marL="45720" marR="45720" marT="18288" marB="18288" anchor="ctr">
                    <a:noFill/>
                  </a:tcPr>
                </a:tc>
                <a:tc>
                  <a:txBody>
                    <a:bodyPr wrap="square"/>
                    <a:lstStyle/>
                    <a:p>
                      <a:pPr algn="l"/>
                      <a:r>
                        <a:rPr sz="1150" b="0">
                          <a:solidFill>
                            <a:srgbClr val="000000"/>
                          </a:solidFill>
                          <a:latin typeface="游ゴシック"/>
                          <a:ea typeface="游ゴシック"/>
                        </a:rPr>
                        <a:t>商談の構成が分かる</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③未導入理由の確認</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0">
                          <a:solidFill>
                            <a:srgbClr val="000000"/>
                          </a:solidFill>
                          <a:latin typeface="游ゴシック"/>
                          <a:ea typeface="游ゴシック"/>
                        </a:rPr>
                        <a:t>導入しなかった理由が3つ出た</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④前向きな検討への言質</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0">
                          <a:solidFill>
                            <a:srgbClr val="000000"/>
                          </a:solidFill>
                          <a:latin typeface="游ゴシック"/>
                          <a:ea typeface="游ゴシック"/>
                        </a:rPr>
                        <a:t>今日決めることに同意を得た</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⑤太陽光が当たり前</a:t>
                      </a:r>
                    </a:p>
                  </a:txBody>
                  <a:tcPr marL="45720" marR="45720" marT="18288" marB="18288" anchor="ctr">
                    <a:noFill/>
                  </a:tcPr>
                </a:tc>
                <a:tc>
                  <a:txBody>
                    <a:bodyPr wrap="square"/>
                    <a:lstStyle/>
                    <a:p>
                      <a:pPr algn="l"/>
                      <a:r>
                        <a:rPr sz="1150" b="0">
                          <a:solidFill>
                            <a:srgbClr val="000000"/>
                          </a:solidFill>
                          <a:latin typeface="游ゴシック"/>
                          <a:ea typeface="游ゴシック"/>
                        </a:rPr>
                        <a:t>p.3〜4</a:t>
                      </a:r>
                    </a:p>
                  </a:txBody>
                  <a:tcPr marL="45720" marR="45720" marT="18288" marB="18288" anchor="ctr">
                    <a:noFill/>
                  </a:tcPr>
                </a:tc>
                <a:tc>
                  <a:txBody>
                    <a:bodyPr wrap="square"/>
                    <a:lstStyle/>
                    <a:p>
                      <a:pPr algn="l"/>
                      <a:r>
                        <a:rPr sz="1150" b="0">
                          <a:solidFill>
                            <a:srgbClr val="000000"/>
                          </a:solidFill>
                          <a:latin typeface="游ゴシック"/>
                          <a:ea typeface="游ゴシック"/>
                        </a:rPr>
                        <a:t>義務化・必須の流れになるの!?</a:t>
                      </a:r>
                    </a:p>
                  </a:txBody>
                  <a:tcPr marL="45720" marR="45720" marT="18288" marB="18288" anchor="ctr">
                    <a:noFill/>
                  </a:tcPr>
                </a:tc>
                <a:tc>
                  <a:txBody>
                    <a:bodyPr wrap="square"/>
                    <a:lstStyle/>
                    <a:p>
                      <a:pPr algn="l"/>
                      <a:r>
                        <a:rPr sz="1150" b="0">
                          <a:solidFill>
                            <a:srgbClr val="000000"/>
                          </a:solidFill>
                          <a:latin typeface="游ゴシック"/>
                          <a:ea typeface="游ゴシック"/>
                        </a:rPr>
                        <a:t>電気を極力使わない生活へ</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⑥直近の国策動向</a:t>
                      </a:r>
                    </a:p>
                  </a:txBody>
                  <a:tcPr marL="45720" marR="45720" marT="18288" marB="18288" anchor="ctr">
                    <a:noFill/>
                  </a:tcPr>
                </a:tc>
                <a:tc>
                  <a:txBody>
                    <a:bodyPr wrap="square"/>
                    <a:lstStyle/>
                    <a:p>
                      <a:pPr algn="l"/>
                      <a:r>
                        <a:rPr sz="1150" b="0">
                          <a:solidFill>
                            <a:srgbClr val="000000"/>
                          </a:solidFill>
                          <a:latin typeface="游ゴシック"/>
                          <a:ea typeface="游ゴシック"/>
                        </a:rPr>
                        <a:t>p.5〜7</a:t>
                      </a:r>
                    </a:p>
                  </a:txBody>
                  <a:tcPr marL="45720" marR="45720" marT="18288" marB="18288" anchor="ctr">
                    <a:noFill/>
                  </a:tcPr>
                </a:tc>
                <a:tc>
                  <a:txBody>
                    <a:bodyPr wrap="square"/>
                    <a:lstStyle/>
                    <a:p>
                      <a:pPr algn="l"/>
                      <a:r>
                        <a:rPr sz="1150" b="0">
                          <a:solidFill>
                            <a:srgbClr val="000000"/>
                          </a:solidFill>
                          <a:latin typeface="游ゴシック"/>
                          <a:ea typeface="游ゴシック"/>
                        </a:rPr>
                        <a:t>スマートハウスが当たり前に</a:t>
                      </a:r>
                    </a:p>
                  </a:txBody>
                  <a:tcPr marL="45720" marR="45720" marT="18288" marB="18288" anchor="ctr">
                    <a:noFill/>
                  </a:tcPr>
                </a:tc>
                <a:tc>
                  <a:txBody>
                    <a:bodyPr wrap="square"/>
                    <a:lstStyle/>
                    <a:p>
                      <a:pPr algn="l"/>
                      <a:r>
                        <a:rPr sz="1150" b="0">
                          <a:solidFill>
                            <a:srgbClr val="000000"/>
                          </a:solidFill>
                          <a:latin typeface="游ゴシック"/>
                          <a:ea typeface="游ゴシック"/>
                        </a:rPr>
                        <a:t>スマートハウスが増えている</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⑦電気代推移の理解</a:t>
                      </a:r>
                    </a:p>
                  </a:txBody>
                  <a:tcPr marL="45720" marR="45720" marT="18288" marB="18288" anchor="ctr">
                    <a:noFill/>
                  </a:tcPr>
                </a:tc>
                <a:tc>
                  <a:txBody>
                    <a:bodyPr wrap="square"/>
                    <a:lstStyle/>
                    <a:p>
                      <a:pPr algn="l"/>
                      <a:r>
                        <a:rPr sz="1150" b="0">
                          <a:solidFill>
                            <a:srgbClr val="000000"/>
                          </a:solidFill>
                          <a:latin typeface="游ゴシック"/>
                          <a:ea typeface="游ゴシック"/>
                        </a:rPr>
                        <a:t>p.9〜12</a:t>
                      </a:r>
                    </a:p>
                  </a:txBody>
                  <a:tcPr marL="45720" marR="45720" marT="18288" marB="18288" anchor="ctr">
                    <a:noFill/>
                  </a:tcPr>
                </a:tc>
                <a:tc>
                  <a:txBody>
                    <a:bodyPr wrap="square"/>
                    <a:lstStyle/>
                    <a:p>
                      <a:pPr algn="l"/>
                      <a:r>
                        <a:rPr sz="1150" b="0">
                          <a:solidFill>
                            <a:srgbClr val="000000"/>
                          </a:solidFill>
                          <a:latin typeface="游ゴシック"/>
                          <a:ea typeface="游ゴシック"/>
                        </a:rPr>
                        <a:t>10年で5.5万円も上がっている</a:t>
                      </a:r>
                    </a:p>
                  </a:txBody>
                  <a:tcPr marL="45720" marR="45720" marT="18288" marB="18288" anchor="ctr">
                    <a:noFill/>
                  </a:tcPr>
                </a:tc>
                <a:tc>
                  <a:txBody>
                    <a:bodyPr wrap="square"/>
                    <a:lstStyle/>
                    <a:p>
                      <a:pPr algn="l"/>
                      <a:r>
                        <a:rPr sz="1150" b="0">
                          <a:solidFill>
                            <a:srgbClr val="000000"/>
                          </a:solidFill>
                          <a:latin typeface="游ゴシック"/>
                          <a:ea typeface="游ゴシック"/>
                        </a:rPr>
                        <a:t>2011年以降45％上昇</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⑧再エネ賦課金の構造</a:t>
                      </a:r>
                    </a:p>
                  </a:txBody>
                  <a:tcPr marL="45720" marR="45720" marT="18288" marB="18288" anchor="ctr">
                    <a:noFill/>
                  </a:tcPr>
                </a:tc>
                <a:tc>
                  <a:txBody>
                    <a:bodyPr wrap="square"/>
                    <a:lstStyle/>
                    <a:p>
                      <a:pPr algn="l"/>
                      <a:r>
                        <a:rPr sz="1150" b="0">
                          <a:solidFill>
                            <a:srgbClr val="000000"/>
                          </a:solidFill>
                          <a:latin typeface="游ゴシック"/>
                          <a:ea typeface="游ゴシック"/>
                        </a:rPr>
                        <a:t>p.11・13〜16</a:t>
                      </a:r>
                    </a:p>
                  </a:txBody>
                  <a:tcPr marL="45720" marR="45720" marT="18288" marB="18288" anchor="ctr">
                    <a:noFill/>
                  </a:tcPr>
                </a:tc>
                <a:tc>
                  <a:txBody>
                    <a:bodyPr wrap="square"/>
                    <a:lstStyle/>
                    <a:p>
                      <a:pPr algn="l"/>
                      <a:r>
                        <a:rPr sz="1150" b="0">
                          <a:solidFill>
                            <a:srgbClr val="000000"/>
                          </a:solidFill>
                          <a:latin typeface="游ゴシック"/>
                          <a:ea typeface="游ゴシック"/>
                        </a:rPr>
                        <a:t>賦課金で電気代が上がる</a:t>
                      </a:r>
                    </a:p>
                  </a:txBody>
                  <a:tcPr marL="45720" marR="45720" marT="18288" marB="18288" anchor="ctr">
                    <a:noFill/>
                  </a:tcPr>
                </a:tc>
                <a:tc>
                  <a:txBody>
                    <a:bodyPr wrap="square"/>
                    <a:lstStyle/>
                    <a:p>
                      <a:pPr algn="l"/>
                      <a:r>
                        <a:rPr sz="1150" b="0">
                          <a:solidFill>
                            <a:srgbClr val="000000"/>
                          </a:solidFill>
                          <a:latin typeface="游ゴシック"/>
                          <a:ea typeface="游ゴシック"/>
                        </a:rPr>
                        <a:t>太陽光の方は続々とお得に</a:t>
                      </a:r>
                    </a:p>
                  </a:txBody>
                  <a:tcPr marL="45720" marR="45720" marT="18288" marB="18288" anchor="ctr">
                    <a:noFill/>
                  </a:tcPr>
                </a:tc>
              </a:tr>
              <a:tr h="365760">
                <a:tc>
                  <a:txBody>
                    <a:bodyPr wrap="square"/>
                    <a:lstStyle/>
                    <a:p>
                      <a:pPr algn="l"/>
                      <a:r>
                        <a:rPr sz="1150" b="0">
                          <a:solidFill>
                            <a:srgbClr val="000000"/>
                          </a:solidFill>
                          <a:latin typeface="游ゴシック"/>
                          <a:ea typeface="游ゴシック"/>
                        </a:rPr>
                        <a:t>⑨電気代総額の理解</a:t>
                      </a:r>
                    </a:p>
                  </a:txBody>
                  <a:tcPr marL="45720" marR="45720" marT="18288" marB="18288" anchor="ctr">
                    <a:noFill/>
                  </a:tcPr>
                </a:tc>
                <a:tc>
                  <a:txBody>
                    <a:bodyPr wrap="square"/>
                    <a:lstStyle/>
                    <a:p>
                      <a:pPr algn="l"/>
                      <a:r>
                        <a:rPr sz="1150" b="0">
                          <a:solidFill>
                            <a:srgbClr val="000000"/>
                          </a:solidFill>
                          <a:latin typeface="游ゴシック"/>
                          <a:ea typeface="游ゴシック"/>
                        </a:rPr>
                        <a:t>p.17</a:t>
                      </a:r>
                    </a:p>
                  </a:txBody>
                  <a:tcPr marL="45720" marR="45720" marT="18288" marB="18288" anchor="ctr">
                    <a:noFill/>
                  </a:tcPr>
                </a:tc>
                <a:tc>
                  <a:txBody>
                    <a:bodyPr wrap="square"/>
                    <a:lstStyle/>
                    <a:p>
                      <a:pPr algn="l"/>
                      <a:r>
                        <a:rPr sz="1150" b="0">
                          <a:solidFill>
                            <a:srgbClr val="000000"/>
                          </a:solidFill>
                          <a:latin typeface="游ゴシック"/>
                          <a:ea typeface="游ゴシック"/>
                        </a:rPr>
                        <a:t>30年でそんなにも払うのですね</a:t>
                      </a:r>
                    </a:p>
                  </a:txBody>
                  <a:tcPr marL="45720" marR="45720" marT="18288" marB="18288" anchor="ctr">
                    <a:noFill/>
                  </a:tcPr>
                </a:tc>
                <a:tc>
                  <a:txBody>
                    <a:bodyPr wrap="square"/>
                    <a:lstStyle/>
                    <a:p>
                      <a:pPr algn="l"/>
                      <a:r>
                        <a:rPr sz="1150" b="0">
                          <a:solidFill>
                            <a:srgbClr val="000000"/>
                          </a:solidFill>
                          <a:latin typeface="游ゴシック"/>
                          <a:ea typeface="游ゴシック"/>
                        </a:rPr>
                        <a:t>30年で700万円以上</a:t>
                      </a:r>
                    </a:p>
                  </a:txBody>
                  <a:tcPr marL="45720" marR="45720" marT="18288" marB="18288" anchor="ctr">
                    <a:noFill/>
                  </a:tcPr>
                </a:tc>
              </a:tr>
              <a:tr h="365760">
                <a:tc>
                  <a:txBody>
                    <a:bodyPr wrap="square"/>
                    <a:lstStyle/>
                    <a:p>
                      <a:pPr algn="l"/>
                      <a:r>
                        <a:rPr sz="1150" b="1">
                          <a:solidFill>
                            <a:srgbClr val="000000"/>
                          </a:solidFill>
                          <a:latin typeface="游ゴシック"/>
                          <a:ea typeface="游ゴシック"/>
                        </a:rPr>
                        <a:t>商談運営</a:t>
                      </a:r>
                    </a:p>
                  </a:txBody>
                  <a:tcPr marL="45720" marR="45720" marT="18288" marB="18288" anchor="ctr">
                    <a:noFill/>
                  </a:tcPr>
                </a:tc>
                <a:tc>
                  <a:txBody>
                    <a:bodyPr wrap="square"/>
                    <a:lstStyle/>
                    <a:p>
                      <a:pPr algn="l"/>
                      <a:r>
                        <a:rPr sz="1150" b="0">
                          <a:solidFill>
                            <a:srgbClr val="000000"/>
                          </a:solidFill>
                          <a:latin typeface="游ゴシック"/>
                          <a:ea typeface="游ゴシック"/>
                        </a:rPr>
                        <a:t>−</a:t>
                      </a:r>
                    </a:p>
                  </a:txBody>
                  <a:tcPr marL="45720" marR="45720" marT="18288" marB="18288" anchor="ctr">
                    <a:noFill/>
                  </a:tcPr>
                </a:tc>
                <a:tc>
                  <a:txBody>
                    <a:bodyPr wrap="square"/>
                    <a:lstStyle/>
                    <a:p>
                      <a:pPr algn="l"/>
                      <a:r>
                        <a:rPr sz="1150" b="0">
                          <a:solidFill>
                            <a:srgbClr val="000000"/>
                          </a:solidFill>
                          <a:latin typeface="游ゴシック"/>
                          <a:ea typeface="游ゴシック"/>
                        </a:rPr>
                        <a:t>発言比率6：4／ラリー数30回</a:t>
                      </a:r>
                    </a:p>
                  </a:txBody>
                  <a:tcPr marL="45720" marR="45720" marT="18288" marB="18288" anchor="ctr">
                    <a:noFill/>
                  </a:tcPr>
                </a:tc>
                <a:tc>
                  <a:txBody>
                    <a:bodyPr wrap="square"/>
                    <a:lstStyle/>
                    <a:p>
                      <a:pPr algn="l"/>
                      <a:r>
                        <a:rPr sz="1150" b="0">
                          <a:solidFill>
                            <a:srgbClr val="000000"/>
                          </a:solidFill>
                          <a:latin typeface="游ゴシック"/>
                          <a:ea typeface="游ゴシック"/>
                        </a:rPr>
                        <a:t>セット提案を崩さなかった</a:t>
                      </a:r>
                    </a:p>
                  </a:txBody>
                  <a:tcPr marL="45720" marR="45720" marT="18288" marB="18288" anchor="ctr">
                    <a:noFill/>
                  </a:tcPr>
                </a:tc>
              </a:tr>
            </a:tbl>
          </a:graphicData>
        </a:graphic>
      </p:graphicFrame>
      <p:sp>
        <p:nvSpPr>
          <p:cNvPr id="7" name="Rectangle 6"/>
          <p:cNvSpPr/>
          <p:nvPr/>
        </p:nvSpPr>
        <p:spPr>
          <a:xfrm>
            <a:off x="274320" y="5806440"/>
            <a:ext cx="9372600" cy="45720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700" b="1">
                <a:solidFill>
                  <a:srgbClr val="000000"/>
                </a:solidFill>
                <a:latin typeface="HGPｺﾞｼｯｸE"/>
                <a:ea typeface="HGPｺﾞｼｯｸE"/>
              </a:rPr>
              <a:t>最後に「結論を言えたか」の欄だけ、資料を閉じて声に出して確認します（暗唱チェック）</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143560" y="692200"/>
            <a:ext cx="128016" cy="468172"/>
          </a:xfrm>
          <a:prstGeom prst="roundRect">
            <a:avLst/>
          </a:prstGeom>
          <a:solidFill>
            <a:srgbClr val="000000"/>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18211" y="672998"/>
            <a:ext cx="9052560" cy="523036"/>
          </a:xfrm>
          <a:prstGeom prst="rect">
            <a:avLst/>
          </a:prstGeom>
          <a:noFill/>
        </p:spPr>
        <p:txBody>
          <a:bodyPr wrap="square" anchor="t" lIns="0" rIns="0" tIns="18288" bIns="18288">
            <a:spAutoFit/>
          </a:bodyPr>
          <a:lstStyle/>
          <a:p>
            <a:pPr algn="l">
              <a:spcAft>
                <a:spcPts val="500"/>
              </a:spcAft>
            </a:pPr>
            <a:r>
              <a:rPr sz="2800" b="0">
                <a:solidFill>
                  <a:srgbClr val="000000"/>
                </a:solidFill>
                <a:latin typeface="HGP明朝E"/>
                <a:ea typeface="HGP明朝E"/>
              </a:rPr>
              <a:t>本日のまとめ</a:t>
            </a:r>
          </a:p>
        </p:txBody>
      </p:sp>
      <p:sp>
        <p:nvSpPr>
          <p:cNvPr id="4" name="TextBox 3"/>
          <p:cNvSpPr txBox="1"/>
          <p:nvPr/>
        </p:nvSpPr>
        <p:spPr>
          <a:xfrm>
            <a:off x="7598664" y="6565392"/>
            <a:ext cx="2103120" cy="301752"/>
          </a:xfrm>
          <a:prstGeom prst="rect">
            <a:avLst/>
          </a:prstGeom>
          <a:noFill/>
        </p:spPr>
        <p:txBody>
          <a:bodyPr wrap="square" anchor="t" lIns="0" rIns="0" tIns="18288" bIns="18288">
            <a:spAutoFit/>
          </a:bodyPr>
          <a:lstStyle/>
          <a:p>
            <a:pPr algn="r">
              <a:spcAft>
                <a:spcPts val="500"/>
              </a:spcAft>
            </a:pPr>
            <a:r>
              <a:rPr sz="1200" b="0">
                <a:solidFill>
                  <a:srgbClr val="FFFFFF"/>
                </a:solidFill>
                <a:latin typeface="HGPｺﾞｼｯｸE"/>
                <a:ea typeface="HGPｺﾞｼｯｸE"/>
              </a:rPr>
              <a:t>34</a:t>
            </a:r>
          </a:p>
        </p:txBody>
      </p:sp>
      <p:sp>
        <p:nvSpPr>
          <p:cNvPr id="5" name="Rectangle 4"/>
          <p:cNvSpPr/>
          <p:nvPr/>
        </p:nvSpPr>
        <p:spPr>
          <a:xfrm>
            <a:off x="411480" y="1325880"/>
            <a:ext cx="9098280" cy="2103120"/>
          </a:xfrm>
          <a:prstGeom prst="rect">
            <a:avLst/>
          </a:prstGeom>
          <a:solidFill>
            <a:srgbClr val="EAF1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1000"/>
              </a:spcAft>
            </a:pPr>
            <a:r>
              <a:rPr sz="1800" b="1">
                <a:solidFill>
                  <a:srgbClr val="000000"/>
                </a:solidFill>
                <a:latin typeface="HGPｺﾞｼｯｸE"/>
                <a:ea typeface="HGPｺﾞｼｯｸE"/>
              </a:rPr>
              <a:t>本日持ち帰ること</a:t>
            </a:r>
          </a:p>
          <a:p>
            <a:pPr algn="l">
              <a:spcAft>
                <a:spcPts val="800"/>
              </a:spcAft>
            </a:pPr>
            <a:r>
              <a:rPr sz="1700" b="0">
                <a:solidFill>
                  <a:srgbClr val="000000"/>
                </a:solidFill>
                <a:latin typeface="HGPｺﾞｼｯｸE"/>
                <a:ea typeface="HGPｺﾞｼｯｸE"/>
              </a:rPr>
              <a:t>① 失注の原因は「商談設定」か「商談内容」しかない。前日確認で設定を潰す</a:t>
            </a:r>
          </a:p>
          <a:p>
            <a:pPr algn="l">
              <a:spcAft>
                <a:spcPts val="800"/>
              </a:spcAft>
            </a:pPr>
            <a:r>
              <a:rPr sz="1700" b="0">
                <a:solidFill>
                  <a:srgbClr val="000000"/>
                </a:solidFill>
                <a:latin typeface="HGPｺﾞｼｯｸE"/>
                <a:ea typeface="HGPｺﾞｼｯｸE"/>
              </a:rPr>
              <a:t>② 先に相手の話を聞くことが、自分の話を聞いてもらうことに直結する</a:t>
            </a:r>
          </a:p>
          <a:p>
            <a:pPr algn="l">
              <a:spcAft>
                <a:spcPts val="800"/>
              </a:spcAft>
            </a:pPr>
            <a:r>
              <a:rPr sz="1700" b="0">
                <a:solidFill>
                  <a:srgbClr val="000000"/>
                </a:solidFill>
                <a:latin typeface="HGPｺﾞｼｯｸE"/>
                <a:ea typeface="HGPｺﾞｼｯｸE"/>
              </a:rPr>
              <a:t>③ 必要性訴求は「下げてから上げる」。ネガを自分事にしてから解決策を出す</a:t>
            </a:r>
          </a:p>
          <a:p>
            <a:pPr algn="l">
              <a:spcAft>
                <a:spcPts val="500"/>
              </a:spcAft>
            </a:pPr>
            <a:r>
              <a:rPr sz="1700" b="1">
                <a:solidFill>
                  <a:srgbClr val="FF0000"/>
                </a:solidFill>
                <a:latin typeface="HGPｺﾞｼｯｸE"/>
                <a:ea typeface="HGPｺﾞｼｯｸE"/>
              </a:rPr>
              <a:t>④ 太陽光と蓄電池は切り離さない。常にセットで話す</a:t>
            </a:r>
          </a:p>
        </p:txBody>
      </p:sp>
      <p:sp>
        <p:nvSpPr>
          <p:cNvPr id="6" name="Rectangle 5"/>
          <p:cNvSpPr/>
          <p:nvPr/>
        </p:nvSpPr>
        <p:spPr>
          <a:xfrm>
            <a:off x="411480" y="3657600"/>
            <a:ext cx="9098280" cy="2103120"/>
          </a:xfrm>
          <a:prstGeom prst="rect">
            <a:avLst/>
          </a:prstGeom>
          <a:solidFill>
            <a:srgbClr val="FFF2CC"/>
          </a:solidFill>
          <a:ln w="12700">
            <a:solidFill>
              <a:srgbClr val="BF8F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l">
              <a:spcAft>
                <a:spcPts val="1000"/>
              </a:spcAft>
            </a:pPr>
            <a:r>
              <a:rPr sz="1800" b="1">
                <a:solidFill>
                  <a:srgbClr val="000000"/>
                </a:solidFill>
                <a:latin typeface="HGPｺﾞｼｯｸE"/>
                <a:ea typeface="HGPｺﾞｼｯｸE"/>
              </a:rPr>
              <a:t>宿題（次回までに）</a:t>
            </a:r>
          </a:p>
          <a:p>
            <a:pPr algn="l">
              <a:spcAft>
                <a:spcPts val="800"/>
              </a:spcAft>
            </a:pPr>
            <a:r>
              <a:rPr sz="1700" b="0">
                <a:solidFill>
                  <a:srgbClr val="000000"/>
                </a:solidFill>
                <a:latin typeface="HGPｺﾞｼｯｸE"/>
                <a:ea typeface="HGPｺﾞｼｯｸE"/>
              </a:rPr>
              <a:t>① 自社ストーリー5段構成を清書し、20秒で言えるようにしてくること</a:t>
            </a:r>
          </a:p>
          <a:p>
            <a:pPr algn="l">
              <a:spcAft>
                <a:spcPts val="800"/>
              </a:spcAft>
            </a:pPr>
            <a:r>
              <a:rPr sz="1700" b="0">
                <a:solidFill>
                  <a:srgbClr val="000000"/>
                </a:solidFill>
                <a:latin typeface="HGPｺﾞｼｯｸE"/>
                <a:ea typeface="HGPｺﾞｼｯｸE"/>
              </a:rPr>
              <a:t>② アプローチブック p.2〜p.17 の結論の一文を、資料を見ずに言えるようにしてくること</a:t>
            </a:r>
          </a:p>
          <a:p>
            <a:pPr algn="l">
              <a:spcAft>
                <a:spcPts val="500"/>
              </a:spcAft>
            </a:pPr>
            <a:r>
              <a:rPr sz="1700" b="0">
                <a:solidFill>
                  <a:srgbClr val="000000"/>
                </a:solidFill>
                <a:latin typeface="HGPｺﾞｼｯｸE"/>
                <a:ea typeface="HGPｺﾞｼｯｸE"/>
              </a:rPr>
              <a:t>③ 実商談を1件、ルール①〜⑨のチェックシートをつけて振り返ってくること</a:t>
            </a:r>
          </a:p>
        </p:txBody>
      </p:sp>
      <p:sp>
        <p:nvSpPr>
          <p:cNvPr id="7" name="Rectangle 6"/>
          <p:cNvSpPr/>
          <p:nvPr/>
        </p:nvSpPr>
        <p:spPr>
          <a:xfrm>
            <a:off x="411480" y="5989320"/>
            <a:ext cx="9098280" cy="384048"/>
          </a:xfrm>
          <a:prstGeom prst="rect">
            <a:avLst/>
          </a:prstGeom>
          <a:noFill/>
          <a:ln w="1905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t" wrap="square" lIns="73152" rIns="73152" tIns="36576" bIns="36576"/>
          <a:lstStyle/>
          <a:p>
            <a:pPr algn="ctr">
              <a:spcAft>
                <a:spcPts val="500"/>
              </a:spcAft>
            </a:pPr>
            <a:r>
              <a:rPr sz="1600" b="1">
                <a:solidFill>
                  <a:srgbClr val="000000"/>
                </a:solidFill>
                <a:latin typeface="HGPｺﾞｼｯｸE"/>
                <a:ea typeface="HGPｺﾞｼｯｸE"/>
              </a:rPr>
              <a:t>次回・第3回は「必要性訴求②（ルール⑩〜⑫）」／アプローチブック p.18〜p.21</a:t>
            </a:r>
          </a:p>
        </p:txBody>
      </p:sp>
    </p:spTree>
  </p:cSld>
  <p:clrMapOvr>
    <a:masterClrMapping/>
  </p:clrMapOvr>
</p:sld>
</file>

<file path=ppt/slides/slide9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6"/>
          <p:cNvSpPr txBox="1">
            <a:spLocks noChangeArrowheads="1"/>
          </p:cNvSpPr>
          <p:nvPr/>
        </p:nvSpPr>
        <p:spPr bwMode="auto">
          <a:xfrm>
            <a:off x="119793" y="470959"/>
            <a:ext cx="9666414" cy="2169825"/>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この度は</a:t>
            </a:r>
            <a:r>
              <a:rPr kumimoji="1"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400" b="1"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㈱船井総合研究所　住宅用太陽光・蓄電池の売り方マスター研修</a:t>
            </a:r>
            <a:r>
              <a:rPr kumimoji="1" lang="en-US" altLang="ja-JP" sz="1400" b="0" i="0" u="none" strike="noStrike" kern="1200" cap="none" spc="0" normalizeH="0" baseline="0" noProof="0" dirty="0">
                <a:ln>
                  <a:noFill/>
                </a:ln>
                <a:solidFill>
                  <a:prstClr val="black"/>
                </a:solidFill>
                <a:effectLst/>
                <a:uLnTx/>
                <a:uFillTx/>
                <a:latin typeface="Meiryo UI" panose="020B0604030504040204" pitchFamily="50" charset="-128"/>
                <a:ea typeface="Meiryo UI" panose="020B0604030504040204" pitchFamily="50"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にご参加いただき、誠にありがとうございました。</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0" algn="l" defTabSz="914400" rtl="0" eaLnBrk="0" fontAlgn="auto" latinLnBrk="0" hangingPunct="0">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１．講座及びテキストに関するお問い合わせは、下記までお願いいたします。</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0" algn="l" defTabSz="914400" rtl="0" eaLnBrk="0" fontAlgn="auto" latinLnBrk="0" hangingPunct="0">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２．本テキストの著作権は、引用部分を除き、全て</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株</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船井総合研究所に帰属しています。</a:t>
            </a:r>
          </a:p>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３．本セミナーで入手したテキスト、</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DVD</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、その他の文書等は許可なく複製を作成すること、また二次利用することを禁止します。</a:t>
            </a:r>
            <a:b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b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４．本セミナーの内容と同じ、または類似した研修の開催や、第三者に行わせることを禁じます。</a:t>
            </a:r>
            <a:b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b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５．録音、録画、撮影などの行為はお断りします。</a:t>
            </a:r>
            <a:b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b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６．本セミナーで入手したテキストおよび資料等をＳＮＳ等を通じて第三者に開示することを禁じます。</a:t>
            </a:r>
          </a:p>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７．なお、上記３～６の事項が発覚した場合、本人または法人に対して損害賠償を行う場合があります。</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0" algn="l" defTabSz="914400" rtl="0" eaLnBrk="1" fontAlgn="auto" latinLnBrk="0" hangingPunct="1">
              <a:lnSpc>
                <a:spcPts val="18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８．当社ではセミナー中の様子を撮影し、当社の宣伝に使用することがあります。あらかじめご了承ください。　　　　 　   　　　　　　　　　</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p:txBody>
      </p:sp>
      <p:sp>
        <p:nvSpPr>
          <p:cNvPr id="3" name="Rectangle 10"/>
          <p:cNvSpPr>
            <a:spLocks noChangeArrowheads="1"/>
          </p:cNvSpPr>
          <p:nvPr/>
        </p:nvSpPr>
        <p:spPr bwMode="auto">
          <a:xfrm>
            <a:off x="92512" y="2926534"/>
            <a:ext cx="9702351" cy="1143000"/>
          </a:xfrm>
          <a:prstGeom prst="rect">
            <a:avLst/>
          </a:prstGeom>
          <a:solidFill>
            <a:srgbClr val="FFFFFF"/>
          </a:solidFill>
          <a:ln w="19050">
            <a:solidFill>
              <a:srgbClr val="000066"/>
            </a:solidFill>
            <a:miter lim="800000"/>
            <a:headEnd/>
            <a:tailEnd/>
          </a:ln>
        </p:spPr>
        <p:txBody>
          <a:bodyPr anchor="ctr"/>
          <a:lstStyle/>
          <a:p>
            <a:pPr marL="0" marR="0" lvl="0" indent="0" algn="ctr" defTabSz="914400" rtl="0" eaLnBrk="0" fontAlgn="auto" latinLnBrk="0" hangingPunct="0">
              <a:lnSpc>
                <a:spcPct val="150000"/>
              </a:lnSpc>
              <a:spcBef>
                <a:spcPts val="0"/>
              </a:spcBef>
              <a:spcAft>
                <a:spcPts val="0"/>
              </a:spcAft>
              <a:buClrTx/>
              <a:buSzTx/>
              <a:buFontTx/>
              <a:buNone/>
              <a:tabLst/>
              <a:defRPr/>
            </a:pPr>
            <a:r>
              <a:rPr kumimoji="1" lang="ja-JP" altLang="en-US" sz="22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株式会社船井総合研究所</a:t>
            </a:r>
            <a:endParaRPr kumimoji="1" lang="en-US" altLang="ja-JP" sz="22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endParaRPr>
          </a:p>
          <a:p>
            <a:pPr marL="0" marR="0" lvl="0" indent="0" algn="ctr" defTabSz="914400" rtl="0" eaLnBrk="0" fontAlgn="auto" latinLnBrk="0" hangingPunct="0">
              <a:lnSpc>
                <a:spcPct val="100000"/>
              </a:lnSpc>
              <a:spcBef>
                <a:spcPts val="0"/>
              </a:spcBef>
              <a:spcAft>
                <a:spcPts val="0"/>
              </a:spcAft>
              <a:buClrTx/>
              <a:buSzTx/>
              <a:buFontTx/>
              <a:buNone/>
              <a:tabLst/>
              <a:defRPr/>
            </a:pPr>
            <a:r>
              <a:rPr kumimoji="1" lang="en-US" altLang="ja-JP" sz="24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a:t>
            </a:r>
            <a:r>
              <a:rPr kumimoji="1" lang="ja-JP" altLang="en-US" sz="24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住宅用太陽光・蓄電池の売り方マスター研修</a:t>
            </a:r>
            <a:r>
              <a:rPr kumimoji="1" lang="en-US" altLang="ja-JP" sz="2400" b="0" i="0" u="none" strike="noStrike" kern="1200" cap="none" spc="0" normalizeH="0" baseline="0" noProof="0" dirty="0">
                <a:ln>
                  <a:noFill/>
                </a:ln>
                <a:solidFill>
                  <a:srgbClr val="000066"/>
                </a:solidFill>
                <a:effectLst/>
                <a:uLnTx/>
                <a:uFillTx/>
                <a:latin typeface="HGP明朝E" pitchFamily="18" charset="-128"/>
                <a:ea typeface="HGP明朝E" pitchFamily="18" charset="-128"/>
                <a:cs typeface="+mn-cs"/>
              </a:rPr>
              <a:t>』</a:t>
            </a:r>
          </a:p>
        </p:txBody>
      </p:sp>
      <p:sp>
        <p:nvSpPr>
          <p:cNvPr id="4" name="Rectangle 11"/>
          <p:cNvSpPr>
            <a:spLocks noChangeArrowheads="1"/>
          </p:cNvSpPr>
          <p:nvPr/>
        </p:nvSpPr>
        <p:spPr bwMode="auto">
          <a:xfrm>
            <a:off x="92512" y="4641034"/>
            <a:ext cx="9702351" cy="1956318"/>
          </a:xfrm>
          <a:prstGeom prst="rect">
            <a:avLst/>
          </a:prstGeom>
          <a:solidFill>
            <a:srgbClr val="FFFFFF"/>
          </a:solidFill>
          <a:ln w="19050">
            <a:solidFill>
              <a:srgbClr val="000066"/>
            </a:solidFill>
            <a:miter lim="800000"/>
            <a:headEnd/>
            <a:tailEnd/>
          </a:ln>
        </p:spPr>
        <p:txBody>
          <a:bodyPr anchor="ctr"/>
          <a:lstStyle/>
          <a:p>
            <a:pPr marL="0" marR="0" lvl="0" indent="139700" algn="just" defTabSz="914400" rtl="0" eaLnBrk="1" fontAlgn="auto" latinLnBrk="0" hangingPunct="1">
              <a:lnSpc>
                <a:spcPct val="100000"/>
              </a:lnSpc>
              <a:spcBef>
                <a:spcPts val="0"/>
              </a:spcBef>
              <a:spcAft>
                <a:spcPts val="0"/>
              </a:spcAft>
              <a:buClrTx/>
              <a:buSzTx/>
              <a:buFontTx/>
              <a:buNone/>
              <a:tabLst/>
              <a:defRPr/>
            </a:pPr>
            <a:r>
              <a:rPr kumimoji="1" lang="en-US" altLang="ja-JP" sz="1400" b="0" i="0" u="none" strike="noStrike" kern="1200" cap="none" spc="0" normalizeH="0" baseline="0" noProof="0">
                <a:ln>
                  <a:noFill/>
                </a:ln>
                <a:solidFill>
                  <a:prstClr val="black"/>
                </a:solidFill>
                <a:effectLst/>
                <a:uLnTx/>
                <a:uFillTx/>
                <a:latin typeface="HGP明朝E" pitchFamily="18" charset="-128"/>
                <a:ea typeface="HGP明朝E" pitchFamily="18" charset="-128"/>
                <a:cs typeface="+mn-cs"/>
              </a:rPr>
              <a:t>2026</a:t>
            </a:r>
            <a:r>
              <a:rPr kumimoji="1" lang="ja-JP" altLang="en-US" sz="1400" b="0" i="0" u="none" strike="noStrike" kern="1200" cap="none" spc="0" normalizeH="0" baseline="0" noProof="0">
                <a:ln>
                  <a:noFill/>
                </a:ln>
                <a:solidFill>
                  <a:prstClr val="black"/>
                </a:solidFill>
                <a:effectLst/>
                <a:uLnTx/>
                <a:uFillTx/>
                <a:latin typeface="HGP明朝E" pitchFamily="18" charset="-128"/>
                <a:ea typeface="HGP明朝E" pitchFamily="18" charset="-128"/>
                <a:cs typeface="+mn-cs"/>
              </a:rPr>
              <a:t>年</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１</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1</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月発行</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著　者　 ：　株式会社船井総合研究所　　専門工事支援部 北 隆人</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発行所　：　株式会社船井総合研究所</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大阪本社</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　　　　　　　　　　　　　　　　　　　　　　　　　　　</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東京本社（サステナグローススクエア</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TOKYO</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〒５４１－００４１　大阪市中央区北浜４－４－１０　　　　　　　〒１０４－００２８　東京都中央区八重洲二丁目</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2</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番</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1</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号</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　　　　　　　　　　　　　　　　　　　　　　　　　　　　　　　　　　　　　　　　　　　　　　東京ミッドタウン八重洲 八重洲セントラルタワー </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35</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階</a:t>
            </a: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ＴＥＬ　０６－６２３２－０２７１（代表）　　　　　　　　　　　　　　　　　ＴＥＬ：０３－４３５６－０２７１（通）</a:t>
            </a:r>
            <a:endPar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a:p>
            <a:pPr marL="0" marR="0" lvl="0" indent="139700" algn="just" defTabSz="914400" rtl="0" eaLnBrk="0" fontAlgn="auto" latinLnBrk="0" hangingPunct="0">
              <a:lnSpc>
                <a:spcPct val="100000"/>
              </a:lnSpc>
              <a:spcBef>
                <a:spcPts val="0"/>
              </a:spcBef>
              <a:spcAft>
                <a:spcPts val="0"/>
              </a:spcAft>
              <a:buClrTx/>
              <a:buSzTx/>
              <a:buFontTx/>
              <a:buNone/>
              <a:tabLst/>
              <a:defRPr/>
            </a:pP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E</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Mail</a:t>
            </a:r>
            <a:r>
              <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　 </a:t>
            </a:r>
            <a:r>
              <a:rPr kumimoji="1" lang="en-US" altLang="ja-JP"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rPr>
              <a:t>takato-kita@funaisoken.co.jp</a:t>
            </a:r>
            <a:endParaRPr kumimoji="1" lang="ja-JP" altLang="en-US" sz="1400" b="0" i="0" u="none" strike="noStrike" kern="1200" cap="none" spc="0" normalizeH="0" baseline="0" noProof="0" dirty="0">
              <a:ln>
                <a:noFill/>
              </a:ln>
              <a:solidFill>
                <a:prstClr val="black"/>
              </a:solidFill>
              <a:effectLst/>
              <a:uLnTx/>
              <a:uFillTx/>
              <a:latin typeface="HGP明朝E" pitchFamily="18" charset="-128"/>
              <a:ea typeface="HGP明朝E" pitchFamily="18" charset="-128"/>
              <a:cs typeface="+mn-cs"/>
            </a:endParaRPr>
          </a:p>
        </p:txBody>
      </p:sp>
      <p:sp>
        <p:nvSpPr>
          <p:cNvPr id="5" name="Rectangle 12"/>
          <p:cNvSpPr>
            <a:spLocks noChangeArrowheads="1"/>
          </p:cNvSpPr>
          <p:nvPr/>
        </p:nvSpPr>
        <p:spPr bwMode="auto">
          <a:xfrm>
            <a:off x="92512" y="4069534"/>
            <a:ext cx="9702351" cy="571500"/>
          </a:xfrm>
          <a:prstGeom prst="rect">
            <a:avLst/>
          </a:prstGeom>
          <a:solidFill>
            <a:srgbClr val="7030A0"/>
          </a:solidFill>
          <a:ln w="19050">
            <a:solidFill>
              <a:srgbClr val="000066"/>
            </a:solidFill>
            <a:miter lim="800000"/>
            <a:headEnd/>
            <a:tailE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2200" b="0" i="0" u="none" strike="noStrike" kern="1200" cap="none" spc="0" normalizeH="0" baseline="0" noProof="0" dirty="0">
                <a:ln>
                  <a:noFill/>
                </a:ln>
                <a:solidFill>
                  <a:prstClr val="white"/>
                </a:solidFill>
                <a:effectLst/>
                <a:uLnTx/>
                <a:uFillTx/>
                <a:latin typeface="HGP明朝E" pitchFamily="18" charset="-128"/>
                <a:ea typeface="HGP明朝E" pitchFamily="18" charset="-128"/>
                <a:cs typeface="+mn-cs"/>
              </a:rPr>
              <a:t>機密情報／無断転用禁止　</a:t>
            </a:r>
            <a:endParaRPr kumimoji="1" lang="ja-JP" altLang="en-US" sz="2400" b="0" i="0" u="none" strike="noStrike" kern="1200" cap="none" spc="0" normalizeH="0" baseline="0" noProof="0" dirty="0">
              <a:ln>
                <a:noFill/>
              </a:ln>
              <a:solidFill>
                <a:prstClr val="white"/>
              </a:solidFill>
              <a:effectLst/>
              <a:uLnTx/>
              <a:uFillTx/>
              <a:latin typeface="HGP明朝E" pitchFamily="18" charset="-128"/>
              <a:ea typeface="HGP明朝E" pitchFamily="18" charset="-128"/>
              <a:cs typeface="+mn-cs"/>
            </a:endParaRPr>
          </a:p>
        </p:txBody>
      </p:sp>
    </p:spTree>
    <p:extLst>
      <p:ext uri="{BB962C8B-B14F-4D97-AF65-F5344CB8AC3E}">
        <p14:creationId xmlns:p14="http://schemas.microsoft.com/office/powerpoint/2010/main" val="104647417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お気に入り">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お気に入り">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ソーラープロジェクト大社様】2024年11月度お打ち合わせ資料 .pptx" id="{F2A59035-B9C3-4A75-B90B-5E71CD3F6C43}" vid="{552278E5-979D-4048-BBE5-2AFDF89082E8}"/>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25900</TotalTime>
  <Words>6897</Words>
  <Application>Microsoft Office PowerPoint</Application>
  <PresentationFormat>A4 210 x 297 mm</PresentationFormat>
  <Paragraphs>716</Paragraphs>
  <Slides>71</Slides>
  <Notes>32</Notes>
  <HiddenSlides>0</HiddenSlides>
  <MMClips>0</MMClips>
  <ScaleCrop>false</ScaleCrop>
  <HeadingPairs>
    <vt:vector size="6" baseType="variant">
      <vt:variant>
        <vt:lpstr>使用されているフォント</vt:lpstr>
      </vt:variant>
      <vt:variant>
        <vt:i4>15</vt:i4>
      </vt:variant>
      <vt:variant>
        <vt:lpstr>テーマ</vt:lpstr>
      </vt:variant>
      <vt:variant>
        <vt:i4>2</vt:i4>
      </vt:variant>
      <vt:variant>
        <vt:lpstr>スライド タイトル</vt:lpstr>
      </vt:variant>
      <vt:variant>
        <vt:i4>71</vt:i4>
      </vt:variant>
    </vt:vector>
  </HeadingPairs>
  <TitlesOfParts>
    <vt:vector size="88" baseType="lpstr">
      <vt:lpstr>BIZ UDPゴシック</vt:lpstr>
      <vt:lpstr>Google Sans Text</vt:lpstr>
      <vt:lpstr>HGPｺﾞｼｯｸE</vt:lpstr>
      <vt:lpstr>HGP創英角ｺﾞｼｯｸUB</vt:lpstr>
      <vt:lpstr>HGP明朝E</vt:lpstr>
      <vt:lpstr>HGSｺﾞｼｯｸM</vt:lpstr>
      <vt:lpstr>Meiryo UI</vt:lpstr>
      <vt:lpstr>メイリオ</vt:lpstr>
      <vt:lpstr>游ゴシック</vt:lpstr>
      <vt:lpstr>游ゴシック体</vt:lpstr>
      <vt:lpstr>Arial</vt:lpstr>
      <vt:lpstr>Calibri</vt:lpstr>
      <vt:lpstr>Lucida Calligraphy</vt:lpstr>
      <vt:lpstr>Monotype Corsiva</vt:lpstr>
      <vt:lpstr>Wingdings</vt:lpstr>
      <vt:lpstr>Office テーマ</vt:lpstr>
      <vt:lpstr>1_Office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船井総合研究所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F2038</dc:creator>
  <cp:lastModifiedBy>Ryusho Sameshima</cp:lastModifiedBy>
  <cp:revision>713</cp:revision>
  <cp:lastPrinted>2025-11-06T11:25:07Z</cp:lastPrinted>
  <dcterms:created xsi:type="dcterms:W3CDTF">2017-03-26T07:08:56Z</dcterms:created>
  <dcterms:modified xsi:type="dcterms:W3CDTF">2026-05-20T08:32:28Z</dcterms:modified>
</cp:coreProperties>
</file>