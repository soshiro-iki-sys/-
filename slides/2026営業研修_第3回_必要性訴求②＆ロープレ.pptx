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media/image3.jpg" ContentType="image/pn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  <p:sldMasterId id="2147483702" r:id="rId2"/>
  </p:sldMasterIdLst>
  <p:notesMasterIdLst>
    <p:notesMasterId r:id="rId74"/>
  </p:notesMasterIdLst>
  <p:handoutMasterIdLst>
    <p:handoutMasterId r:id="rId75"/>
  </p:handoutMasterIdLst>
  <p:sldIdLst>
    <p:sldId id="344" r:id="rId3"/>
    <p:sldId id="1179" r:id="rId11"/>
    <p:sldId id="1180" r:id="rId12"/>
    <p:sldId id="1181" r:id="rId13"/>
    <p:sldId id="1182" r:id="rId14"/>
    <p:sldId id="1183" r:id="rId15"/>
    <p:sldId id="1184" r:id="rId16"/>
    <p:sldId id="1185" r:id="rId17"/>
    <p:sldId id="1186" r:id="rId18"/>
    <p:sldId id="1187" r:id="rId19"/>
    <p:sldId id="1188" r:id="rId20"/>
    <p:sldId id="1189" r:id="rId21"/>
    <p:sldId id="1190" r:id="rId22"/>
    <p:sldId id="1191" r:id="rId23"/>
    <p:sldId id="1192" r:id="rId24"/>
    <p:sldId id="1193" r:id="rId25"/>
    <p:sldId id="1194" r:id="rId26"/>
    <p:sldId id="1195" r:id="rId27"/>
    <p:sldId id="1196" r:id="rId28"/>
    <p:sldId id="1197" r:id="rId29"/>
    <p:sldId id="1198" r:id="rId30"/>
    <p:sldId id="1199" r:id="rId31"/>
    <p:sldId id="1200" r:id="rId32"/>
    <p:sldId id="1201" r:id="rId33"/>
    <p:sldId id="1202" r:id="rId34"/>
    <p:sldId id="1203" r:id="rId35"/>
    <p:sldId id="1204" r:id="rId36"/>
    <p:sldId id="1205" r:id="rId37"/>
    <p:sldId id="1206" r:id="rId38"/>
    <p:sldId id="1207" r:id="rId39"/>
    <p:sldId id="1208" r:id="rId40"/>
    <p:sldId id="1178" r:id="rId73"/>
  </p:sldIdLst>
  <p:sldSz cx="9906000" cy="6858000" type="A4"/>
  <p:notesSz cx="6735763" cy="98663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45" userDrawn="1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EDE1"/>
    <a:srgbClr val="362A2A"/>
    <a:srgbClr val="9BBB59"/>
    <a:srgbClr val="FB43D4"/>
    <a:srgbClr val="E85504"/>
    <a:srgbClr val="006600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583" autoAdjust="0"/>
    <p:restoredTop sz="96343" autoAdjust="0"/>
  </p:normalViewPr>
  <p:slideViewPr>
    <p:cSldViewPr showGuides="1">
      <p:cViewPr varScale="1">
        <p:scale>
          <a:sx n="82" d="100"/>
          <a:sy n="82" d="100"/>
        </p:scale>
        <p:origin x="1694" y="72"/>
      </p:cViewPr>
      <p:guideLst>
        <p:guide orient="horz" pos="845"/>
        <p:guide pos="312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01" d="100"/>
          <a:sy n="101" d="100"/>
        </p:scale>
        <p:origin x="3246" y="11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73" Type="http://schemas.openxmlformats.org/officeDocument/2006/relationships/slide" Target="slides/slide900.xml"/><Relationship Id="rId74" Type="http://schemas.openxmlformats.org/officeDocument/2006/relationships/notesMaster" Target="notesMasters/notesMaster1.xml"/><Relationship Id="rId75" Type="http://schemas.openxmlformats.org/officeDocument/2006/relationships/handoutMaster" Target="handoutMasters/handoutMaster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18830" cy="495029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15374" y="2"/>
            <a:ext cx="2918830" cy="495029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r">
              <a:defRPr sz="1200"/>
            </a:lvl1pPr>
          </a:lstStyle>
          <a:p>
            <a:fld id="{695728E3-876B-4768-9AB0-7D988C1247DF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2" y="9371288"/>
            <a:ext cx="2918830" cy="495028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15374" y="9371288"/>
            <a:ext cx="2918830" cy="495028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r">
              <a:defRPr sz="1200"/>
            </a:lvl1pPr>
          </a:lstStyle>
          <a:p>
            <a:fld id="{E00352D2-49C1-4968-AB3E-0C456C91C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37226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 2"/>
          <p:cNvSpPr>
            <a:spLocks noGrp="1"/>
          </p:cNvSpPr>
          <p:nvPr>
            <p:ph type="dt" idx="1"/>
          </p:nvPr>
        </p:nvSpPr>
        <p:spPr>
          <a:xfrm>
            <a:off x="3815374" y="0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r">
              <a:defRPr sz="1200"/>
            </a:lvl1pPr>
          </a:lstStyle>
          <a:p>
            <a:fld id="{A8D18B60-6E12-48B8-B760-06957378EDAD}" type="datetimeFigureOut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4" name="スライド イメージ プレースホルダ 3"/>
          <p:cNvSpPr>
            <a:spLocks noGrp="1" noRot="1" noChangeAspect="1"/>
          </p:cNvSpPr>
          <p:nvPr>
            <p:ph type="sldImg" idx="2"/>
          </p:nvPr>
        </p:nvSpPr>
        <p:spPr>
          <a:xfrm>
            <a:off x="695325" y="739775"/>
            <a:ext cx="5345113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48" tIns="47425" rIns="94848" bIns="47425" rtlCol="0" anchor="ctr"/>
          <a:lstStyle/>
          <a:p>
            <a:endParaRPr lang="ja-JP" altLang="en-US"/>
          </a:p>
        </p:txBody>
      </p:sp>
      <p:sp>
        <p:nvSpPr>
          <p:cNvPr id="5" name="ノー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73578" y="4686501"/>
            <a:ext cx="5388610" cy="4439841"/>
          </a:xfrm>
          <a:prstGeom prst="rect">
            <a:avLst/>
          </a:prstGeom>
        </p:spPr>
        <p:txBody>
          <a:bodyPr vert="horz" lIns="94848" tIns="47425" rIns="94848" bIns="47425" rtlCol="0">
            <a:normAutofit/>
          </a:bodyPr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4"/>
          </p:nvPr>
        </p:nvSpPr>
        <p:spPr>
          <a:xfrm>
            <a:off x="2" y="9371285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5"/>
          </p:nvPr>
        </p:nvSpPr>
        <p:spPr>
          <a:xfrm>
            <a:off x="3815374" y="9371285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r">
              <a:defRPr sz="1200"/>
            </a:lvl1pPr>
          </a:lstStyle>
          <a:p>
            <a:fld id="{B76C3785-4774-4B27-AA13-6B236C476115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6C3785-4774-4B27-AA13-6B236C476115}" type="slidenum">
              <a:rPr kumimoji="1" lang="ja-JP" altLang="en-US" smtClean="0"/>
              <a:pPr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26331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・災害は「短く終える技術」、FABと経済メリットは「難しいから時間をかける」と最初に説明する</a:t>
            </a:r>
          </a:p>
          <a:p>
            <a:r>
              <a:t>・金額（見積り）は第4回。今日は出さない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・講師はまず「やりすぎ例」を実演して見せる。受講者に違和感を体験させてから正解を示す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・Bは想像で作らない。ルール③で聞いた「導入しなかった理由」「今の困りごと」から作る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・その日のうちに復習すると定着する（翌日には50％忘れる）ことを添える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e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742950" y="2130426"/>
            <a:ext cx="8420100" cy="1470025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ja-JP" altLang="en-US"/>
              <a:t>マスタ サブタイトルの書式設定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DEDC6-F80D-48C2-B138-00A27E7F2E65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64A63-54DC-4F0A-84AB-53668F1114D2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82506" y="4406901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D4A45F-A8A8-4DDE-B673-AED63056AB36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536575" y="1600201"/>
            <a:ext cx="4746625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5448300" y="1600201"/>
            <a:ext cx="4746625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F025A-80F9-47C5-83D6-D2A5A3B97719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5032111" y="1535113"/>
            <a:ext cx="4378590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5032111" y="2174875"/>
            <a:ext cx="4378590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9BD1E-31C5-4520-B82E-04337BC9ED08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8" name="フッター プレースホル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日付プレースホル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DA76A-BB70-46AD-B592-B57DADC28816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297B68-78AE-4B40-9B77-32E3BBE4C65E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3" name="フッター プレースホル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006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3872971" y="273051"/>
            <a:ext cx="5537729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495300" y="1435101"/>
            <a:ext cx="3259006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1A2F7-89F4-4CBB-9F6E-BD9D54E64EE6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941645" y="4800600"/>
            <a:ext cx="59436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1941645" y="612775"/>
            <a:ext cx="59436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1941645" y="5367338"/>
            <a:ext cx="59436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CFBB6-5FCD-4CD1-A658-5A106B94C497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C7A81-3346-464B-A479-530443E8B95D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7780337" y="274639"/>
            <a:ext cx="2414588" cy="5851525"/>
          </a:xfrm>
          <a:prstGeom prst="rect">
            <a:avLst/>
          </a:prstGeom>
        </p:spPr>
        <p:txBody>
          <a:bodyPr vert="eaVert"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536575" y="274639"/>
            <a:ext cx="7078663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72015-3E19-41F4-BCCA-3D5A7443FCC4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07685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2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6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097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5"/>
            <a:ext cx="4206531" cy="223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853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853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853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4"/>
            <a:ext cx="2228850" cy="365125"/>
          </a:xfrm>
        </p:spPr>
        <p:txBody>
          <a:bodyPr/>
          <a:lstStyle>
            <a:lvl1pPr>
              <a:defRPr sz="975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6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2" cy="605918"/>
          </a:xfrm>
        </p:spPr>
        <p:txBody>
          <a:bodyPr>
            <a:noAutofit/>
          </a:bodyPr>
          <a:lstStyle>
            <a:lvl1pPr algn="ctr">
              <a:defRPr sz="2925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8" y="-3521490"/>
            <a:ext cx="11734664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2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4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8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4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9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70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70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70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70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タイトル（目次と対応させてください。）</a:t>
            </a:r>
            <a:endParaRPr kumimoji="1" lang="en-US" altLang="ja-JP" sz="1097" dirty="0"/>
          </a:p>
          <a:p>
            <a:pPr algn="ctr"/>
            <a:r>
              <a:rPr kumimoji="1" lang="ja-JP" altLang="en-US" sz="1097" dirty="0"/>
              <a:t>フォント：メイリオ見出し</a:t>
            </a:r>
            <a:endParaRPr kumimoji="1" lang="en-US" altLang="ja-JP" sz="1097" dirty="0"/>
          </a:p>
          <a:p>
            <a:pPr algn="ctr"/>
            <a:r>
              <a:rPr lang="ja-JP" altLang="en-US" sz="1097" dirty="0"/>
              <a:t>サイズ：</a:t>
            </a:r>
            <a:r>
              <a:rPr lang="en-US" altLang="ja-JP" sz="1097" dirty="0"/>
              <a:t>48</a:t>
            </a:r>
          </a:p>
          <a:p>
            <a:pPr algn="ctr"/>
            <a:r>
              <a:rPr lang="ja-JP" altLang="en-US" sz="1097" dirty="0"/>
              <a:t>ボールド</a:t>
            </a:r>
            <a:endParaRPr lang="en-US" altLang="ja-JP" sz="1097" dirty="0"/>
          </a:p>
          <a:p>
            <a:pPr algn="ctr"/>
            <a:r>
              <a:rPr lang="ja-JP" altLang="en-US" sz="1097" dirty="0"/>
              <a:t>真ん中寄せ</a:t>
            </a:r>
            <a:endParaRPr kumimoji="1" lang="en-US" altLang="ja-JP" sz="1097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0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小見出し</a:t>
            </a:r>
            <a:endParaRPr kumimoji="1" lang="en-US" altLang="ja-JP" sz="1097" dirty="0"/>
          </a:p>
          <a:p>
            <a:pPr algn="ctr"/>
            <a:r>
              <a:rPr kumimoji="1" lang="ja-JP" altLang="en-US" sz="1097" dirty="0"/>
              <a:t>フォント：メイリオ本文</a:t>
            </a:r>
            <a:endParaRPr kumimoji="1" lang="en-US" altLang="ja-JP" sz="1097" dirty="0"/>
          </a:p>
          <a:p>
            <a:pPr algn="ctr"/>
            <a:r>
              <a:rPr lang="ja-JP" altLang="en-US" sz="1097" dirty="0"/>
              <a:t>サイズ：</a:t>
            </a:r>
            <a:r>
              <a:rPr lang="en-US" altLang="ja-JP" sz="1097" dirty="0"/>
              <a:t>32</a:t>
            </a:r>
          </a:p>
          <a:p>
            <a:pPr algn="ctr"/>
            <a:r>
              <a:rPr lang="ja-JP" altLang="en-US" sz="1097" dirty="0"/>
              <a:t>ボールド</a:t>
            </a:r>
            <a:endParaRPr lang="en-US" altLang="ja-JP" sz="1097" dirty="0"/>
          </a:p>
          <a:p>
            <a:pPr algn="ctr"/>
            <a:r>
              <a:rPr kumimoji="1" lang="ja-JP" altLang="en-US" sz="1097" dirty="0"/>
              <a:t>左寄せ</a:t>
            </a:r>
            <a:endParaRPr kumimoji="1" lang="en-US" altLang="ja-JP" sz="1097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0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本文</a:t>
            </a:r>
            <a:endParaRPr kumimoji="1" lang="en-US" altLang="ja-JP" sz="1097" dirty="0"/>
          </a:p>
          <a:p>
            <a:pPr algn="ctr"/>
            <a:r>
              <a:rPr kumimoji="1" lang="ja-JP" altLang="en-US" sz="1097" dirty="0"/>
              <a:t>フォント：メイリオ本文</a:t>
            </a:r>
            <a:endParaRPr kumimoji="1" lang="en-US" altLang="ja-JP" sz="1097" dirty="0"/>
          </a:p>
          <a:p>
            <a:pPr algn="ctr"/>
            <a:r>
              <a:rPr lang="ja-JP" altLang="en-US" sz="1097" dirty="0"/>
              <a:t>サイズ：</a:t>
            </a:r>
            <a:r>
              <a:rPr lang="en-US" altLang="ja-JP" sz="1097" dirty="0"/>
              <a:t>18</a:t>
            </a:r>
          </a:p>
          <a:p>
            <a:pPr algn="ctr"/>
            <a:r>
              <a:rPr kumimoji="1" lang="ja-JP" altLang="en-US" sz="1097" dirty="0"/>
              <a:t>左寄せ</a:t>
            </a:r>
            <a:endParaRPr kumimoji="1" lang="en-US" altLang="ja-JP" sz="1097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70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762095009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84438440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63855536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91745856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4846923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437342069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21736269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40315447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1834291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11140612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91924230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82875826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15744121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42167933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26300916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97072234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22503225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7873026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07982605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57752799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65757162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17370845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94676324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78273959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51742415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645161495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11734280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46275752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15822512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57635899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044164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52193495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522076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98557532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54557753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7133986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</p:spTree>
    <p:extLst>
      <p:ext uri="{BB962C8B-B14F-4D97-AF65-F5344CB8AC3E}">
        <p14:creationId xmlns:p14="http://schemas.microsoft.com/office/powerpoint/2010/main" val="389747795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65194846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21340339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06490185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/>
          <p:cNvCxnSpPr/>
          <p:nvPr userDrawn="1"/>
        </p:nvCxnSpPr>
        <p:spPr>
          <a:xfrm>
            <a:off x="0" y="620688"/>
            <a:ext cx="990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/>
          <p:cNvSpPr txBox="1"/>
          <p:nvPr userDrawn="1"/>
        </p:nvSpPr>
        <p:spPr>
          <a:xfrm>
            <a:off x="34397" y="6634602"/>
            <a:ext cx="3240360" cy="21602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l" defTabSz="742950" rtl="0" eaLnBrk="1" fontAlgn="base" latinLnBrk="0" hangingPunct="1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65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Copyright </a:t>
            </a:r>
            <a:r>
              <a:rPr lang="ja-JP" altLang="en-US" sz="65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65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Funai Consulting Inc.</a:t>
            </a:r>
            <a:r>
              <a:rPr lang="ja-JP" altLang="en-US" sz="650" baseline="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650" baseline="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All Rights Reserved.</a:t>
            </a:r>
            <a:endParaRPr kumimoji="1" lang="ja-JP" altLang="en-US" sz="650" kern="1200" dirty="0">
              <a:solidFill>
                <a:schemeClr val="tx1"/>
              </a:solidFill>
              <a:latin typeface="Lucida Calligraphy" pitchFamily="66" charset="0"/>
              <a:ea typeface="Arial Unicode MS" pitchFamily="50" charset="-128"/>
              <a:cs typeface="Arial Unicode MS" pitchFamily="50" charset="-128"/>
            </a:endParaRPr>
          </a:p>
        </p:txBody>
      </p:sp>
      <p:sp>
        <p:nvSpPr>
          <p:cNvPr id="11" name="スライド番号プレースホルダ 5"/>
          <p:cNvSpPr txBox="1">
            <a:spLocks/>
          </p:cNvSpPr>
          <p:nvPr userDrawn="1"/>
        </p:nvSpPr>
        <p:spPr>
          <a:xfrm>
            <a:off x="3797300" y="6592269"/>
            <a:ext cx="2311400" cy="365125"/>
          </a:xfrm>
          <a:prstGeom prst="rect">
            <a:avLst/>
          </a:prstGeom>
        </p:spPr>
        <p:txBody>
          <a:bodyPr vert="horz" lIns="74295" tIns="37148" rIns="74295" bIns="37148" rtlCol="0" anchor="ctr"/>
          <a:lstStyle>
            <a:lvl1pPr algn="ctr">
              <a:defRPr sz="900">
                <a:solidFill>
                  <a:schemeClr val="bg1"/>
                </a:solidFill>
                <a:latin typeface="HGSｺﾞｼｯｸM" pitchFamily="50" charset="-128"/>
                <a:ea typeface="HGSｺﾞｼｯｸM" pitchFamily="50" charset="-128"/>
              </a:defRPr>
            </a:lvl1pPr>
          </a:lstStyle>
          <a:p>
            <a:pPr marL="0" marR="0" lvl="0" indent="0" algn="ctr" defTabSz="7429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1682566-0BE5-4691-A89E-B3D89F8502D1}" type="slidenum">
              <a:rPr kumimoji="1" lang="ja-JP" altLang="en-US" sz="731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pPr marL="0" marR="0" lvl="0" indent="0" algn="ctr" defTabSz="74295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731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" name="タイトル 1"/>
          <p:cNvSpPr>
            <a:spLocks noGrp="1"/>
          </p:cNvSpPr>
          <p:nvPr>
            <p:ph type="ctrTitle"/>
          </p:nvPr>
        </p:nvSpPr>
        <p:spPr>
          <a:xfrm>
            <a:off x="-2" y="8468"/>
            <a:ext cx="8949798" cy="620688"/>
          </a:xfrm>
        </p:spPr>
        <p:txBody>
          <a:bodyPr>
            <a:normAutofit/>
          </a:bodyPr>
          <a:lstStyle>
            <a:lvl1pPr>
              <a:defRPr sz="26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pic>
        <p:nvPicPr>
          <p:cNvPr id="8" name="Picture 1" descr="C:\Users\F2034\Pictures\6.会社データ(ロゴ・サイン）\パターンC(タグ無し）\パターンC(タグ無し）カラー.pn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87351" y="68626"/>
            <a:ext cx="979838" cy="5040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25105981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B9067-D5A7-4D20-AE49-915E5BDB9F4F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Line 6">
            <a:extLst>
              <a:ext uri="{FF2B5EF4-FFF2-40B4-BE49-F238E27FC236}">
                <a16:creationId xmlns:a16="http://schemas.microsoft.com/office/drawing/2014/main" id="{8E823636-1305-4F53-9866-547E7D8CE7E8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438150" y="3403600"/>
            <a:ext cx="8979346" cy="0"/>
          </a:xfrm>
          <a:prstGeom prst="line">
            <a:avLst/>
          </a:prstGeom>
          <a:noFill/>
          <a:ln w="38100">
            <a:solidFill>
              <a:srgbClr val="808080"/>
            </a:solidFill>
            <a:round/>
            <a:headEnd/>
            <a:tailEnd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図 6" descr="パターンA_カラー.jpg">
            <a:extLst>
              <a:ext uri="{FF2B5EF4-FFF2-40B4-BE49-F238E27FC236}">
                <a16:creationId xmlns:a16="http://schemas.microsoft.com/office/drawing/2014/main" id="{3DBCC9CD-6C0C-47EC-80E8-87633DBE3D9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193360" y="6453336"/>
            <a:ext cx="1512168" cy="263485"/>
          </a:xfrm>
          <a:prstGeom prst="rect">
            <a:avLst/>
          </a:prstGeom>
        </p:spPr>
      </p:pic>
      <p:sp>
        <p:nvSpPr>
          <p:cNvPr id="9" name="コンテンツ プレースホルダー 8">
            <a:extLst>
              <a:ext uri="{FF2B5EF4-FFF2-40B4-BE49-F238E27FC236}">
                <a16:creationId xmlns:a16="http://schemas.microsoft.com/office/drawing/2014/main" id="{4AFCC08E-3E46-4DAF-AB38-B8819EC7D9A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704528" y="2564904"/>
            <a:ext cx="5545138" cy="719138"/>
          </a:xfrm>
        </p:spPr>
        <p:txBody>
          <a:bodyPr>
            <a:noAutofit/>
          </a:bodyPr>
          <a:lstStyle>
            <a:lvl1pPr marL="0" indent="0">
              <a:buNone/>
              <a:defRPr sz="4400" b="1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 dirty="0"/>
              <a:t>〇月度お打合せ資料</a:t>
            </a:r>
          </a:p>
        </p:txBody>
      </p:sp>
      <p:sp>
        <p:nvSpPr>
          <p:cNvPr id="10" name="コンテンツ プレースホルダー 8">
            <a:extLst>
              <a:ext uri="{FF2B5EF4-FFF2-40B4-BE49-F238E27FC236}">
                <a16:creationId xmlns:a16="http://schemas.microsoft.com/office/drawing/2014/main" id="{28B2D2FF-C2AA-40BF-9A54-68583069E68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04528" y="2085777"/>
            <a:ext cx="5545138" cy="719138"/>
          </a:xfrm>
        </p:spPr>
        <p:txBody>
          <a:bodyPr>
            <a:noAutofit/>
          </a:bodyPr>
          <a:lstStyle>
            <a:lvl1pPr marL="0" indent="0">
              <a:buNone/>
              <a:defRPr sz="2400" b="1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 dirty="0"/>
              <a:t>株式会社御中</a:t>
            </a:r>
          </a:p>
        </p:txBody>
      </p:sp>
      <p:sp>
        <p:nvSpPr>
          <p:cNvPr id="11" name="コンテンツ プレースホルダー 8">
            <a:extLst>
              <a:ext uri="{FF2B5EF4-FFF2-40B4-BE49-F238E27FC236}">
                <a16:creationId xmlns:a16="http://schemas.microsoft.com/office/drawing/2014/main" id="{ECF04A37-370B-4768-A875-EF9C667848E9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36976" y="3433465"/>
            <a:ext cx="5545138" cy="719138"/>
          </a:xfrm>
        </p:spPr>
        <p:txBody>
          <a:bodyPr>
            <a:noAutofit/>
          </a:bodyPr>
          <a:lstStyle>
            <a:lvl1pPr marL="0" indent="0">
              <a:buNone/>
              <a:defRPr sz="2400" b="1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 dirty="0"/>
              <a:t>日付</a:t>
            </a:r>
          </a:p>
        </p:txBody>
      </p:sp>
    </p:spTree>
    <p:extLst>
      <p:ext uri="{BB962C8B-B14F-4D97-AF65-F5344CB8AC3E}">
        <p14:creationId xmlns:p14="http://schemas.microsoft.com/office/powerpoint/2010/main" val="149912360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アジェン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AEF3C9B-15A5-4754-B97A-474B280C6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D59477-32A0-4799-AD80-C098563D5CC0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CD5602E-9916-437E-9C25-C8047E099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B43BD0A-BD54-4DF0-A3BE-6D3FA31F9069}"/>
              </a:ext>
            </a:extLst>
          </p:cNvPr>
          <p:cNvSpPr txBox="1"/>
          <p:nvPr userDrawn="1"/>
        </p:nvSpPr>
        <p:spPr>
          <a:xfrm>
            <a:off x="-15552" y="44624"/>
            <a:ext cx="64087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50" charset="-128"/>
              </a:rPr>
              <a:t>本日のお打合せ内容</a:t>
            </a:r>
            <a:endParaRPr kumimoji="1" lang="ja-JP" altLang="en-US" sz="2800" b="1" dirty="0">
              <a:solidFill>
                <a:schemeClr val="tx1">
                  <a:lumMod val="95000"/>
                  <a:lumOff val="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  <a:cs typeface="メイリオ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1EA3A4F-1EF2-4A9E-BD1F-DE9A3E01A425}"/>
              </a:ext>
            </a:extLst>
          </p:cNvPr>
          <p:cNvSpPr/>
          <p:nvPr userDrawn="1"/>
        </p:nvSpPr>
        <p:spPr>
          <a:xfrm>
            <a:off x="69725" y="666126"/>
            <a:ext cx="2592000" cy="29237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お打合せ事項</a:t>
            </a:r>
            <a:endParaRPr kumimoji="1" lang="ja-JP" altLang="en-US" sz="1600" b="1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7B66B0E-B525-4135-A640-3C5077DFBABA}"/>
              </a:ext>
            </a:extLst>
          </p:cNvPr>
          <p:cNvSpPr/>
          <p:nvPr userDrawn="1"/>
        </p:nvSpPr>
        <p:spPr>
          <a:xfrm>
            <a:off x="72749" y="3911838"/>
            <a:ext cx="2592000" cy="29237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次回お打合せ日程</a:t>
            </a:r>
            <a:endParaRPr kumimoji="1" lang="ja-JP" altLang="en-US" sz="1600" b="1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F0CE6683-2EEC-4A4B-B2A1-E385C7062BF3}"/>
              </a:ext>
            </a:extLst>
          </p:cNvPr>
          <p:cNvCxnSpPr/>
          <p:nvPr userDrawn="1"/>
        </p:nvCxnSpPr>
        <p:spPr>
          <a:xfrm>
            <a:off x="0" y="620688"/>
            <a:ext cx="990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" descr="C:\Users\F2034\Pictures\6.会社データ(ロゴ・サイン）\パターンC(タグ無し）\パターンC(タグ無し）カラー.png">
            <a:extLst>
              <a:ext uri="{FF2B5EF4-FFF2-40B4-BE49-F238E27FC236}">
                <a16:creationId xmlns:a16="http://schemas.microsoft.com/office/drawing/2014/main" id="{8872FC31-1813-49E9-8E6B-E9B5CED7B0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41432" y="68626"/>
            <a:ext cx="979838" cy="504000"/>
          </a:xfrm>
          <a:prstGeom prst="rect">
            <a:avLst/>
          </a:prstGeom>
          <a:noFill/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C1EA9E4-A15B-418D-B69C-E609A5DDD9EC}"/>
              </a:ext>
            </a:extLst>
          </p:cNvPr>
          <p:cNvSpPr/>
          <p:nvPr userDrawn="1"/>
        </p:nvSpPr>
        <p:spPr>
          <a:xfrm>
            <a:off x="0" y="6678000"/>
            <a:ext cx="9906000" cy="180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78DDC5E-044B-4C3D-BEA8-24AF979B3258}"/>
              </a:ext>
            </a:extLst>
          </p:cNvPr>
          <p:cNvSpPr txBox="1"/>
          <p:nvPr userDrawn="1"/>
        </p:nvSpPr>
        <p:spPr>
          <a:xfrm>
            <a:off x="6609184" y="6649964"/>
            <a:ext cx="3240360" cy="21602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r" defTabSz="914400" rtl="0" eaLnBrk="1" fontAlgn="base" latinLnBrk="0" hangingPunct="1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Copyright</a:t>
            </a:r>
            <a:r>
              <a:rPr lang="ja-JP" altLang="en-US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Funai Consulting Inc.</a:t>
            </a:r>
            <a:r>
              <a:rPr lang="ja-JP" altLang="en-US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All Rights Reserved.</a:t>
            </a:r>
            <a:endParaRPr kumimoji="1" lang="ja-JP" altLang="en-US" sz="800" kern="1200" dirty="0">
              <a:solidFill>
                <a:schemeClr val="bg1"/>
              </a:solidFill>
              <a:latin typeface="Lucida Calligraphy" pitchFamily="66" charset="0"/>
              <a:ea typeface="Arial Unicode MS" pitchFamily="50" charset="-128"/>
              <a:cs typeface="Arial Unicode MS" pitchFamily="50" charset="-128"/>
            </a:endParaRPr>
          </a:p>
        </p:txBody>
      </p:sp>
      <p:sp>
        <p:nvSpPr>
          <p:cNvPr id="15" name="スライド番号プレースホルダ 5">
            <a:extLst>
              <a:ext uri="{FF2B5EF4-FFF2-40B4-BE49-F238E27FC236}">
                <a16:creationId xmlns:a16="http://schemas.microsoft.com/office/drawing/2014/main" id="{52F86702-B75D-40EF-96B7-30E910044692}"/>
              </a:ext>
            </a:extLst>
          </p:cNvPr>
          <p:cNvSpPr txBox="1">
            <a:spLocks/>
          </p:cNvSpPr>
          <p:nvPr userDrawn="1"/>
        </p:nvSpPr>
        <p:spPr>
          <a:xfrm>
            <a:off x="3797300" y="6592267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  <a:latin typeface="HGSｺﾞｼｯｸM" pitchFamily="50" charset="-128"/>
                <a:ea typeface="HGSｺﾞｼｯｸM" pitchFamily="50" charset="-128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1682566-0BE5-4691-A89E-B3D89F8502D1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GSｺﾞｼｯｸM" pitchFamily="50" charset="-128"/>
                <a:ea typeface="HGSｺﾞｼｯｸM" pitchFamily="50" charset="-128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GSｺﾞｼｯｸM" pitchFamily="50" charset="-128"/>
              <a:ea typeface="HGSｺﾞｼｯｸM" pitchFamily="50" charset="-128"/>
              <a:cs typeface="+mn-cs"/>
            </a:endParaRPr>
          </a:p>
        </p:txBody>
      </p:sp>
      <p:sp>
        <p:nvSpPr>
          <p:cNvPr id="17" name="テキスト プレースホルダー 16">
            <a:extLst>
              <a:ext uri="{FF2B5EF4-FFF2-40B4-BE49-F238E27FC236}">
                <a16:creationId xmlns:a16="http://schemas.microsoft.com/office/drawing/2014/main" id="{8C66AEEA-90B1-4FF5-983E-12E09DD675E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39500" y="1129818"/>
            <a:ext cx="5505450" cy="1792288"/>
          </a:xfrm>
        </p:spPr>
        <p:txBody>
          <a:bodyPr>
            <a:normAutofit/>
          </a:bodyPr>
          <a:lstStyle>
            <a:lvl1pPr marL="0" indent="0">
              <a:buFont typeface="+mj-ea"/>
              <a:buNone/>
              <a:defRPr sz="2400" b="1"/>
            </a:lvl1pPr>
          </a:lstStyle>
          <a:p>
            <a:pPr lvl="0"/>
            <a:r>
              <a:rPr kumimoji="1" lang="ja-JP" altLang="en-US" dirty="0"/>
              <a:t>①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②</a:t>
            </a:r>
            <a:endParaRPr kumimoji="1" lang="en-US" altLang="ja-JP" dirty="0"/>
          </a:p>
        </p:txBody>
      </p:sp>
      <p:sp>
        <p:nvSpPr>
          <p:cNvPr id="20" name="テキスト プレースホルダー 16">
            <a:extLst>
              <a:ext uri="{FF2B5EF4-FFF2-40B4-BE49-F238E27FC236}">
                <a16:creationId xmlns:a16="http://schemas.microsoft.com/office/drawing/2014/main" id="{347F4DAF-2DE1-4CC8-9835-4DFC642B51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500" y="4374514"/>
            <a:ext cx="5505450" cy="1792288"/>
          </a:xfrm>
        </p:spPr>
        <p:txBody>
          <a:bodyPr>
            <a:normAutofit/>
          </a:bodyPr>
          <a:lstStyle>
            <a:lvl1pPr marL="0" indent="0">
              <a:buFont typeface="+mj-ea"/>
              <a:buNone/>
              <a:defRPr sz="1800" b="1"/>
            </a:lvl1pPr>
          </a:lstStyle>
          <a:p>
            <a:pPr lvl="0"/>
            <a:r>
              <a:rPr kumimoji="1" lang="en-US" altLang="ja-JP" dirty="0"/>
              <a:t>2024</a:t>
            </a:r>
            <a:r>
              <a:rPr kumimoji="1" lang="ja-JP" altLang="en-US" dirty="0"/>
              <a:t>年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69616197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3600E18-DBF4-4DED-A3E8-EBDE8D9EA3B5}"/>
              </a:ext>
            </a:extLst>
          </p:cNvPr>
          <p:cNvSpPr/>
          <p:nvPr userDrawn="1"/>
        </p:nvSpPr>
        <p:spPr bwMode="auto">
          <a:xfrm>
            <a:off x="272480" y="332656"/>
            <a:ext cx="9454650" cy="626469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2">
                <a:lumMod val="75000"/>
              </a:schemeClr>
            </a:solidFill>
            <a:miter lim="800000"/>
            <a:headEnd/>
            <a:tailEnd/>
          </a:ln>
        </p:spPr>
        <p:txBody>
          <a:bodyPr wrap="none" rtlCol="0" anchor="t"/>
          <a:lstStyle/>
          <a:p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lvl="2"/>
            <a:r>
              <a:rPr lang="ja-JP" altLang="en-US" sz="1600" dirty="0">
                <a:latin typeface="Meiryo UI" panose="020B0604030504040204" pitchFamily="50" charset="-128"/>
                <a:ea typeface="Meiryo UI" panose="020B0604030504040204" pitchFamily="50" charset="-128"/>
              </a:rPr>
              <a:t>   </a:t>
            </a:r>
          </a:p>
          <a:p>
            <a:pPr lvl="2"/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4EF40AA-2D98-4C1A-9B75-77B4B1EC2A46}"/>
              </a:ext>
            </a:extLst>
          </p:cNvPr>
          <p:cNvSpPr/>
          <p:nvPr userDrawn="1"/>
        </p:nvSpPr>
        <p:spPr bwMode="auto">
          <a:xfrm>
            <a:off x="128464" y="188640"/>
            <a:ext cx="2592288" cy="432048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none" rtlCol="0" anchor="ctr"/>
          <a:lstStyle/>
          <a:p>
            <a:pPr algn="ctr"/>
            <a:r>
              <a:rPr kumimoji="1" lang="ja-JP" altLang="en-US" sz="16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決定事項</a:t>
            </a:r>
          </a:p>
        </p:txBody>
      </p:sp>
    </p:spTree>
    <p:extLst>
      <p:ext uri="{BB962C8B-B14F-4D97-AF65-F5344CB8AC3E}">
        <p14:creationId xmlns:p14="http://schemas.microsoft.com/office/powerpoint/2010/main" val="25429222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アジェン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F0CE6683-2EEC-4A4B-B2A1-E385C7062BF3}"/>
              </a:ext>
            </a:extLst>
          </p:cNvPr>
          <p:cNvCxnSpPr/>
          <p:nvPr userDrawn="1"/>
        </p:nvCxnSpPr>
        <p:spPr>
          <a:xfrm>
            <a:off x="0" y="620688"/>
            <a:ext cx="990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" descr="C:\Users\F2034\Pictures\6.会社データ(ロゴ・サイン）\パターンC(タグ無し）\パターンC(タグ無し）カラー.png">
            <a:extLst>
              <a:ext uri="{FF2B5EF4-FFF2-40B4-BE49-F238E27FC236}">
                <a16:creationId xmlns:a16="http://schemas.microsoft.com/office/drawing/2014/main" id="{8872FC31-1813-49E9-8E6B-E9B5CED7B0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41432" y="68626"/>
            <a:ext cx="979838" cy="504000"/>
          </a:xfrm>
          <a:prstGeom prst="rect">
            <a:avLst/>
          </a:prstGeom>
          <a:noFill/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C1EA9E4-A15B-418D-B69C-E609A5DDD9EC}"/>
              </a:ext>
            </a:extLst>
          </p:cNvPr>
          <p:cNvSpPr/>
          <p:nvPr userDrawn="1"/>
        </p:nvSpPr>
        <p:spPr>
          <a:xfrm>
            <a:off x="0" y="6678000"/>
            <a:ext cx="9906000" cy="180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78DDC5E-044B-4C3D-BEA8-24AF979B3258}"/>
              </a:ext>
            </a:extLst>
          </p:cNvPr>
          <p:cNvSpPr txBox="1"/>
          <p:nvPr userDrawn="1"/>
        </p:nvSpPr>
        <p:spPr>
          <a:xfrm>
            <a:off x="6609184" y="6649964"/>
            <a:ext cx="3240360" cy="21602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r" defTabSz="914400" rtl="0" eaLnBrk="1" fontAlgn="base" latinLnBrk="0" hangingPunct="1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Copyright</a:t>
            </a:r>
            <a:r>
              <a:rPr lang="ja-JP" altLang="en-US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Funai Consulting Inc.</a:t>
            </a:r>
            <a:r>
              <a:rPr lang="ja-JP" altLang="en-US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All Rights Reserved.</a:t>
            </a:r>
            <a:endParaRPr kumimoji="1" lang="ja-JP" altLang="en-US" sz="800" kern="1200" dirty="0">
              <a:solidFill>
                <a:schemeClr val="bg1"/>
              </a:solidFill>
              <a:latin typeface="Lucida Calligraphy" pitchFamily="66" charset="0"/>
              <a:ea typeface="Arial Unicode MS" pitchFamily="50" charset="-128"/>
              <a:cs typeface="Arial Unicode MS" pitchFamily="50" charset="-128"/>
            </a:endParaRPr>
          </a:p>
        </p:txBody>
      </p:sp>
      <p:sp>
        <p:nvSpPr>
          <p:cNvPr id="15" name="スライド番号プレースホルダ 5">
            <a:extLst>
              <a:ext uri="{FF2B5EF4-FFF2-40B4-BE49-F238E27FC236}">
                <a16:creationId xmlns:a16="http://schemas.microsoft.com/office/drawing/2014/main" id="{52F86702-B75D-40EF-96B7-30E910044692}"/>
              </a:ext>
            </a:extLst>
          </p:cNvPr>
          <p:cNvSpPr txBox="1">
            <a:spLocks/>
          </p:cNvSpPr>
          <p:nvPr userDrawn="1"/>
        </p:nvSpPr>
        <p:spPr>
          <a:xfrm>
            <a:off x="3797300" y="6592267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  <a:latin typeface="HGSｺﾞｼｯｸM" pitchFamily="50" charset="-128"/>
                <a:ea typeface="HGSｺﾞｼｯｸM" pitchFamily="50" charset="-128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1682566-0BE5-4691-A89E-B3D89F8502D1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GSｺﾞｼｯｸM" pitchFamily="50" charset="-128"/>
                <a:ea typeface="HGSｺﾞｼｯｸM" pitchFamily="50" charset="-128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GSｺﾞｼｯｸM" pitchFamily="50" charset="-128"/>
              <a:ea typeface="HGSｺﾞｼｯｸM" pitchFamily="50" charset="-128"/>
              <a:cs typeface="+mn-cs"/>
            </a:endParaRPr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84B55609-F8C4-4A71-A410-286691A6726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0472" y="68627"/>
            <a:ext cx="3960812" cy="552062"/>
          </a:xfrm>
        </p:spPr>
        <p:txBody>
          <a:bodyPr>
            <a:normAutofit/>
          </a:bodyPr>
          <a:lstStyle>
            <a:lvl1pPr marL="0" indent="0">
              <a:buNone/>
              <a:defRPr sz="2800" b="1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90622248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95300" y="1600203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EC131-7E93-4E21-A3A0-1A53928AA2CA}" type="datetime1">
              <a:rPr kumimoji="1" lang="ja-JP" altLang="en-US" smtClean="0"/>
              <a:t>2026/5/20</a:t>
            </a:fld>
            <a:endParaRPr kumimoji="1" lang="ja-JP" altLang="en-US" dirty="0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>
          <a:xfrm>
            <a:off x="7538144" y="6491969"/>
            <a:ext cx="2311400" cy="365125"/>
          </a:xfrm>
        </p:spPr>
        <p:txBody>
          <a:bodyPr/>
          <a:lstStyle/>
          <a:p>
            <a:fld id="{619B85A0-BB21-4C42-9028-BB80073B34CD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7189390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slideLayout" Target="../slideLayouts/slideLayout55.xml"/><Relationship Id="rId3" Type="http://schemas.openxmlformats.org/officeDocument/2006/relationships/slideLayout" Target="../slideLayouts/slideLayout56.xml"/><Relationship Id="rId4" Type="http://schemas.openxmlformats.org/officeDocument/2006/relationships/slideLayout" Target="../slideLayouts/slideLayout57.xml"/><Relationship Id="rId5" Type="http://schemas.openxmlformats.org/officeDocument/2006/relationships/slideLayout" Target="../slideLayouts/slideLayout58.xml"/><Relationship Id="rId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/>
          <p:cNvSpPr/>
          <p:nvPr/>
        </p:nvSpPr>
        <p:spPr>
          <a:xfrm>
            <a:off x="0" y="6642000"/>
            <a:ext cx="9906000" cy="216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2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52DF90-A6ED-4A10-B24A-8E192E896765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3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4"/>
          </p:nvPr>
        </p:nvSpPr>
        <p:spPr>
          <a:xfrm>
            <a:off x="7594600" y="6567437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723687FF-647B-4F7E-A20E-637EB01FA9DF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7" name="正方形/長方形 6"/>
          <p:cNvSpPr/>
          <p:nvPr userDrawn="1"/>
        </p:nvSpPr>
        <p:spPr>
          <a:xfrm>
            <a:off x="0" y="0"/>
            <a:ext cx="9906000" cy="5486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/>
          <p:cNvSpPr txBox="1"/>
          <p:nvPr userDrawn="1"/>
        </p:nvSpPr>
        <p:spPr>
          <a:xfrm>
            <a:off x="0" y="271681"/>
            <a:ext cx="33845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1200" b="0">
                <a:solidFill>
                  <a:schemeClr val="bg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2026</a:t>
            </a:r>
            <a:r>
              <a:rPr kumimoji="1" lang="ja-JP" altLang="en-US" sz="1200" b="0">
                <a:solidFill>
                  <a:schemeClr val="bg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年度　</a:t>
            </a:r>
            <a:r>
              <a:rPr kumimoji="1" lang="ja-JP" altLang="en-US" sz="1200" b="0" dirty="0">
                <a:solidFill>
                  <a:schemeClr val="bg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住宅用太陽光・蓄電池研修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  <p:sldLayoutId id="2147483699" r:id="rId51"/>
    <p:sldLayoutId id="2147483700" r:id="rId52"/>
    <p:sldLayoutId id="2147483701" r:id="rId53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2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D59477-32A0-4799-AD80-C098563D5CC0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3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8" name="Text Box 16"/>
          <p:cNvSpPr txBox="1">
            <a:spLocks noChangeArrowheads="1"/>
          </p:cNvSpPr>
          <p:nvPr userDrawn="1"/>
        </p:nvSpPr>
        <p:spPr bwMode="auto">
          <a:xfrm>
            <a:off x="6048044" y="6677175"/>
            <a:ext cx="3934883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  <a:defRPr/>
            </a:pPr>
            <a:r>
              <a:rPr lang="en-US" altLang="ja-JP" sz="900" dirty="0">
                <a:ea typeface="ＭＳ Ｐゴシック" pitchFamily="50" charset="-128"/>
              </a:rPr>
              <a:t>Copyright</a:t>
            </a:r>
            <a:r>
              <a:rPr lang="ja-JP" altLang="en-US" sz="900" dirty="0">
                <a:ea typeface="ＭＳ Ｐゴシック" pitchFamily="50" charset="-128"/>
              </a:rPr>
              <a:t>　</a:t>
            </a:r>
            <a:r>
              <a:rPr lang="en-US" altLang="ja-JP" sz="900" dirty="0" err="1">
                <a:ea typeface="ＭＳ Ｐゴシック" pitchFamily="50" charset="-128"/>
              </a:rPr>
              <a:t>Funai</a:t>
            </a:r>
            <a:r>
              <a:rPr lang="en-US" altLang="ja-JP" sz="900" dirty="0">
                <a:ea typeface="ＭＳ Ｐゴシック" pitchFamily="50" charset="-128"/>
              </a:rPr>
              <a:t> Consulting Co.ltd</a:t>
            </a:r>
            <a:r>
              <a:rPr lang="ja-JP" altLang="en-US" sz="900" dirty="0">
                <a:ea typeface="ＭＳ Ｐゴシック" pitchFamily="50" charset="-128"/>
              </a:rPr>
              <a:t>　　禁転載・禁複写</a:t>
            </a:r>
          </a:p>
        </p:txBody>
      </p:sp>
      <p:sp>
        <p:nvSpPr>
          <p:cNvPr id="11" name="スライド番号プレースホルダ 5"/>
          <p:cNvSpPr txBox="1">
            <a:spLocks/>
          </p:cNvSpPr>
          <p:nvPr userDrawn="1"/>
        </p:nvSpPr>
        <p:spPr>
          <a:xfrm>
            <a:off x="3797300" y="6602900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451D2E0-CC30-4DAC-88BB-E6AB37505372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76823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4C9A310-3AB5-49FE-B1F9-2C427DCC18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16" t="1834" r="3141" b="3667"/>
          <a:stretch/>
        </p:blipFill>
        <p:spPr>
          <a:xfrm>
            <a:off x="-15552" y="-27384"/>
            <a:ext cx="9921552" cy="6888954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50DF95E-7A9A-442E-9966-946D2B476491}"/>
              </a:ext>
            </a:extLst>
          </p:cNvPr>
          <p:cNvSpPr/>
          <p:nvPr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F79646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CD832A5-E759-420F-B835-DF29A241CBFB}"/>
              </a:ext>
            </a:extLst>
          </p:cNvPr>
          <p:cNvSpPr txBox="1"/>
          <p:nvPr/>
        </p:nvSpPr>
        <p:spPr>
          <a:xfrm>
            <a:off x="288032" y="1988840"/>
            <a:ext cx="9619052" cy="2923877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BIZ UDPゴシック"/>
                <a:ea typeface="BIZ UDPゴシック"/>
              </a:rPr>
              <a:t>2026年度　営業研修</a:t>
            </a:r>
            <a:endParaRPr lang="en-US" altLang="ja-JP" sz="7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FFF"/>
                </a:solidFill>
                <a:latin typeface="BIZ UDPゴシック"/>
                <a:ea typeface="BIZ UDPゴシック"/>
              </a:rPr>
              <a:t>第3回　必要性訴求②</a:t>
            </a:r>
          </a:p>
          <a:p>
            <a:pPr algn="l">
              <a:spcAft>
                <a:spcPts val="1000"/>
              </a:spcAft>
            </a:pPr>
            <a:r>
              <a:rPr sz="3000" b="1">
                <a:solidFill>
                  <a:srgbClr val="FFFFFF"/>
                </a:solidFill>
                <a:latin typeface="BIZ UDPゴシック"/>
                <a:ea typeface="BIZ UDPゴシック"/>
              </a:rPr>
              <a:t>災害対策・商品説明・経済メリット</a:t>
            </a:r>
          </a:p>
          <a:p>
            <a:pPr algn="l">
              <a:spcAft>
                <a:spcPts val="500"/>
              </a:spcAft>
            </a:pPr>
            <a:r>
              <a:rPr sz="2200" b="1">
                <a:solidFill>
                  <a:srgbClr val="FFFFFF"/>
                </a:solidFill>
                <a:latin typeface="BIZ UDPゴシック"/>
                <a:ea typeface="BIZ UDPゴシック"/>
              </a:rPr>
              <a:t>〜太陽光＋蓄電池セット販売〜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71E207B-1CE8-4FD8-B86D-32251E1C4C12}"/>
              </a:ext>
            </a:extLst>
          </p:cNvPr>
          <p:cNvSpPr txBox="1"/>
          <p:nvPr/>
        </p:nvSpPr>
        <p:spPr>
          <a:xfrm>
            <a:off x="4664968" y="4471938"/>
            <a:ext cx="5112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Aft>
                <a:spcPts val="500"/>
              </a:spcAft>
            </a:pPr>
            <a:r>
              <a:rPr sz="1400" b="0">
                <a:solidFill>
                  <a:srgbClr val="FFFFFF"/>
                </a:solidFill>
                <a:latin typeface="BIZ UDPゴシック"/>
                <a:ea typeface="BIZ UDPゴシック"/>
              </a:rPr>
              <a:t>2026年8月下旬　＠船井総研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1B7CC725-B595-4742-A8BF-D882BB45AE3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8388" y="5736453"/>
            <a:ext cx="2309225" cy="473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798665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本日のゴール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25880"/>
            <a:ext cx="9052560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>
                <a:solidFill>
                  <a:srgbClr val="FF0000"/>
                </a:solidFill>
                <a:latin typeface="HGPｺﾞｼｯｸE"/>
                <a:ea typeface="HGPｺﾞｼｯｸE"/>
              </a:rPr>
              <a:t>お客様に合わせて商品を説明し、経済メリットを納得させる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148840"/>
            <a:ext cx="9098280" cy="27889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研修が終わったときの「できる状態」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①　災害の話を第三者話法だけで、3分以内に終えられる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②　FABの3要素を使い分け、お客様ごとの「B（利益）」を言える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③　シミュレーションを2通りの伝え方で説明できる</a:t>
            </a:r>
          </a:p>
          <a:p>
            <a:pPr algn="l">
              <a:spcAft>
                <a:spcPts val="5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④　金額を出さずに、経済メリットだけで納得をつくれる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5166360"/>
            <a:ext cx="9098280" cy="77724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000" b="1">
                <a:solidFill>
                  <a:srgbClr val="000000"/>
                </a:solidFill>
                <a:latin typeface="HGPｺﾞｼｯｸE"/>
                <a:ea typeface="HGPｺﾞｼｯｸE"/>
              </a:rPr>
              <a:t>本日の比重：災害対策15分　／　商品説明（FAB）43分　／　経済メリット30分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本日のアジェンダ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536192"/>
          <a:ext cx="9098280" cy="3547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4114800"/>
                <a:gridCol w="356616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時間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内容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扱うもの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0:00-0:12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前回の振り返り／契約とは／3つの切り口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第2回：ルール①〜⑨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0:12-0:27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② 災害対策　ルール⑩⑪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アプローチブック p.18〜p.19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0:27-0:37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休憩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0:37-1:20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商品説明＝FAB式営業　ルール⑫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FAB／アプローチブック p.20〜p.21／ワーク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1:20-1:50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③ 経済メリットの伝え方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シミュレーションの2つの見せ方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1:50-2:00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ロープレ／チェック／まとめ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5394960"/>
            <a:ext cx="9098280" cy="8686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800" b="1">
                <a:solidFill>
                  <a:srgbClr val="FF0000"/>
                </a:solidFill>
                <a:latin typeface="HGPｺﾞｼｯｸE"/>
                <a:ea typeface="HGPｺﾞｼｯｸE"/>
              </a:rPr>
              <a:t>後半2つ（FAB・経済メリット）が本日の主役です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この2つは「知っている」だけでは使えません。今日は手を動かす時間を長く取ります。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前回の振り返り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98448"/>
            <a:ext cx="905256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第2回「聞く姿勢づくり＆必要性訴求①」で押さえたこと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828800"/>
            <a:ext cx="4434840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聴く姿勢作り（①〜⑥）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・失注理由は「商談設定」か「商談内容」しかない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・先に相手の話を聞くことが、自分の話を聞いてもらうことに直結する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・包み込みの法則で「先生－生徒」の関係をつくる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FF0000"/>
                </a:solidFill>
                <a:latin typeface="HGPｺﾞｼｯｸE"/>
                <a:ea typeface="HGPｺﾞｼｯｸE"/>
              </a:rPr>
              <a:t>・太陽光と蓄電池は切り離さず、常にセットで話す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4920" y="1828800"/>
            <a:ext cx="4434840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必要性訴求①（⑦〜⑨）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・電気代は2011年以降45％、約5.5万円上昇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・再エネ賦課金は13年で18倍（2026年 4.18円/kWh）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・30年で432万円〜700万円以上を支払う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FF0000"/>
                </a:solidFill>
                <a:latin typeface="HGPｺﾞｼｯｸE"/>
                <a:ea typeface="HGPｺﾞｼｯｸE"/>
              </a:rPr>
              <a:t>・基本設計は「下げてから上げる」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4206240"/>
            <a:ext cx="9098280" cy="160020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宿題の確認（5分）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HGPｺﾞｼｯｸE"/>
                <a:ea typeface="HGPｺﾞｼｯｸE"/>
              </a:rPr>
              <a:t>① 自社ストーリー5段構成を、20秒で言ってみてください（2名指名）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HGPｺﾞｼｯｸE"/>
                <a:ea typeface="HGPｺﾞｼｯｸE"/>
              </a:rPr>
              <a:t>② アプローチブック p.9・p.14・p.17 の結論の一文を、資料を見ずに言えますか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HGPｺﾞｼｯｸE"/>
                <a:ea typeface="HGPｺﾞｼｯｸE"/>
              </a:rPr>
              <a:t>③ 実商談のチェックシートで、○が付かなかったルールはどれでしたか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契約とは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98448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契約は「取る」ものではありません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810512"/>
            <a:ext cx="9098280" cy="1005840"/>
          </a:xfrm>
          <a:prstGeom prst="round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契約とは</a:t>
            </a:r>
          </a:p>
          <a:p>
            <a:pPr algn="ctr">
              <a:spcAft>
                <a:spcPts val="500"/>
              </a:spcAft>
            </a:pPr>
            <a:r>
              <a:rPr sz="2500" b="1">
                <a:solidFill>
                  <a:srgbClr val="FF0000"/>
                </a:solidFill>
                <a:latin typeface="HGPｺﾞｼｯｸE"/>
                <a:ea typeface="HGPｺﾞｼｯｸE"/>
              </a:rPr>
              <a:t>契約を阻害する要因（ネック）が、すべて解消された状態のこと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926080"/>
            <a:ext cx="909828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595959"/>
                </a:solidFill>
                <a:latin typeface="HGPｺﾞｼｯｸE"/>
                <a:ea typeface="HGPｺﾞｼｯｸE"/>
              </a:rPr>
              <a:t>押しの強さで獲得するのではなく、お客様が抱える不安や疑問を取り除くことが契約に繋がります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3255264"/>
          <a:ext cx="9098280" cy="25786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1600200"/>
                <a:gridCol w="7040880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7つの阻害要因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解消の仕方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①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会社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会社紹介をしっかり行い、信用を築く。来店商談も有効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②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自分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自己紹介をしっかり行い、信用を築く。ビジネスマナーの徹底も重要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③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プラン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要望をしっかり聴き、優先順位に基づいて複数のプランを作成・提案する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④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金額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予算と上限額を確認し、逸脱しないプランを提案する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⑤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キーマン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キーマンだけでなく、可能であれば家族全員に商談に参加してもらう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⑥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時期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今後のスケジュールをお客様とともに確認・設定し、購買意欲を高める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⑦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競合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スピード営業で参入障壁を高めると同時にアポを取り続け、競合を待つ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5907024"/>
            <a:ext cx="9098280" cy="41148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本日つぶすのは③プランと④金額。FAB＝プランのネック、経済メリット＝金額のネックです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必要性訴求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600" b="1">
                <a:solidFill>
                  <a:srgbClr val="000000"/>
                </a:solidFill>
                <a:latin typeface="HGPｺﾞｼｯｸE"/>
                <a:ea typeface="HGPｺﾞｼｯｸE"/>
              </a:rPr>
              <a:t>必要性を訴求する3つの切り口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810512"/>
            <a:ext cx="566928" cy="12070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600" b="1">
                <a:solidFill>
                  <a:srgbClr val="000000"/>
                </a:solidFill>
                <a:latin typeface="HGPｺﾞｼｯｸE"/>
                <a:ea typeface="HGPｺﾞｼｯｸE"/>
              </a:rPr>
              <a:t>①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1810512"/>
            <a:ext cx="6537960" cy="12070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00000"/>
                </a:solidFill>
                <a:latin typeface="HGPｺﾞｼｯｸE"/>
                <a:ea typeface="HGPｺﾞｼｯｸE"/>
              </a:rPr>
              <a:t>電気代が高騰している ⇒ 払わなくていい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プロスペクト理論（損失回避）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人は、利益よりも損失の方が大きく感じられる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例：5%off! ＜ 消費税5%増税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130552"/>
            <a:ext cx="1737360" cy="56692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HGPｺﾞｼｯｸE"/>
                <a:ea typeface="HGPｺﾞｼｯｸE"/>
              </a:rPr>
              <a:t>第2回で実施済み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182112"/>
            <a:ext cx="566928" cy="1207008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600" b="1">
                <a:solidFill>
                  <a:srgbClr val="000000"/>
                </a:solidFill>
                <a:latin typeface="HGPｺﾞｼｯｸE"/>
                <a:ea typeface="HGPｺﾞｼｯｸE"/>
              </a:rPr>
              <a:t>②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3182112"/>
            <a:ext cx="6537960" cy="1207008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00000"/>
                </a:solidFill>
                <a:latin typeface="HGPｺﾞｼｯｸE"/>
                <a:ea typeface="HGPｺﾞｼｯｸE"/>
              </a:rPr>
              <a:t>災害対策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災害時も安心。ただし長く話すほど失敗する。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主な災害時の停電発生件数と日数を「事実」で見せる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3502152"/>
            <a:ext cx="1737360" cy="566928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HGPｺﾞｼｯｸE"/>
                <a:ea typeface="HGPｺﾞｼｯｸE"/>
              </a:rPr>
              <a:t>本日・前半15分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553712"/>
            <a:ext cx="566928" cy="120700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600" b="1">
                <a:solidFill>
                  <a:srgbClr val="000000"/>
                </a:solidFill>
                <a:latin typeface="HGPｺﾞｼｯｸE"/>
                <a:ea typeface="HGPｺﾞｼｯｸE"/>
              </a:rPr>
              <a:t>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4553712"/>
            <a:ext cx="6537960" cy="120700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00000"/>
                </a:solidFill>
                <a:latin typeface="HGPｺﾞｼｯｸE"/>
                <a:ea typeface="HGPｺﾞｼｯｸE"/>
              </a:rPr>
              <a:t>経済メリット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一番重要な要素ではあるが、メリットがあまり出ないお宅にも訴求するためには、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経済メリット訴求のみでは安定感がなくなってしまう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4873752"/>
            <a:ext cx="1737360" cy="566928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HGPｺﾞｼｯｸE"/>
                <a:ea typeface="HGPｺﾞｼｯｸE"/>
              </a:rPr>
              <a:t>本日・後半30分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5943600"/>
            <a:ext cx="9098280" cy="45720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②③に加えて、本日は「商品説明（FAB式営業）」を挟みます。ここが一番難しいパートです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本日の流れ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3つのパートを、この順番でつなぎます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828800"/>
            <a:ext cx="2880360" cy="32461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595959"/>
                </a:solidFill>
                <a:latin typeface="HGPｺﾞｼｯｸE"/>
                <a:ea typeface="HGPｺﾞｼｯｸE"/>
              </a:rPr>
              <a:t>PART 1</a:t>
            </a:r>
          </a:p>
          <a:p>
            <a:pPr algn="ctr">
              <a:spcAft>
                <a:spcPts val="1000"/>
              </a:spcAft>
            </a:pPr>
            <a:r>
              <a:rPr sz="2100" b="1">
                <a:solidFill>
                  <a:srgbClr val="000000"/>
                </a:solidFill>
                <a:latin typeface="HGPｺﾞｼｯｸE"/>
                <a:ea typeface="HGPｺﾞｼｯｸE"/>
              </a:rPr>
              <a:t>② 災害対策</a:t>
            </a:r>
          </a:p>
          <a:p>
            <a:pPr algn="ctr">
              <a:spcAft>
                <a:spcPts val="1200"/>
              </a:spcAft>
            </a:pPr>
            <a:r>
              <a:rPr sz="2600" b="1">
                <a:solidFill>
                  <a:srgbClr val="FF0000"/>
                </a:solidFill>
                <a:latin typeface="HGPｺﾞｼｯｸE"/>
                <a:ea typeface="HGPｺﾞｼｯｸE"/>
              </a:rPr>
              <a:t>15分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ルール：ルール⑩⑪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資料：p.18・p.19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・「もしも」の不安をつくる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・長く話さない。3分で抜ける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0440" y="1828800"/>
            <a:ext cx="2880360" cy="324612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595959"/>
                </a:solidFill>
                <a:latin typeface="HGPｺﾞｼｯｸE"/>
                <a:ea typeface="HGPｺﾞｼｯｸE"/>
              </a:rPr>
              <a:t>PART 2</a:t>
            </a:r>
          </a:p>
          <a:p>
            <a:pPr algn="ctr">
              <a:spcAft>
                <a:spcPts val="1000"/>
              </a:spcAft>
            </a:pPr>
            <a:r>
              <a:rPr sz="2100" b="1">
                <a:solidFill>
                  <a:srgbClr val="000000"/>
                </a:solidFill>
                <a:latin typeface="HGPｺﾞｼｯｸE"/>
                <a:ea typeface="HGPｺﾞｼｯｸE"/>
              </a:rPr>
              <a:t>商品説明（FAB）</a:t>
            </a:r>
          </a:p>
          <a:p>
            <a:pPr algn="ctr">
              <a:spcAft>
                <a:spcPts val="1200"/>
              </a:spcAft>
            </a:pPr>
            <a:r>
              <a:rPr sz="2600" b="1">
                <a:solidFill>
                  <a:srgbClr val="FF0000"/>
                </a:solidFill>
                <a:latin typeface="HGPｺﾞｼｯｸE"/>
                <a:ea typeface="HGPｺﾞｼｯｸE"/>
              </a:rPr>
              <a:t>43分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ルール：ルール⑫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資料：p.20・p.21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・お客様ごとの「B」を言う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・手を動かす時間を長く取る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1828800"/>
            <a:ext cx="2880360" cy="32461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595959"/>
                </a:solidFill>
                <a:latin typeface="HGPｺﾞｼｯｸE"/>
                <a:ea typeface="HGPｺﾞｼｯｸE"/>
              </a:rPr>
              <a:t>PART 3</a:t>
            </a:r>
          </a:p>
          <a:p>
            <a:pPr algn="ctr">
              <a:spcAft>
                <a:spcPts val="1000"/>
              </a:spcAft>
            </a:pPr>
            <a:r>
              <a:rPr sz="2100" b="1">
                <a:solidFill>
                  <a:srgbClr val="000000"/>
                </a:solidFill>
                <a:latin typeface="HGPｺﾞｼｯｸE"/>
                <a:ea typeface="HGPｺﾞｼｯｸE"/>
              </a:rPr>
              <a:t>③ 経済メリット</a:t>
            </a:r>
          </a:p>
          <a:p>
            <a:pPr algn="ctr">
              <a:spcAft>
                <a:spcPts val="1200"/>
              </a:spcAft>
            </a:pPr>
            <a:r>
              <a:rPr sz="2600" b="1">
                <a:solidFill>
                  <a:srgbClr val="FF0000"/>
                </a:solidFill>
                <a:latin typeface="HGPｺﾞｼｯｸE"/>
                <a:ea typeface="HGPｺﾞｼｯｸE"/>
              </a:rPr>
              <a:t>30分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ルール：シミュレーション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資料：（資料の外）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・2通りの伝え方を使い分ける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・金額（見積り）はまだ出さない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46120" y="3246120"/>
            <a:ext cx="219456" cy="292608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6355080" y="3246120"/>
            <a:ext cx="219456" cy="292608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5303520"/>
            <a:ext cx="9098280" cy="960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なぜこの順番か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不安（PART1）→ 解決策の中身（PART2）→ それがいくら得か（PART3）。中身を説明する前に「お得です」と言っても、何がお得なのか伝わりません。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1　災害対策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ルール⑩：非常時に備える意義の理解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19072"/>
            <a:ext cx="9098280" cy="420624"/>
          </a:xfrm>
          <a:prstGeom prst="rect">
            <a:avLst/>
          </a:prstGeom>
          <a:noFill/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POINT　</a:t>
            </a: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「いつ身の回りで起きてもおかしくない」に腹落ちさせる</a:t>
            </a:r>
          </a:p>
        </p:txBody>
      </p:sp>
      <p:pic>
        <p:nvPicPr>
          <p:cNvPr id="7" name="Picture 6" descr="ab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86000"/>
            <a:ext cx="4160520" cy="2879555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11480" y="5349240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p.18　予測が困難な地震情報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92040" y="2286000"/>
            <a:ext cx="4617720" cy="1051560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0C0"/>
                </a:solidFill>
                <a:latin typeface="HGPｺﾞｼｯｸE"/>
                <a:ea typeface="HGPｺﾞｼｯｸE"/>
              </a:rPr>
              <a:t>ゴール（お客様の反応）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「いつ災害が起こるか分からないですね」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92040" y="3456432"/>
            <a:ext cx="4617720" cy="228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説明のポイント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地震リスクが最低とされた札幌で、大規模停電が起きた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地震調査委員会が2018年6月に発表した「今後30年以内に震度6弱以上」の確率で札幌が最下位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その3か月後に北海道胆振東部地震が発生。気象庁も「確度の高い地震の予測は難しい」と明言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「うちの地域は地震来ないから」を潰すためのページ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815584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専門家ですら、いつ「もしものこと」が起きるのか分からない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1　災害対策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ルール⑩：3段構成で逃げ道を無くす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55648"/>
            <a:ext cx="7360920" cy="62179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「実は、日本で最も権威のある『地震調査委員会』という機関が、定期的に地震のデータを出しているんです」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7936992" y="1755648"/>
            <a:ext cx="1572768" cy="347472"/>
          </a:xfrm>
          <a:prstGeom prst="rect">
            <a:avLst/>
          </a:prstGeom>
          <a:solidFill>
            <a:srgbClr val="F796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HGPｺﾞｼｯｸE"/>
                <a:ea typeface="HGPｺﾞｼｯｸE"/>
              </a:rPr>
              <a:t>①権威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487168"/>
            <a:ext cx="7360920" cy="62179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「そのデータの2018年6月版では、札幌市の地震発生確率が全国で最も低かったんですね」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7936992" y="2487168"/>
            <a:ext cx="1572768" cy="347472"/>
          </a:xfrm>
          <a:prstGeom prst="rect">
            <a:avLst/>
          </a:prstGeom>
          <a:solidFill>
            <a:srgbClr val="F796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HGPｺﾞｼｯｸE"/>
                <a:ea typeface="HGPｺﾞｼｯｸE"/>
              </a:rPr>
              <a:t>②事実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218687"/>
            <a:ext cx="7360920" cy="62179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「ところが、その3か月後に胆振東部地震が起きてしまいました。気象庁も『確度の高い地震の予測は難しい』と明言しています」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36992" y="3218687"/>
            <a:ext cx="1572768" cy="347472"/>
          </a:xfrm>
          <a:prstGeom prst="rect">
            <a:avLst/>
          </a:prstGeom>
          <a:solidFill>
            <a:srgbClr val="F796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HGPｺﾞｼｯｸE"/>
                <a:ea typeface="HGPｺﾞｼｯｸE"/>
              </a:rPr>
              <a:t>③事実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950207"/>
            <a:ext cx="7360920" cy="62179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「どこでどのくらい大きな地震が来るかなんて、分からないですよね？」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36992" y="3950207"/>
            <a:ext cx="1572768" cy="347472"/>
          </a:xfrm>
          <a:prstGeom prst="rect">
            <a:avLst/>
          </a:prstGeom>
          <a:solidFill>
            <a:srgbClr val="F796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HGPｺﾞｼｯｸE"/>
                <a:ea typeface="HGPｺﾞｼｯｸE"/>
              </a:rPr>
              <a:t>着地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4754880"/>
          <a:ext cx="9098280" cy="14813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337560"/>
                <a:gridCol w="5760720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よくあるネガ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切り返し方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この地域では災害なんて起きていない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そうですよね。実は札幌の方も同じことを（→p.18へ）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備蓄はしてあるから大丈夫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食料は備えられますが、電気だけは備蓄できないんですよね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停電なんてすぐ復旧するでしょう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胆振東部地震では、復旧まで2週間かかった地域もありました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411480" y="617220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否定せず、事実と事例で包み込む。議論にしない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1　災害対策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ルール⑩：停電被害の実績で「規模」を見せる</a:t>
            </a:r>
          </a:p>
        </p:txBody>
      </p:sp>
      <p:pic>
        <p:nvPicPr>
          <p:cNvPr id="6" name="Picture 5" descr="ab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83080"/>
            <a:ext cx="4160520" cy="2879555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846320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p.19　自然災害と停電被害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892040" y="1783080"/>
          <a:ext cx="4617720" cy="29077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8840"/>
                <a:gridCol w="1051560"/>
                <a:gridCol w="1417320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災害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停電戸数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備考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2016年4月　熊本地震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約50万戸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2018年9月　台風21号（関東）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240万戸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2018年9月　台風24号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約180万戸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2018年9月　北海道胆振東部地震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約300万戸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日本初のブラックアウト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2019年9月　台風15号（関東）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93万戸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5日連続で停電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今後10年以内　南海トラフ地震？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892040" y="4846320"/>
            <a:ext cx="461772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胆振東部地震は平成最大規模。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復旧まで2週間かかった地域もありました。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815584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災害大国だからこそ、もしもの時には備える必要があるのです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1　災害対策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ルール⑪：非常時対策の効果の確認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19072"/>
            <a:ext cx="9098280" cy="420624"/>
          </a:xfrm>
          <a:prstGeom prst="rect">
            <a:avLst/>
          </a:prstGeom>
          <a:noFill/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POINT　</a:t>
            </a: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災害トークは「第三者話法」でしか伝えない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286000"/>
            <a:ext cx="4526280" cy="1874519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このルールに対応するページは</a:t>
            </a:r>
          </a:p>
          <a:p>
            <a:pPr algn="ctr">
              <a:spcAft>
                <a:spcPts val="1000"/>
              </a:spcAft>
            </a:pPr>
            <a:r>
              <a:rPr sz="1700" b="1">
                <a:solidFill>
                  <a:srgbClr val="FF0000"/>
                </a:solidFill>
                <a:latin typeface="HGPｺﾞｼｯｸE"/>
                <a:ea typeface="HGPｺﾞｼｯｸE"/>
              </a:rPr>
              <a:t>アプローチブックにありません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「事例」でないと意味が無いからです。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印刷された一般論では「うちの場合は？」に答えられません。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2286000"/>
            <a:ext cx="4526280" cy="1874519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第三者話法の型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✕「停電しても安心ですよ」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HGPｺﾞｼｯｸE"/>
                <a:ea typeface="HGPｺﾞｼｯｸE"/>
              </a:rPr>
              <a:t>　← 自分の意見。刺さらない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○「実際に○○市のA様が、台風の停電で3日間、冷蔵庫と照明を動かせたそうです」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4343400"/>
          <a:ext cx="9098280" cy="17190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08760"/>
                <a:gridCol w="3337560"/>
                <a:gridCol w="425196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メーカー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特徴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URL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Panasonic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動画＋テキストの記事があり使いやすい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https://sumai.panasonic.jp/chikuden/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SmartStar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災害時の活用に特化した動画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https://www.smartstar.jp/voice/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ニチコン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販売店にフィットしたコンテンツ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https://www.nichicon.co.jp/products/ess/about/voice.html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598932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一般論ではなく「事例」。「私が〜」ではなく「実際に〜あります」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1　災害対策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FF0000"/>
                </a:solidFill>
                <a:latin typeface="HGPｺﾞｼｯｸE"/>
                <a:ea typeface="HGPｺﾞｼｯｸE"/>
              </a:rPr>
              <a:t>災害トークの落とし穴：長く話すほど失注する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810512"/>
            <a:ext cx="4526280" cy="324612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0000"/>
                </a:solidFill>
                <a:latin typeface="HGPｺﾞｼｯｸE"/>
                <a:ea typeface="HGPｺﾞｼｯｸE"/>
              </a:rPr>
              <a:t>✕　やりすぎ例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「南海トラフが来たら、この地域は震度7です。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　ライフラインは1か月止まると言われています。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　お子さんもいらっしゃいますよね。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　真っ暗な中で、水も出ない状態で……」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何が起きるか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・商談の雰囲気が暗くなる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・「不安を煽られた」と警戒される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・お客様が黙り、ラリーが止まる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・そのあとの商品説明が入らなくなる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0" y="1810512"/>
            <a:ext cx="4526280" cy="3246120"/>
          </a:xfrm>
          <a:prstGeom prst="rect">
            <a:avLst/>
          </a:prstGeom>
          <a:solidFill>
            <a:srgbClr val="EAF1DD"/>
          </a:solidFill>
          <a:ln w="12700">
            <a:solidFill>
              <a:srgbClr val="70A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HGPｺﾞｼｯｸE"/>
                <a:ea typeface="HGPｺﾞｼｯｸE"/>
              </a:rPr>
              <a:t>○　適切な例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「札幌が地震の確率が最も低いと出ていたのに、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　3か月後に大きな地震が来てしまったんですね。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　気象庁も予測は難しいと言っています。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　どこで起きるかは分からないですよね？」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何が違うか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・主語が「事実」と「第三者」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・お客様の家族を想像させていない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・最後が質問で終わり、ラリーが続く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・3分で次のページへ抜けられる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521208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災害は「事実 → 事例 → サラッと次へ」。3分で抜ける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94560" y="2606040"/>
            <a:ext cx="5532120" cy="1645920"/>
          </a:xfrm>
          <a:prstGeom prst="round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0"/>
              </a:spcAft>
            </a:pPr>
            <a:r>
              <a:rPr sz="4400" b="1">
                <a:solidFill>
                  <a:srgbClr val="000000"/>
                </a:solidFill>
                <a:latin typeface="HGPｺﾞｼｯｸE"/>
                <a:ea typeface="HGPｺﾞｼｯｸE"/>
              </a:rPr>
              <a:t>休憩　10分</a:t>
            </a:r>
          </a:p>
          <a:p>
            <a:pPr algn="ctr">
              <a:spcAft>
                <a:spcPts val="500"/>
              </a:spcAft>
            </a:pPr>
            <a:r>
              <a:rPr sz="1800" b="0">
                <a:solidFill>
                  <a:srgbClr val="000000"/>
                </a:solidFill>
                <a:latin typeface="HGPｺﾞｼｯｸE"/>
                <a:ea typeface="HGPｺﾞｼｯｸE"/>
              </a:rPr>
              <a:t>後半は「商品説明（FAB）」と「経済メリット」です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2　商品説明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なぜ「商品説明」が必要なのか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3794760" cy="1417320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800"/>
              </a:spcAft>
            </a:pPr>
            <a:r>
              <a:rPr sz="2200" b="1">
                <a:solidFill>
                  <a:srgbClr val="000000"/>
                </a:solidFill>
                <a:latin typeface="HGPｺﾞｼｯｸE"/>
                <a:ea typeface="HGPｺﾞｼｯｸE"/>
              </a:rPr>
              <a:t>購入 ＝ 価値 ÷ 価格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この値が1を超えたとき、</a:t>
            </a:r>
          </a:p>
          <a:p>
            <a:pPr algn="ctr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人は購入に至る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892040" y="1783080"/>
            <a:ext cx="461772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100均で考えると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100円の商品を買うのは、100円以上の価値を感じているから。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つまり X &gt; 100円 ÷ 100円 の状態です。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401568"/>
            <a:ext cx="4526280" cy="201168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やり方①　価値を上げる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①電気代のネガ（第2回）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②災害対策（PART1）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＋ 商品そのものの価値（FAB）</a:t>
            </a:r>
          </a:p>
          <a:p>
            <a:pPr algn="l">
              <a:spcAft>
                <a:spcPts val="500"/>
              </a:spcAft>
            </a:pPr>
            <a:r>
              <a:rPr sz="1600" b="1">
                <a:solidFill>
                  <a:srgbClr val="FF0000"/>
                </a:solidFill>
                <a:latin typeface="HGPｺﾞｼｯｸE"/>
                <a:ea typeface="HGPｺﾞｼｯｸE"/>
              </a:rPr>
              <a:t>PART2はここ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3401568"/>
            <a:ext cx="4526280" cy="20116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やり方②　価格を下げる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価格 −（経済メリット③）を下げる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＝ 実質いくらになるか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F0000"/>
                </a:solidFill>
                <a:latin typeface="HGPｺﾞｼｯｸE"/>
                <a:ea typeface="HGPｺﾞｼｯｸE"/>
              </a:rPr>
              <a:t>PART3はここ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HGPｺﾞｼｯｸE"/>
                <a:ea typeface="HGPｺﾞｼｯｸE"/>
              </a:rPr>
              <a:t>※ 見積り金額そのものは第4回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57784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価値を上げるか、価格を下げるか。この2つしかない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2　商品説明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FAB式営業：価値の伝え方は3階建て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783080"/>
          <a:ext cx="9098280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2240280"/>
                <a:gridCol w="3520440"/>
                <a:gridCol w="914400"/>
                <a:gridCol w="196596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要素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意味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固定／変動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できる営業の割合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F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Feature（特徴）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その製品の特長・長所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固定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ほとんどの営業マンができる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A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Advantage（メリット）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その特徴が「全ての人に」もたらす利点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固定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約8割ができる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B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Benefit（ベネフィット）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だからこそ「目の前のお客様が」受ける利益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変動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トップ2割しかできない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160520"/>
            <a:ext cx="909828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例）コーヒーマシン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F：専用カプセルを入れてボタン一つで本格的なコーヒーが淹れられる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A：誰でも安定した味を再現でき、手間も汚れも少ない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B：忙しい朝でもボタン1つで一息つける／カプセルが毎月届くので買い忘れ・豆挽き・ボトル運びの負担がない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585216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お客様に対してのB（利益）を、いかに具体的に話せるかが最重要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2　商品説明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太陽光＋蓄電池のFAB（模範例）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83080"/>
            <a:ext cx="909828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595959"/>
                </a:solidFill>
                <a:latin typeface="HGPｺﾞｼｯｸE"/>
                <a:ea typeface="HGPｺﾞｼｯｸE"/>
              </a:rPr>
              <a:t>F　特徴（固定）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HGPｺﾞｼｯｸE"/>
                <a:ea typeface="HGPｺﾞｼｯｸE"/>
              </a:rPr>
              <a:t>太陽光で発電した電気を蓄電池に貯めて、夜も自宅で使えます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697480"/>
            <a:ext cx="909828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595959"/>
                </a:solidFill>
                <a:latin typeface="HGPｺﾞｼｯｸE"/>
                <a:ea typeface="HGPｺﾞｼｯｸE"/>
              </a:rPr>
              <a:t>A　メリット（固定・誰にでも同じ）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HGPｺﾞｼｯｸE"/>
                <a:ea typeface="HGPｺﾞｼｯｸE"/>
              </a:rPr>
              <a:t>電力会社から買う電気が減り、停電のときも電気が使えます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611880"/>
            <a:ext cx="9098280" cy="214884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B　ベネフィット（変動・お客様ごとに変える）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「お子様が受験生とのことでしたね。夜遅くまでエアコンをつけていても、電気代を気にせずに済みます」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「奥様が日中パートに出られない日も、太陽光の電気で洗濯乾燥機を回せます」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「ご主人は在宅勤務が週2日でしたよね。日中の電気を買わずに済むので、在宅の日ほどお得になります」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「停電のとき、お母様が避難所に行かずに済みます」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589788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Bの材料は、ルール③のヒアリングで聞いた話の中にある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2　商品説明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Bの材料は、ヒアリングで手に入れる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783080"/>
          <a:ext cx="9098280" cy="36027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46120"/>
                <a:gridCol w="585216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ルール③で聞いたこと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そこから作るB（ベネフィット）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「価格が高かったからやめた」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「月々のご負担は電気代の範囲に収まります。今と変わらない支出で、資産が残ります」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「シミュレーションがピンとこなかった」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「今日は数字だけでなく、〇〇様のお家で1日どう電気が動くかでご説明します」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「会社が信用しきれなかった」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「当社は3年ごとに訪問して報告書をお出ししています。設置して終わりにしません」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「子供が受験で電気代が心配」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「夜遅くまでエアコンをつけても、電気代を気にせずに済みます」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「停電の経験がなくて実感がない」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「〇〇市のA様も同じでしたが、台風の停電で3日間、冷蔵庫が止まらなかったそうです」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486400"/>
            <a:ext cx="9098280" cy="77724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聞いていないことは、Bにできません。</a:t>
            </a:r>
          </a:p>
          <a:p>
            <a:pPr algn="l">
              <a:spcAft>
                <a:spcPts val="500"/>
              </a:spcAft>
            </a:pPr>
            <a:r>
              <a:rPr sz="1600" b="1">
                <a:solidFill>
                  <a:srgbClr val="FF0000"/>
                </a:solidFill>
                <a:latin typeface="HGPｺﾞｼｯｸE"/>
                <a:ea typeface="HGPｺﾞｼｯｸE"/>
              </a:rPr>
              <a:t>だからルール③のオープンクエスチョン3回が効いてきます。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2　商品説明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ルール⑫：太陽光・蓄電池の使い方の理解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19072"/>
            <a:ext cx="9098280" cy="420624"/>
          </a:xfrm>
          <a:prstGeom prst="rect">
            <a:avLst/>
          </a:prstGeom>
          <a:noFill/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POINT　</a:t>
            </a: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シミュレーションに移る前に基本概念をおさらいする</a:t>
            </a:r>
          </a:p>
        </p:txBody>
      </p:sp>
      <p:pic>
        <p:nvPicPr>
          <p:cNvPr id="7" name="Picture 6" descr="ab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86000"/>
            <a:ext cx="4160520" cy="2879555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11480" y="5349240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p.21　太陽光発電・蓄電池の使い方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92040" y="2286000"/>
            <a:ext cx="4617720" cy="1051560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0C0"/>
                </a:solidFill>
                <a:latin typeface="HGPｺﾞｼｯｸE"/>
                <a:ea typeface="HGPｺﾞｼｯｸE"/>
              </a:rPr>
              <a:t>ゴール（お客様の反応）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「太陽光・蓄電池の活用方法が分かる」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92040" y="3456432"/>
            <a:ext cx="4617720" cy="228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説明のポイント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売電価格が電気代より安い今は「自家消費」が主流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p.20で「買うより自給自足」を示し、p.21で具体的な使い方を見せる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000000"/>
                </a:solidFill>
                <a:latin typeface="HGPｺﾞｼｯｸE"/>
                <a:ea typeface="HGPｺﾞｼｯｸE"/>
              </a:rPr>
              <a:t>売電単価15円 ＜ 買電単価30円。売るより貯めて使う方が得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この説明がFのベース。曖昧だとBも作れない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815584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具体的なシミュレーションを見ていきましょう！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2　商品説明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1日の電気の流れ（これは図なしで言えるように）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810512"/>
            <a:ext cx="2834640" cy="224028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000000"/>
                </a:solidFill>
                <a:latin typeface="HGPｺﾞｼｯｸE"/>
                <a:ea typeface="HGPｺﾞｼｯｸE"/>
              </a:rPr>
              <a:t>朝</a:t>
            </a:r>
          </a:p>
          <a:p>
            <a:pPr algn="ctr">
              <a:spcAft>
                <a:spcPts val="1000"/>
              </a:spcAft>
            </a:pPr>
            <a:r>
              <a:rPr sz="1200" b="0">
                <a:solidFill>
                  <a:srgbClr val="595959"/>
                </a:solidFill>
                <a:latin typeface="HGPｺﾞｼｯｸE"/>
                <a:ea typeface="HGPｺﾞｼｯｸE"/>
              </a:rPr>
              <a:t>発電量が少ない時間帯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電力会社から電気を購入する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（買電消費）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0" y="1810512"/>
            <a:ext cx="2834640" cy="22402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000000"/>
                </a:solidFill>
                <a:latin typeface="HGPｺﾞｼｯｸE"/>
                <a:ea typeface="HGPｺﾞｼｯｸE"/>
              </a:rPr>
              <a:t>昼</a:t>
            </a:r>
          </a:p>
          <a:p>
            <a:pPr algn="ctr">
              <a:spcAft>
                <a:spcPts val="1000"/>
              </a:spcAft>
            </a:pPr>
            <a:r>
              <a:rPr sz="1200" b="0">
                <a:solidFill>
                  <a:srgbClr val="595959"/>
                </a:solidFill>
                <a:latin typeface="HGPｺﾞｼｯｸE"/>
                <a:ea typeface="HGPｺﾞｼｯｸE"/>
              </a:rPr>
              <a:t>太陽光発電が活発な時間帯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① 太陽光の電気をまず家庭で使う（自家消費）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② 余った電気は蓄電池に充電する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③ さらに余った電気は売電する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6520" y="1810512"/>
            <a:ext cx="2834640" cy="224028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000000"/>
                </a:solidFill>
                <a:latin typeface="HGPｺﾞｼｯｸE"/>
                <a:ea typeface="HGPｺﾞｼｯｸE"/>
              </a:rPr>
              <a:t>夕方〜夜間</a:t>
            </a:r>
          </a:p>
          <a:p>
            <a:pPr algn="ctr">
              <a:spcAft>
                <a:spcPts val="1000"/>
              </a:spcAft>
            </a:pPr>
            <a:r>
              <a:rPr sz="1200" b="0">
                <a:solidFill>
                  <a:srgbClr val="595959"/>
                </a:solidFill>
                <a:latin typeface="HGPｺﾞｼｯｸE"/>
                <a:ea typeface="HGPｺﾞｼｯｸE"/>
              </a:rPr>
              <a:t>発電できない時間帯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蓄電池に貯めた電気を使う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73552" y="2697480"/>
            <a:ext cx="274320" cy="320040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6291072" y="2697480"/>
            <a:ext cx="274320" cy="320040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4206240"/>
            <a:ext cx="9098280" cy="1508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0000"/>
                </a:solidFill>
                <a:latin typeface="HGPｺﾞｼｯｸE"/>
                <a:ea typeface="HGPｺﾞｼｯｸE"/>
              </a:rPr>
              <a:t>このサイクルは、太陽光と蓄電池が「両方」あって初めて成立します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・太陽光だけ　→　昼に余った電気は売るしかない。売電15円＜買電30円なので損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・蓄電池だけ　→　貯める電気を電力会社から買うことになる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・セット　　　→　自分で創った電気を、自分で使い切れる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85216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創る（太陽光）→ 貯める（蓄電池）→ 夜に使う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2　商品説明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ワーク①：お手元の顧客設定集からFABを考える（15分）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909828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595959"/>
                </a:solidFill>
                <a:latin typeface="HGPｺﾞｼｯｸE"/>
                <a:ea typeface="HGPｺﾞｼｯｸE"/>
              </a:rPr>
              <a:t>F・Aは全員同じで構いません。Bだけは、その顧客設定に合わせて3本書いてください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2121408"/>
          <a:ext cx="9098280" cy="35844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8640"/>
                <a:gridCol w="1920240"/>
                <a:gridCol w="662940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要素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記入してください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F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特徴（固定）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A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メリット（固定）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B①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ベネフィット（変動）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B②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ベネフィット（変動）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B③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ベネフィット（変動）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669280"/>
            <a:ext cx="9098280" cy="621792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B①②③は、必ず「〇〇様は〜でしたよね」から書き始めること。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主語がお客様になっていなければ、それはAです。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2　商品説明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ワーク②：ペアで実演する（10分）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83080"/>
            <a:ext cx="4526280" cy="192024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やること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① 2人1組。営業役／お客様役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② 書いたFABを、そのまま口で言う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③ 2分で交代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0" y="1783080"/>
            <a:ext cx="4526280" cy="192024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聞き手のチェック項目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・Bの主語が「お客様」になっていたか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・Bが3本とも違う切り口だったか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・スペック（kWh・サイクル数）で終わっていないか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931920"/>
            <a:ext cx="909828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FF0000"/>
                </a:solidFill>
                <a:latin typeface="HGPｺﾞｼｯｸE"/>
                <a:ea typeface="HGPｺﾞｼｯｸE"/>
              </a:rPr>
              <a:t>FABでやりがちな失敗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4370832"/>
          <a:ext cx="9098280" cy="18836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29000"/>
                <a:gridCol w="2926080"/>
                <a:gridCol w="274320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やりがちな失敗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なぜダメか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直し方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Fだけ並べる（kWh・変換効率・サイクル数）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スペックはお客様の生活と結びつかない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Aに翻訳してからBへ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Aで止まる（「電気代が安くなります」）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全員に同じことを言っている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「〇〇様は」で始める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Bを想像で作る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ヒアリングしていないので外れる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ルール③で聞いた話から作る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3　経済メリット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③ 経済メリット：一番重要だが、それだけでは危ない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810512"/>
            <a:ext cx="9098280" cy="114300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経済メリットは一番重要な要素ではあるが、メリットがあまり出ないお宅にも訴求するためには、</a:t>
            </a:r>
          </a:p>
          <a:p>
            <a:pPr algn="l">
              <a:spcAft>
                <a:spcPts val="500"/>
              </a:spcAft>
            </a:pPr>
            <a:r>
              <a:rPr sz="1700" b="1">
                <a:solidFill>
                  <a:srgbClr val="FF0000"/>
                </a:solidFill>
                <a:latin typeface="HGPｺﾞｼｯｸE"/>
                <a:ea typeface="HGPｺﾞｼｯｸE"/>
              </a:rPr>
              <a:t>経済メリット訴求のみでは安定感がなくなってしまう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154680"/>
            <a:ext cx="4526280" cy="150876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F0000"/>
                </a:solidFill>
                <a:latin typeface="HGPｺﾞｼｯｸE"/>
                <a:ea typeface="HGPｺﾞｼｯｸE"/>
              </a:rPr>
              <a:t>✕　経済メリットだけで押す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狭小住宅・北向き屋根・電気使用量が少ないお宅では、数字が出ません。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数字が出ない＝売れない、になってしまいます。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3154680"/>
            <a:ext cx="4526280" cy="1508760"/>
          </a:xfrm>
          <a:prstGeom prst="rect">
            <a:avLst/>
          </a:prstGeom>
          <a:solidFill>
            <a:srgbClr val="EAF1DD"/>
          </a:solidFill>
          <a:ln w="12700">
            <a:solidFill>
              <a:srgbClr val="70A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○　①②③を積んだ上で③を出す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①電気代のネガ ②災害対策 ＋ 商品の価値（FAB）を積んでから、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最後に③経済メリットで背中を押す。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892040"/>
            <a:ext cx="9098280" cy="960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金額ばかり褒めてはいけない理由も同じです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「元が取れる／取れない」で判断させると、狭小住宅への提案が困難になります。金額の褒め → 体験の褒めへ変換しましょう。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94360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③は「決め手」であって「入り口」ではない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3　経済メリット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シミュレーションの読み方（例）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909828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595959"/>
                </a:solidFill>
                <a:latin typeface="HGPｺﾞｼｯｸE"/>
                <a:ea typeface="HGPｺﾞｼｯｸE"/>
              </a:rPr>
              <a:t>FIT期間中と、FIT期間が終わったあとで、毎月の実質負担額が変わります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121408"/>
            <a:ext cx="4526280" cy="384048"/>
          </a:xfrm>
          <a:prstGeom prst="rect">
            <a:avLst/>
          </a:prstGeom>
          <a:solidFill>
            <a:srgbClr val="DA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FIT期間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2560320"/>
          <a:ext cx="4526280" cy="8046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/>
                <a:gridCol w="173736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毎月の分割支払額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24,002 円/月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 実質光熱費削減額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14,429 円/月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3401568"/>
            <a:ext cx="4526280" cy="86868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＝ 毎月の実質負担額　</a:t>
            </a:r>
            <a:r>
              <a:rPr sz="2600" b="1">
                <a:solidFill>
                  <a:srgbClr val="FF0000"/>
                </a:solidFill>
                <a:latin typeface="HGPｺﾞｼｯｸE"/>
                <a:ea typeface="HGPｺﾞｼｯｸE"/>
              </a:rPr>
              <a:t>9,573</a:t>
            </a: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 円/月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（1日あたり 約 319 円）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2121408"/>
            <a:ext cx="4526280" cy="384048"/>
          </a:xfrm>
          <a:prstGeom prst="rect">
            <a:avLst/>
          </a:prstGeom>
          <a:solidFill>
            <a:srgbClr val="DA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FIT期間終了後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120640" y="2560320"/>
          <a:ext cx="4526280" cy="8046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/>
                <a:gridCol w="173736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毎月の分割支払額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24,002 円/月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 実質光熱費削減額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12,686 円/月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120640" y="3401568"/>
            <a:ext cx="4526280" cy="86868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＝ 毎月の実質負担額　</a:t>
            </a:r>
            <a:r>
              <a:rPr sz="2600" b="1">
                <a:solidFill>
                  <a:srgbClr val="FF0000"/>
                </a:solidFill>
                <a:latin typeface="HGPｺﾞｼｯｸE"/>
                <a:ea typeface="HGPｺﾞｼｯｸE"/>
              </a:rPr>
              <a:t>11,316</a:t>
            </a: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 円/月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（1日あたり 約 377 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480560"/>
            <a:ext cx="9098280" cy="123444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この表のどこを読むか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お客様が見るのは「毎月の実質負担額」と「1日あたり」だけです。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分割支払額（24,002円）を先に見せると、そこで思考が止まります。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585216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1日あたりの金額まで落として初めて、判断できる数字になる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3　経済メリット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1">
                <a:solidFill>
                  <a:srgbClr val="000000"/>
                </a:solidFill>
                <a:latin typeface="HGPｺﾞｼｯｸE"/>
                <a:ea typeface="HGPｺﾞｼｯｸE"/>
              </a:rPr>
              <a:t>伝え方①：ローン返済額を含めたトータル金額でお伝えする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55648"/>
            <a:ext cx="9098280" cy="6583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＜ポイント＞　分割払いの場合、返済中は合計の支出が増える。完済後は返済額が無くなるため、支出が減少する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2560320"/>
          <a:ext cx="9098280" cy="22311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46120"/>
                <a:gridCol w="2926080"/>
                <a:gridCol w="292608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（例）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ローン支払い中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完済後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もともとの電気代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15,000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15,000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＋ ローンの分割額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22,000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 電気代削減額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−14,000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−14,000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支出合計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23,000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1,000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4846320"/>
            <a:ext cx="4526280" cy="9601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向いているお客様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・長期で考えられる方　・完済後の姿に価値を感じる方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4846320"/>
            <a:ext cx="4526280" cy="96012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FF0000"/>
                </a:solidFill>
                <a:latin typeface="HGPｺﾞｼｯｸE"/>
                <a:ea typeface="HGPｺﾞｼｯｸE"/>
              </a:rPr>
              <a:t>注意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返済中は支出が増えます。ここを隠すと後で必ず不信になります。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94360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完済後に支出が「1,000円」まで下がる絵を見せる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3　経済メリット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伝え方②：電気代の減収分のみをお伝えする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909828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595959"/>
                </a:solidFill>
                <a:latin typeface="HGPｺﾞｼｯｸE"/>
                <a:ea typeface="HGPｺﾞｼｯｸE"/>
              </a:rPr>
              <a:t>ローンの話をいったん外し、「電気代がいくら減るか」だけを見せる方法です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2121408"/>
          <a:ext cx="9098280" cy="1920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14600"/>
                <a:gridCol w="1645920"/>
                <a:gridCol w="2377440"/>
                <a:gridCol w="256032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（例）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金額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期間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削減額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もともとの電気代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15,000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1年間での削減額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¥168,000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 電気代削減額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14,000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10年間での削減額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¥1,680,000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支出合計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1,000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30年間での削減額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¥5,040,000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4251960"/>
            <a:ext cx="4526280" cy="146304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向いているお客様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・現金一括で検討される方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・「月々の支出が増える」ことに強い抵抗がある方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・数字が多いと混乱される方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4251960"/>
            <a:ext cx="4526280" cy="146304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使い分けの原則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①で反応が鈍い（＝返済中の支出増で止まった）と感じたら、②に切り替える。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どちらも同じ事実を、別の枠組みで見せているだけです。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870448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30年で500万円以上の削減。これが「価格を下げる」の中身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3　経済メリット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FF0000"/>
                </a:solidFill>
                <a:latin typeface="HGPｺﾞｼｯｸE"/>
                <a:ea typeface="HGPｺﾞｼｯｸE"/>
              </a:rPr>
              <a:t>前提：シミュレーションは疑われています</a:t>
            </a:r>
          </a:p>
        </p:txBody>
      </p:sp>
      <p:pic>
        <p:nvPicPr>
          <p:cNvPr id="6" name="Picture 5" descr="sim_tru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83080"/>
            <a:ext cx="5074920" cy="3093459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983480"/>
            <a:ext cx="5074920" cy="2560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595959"/>
                </a:solidFill>
                <a:latin typeface="HGPｺﾞｼｯｸE"/>
                <a:ea typeface="HGPｺﾞｼｯｸE"/>
              </a:rPr>
              <a:t>出典：エネがえる運営事務局調べ（国際航業株式会社）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0" y="1783080"/>
            <a:ext cx="3794760" cy="141732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経済効果シミュレーションの信憑性を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疑ったことがある人</a:t>
            </a:r>
          </a:p>
          <a:p>
            <a:pPr algn="ctr">
              <a:spcAft>
                <a:spcPts val="500"/>
              </a:spcAft>
            </a:pPr>
            <a:r>
              <a:rPr sz="3400" b="1">
                <a:solidFill>
                  <a:srgbClr val="FF0000"/>
                </a:solidFill>
                <a:latin typeface="HGPｺﾞｼｯｸE"/>
                <a:ea typeface="HGPｺﾞｼｯｸE"/>
              </a:rPr>
              <a:t>75.4％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0" y="3383280"/>
            <a:ext cx="3794760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だからどうするか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・シミュレーションの「金額の大きさ」で勝とうとしない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・前提条件（電気使用量・単価・設置容量）を先に口で言う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・お客様の検針票の実額から出発する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FF0000"/>
                </a:solidFill>
                <a:latin typeface="HGPｺﾞｼｯｸE"/>
                <a:ea typeface="HGPｺﾞｼｯｸE"/>
              </a:rPr>
              <a:t>・「盛っていない」ことが伝わる方が、金額より効く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89788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✕ シミュレーション金額　　◎ 安心感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3　経済メリット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相見積もりになったときのポイント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4600" y="1783080"/>
            <a:ext cx="4892040" cy="1097280"/>
          </a:xfrm>
          <a:prstGeom prst="round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3400" b="1">
                <a:solidFill>
                  <a:srgbClr val="000000"/>
                </a:solidFill>
                <a:latin typeface="HGPｺﾞｼｯｸE"/>
                <a:ea typeface="HGPｺﾞｼｯｸE"/>
              </a:rPr>
              <a:t>信頼　×　比較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3063240"/>
          <a:ext cx="9098280" cy="24505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68680"/>
                <a:gridCol w="3657600"/>
                <a:gridCol w="45720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やること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言い方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信頼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前提条件を隠さない。数字の出どころを言う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「この数字は〇〇様の検針票の18,000円から計算しています」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比較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他社下げをせず、お客様に判断軸を与える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「〇〇な会社は不安ですよね」ではなく「設置後の点検体制で比べてみてください」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他社の強みで戦わない。自社ならではの強みで戦う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会社の安定性／地域密着性／メーカーとしての価値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897880"/>
            <a:ext cx="9098280" cy="603504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金額で勝とうとせず、安心感で選ばれる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PART 3　経済メリット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25880"/>
            <a:ext cx="9098280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3000" b="1">
                <a:solidFill>
                  <a:srgbClr val="FF0000"/>
                </a:solidFill>
                <a:latin typeface="HGPｺﾞｼｯｸE"/>
                <a:ea typeface="HGPｺﾞｼｯｸE"/>
              </a:rPr>
              <a:t>今日は「金額」を出しません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103120"/>
          <a:ext cx="9098279" cy="29626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88720"/>
                <a:gridCol w="3931920"/>
                <a:gridCol w="3977639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今日やったこと（経済メリット）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第4回でやること（金額訴求）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目的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「電気代がいくら減るか」を納得してもらう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「毎月いくら払うか」を払える形にする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出す数字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削減額（月14,000円／30年504万円）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月々の支払額・概算見積・総額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使う道具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シミュレーション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シミュレーション＋概算見積＋カタログ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ルール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（必要性訴求の一部）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⑯〜⑳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120640"/>
            <a:ext cx="9098280" cy="114300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なぜ分けるのか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「いくら得か」が腹落ちしていない状態で「いくら払うか」を出すと、支払額だけが記憶に残ります。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今日は「得の大きさ」を作りきるところまでです。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ロールプレイング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FABと経済メリットを通す（10分）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783080"/>
          <a:ext cx="9098280" cy="25603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37360"/>
                <a:gridCol w="3246120"/>
                <a:gridCol w="822960"/>
                <a:gridCol w="329184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進行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使うもの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時間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狙う反応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災害（⑩⑪）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アプローチブック p.18・p.19＋事例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1分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いつ災害が起こるか分からないですね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使い方（⑫）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p.20・p.21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買うより自給自足した方が良いですね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商品説明（FAB）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ワーク①で書いたB3本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うちの場合はそうなるんですね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経済メリット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シミュレーション（伝え方①または②）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思ったより減るんですね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251960"/>
            <a:ext cx="4526280" cy="19659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顧客設定（第2回と同じ田中様ご夫婦）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・ご主人48歳／奥様45歳／高校生・中学生のお子様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・築14年・南向き切妻屋根・オール電化ではない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・太陽光・蓄電池ともに未導入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・電気代 月18,000円　・住宅ローン返済中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・お子様が来年受験／ご主人は在宅勤務が週2日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4251960"/>
            <a:ext cx="4526280" cy="196596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この周で見るポイント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・災害が1分で終わったか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FF0000"/>
                </a:solidFill>
                <a:latin typeface="HGPｺﾞｼｯｸE"/>
                <a:ea typeface="HGPｺﾞｼｯｸE"/>
              </a:rPr>
              <a:t>・Bの主語が「田中様」になっていたか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・受験・在宅勤務をBに使えたか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・伝え方①②のどちらを選んだか、理由を言えるか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・金額（見積り）を口にしていないか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チェックシート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1">
                <a:solidFill>
                  <a:srgbClr val="000000"/>
                </a:solidFill>
                <a:latin typeface="HGPｺﾞｼｯｸE"/>
                <a:ea typeface="HGPｺﾞｼｯｸE"/>
              </a:rPr>
              <a:t>ロープレのあと、自分で○△×をつけてください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700784"/>
          <a:ext cx="9098280" cy="36941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5897880"/>
                <a:gridCol w="1097280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パート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項目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できたか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① 災害対策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第三者話法だけで語れた（自分の意見を混ぜない）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3分以内（ロープレでは1分）で終えられた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「うちの地域は災害が来ない」を切り返せた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② 商品説明（FAB）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F・A・Bを区別して言えた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Bの主語が「お客様」になっていた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Bを3本、違う切り口で言えた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ヒアリングで聞いた話からBを作れた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③ 経済メリット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伝え方①②のどちらを使うか選べた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前提条件（検針票の実額）から出発できた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削減額を「1日あたり」まで落とせた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金額（見積り）を口にしなかった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760720"/>
            <a:ext cx="9098280" cy="530352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商談運営：発言比率6：4／最後までセット提案を崩さなかったか</a:t>
            </a:r>
          </a:p>
          <a:p>
            <a:pPr algn="ctr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黄色が本日の主役。×が付いた項目は、次の商談までに必ず直してください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本日のまとめ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31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25880"/>
            <a:ext cx="9098280" cy="21031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本日持ち帰ること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① 契約とは「阻害要因がすべて解消された状態」。今日つぶしたのは③プランと④金額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② 災害は「事実 → 事例 → サラッと次へ」。3分で抜ける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FF0000"/>
                </a:solidFill>
                <a:latin typeface="HGPｺﾞｼｯｸE"/>
                <a:ea typeface="HGPｺﾞｼｯｸE"/>
              </a:rPr>
              <a:t>③ FABのBは「お客様が主語」。材料はヒアリングの中にある</a:t>
            </a:r>
          </a:p>
          <a:p>
            <a:pPr algn="l">
              <a:spcAft>
                <a:spcPts val="500"/>
              </a:spcAft>
            </a:pPr>
            <a:r>
              <a:rPr sz="1700" b="1">
                <a:solidFill>
                  <a:srgbClr val="FF0000"/>
                </a:solidFill>
                <a:latin typeface="HGPｺﾞｼｯｸE"/>
                <a:ea typeface="HGPｺﾞｼｯｸE"/>
              </a:rPr>
              <a:t>④ 経済メリットは2通りの伝え方を使い分ける。金額で勝とうとせず、安心感で選ばれる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3657600"/>
            <a:ext cx="9098280" cy="21031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宿題（次回までに）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① 実際の担当顧客1件について、FABのBを3本書いてくること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② 伝え方①②の両方を、シミュレーションを見ずに口で説明できるようにしてくること</a:t>
            </a:r>
          </a:p>
          <a:p>
            <a:pPr algn="l">
              <a:spcAft>
                <a:spcPts val="500"/>
              </a:spcAft>
            </a:pPr>
            <a:r>
              <a:rPr sz="1700" b="0">
                <a:solidFill>
                  <a:srgbClr val="000000"/>
                </a:solidFill>
                <a:latin typeface="HGPｺﾞｼｯｸE"/>
                <a:ea typeface="HGPｺﾞｼｯｸE"/>
              </a:rPr>
              <a:t>③ 実商談を1件、災害パートに何分使ったか計測してくること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5989320"/>
            <a:ext cx="9098280" cy="384048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次回・第4回は「時期訴求・料金訴求（ルール⑬〜⑳）」／ここで初めて金額を出します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6"/>
          <p:cNvSpPr txBox="1">
            <a:spLocks noChangeArrowheads="1"/>
          </p:cNvSpPr>
          <p:nvPr/>
        </p:nvSpPr>
        <p:spPr bwMode="auto">
          <a:xfrm>
            <a:off x="119793" y="470959"/>
            <a:ext cx="9666414" cy="2169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この度は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【</a:t>
            </a:r>
            <a:r>
              <a:rPr kumimoji="1" lang="ja-JP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㈱船井総合研究所　住宅用太陽光・蓄電池の売り方マスター研修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】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にご参加いただき、誠にありがとうございました。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l" defTabSz="914400" rtl="0" eaLnBrk="0" fontAlgn="auto" latinLnBrk="0" hangingPunc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１．講座及びテキストに関するお問い合わせは、下記までお願いいたします。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l" defTabSz="914400" rtl="0" eaLnBrk="0" fontAlgn="auto" latinLnBrk="0" hangingPunc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２．本テキストの著作権は、引用部分を除き、全て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(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株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)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船井総合研究所に帰属しています。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３．本セミナーで入手したテキスト、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DVD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、その他の文書等は許可なく複製を作成すること、また二次利用することを禁止します。</a:t>
            </a:r>
            <a:b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４．本セミナーの内容と同じ、または類似した研修の開催や、第三者に行わせることを禁じます。</a:t>
            </a:r>
            <a:b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５．録音、録画、撮影などの行為はお断りします。</a:t>
            </a:r>
            <a:b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６．本セミナーで入手したテキストおよび資料等をＳＮＳ等を通じて第三者に開示することを禁じます。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７．なお、上記３～６の事項が発覚した場合、本人または法人に対して損害賠償を行う場合があります。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８．当社ではセミナー中の様子を撮影し、当社の宣伝に使用することがあります。あらかじめご了承ください。　　　　 　   　　　　　　　　　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92512" y="2926534"/>
            <a:ext cx="9702351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66"/>
            </a:solidFill>
            <a:miter lim="800000"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株式会社船井総合研究所</a:t>
            </a:r>
            <a:endParaRPr kumimoji="1" lang="en-US" altLang="ja-JP" sz="2200" b="0" i="0" u="none" strike="noStrike" kern="1200" cap="none" spc="0" normalizeH="0" baseline="0" noProof="0" dirty="0">
              <a:ln>
                <a:noFill/>
              </a:ln>
              <a:solidFill>
                <a:srgbClr val="000066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ct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『</a:t>
            </a:r>
            <a:r>
              <a:rPr kumimoji="1" lang="ja-JP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住宅用太陽光・蓄電池の売り方マスター研修</a:t>
            </a:r>
            <a:r>
              <a:rPr kumimoji="1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』</a:t>
            </a:r>
          </a:p>
        </p:txBody>
      </p:sp>
      <p:sp>
        <p:nvSpPr>
          <p:cNvPr id="4" name="Rectangle 11"/>
          <p:cNvSpPr>
            <a:spLocks noChangeArrowheads="1"/>
          </p:cNvSpPr>
          <p:nvPr/>
        </p:nvSpPr>
        <p:spPr bwMode="auto">
          <a:xfrm>
            <a:off x="92512" y="4641034"/>
            <a:ext cx="9702351" cy="195631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66"/>
            </a:solidFill>
            <a:miter lim="800000"/>
            <a:headEnd/>
            <a:tailEnd/>
          </a:ln>
        </p:spPr>
        <p:txBody>
          <a:bodyPr anchor="ctr"/>
          <a:lstStyle/>
          <a:p>
            <a:pPr marL="0" marR="0" lvl="0" indent="13970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2026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年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１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1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月発行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著　者　 ：　株式会社船井総合研究所　　専門工事支援部 北 隆人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発行所　：　株式会社船井総合研究所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【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大阪本社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】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　　　　　　　　　　　　　　　　　　　　　　　　　　　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【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東京本社（サステナグローススクエア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TOKYO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）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】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〒５４１－００４１　大阪市中央区北浜４－４－１０　　　　　　　〒１０４－００２８　東京都中央区八重洲二丁目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2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番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1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号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　　　　　　　　　　　　　　　　　　　　　　　　　　　　　　　　　　　　　　　　　　　　　　東京ミッドタウン八重洲 八重洲セントラルタワー 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35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階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ＴＥＬ　０６－６２３２－０２７１（代表）　　　　　　　　　　　　　　　　　ＴＥＬ：０３－４３５６－０２７１（通）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E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・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Mail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　 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takato-kita@funaisoken.co.jp</a:t>
            </a: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</p:txBody>
      </p:sp>
      <p:sp>
        <p:nvSpPr>
          <p:cNvPr id="5" name="Rectangle 12"/>
          <p:cNvSpPr>
            <a:spLocks noChangeArrowheads="1"/>
          </p:cNvSpPr>
          <p:nvPr/>
        </p:nvSpPr>
        <p:spPr bwMode="auto">
          <a:xfrm>
            <a:off x="92512" y="4069534"/>
            <a:ext cx="9702351" cy="571500"/>
          </a:xfrm>
          <a:prstGeom prst="rect">
            <a:avLst/>
          </a:prstGeom>
          <a:solidFill>
            <a:srgbClr val="7030A0"/>
          </a:solidFill>
          <a:ln w="19050">
            <a:solidFill>
              <a:srgbClr val="000066"/>
            </a:solidFill>
            <a:miter lim="800000"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機密情報／無断転用禁止　</a:t>
            </a:r>
            <a:endParaRPr kumimoji="1" lang="ja-JP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64741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お気に入り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お気に入り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【ソーラープロジェクト大社様】2024年11月度お打ち合わせ資料 .pptx" id="{F2A59035-B9C3-4A75-B90B-5E71CD3F6C43}" vid="{552278E5-979D-4048-BBE5-2AFDF89082E8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25900</TotalTime>
  <Words>6897</Words>
  <Application>Microsoft Office PowerPoint</Application>
  <PresentationFormat>A4 210 x 297 mm</PresentationFormat>
  <Paragraphs>716</Paragraphs>
  <Slides>71</Slides>
  <Notes>32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71</vt:i4>
      </vt:variant>
    </vt:vector>
  </HeadingPairs>
  <TitlesOfParts>
    <vt:vector size="88" baseType="lpstr">
      <vt:lpstr>BIZ UDPゴシック</vt:lpstr>
      <vt:lpstr>Google Sans Text</vt:lpstr>
      <vt:lpstr>HGPｺﾞｼｯｸE</vt:lpstr>
      <vt:lpstr>HGP創英角ｺﾞｼｯｸUB</vt:lpstr>
      <vt:lpstr>HGP明朝E</vt:lpstr>
      <vt:lpstr>HGSｺﾞｼｯｸM</vt:lpstr>
      <vt:lpstr>Meiryo UI</vt:lpstr>
      <vt:lpstr>メイリオ</vt:lpstr>
      <vt:lpstr>游ゴシック</vt:lpstr>
      <vt:lpstr>游ゴシック体</vt:lpstr>
      <vt:lpstr>Arial</vt:lpstr>
      <vt:lpstr>Calibri</vt:lpstr>
      <vt:lpstr>Lucida Calligraphy</vt:lpstr>
      <vt:lpstr>Monotype Corsiva</vt:lpstr>
      <vt:lpstr>Wingdings</vt:lpstr>
      <vt:lpstr>Office テーマ</vt:lpstr>
      <vt:lpstr>1_Office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船井総合研究所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スライド 1</dc:title>
  <dc:creator>F2038</dc:creator>
  <cp:lastModifiedBy>Ryusho Sameshima</cp:lastModifiedBy>
  <cp:revision>713</cp:revision>
  <cp:lastPrinted>2025-11-06T11:25:07Z</cp:lastPrinted>
  <dcterms:created xsi:type="dcterms:W3CDTF">2017-03-26T07:08:56Z</dcterms:created>
  <dcterms:modified xsi:type="dcterms:W3CDTF">2026-05-20T08:32:28Z</dcterms:modified>
</cp:coreProperties>
</file>