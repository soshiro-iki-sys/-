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jpg" ContentType="image/pn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702" r:id="rId2"/>
  </p:sldMasterIdLst>
  <p:notesMasterIdLst>
    <p:notesMasterId r:id="rId74"/>
  </p:notesMasterIdLst>
  <p:handoutMasterIdLst>
    <p:handoutMasterId r:id="rId75"/>
  </p:handoutMasterIdLst>
  <p:sldIdLst>
    <p:sldId id="344" r:id="rId3"/>
    <p:sldId id="1179" r:id="rId11"/>
    <p:sldId id="1180" r:id="rId12"/>
    <p:sldId id="1181" r:id="rId13"/>
    <p:sldId id="1182" r:id="rId14"/>
    <p:sldId id="1183" r:id="rId15"/>
    <p:sldId id="1184" r:id="rId16"/>
    <p:sldId id="1185" r:id="rId17"/>
    <p:sldId id="1186" r:id="rId18"/>
    <p:sldId id="1187" r:id="rId19"/>
    <p:sldId id="1188" r:id="rId20"/>
    <p:sldId id="1189" r:id="rId21"/>
    <p:sldId id="1190" r:id="rId22"/>
    <p:sldId id="1191" r:id="rId23"/>
    <p:sldId id="1192" r:id="rId24"/>
    <p:sldId id="1193" r:id="rId25"/>
    <p:sldId id="1194" r:id="rId26"/>
    <p:sldId id="1195" r:id="rId27"/>
    <p:sldId id="1196" r:id="rId28"/>
    <p:sldId id="1197" r:id="rId29"/>
    <p:sldId id="1198" r:id="rId30"/>
    <p:sldId id="1199" r:id="rId31"/>
    <p:sldId id="1200" r:id="rId32"/>
    <p:sldId id="1201" r:id="rId33"/>
    <p:sldId id="1202" r:id="rId34"/>
    <p:sldId id="1203" r:id="rId35"/>
    <p:sldId id="1204" r:id="rId36"/>
    <p:sldId id="1205" r:id="rId37"/>
    <p:sldId id="1178" r:id="rId73"/>
  </p:sldIdLst>
  <p:sldSz cx="9906000" cy="6858000" type="A4"/>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45" userDrawn="1">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DE1"/>
    <a:srgbClr val="362A2A"/>
    <a:srgbClr val="9BBB59"/>
    <a:srgbClr val="FB43D4"/>
    <a:srgbClr val="E85504"/>
    <a:srgbClr val="0066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583" autoAdjust="0"/>
    <p:restoredTop sz="96343" autoAdjust="0"/>
  </p:normalViewPr>
  <p:slideViewPr>
    <p:cSldViewPr showGuides="1">
      <p:cViewPr varScale="1">
        <p:scale>
          <a:sx n="82" d="100"/>
          <a:sy n="82" d="100"/>
        </p:scale>
        <p:origin x="1694" y="72"/>
      </p:cViewPr>
      <p:guideLst>
        <p:guide orient="horz" pos="845"/>
        <p:guide pos="3120"/>
      </p:guideLst>
    </p:cSldViewPr>
  </p:slideViewPr>
  <p:notesTextViewPr>
    <p:cViewPr>
      <p:scale>
        <a:sx n="3" d="2"/>
        <a:sy n="3" d="2"/>
      </p:scale>
      <p:origin x="0" y="0"/>
    </p:cViewPr>
  </p:notesTextViewPr>
  <p:notesViewPr>
    <p:cSldViewPr>
      <p:cViewPr varScale="1">
        <p:scale>
          <a:sx n="101" d="100"/>
          <a:sy n="101" d="100"/>
        </p:scale>
        <p:origin x="3246" y="11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73" Type="http://schemas.openxmlformats.org/officeDocument/2006/relationships/slide" Target="slides/slide900.xml"/><Relationship Id="rId74" Type="http://schemas.openxmlformats.org/officeDocument/2006/relationships/notesMaster" Target="notesMasters/notesMaster1.xml"/><Relationship Id="rId75" Type="http://schemas.openxmlformats.org/officeDocument/2006/relationships/handoutMaster" Target="handoutMasters/handout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2"/>
            <a:ext cx="2918830" cy="495029"/>
          </a:xfrm>
          <a:prstGeom prst="rect">
            <a:avLst/>
          </a:prstGeom>
        </p:spPr>
        <p:txBody>
          <a:bodyPr vert="horz" lIns="94848" tIns="47425" rIns="94848" bIns="47425"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4" y="2"/>
            <a:ext cx="2918830" cy="495029"/>
          </a:xfrm>
          <a:prstGeom prst="rect">
            <a:avLst/>
          </a:prstGeom>
        </p:spPr>
        <p:txBody>
          <a:bodyPr vert="horz" lIns="94848" tIns="47425" rIns="94848" bIns="47425" rtlCol="0"/>
          <a:lstStyle>
            <a:lvl1pPr algn="r">
              <a:defRPr sz="1200"/>
            </a:lvl1pPr>
          </a:lstStyle>
          <a:p>
            <a:fld id="{695728E3-876B-4768-9AB0-7D988C1247DF}" type="datetimeFigureOut">
              <a:rPr kumimoji="1" lang="ja-JP" altLang="en-US" smtClean="0"/>
              <a:t>2026/5/20</a:t>
            </a:fld>
            <a:endParaRPr kumimoji="1" lang="ja-JP" altLang="en-US"/>
          </a:p>
        </p:txBody>
      </p:sp>
      <p:sp>
        <p:nvSpPr>
          <p:cNvPr id="4" name="フッター プレースホルダー 3"/>
          <p:cNvSpPr>
            <a:spLocks noGrp="1"/>
          </p:cNvSpPr>
          <p:nvPr>
            <p:ph type="ftr" sz="quarter" idx="2"/>
          </p:nvPr>
        </p:nvSpPr>
        <p:spPr>
          <a:xfrm>
            <a:off x="2" y="9371288"/>
            <a:ext cx="2918830" cy="495028"/>
          </a:xfrm>
          <a:prstGeom prst="rect">
            <a:avLst/>
          </a:prstGeom>
        </p:spPr>
        <p:txBody>
          <a:bodyPr vert="horz" lIns="94848" tIns="47425" rIns="94848" bIns="47425"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4" y="9371288"/>
            <a:ext cx="2918830" cy="495028"/>
          </a:xfrm>
          <a:prstGeom prst="rect">
            <a:avLst/>
          </a:prstGeom>
        </p:spPr>
        <p:txBody>
          <a:bodyPr vert="horz" lIns="94848" tIns="47425" rIns="94848" bIns="47425" rtlCol="0" anchor="b"/>
          <a:lstStyle>
            <a:lvl1pPr algn="r">
              <a:defRPr sz="1200"/>
            </a:lvl1pPr>
          </a:lstStyle>
          <a:p>
            <a:fld id="{E00352D2-49C1-4968-AB3E-0C456C91C264}" type="slidenum">
              <a:rPr kumimoji="1" lang="ja-JP" altLang="en-US" smtClean="0"/>
              <a:t>‹#›</a:t>
            </a:fld>
            <a:endParaRPr kumimoji="1" lang="ja-JP" altLang="en-US"/>
          </a:p>
        </p:txBody>
      </p:sp>
    </p:spTree>
    <p:extLst>
      <p:ext uri="{BB962C8B-B14F-4D97-AF65-F5344CB8AC3E}">
        <p14:creationId xmlns:p14="http://schemas.microsoft.com/office/powerpoint/2010/main" val="23037226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0"/>
            <a:ext cx="2918830" cy="493316"/>
          </a:xfrm>
          <a:prstGeom prst="rect">
            <a:avLst/>
          </a:prstGeom>
        </p:spPr>
        <p:txBody>
          <a:bodyPr vert="horz" lIns="94848" tIns="47425" rIns="94848" bIns="47425" rtlCol="0"/>
          <a:lstStyle>
            <a:lvl1pPr algn="l">
              <a:defRPr sz="1200"/>
            </a:lvl1pPr>
          </a:lstStyle>
          <a:p>
            <a:endParaRPr kumimoji="1" lang="ja-JP" altLang="en-US"/>
          </a:p>
        </p:txBody>
      </p:sp>
      <p:sp>
        <p:nvSpPr>
          <p:cNvPr id="3" name="日付プレースホルダ 2"/>
          <p:cNvSpPr>
            <a:spLocks noGrp="1"/>
          </p:cNvSpPr>
          <p:nvPr>
            <p:ph type="dt" idx="1"/>
          </p:nvPr>
        </p:nvSpPr>
        <p:spPr>
          <a:xfrm>
            <a:off x="3815374" y="0"/>
            <a:ext cx="2918830" cy="493316"/>
          </a:xfrm>
          <a:prstGeom prst="rect">
            <a:avLst/>
          </a:prstGeom>
        </p:spPr>
        <p:txBody>
          <a:bodyPr vert="horz" lIns="94848" tIns="47425" rIns="94848" bIns="47425" rtlCol="0"/>
          <a:lstStyle>
            <a:lvl1pPr algn="r">
              <a:defRPr sz="1200"/>
            </a:lvl1pPr>
          </a:lstStyle>
          <a:p>
            <a:fld id="{A8D18B60-6E12-48B8-B760-06957378EDAD}" type="datetimeFigureOut">
              <a:rPr kumimoji="1" lang="ja-JP" altLang="en-US" smtClean="0"/>
              <a:pPr/>
              <a:t>2026/5/20</a:t>
            </a:fld>
            <a:endParaRPr kumimoji="1" lang="ja-JP" altLang="en-US"/>
          </a:p>
        </p:txBody>
      </p:sp>
      <p:sp>
        <p:nvSpPr>
          <p:cNvPr id="4" name="スライド イメージ プレースホルダ 3"/>
          <p:cNvSpPr>
            <a:spLocks noGrp="1" noRot="1" noChangeAspect="1"/>
          </p:cNvSpPr>
          <p:nvPr>
            <p:ph type="sldImg" idx="2"/>
          </p:nvPr>
        </p:nvSpPr>
        <p:spPr>
          <a:xfrm>
            <a:off x="695325" y="739775"/>
            <a:ext cx="5345113" cy="3700463"/>
          </a:xfrm>
          <a:prstGeom prst="rect">
            <a:avLst/>
          </a:prstGeom>
          <a:noFill/>
          <a:ln w="12700">
            <a:solidFill>
              <a:prstClr val="black"/>
            </a:solidFill>
          </a:ln>
        </p:spPr>
        <p:txBody>
          <a:bodyPr vert="horz" lIns="94848" tIns="47425" rIns="94848" bIns="47425" rtlCol="0" anchor="ctr"/>
          <a:lstStyle/>
          <a:p>
            <a:endParaRPr lang="ja-JP" altLang="en-US"/>
          </a:p>
        </p:txBody>
      </p:sp>
      <p:sp>
        <p:nvSpPr>
          <p:cNvPr id="5" name="ノート プレースホルダ 4"/>
          <p:cNvSpPr>
            <a:spLocks noGrp="1"/>
          </p:cNvSpPr>
          <p:nvPr>
            <p:ph type="body" sz="quarter" idx="3"/>
          </p:nvPr>
        </p:nvSpPr>
        <p:spPr>
          <a:xfrm>
            <a:off x="673578" y="4686501"/>
            <a:ext cx="5388610" cy="4439841"/>
          </a:xfrm>
          <a:prstGeom prst="rect">
            <a:avLst/>
          </a:prstGeom>
        </p:spPr>
        <p:txBody>
          <a:bodyPr vert="horz" lIns="94848" tIns="47425" rIns="94848" bIns="47425"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2" y="9371285"/>
            <a:ext cx="2918830" cy="493316"/>
          </a:xfrm>
          <a:prstGeom prst="rect">
            <a:avLst/>
          </a:prstGeom>
        </p:spPr>
        <p:txBody>
          <a:bodyPr vert="horz" lIns="94848" tIns="47425" rIns="94848" bIns="47425"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15374" y="9371285"/>
            <a:ext cx="2918830" cy="493316"/>
          </a:xfrm>
          <a:prstGeom prst="rect">
            <a:avLst/>
          </a:prstGeom>
        </p:spPr>
        <p:txBody>
          <a:bodyPr vert="horz" lIns="94848" tIns="47425" rIns="94848" bIns="47425" rtlCol="0" anchor="b"/>
          <a:lstStyle>
            <a:lvl1pPr algn="r">
              <a:defRPr sz="1200"/>
            </a:lvl1pPr>
          </a:lstStyle>
          <a:p>
            <a:fld id="{B76C3785-4774-4B27-AA13-6B236C476115}"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B76C3785-4774-4B27-AA13-6B236C476115}" type="slidenum">
              <a:rPr kumimoji="1" lang="ja-JP" altLang="en-US" smtClean="0"/>
              <a:pPr/>
              <a:t>0</a:t>
            </a:fld>
            <a:endParaRPr kumimoji="1" lang="ja-JP" altLang="en-US"/>
          </a:p>
        </p:txBody>
      </p:sp>
    </p:spTree>
    <p:extLst>
      <p:ext uri="{BB962C8B-B14F-4D97-AF65-F5344CB8AC3E}">
        <p14:creationId xmlns:p14="http://schemas.microsoft.com/office/powerpoint/2010/main" val="2482633127"/>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・扱うルールは3つだけ。その分ロープレを2周まわすと最初に伝える</a:t>
            </a:r>
          </a:p>
          <a:p>
            <a:r>
              <a:t>・災害パートは「長く話すほど失敗する」ことを最初に握っておく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・ロープレを2周まわすため、解説は巻き気味に進める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・宿題をやっていない人を責めない。やってきた人を先に指名して場を温める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・「太陽光＋蓄電池のBは？」と受講者に投げる。次回以降のワークにつなぐ</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・全国展開の某社では「災害時に使える」トークは評判が良くないとされる。地域によって災害への考え方が大きく異なるため、事実で外堀を埋める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・3段はテンポよく。1段ごとに間を空けると重くなる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・講師はまず「やりすぎ例」を実演して見せる。受講者に違和感を体験させてから正解を示す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・受講者に図を見ずに説明させる。ここが言えないとシミュレーションの説明が崩れる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・夫婦の温度差は天秤。一方が盛り上がりすぎるともう一方が冷める。弱い方をフォローさせる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・その日のうちに復習すると定着する（翌日には50％忘れる）ことを添える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6"/>
            <a:ext cx="8420100" cy="1470025"/>
          </a:xfrm>
          <a:prstGeom prst="rect">
            <a:avLst/>
          </a:prstGeom>
        </p:spPr>
        <p:txBody>
          <a:bodyPr/>
          <a:lstStyle/>
          <a:p>
            <a:r>
              <a:rPr kumimoji="1" lang="ja-JP" altLang="en-US"/>
              <a:t>マスタ タイトルの書式設定</a:t>
            </a:r>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CD1DEDC6-F80D-48C2-B138-00A27E7F2E65}"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p>
            <a:r>
              <a:rPr kumimoji="1" lang="ja-JP" altLang="en-US"/>
              <a:t>マスタ タイトルの書式設定</a:t>
            </a:r>
          </a:p>
        </p:txBody>
      </p:sp>
      <p:sp>
        <p:nvSpPr>
          <p:cNvPr id="3" name="コンテンツ プレースホルダ 2"/>
          <p:cNvSpPr>
            <a:spLocks noGrp="1"/>
          </p:cNvSpPr>
          <p:nvPr>
            <p:ph idx="1"/>
          </p:nvPr>
        </p:nvSpPr>
        <p:spPr>
          <a:xfrm>
            <a:off x="495300" y="1600201"/>
            <a:ext cx="8915400" cy="4525963"/>
          </a:xfrm>
          <a:prstGeom prst="rect">
            <a:avLst/>
          </a:prstGeom>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22064A63-54DC-4F0A-84AB-53668F1114D2}"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506" y="4406901"/>
            <a:ext cx="8420100" cy="1362075"/>
          </a:xfrm>
          <a:prstGeom prst="rect">
            <a:avLst/>
          </a:prstGeo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82506" y="2906713"/>
            <a:ext cx="84201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0FD4A45F-A8A8-4DDE-B673-AED63056AB36}"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536575" y="1600201"/>
            <a:ext cx="474662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5448300" y="1600201"/>
            <a:ext cx="474662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A35F025A-80F9-47C5-83D6-D2A5A3B97719}" type="datetime1">
              <a:rPr kumimoji="1" lang="ja-JP" altLang="en-US" smtClean="0"/>
              <a:pPr/>
              <a:t>2026/5/20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95300" y="1535113"/>
            <a:ext cx="4376870"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95300" y="2174875"/>
            <a:ext cx="4376870"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5032111" y="1535113"/>
            <a:ext cx="4378590"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5032111" y="2174875"/>
            <a:ext cx="4378590"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0A49BD1E-31C5-4520-B82E-04337BC9ED08}" type="datetime1">
              <a:rPr kumimoji="1" lang="ja-JP" altLang="en-US" smtClean="0"/>
              <a:pPr/>
              <a:t>2026/5/20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638DA76A-BB70-46AD-B592-B57DADC28816}" type="datetime1">
              <a:rPr kumimoji="1" lang="ja-JP" altLang="en-US" smtClean="0"/>
              <a:pPr/>
              <a:t>2026/5/20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19297B68-78AE-4B40-9B77-32E3BBE4C65E}" type="datetime1">
              <a:rPr kumimoji="1" lang="ja-JP" altLang="en-US" smtClean="0"/>
              <a:pPr/>
              <a:t>2026/5/20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006" cy="1162050"/>
          </a:xfrm>
          <a:prstGeom prst="rect">
            <a:avLst/>
          </a:prstGeo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872971" y="273051"/>
            <a:ext cx="5537729"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95300" y="1435101"/>
            <a:ext cx="3259006"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5581A2F7-89F4-4CBB-9F6E-BD9D54E64EE6}" type="datetime1">
              <a:rPr kumimoji="1" lang="ja-JP" altLang="en-US" smtClean="0"/>
              <a:pPr/>
              <a:t>2026/5/20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645" y="4800600"/>
            <a:ext cx="5943600" cy="566738"/>
          </a:xfrm>
          <a:prstGeom prst="rect">
            <a:avLst/>
          </a:prstGeo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941645" y="612775"/>
            <a:ext cx="59436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941645" y="5367338"/>
            <a:ext cx="59436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3F0CFBB6-5FCD-4CD1-A658-5A106B94C497}" type="datetime1">
              <a:rPr kumimoji="1" lang="ja-JP" altLang="en-US" smtClean="0"/>
              <a:pPr/>
              <a:t>2026/5/20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95300" y="1600201"/>
            <a:ext cx="8915400" cy="4525963"/>
          </a:xfrm>
          <a:prstGeom prst="rect">
            <a:avLst/>
          </a:prstGeo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B0EC7A81-3346-464B-A479-530443E8B95D}"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780337" y="274639"/>
            <a:ext cx="2414588" cy="5851525"/>
          </a:xfrm>
          <a:prstGeom prst="rect">
            <a:avLst/>
          </a:prstGeo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536575" y="274639"/>
            <a:ext cx="7078663" cy="5851525"/>
          </a:xfrm>
          <a:prstGeom prst="rect">
            <a:avLst/>
          </a:prstGeo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CF472015-3E19-41F4-BCCA-3D5A7443FCC4}"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縦書きタイトルと縦書きテキスト">
    <p:spTree>
      <p:nvGrpSpPr>
        <p:cNvPr id="1" name=""/>
        <p:cNvGrpSpPr/>
        <p:nvPr/>
      </p:nvGrpSpPr>
      <p:grpSpPr>
        <a:xfrm>
          <a:off x="0" y="0"/>
          <a:ext cx="0" cy="0"/>
          <a:chOff x="0" y="0"/>
          <a:chExt cx="0" cy="0"/>
        </a:xfrm>
      </p:grpSpPr>
      <p:sp>
        <p:nvSpPr>
          <p:cNvPr id="7" name="正方形/長方形 6"/>
          <p:cNvSpPr/>
          <p:nvPr userDrawn="1"/>
        </p:nvSpPr>
        <p:spPr>
          <a:xfrm>
            <a:off x="0" y="0"/>
            <a:ext cx="990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60768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2"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6"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097"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7" name="Text Box 31"/>
          <p:cNvSpPr txBox="1">
            <a:spLocks noChangeArrowheads="1"/>
          </p:cNvSpPr>
          <p:nvPr userDrawn="1"/>
        </p:nvSpPr>
        <p:spPr bwMode="auto">
          <a:xfrm>
            <a:off x="42215" y="6580035"/>
            <a:ext cx="4206531" cy="223587"/>
          </a:xfrm>
          <a:prstGeom prst="rect">
            <a:avLst/>
          </a:prstGeom>
          <a:noFill/>
          <a:ln w="9525">
            <a:noFill/>
            <a:miter lim="800000"/>
            <a:headEnd/>
            <a:tailEnd/>
          </a:ln>
          <a:effectLst/>
        </p:spPr>
        <p:txBody>
          <a:bodyPr wrap="square">
            <a:spAutoFit/>
          </a:bodyPr>
          <a:lstStyle/>
          <a:p>
            <a:pPr>
              <a:defRPr/>
            </a:pPr>
            <a:r>
              <a:rPr lang="en-US" altLang="ja-JP" sz="853" b="1" dirty="0" err="1">
                <a:solidFill>
                  <a:schemeClr val="bg1"/>
                </a:solidFill>
                <a:latin typeface="Monotype Corsiva" pitchFamily="66" charset="0"/>
                <a:ea typeface="HGP創英角ｺﾞｼｯｸUB" pitchFamily="50" charset="-128"/>
              </a:rPr>
              <a:t>Copyright©Funai</a:t>
            </a:r>
            <a:r>
              <a:rPr lang="en-US" altLang="ja-JP" sz="853" b="1" dirty="0">
                <a:solidFill>
                  <a:schemeClr val="bg1"/>
                </a:solidFill>
                <a:latin typeface="Monotype Corsiva" pitchFamily="66" charset="0"/>
                <a:ea typeface="HGP創英角ｺﾞｼｯｸUB" pitchFamily="50" charset="-128"/>
              </a:rPr>
              <a:t> Consulting Incorporated </a:t>
            </a:r>
            <a:r>
              <a:rPr lang="ja-JP" altLang="en-US" sz="853" b="1" dirty="0">
                <a:solidFill>
                  <a:schemeClr val="bg1"/>
                </a:solidFill>
                <a:latin typeface="Monotype Corsiva" pitchFamily="66" charset="0"/>
                <a:ea typeface="HGP創英角ｺﾞｼｯｸUB" pitchFamily="50" charset="-128"/>
              </a:rPr>
              <a:t>　　（</a:t>
            </a:r>
            <a:r>
              <a:rPr lang="en-US" altLang="ja-JP" sz="853" b="1" dirty="0" err="1">
                <a:solidFill>
                  <a:schemeClr val="bg1"/>
                </a:solidFill>
                <a:latin typeface="Monotype Corsiva" pitchFamily="66" charset="0"/>
                <a:ea typeface="HGP創英角ｺﾞｼｯｸUB" pitchFamily="50" charset="-128"/>
              </a:rPr>
              <a:t>Funai</a:t>
            </a:r>
            <a:r>
              <a:rPr lang="en-US" altLang="ja-JP" sz="853" b="1" dirty="0">
                <a:solidFill>
                  <a:schemeClr val="bg1"/>
                </a:solidFill>
                <a:latin typeface="Monotype Corsiva" pitchFamily="66" charset="0"/>
                <a:ea typeface="HGP創英角ｺﾞｼｯｸUB" pitchFamily="50" charset="-128"/>
              </a:rPr>
              <a:t> Consulting</a:t>
            </a:r>
            <a:r>
              <a:rPr lang="ja-JP" altLang="en-US" sz="853" b="1" dirty="0">
                <a:solidFill>
                  <a:schemeClr val="bg1"/>
                </a:solidFill>
                <a:latin typeface="Monotype Corsiva" pitchFamily="66" charset="0"/>
                <a:ea typeface="HGP創英角ｺﾞｼｯｸUB" pitchFamily="50" charset="-128"/>
              </a:rPr>
              <a:t> </a:t>
            </a:r>
            <a:r>
              <a:rPr lang="en-US" altLang="ja-JP" sz="853" b="1" dirty="0">
                <a:solidFill>
                  <a:schemeClr val="bg1"/>
                </a:solidFill>
                <a:latin typeface="Monotype Corsiva" pitchFamily="66" charset="0"/>
                <a:ea typeface="HGP創英角ｺﾞｼｯｸUB" pitchFamily="50" charset="-128"/>
              </a:rPr>
              <a:t>Inc.</a:t>
            </a:r>
            <a:r>
              <a:rPr lang="ja-JP" altLang="en-US" sz="853" b="1" dirty="0">
                <a:solidFill>
                  <a:schemeClr val="bg1"/>
                </a:solidFill>
                <a:latin typeface="Monotype Corsiva" pitchFamily="66" charset="0"/>
                <a:ea typeface="HGP創英角ｺﾞｼｯｸUB" pitchFamily="50" charset="-128"/>
              </a:rPr>
              <a:t>）</a:t>
            </a:r>
            <a:endParaRPr lang="en-US" altLang="ja-JP" sz="853"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4"/>
            <a:ext cx="2228850" cy="365125"/>
          </a:xfrm>
        </p:spPr>
        <p:txBody>
          <a:bodyPr/>
          <a:lstStyle>
            <a:lvl1pPr>
              <a:defRPr sz="975"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6"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24" name="タイトル 1"/>
          <p:cNvSpPr>
            <a:spLocks noGrp="1"/>
          </p:cNvSpPr>
          <p:nvPr>
            <p:ph type="title"/>
          </p:nvPr>
        </p:nvSpPr>
        <p:spPr>
          <a:xfrm>
            <a:off x="255770" y="245205"/>
            <a:ext cx="9378222" cy="605918"/>
          </a:xfrm>
        </p:spPr>
        <p:txBody>
          <a:bodyPr>
            <a:noAutofit/>
          </a:bodyPr>
          <a:lstStyle>
            <a:lvl1pPr algn="ctr">
              <a:defRPr sz="2925"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37" name="正方形/長方形 36"/>
          <p:cNvSpPr/>
          <p:nvPr userDrawn="1"/>
        </p:nvSpPr>
        <p:spPr>
          <a:xfrm>
            <a:off x="-200668" y="-3521490"/>
            <a:ext cx="11734664"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38" name="正方形/長方形 37"/>
          <p:cNvSpPr/>
          <p:nvPr userDrawn="1"/>
        </p:nvSpPr>
        <p:spPr>
          <a:xfrm>
            <a:off x="9918182"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27" name="楕円 26"/>
          <p:cNvSpPr/>
          <p:nvPr userDrawn="1"/>
        </p:nvSpPr>
        <p:spPr>
          <a:xfrm>
            <a:off x="10081668" y="4975634"/>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28" name="楕円 27"/>
          <p:cNvSpPr/>
          <p:nvPr userDrawn="1"/>
        </p:nvSpPr>
        <p:spPr>
          <a:xfrm>
            <a:off x="10081668" y="3641508"/>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29" name="楕円 28"/>
          <p:cNvSpPr/>
          <p:nvPr userDrawn="1"/>
        </p:nvSpPr>
        <p:spPr>
          <a:xfrm>
            <a:off x="10081668" y="2307384"/>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30" name="楕円 29"/>
          <p:cNvSpPr/>
          <p:nvPr userDrawn="1"/>
        </p:nvSpPr>
        <p:spPr>
          <a:xfrm>
            <a:off x="10081668" y="973259"/>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31" name="四角形吹き出し 30"/>
          <p:cNvSpPr/>
          <p:nvPr userDrawn="1"/>
        </p:nvSpPr>
        <p:spPr>
          <a:xfrm>
            <a:off x="10657070"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文字の色</a:t>
            </a:r>
          </a:p>
        </p:txBody>
      </p:sp>
      <p:sp>
        <p:nvSpPr>
          <p:cNvPr id="32" name="四角形吹き出し 31"/>
          <p:cNvSpPr/>
          <p:nvPr userDrawn="1"/>
        </p:nvSpPr>
        <p:spPr>
          <a:xfrm>
            <a:off x="10657070"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やじるしなどの図形の色</a:t>
            </a:r>
          </a:p>
        </p:txBody>
      </p:sp>
      <p:sp>
        <p:nvSpPr>
          <p:cNvPr id="33" name="四角形吹き出し 32"/>
          <p:cNvSpPr/>
          <p:nvPr userDrawn="1"/>
        </p:nvSpPr>
        <p:spPr>
          <a:xfrm>
            <a:off x="10657070"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ベースの色</a:t>
            </a:r>
          </a:p>
        </p:txBody>
      </p:sp>
      <p:sp>
        <p:nvSpPr>
          <p:cNvPr id="34" name="四角形吹き出し 33"/>
          <p:cNvSpPr/>
          <p:nvPr userDrawn="1"/>
        </p:nvSpPr>
        <p:spPr>
          <a:xfrm>
            <a:off x="10657070"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タイトル（目次と対応させてください。）</a:t>
            </a:r>
            <a:endParaRPr kumimoji="1" lang="en-US" altLang="ja-JP" sz="1097" dirty="0"/>
          </a:p>
          <a:p>
            <a:pPr algn="ctr"/>
            <a:r>
              <a:rPr kumimoji="1" lang="ja-JP" altLang="en-US" sz="1097" dirty="0"/>
              <a:t>フォント：メイリオ見出し</a:t>
            </a:r>
            <a:endParaRPr kumimoji="1" lang="en-US" altLang="ja-JP" sz="1097" dirty="0"/>
          </a:p>
          <a:p>
            <a:pPr algn="ctr"/>
            <a:r>
              <a:rPr lang="ja-JP" altLang="en-US" sz="1097" dirty="0"/>
              <a:t>サイズ：</a:t>
            </a:r>
            <a:r>
              <a:rPr lang="en-US" altLang="ja-JP" sz="1097" dirty="0"/>
              <a:t>48</a:t>
            </a:r>
          </a:p>
          <a:p>
            <a:pPr algn="ctr"/>
            <a:r>
              <a:rPr lang="ja-JP" altLang="en-US" sz="1097" dirty="0"/>
              <a:t>ボールド</a:t>
            </a:r>
            <a:endParaRPr lang="en-US" altLang="ja-JP" sz="1097" dirty="0"/>
          </a:p>
          <a:p>
            <a:pPr algn="ctr"/>
            <a:r>
              <a:rPr lang="ja-JP" altLang="en-US" sz="1097" dirty="0"/>
              <a:t>真ん中寄せ</a:t>
            </a:r>
            <a:endParaRPr kumimoji="1" lang="en-US" altLang="ja-JP" sz="1097" dirty="0"/>
          </a:p>
        </p:txBody>
      </p:sp>
      <p:sp>
        <p:nvSpPr>
          <p:cNvPr id="45" name="四角形吹き出し 44"/>
          <p:cNvSpPr/>
          <p:nvPr userDrawn="1"/>
        </p:nvSpPr>
        <p:spPr>
          <a:xfrm>
            <a:off x="-2933550"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小見出し</a:t>
            </a:r>
            <a:endParaRPr kumimoji="1" lang="en-US" altLang="ja-JP" sz="1097" dirty="0"/>
          </a:p>
          <a:p>
            <a:pPr algn="ctr"/>
            <a:r>
              <a:rPr kumimoji="1" lang="ja-JP" altLang="en-US" sz="1097" dirty="0"/>
              <a:t>フォント：メイリオ本文</a:t>
            </a:r>
            <a:endParaRPr kumimoji="1" lang="en-US" altLang="ja-JP" sz="1097" dirty="0"/>
          </a:p>
          <a:p>
            <a:pPr algn="ctr"/>
            <a:r>
              <a:rPr lang="ja-JP" altLang="en-US" sz="1097" dirty="0"/>
              <a:t>サイズ：</a:t>
            </a:r>
            <a:r>
              <a:rPr lang="en-US" altLang="ja-JP" sz="1097" dirty="0"/>
              <a:t>32</a:t>
            </a:r>
          </a:p>
          <a:p>
            <a:pPr algn="ctr"/>
            <a:r>
              <a:rPr lang="ja-JP" altLang="en-US" sz="1097" dirty="0"/>
              <a:t>ボールド</a:t>
            </a:r>
            <a:endParaRPr lang="en-US" altLang="ja-JP" sz="1097" dirty="0"/>
          </a:p>
          <a:p>
            <a:pPr algn="ctr"/>
            <a:r>
              <a:rPr kumimoji="1" lang="ja-JP" altLang="en-US" sz="1097" dirty="0"/>
              <a:t>左寄せ</a:t>
            </a:r>
            <a:endParaRPr kumimoji="1" lang="en-US" altLang="ja-JP" sz="1097" dirty="0"/>
          </a:p>
        </p:txBody>
      </p:sp>
      <p:sp>
        <p:nvSpPr>
          <p:cNvPr id="46" name="四角形吹き出し 45"/>
          <p:cNvSpPr/>
          <p:nvPr userDrawn="1"/>
        </p:nvSpPr>
        <p:spPr>
          <a:xfrm>
            <a:off x="-2933550"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本文</a:t>
            </a:r>
            <a:endParaRPr kumimoji="1" lang="en-US" altLang="ja-JP" sz="1097" dirty="0"/>
          </a:p>
          <a:p>
            <a:pPr algn="ctr"/>
            <a:r>
              <a:rPr kumimoji="1" lang="ja-JP" altLang="en-US" sz="1097" dirty="0"/>
              <a:t>フォント：メイリオ本文</a:t>
            </a:r>
            <a:endParaRPr kumimoji="1" lang="en-US" altLang="ja-JP" sz="1097" dirty="0"/>
          </a:p>
          <a:p>
            <a:pPr algn="ctr"/>
            <a:r>
              <a:rPr lang="ja-JP" altLang="en-US" sz="1097" dirty="0"/>
              <a:t>サイズ：</a:t>
            </a:r>
            <a:r>
              <a:rPr lang="en-US" altLang="ja-JP" sz="1097" dirty="0"/>
              <a:t>18</a:t>
            </a:r>
          </a:p>
          <a:p>
            <a:pPr algn="ctr"/>
            <a:r>
              <a:rPr kumimoji="1" lang="ja-JP" altLang="en-US" sz="1097" dirty="0"/>
              <a:t>左寄せ</a:t>
            </a:r>
            <a:endParaRPr kumimoji="1" lang="en-US" altLang="ja-JP" sz="1097" dirty="0"/>
          </a:p>
        </p:txBody>
      </p:sp>
      <p:sp>
        <p:nvSpPr>
          <p:cNvPr id="23" name="四角形吹き出し 22"/>
          <p:cNvSpPr/>
          <p:nvPr userDrawn="1"/>
        </p:nvSpPr>
        <p:spPr>
          <a:xfrm>
            <a:off x="10657070"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この赤ガイド線内に収まるように作成してください</a:t>
            </a:r>
          </a:p>
        </p:txBody>
      </p:sp>
    </p:spTree>
    <p:extLst>
      <p:ext uri="{BB962C8B-B14F-4D97-AF65-F5344CB8AC3E}">
        <p14:creationId xmlns:p14="http://schemas.microsoft.com/office/powerpoint/2010/main" val="1762095009"/>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84438440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63855536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91745856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74846923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437342069"/>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21736269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40315447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71834291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0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11140612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91924230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2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82875826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3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157441216"/>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4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42167933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5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26300916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6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97072234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7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22503225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8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778730266"/>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9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07982605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0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577527992"/>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1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65757162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2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17370845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3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94676324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4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78273959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5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51742415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6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645161495"/>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7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11734280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8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462757522"/>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9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158225123"/>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0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576358992"/>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1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044164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2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52193495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3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522076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4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98557532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5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545577533"/>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6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77133986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7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Tree>
    <p:extLst>
      <p:ext uri="{BB962C8B-B14F-4D97-AF65-F5344CB8AC3E}">
        <p14:creationId xmlns:p14="http://schemas.microsoft.com/office/powerpoint/2010/main" val="3897477953"/>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8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651948463"/>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9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213403396"/>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0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06490185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タイトル スライド">
    <p:spTree>
      <p:nvGrpSpPr>
        <p:cNvPr id="1" name=""/>
        <p:cNvGrpSpPr/>
        <p:nvPr/>
      </p:nvGrpSpPr>
      <p:grpSpPr>
        <a:xfrm>
          <a:off x="0" y="0"/>
          <a:ext cx="0" cy="0"/>
          <a:chOff x="0" y="0"/>
          <a:chExt cx="0" cy="0"/>
        </a:xfrm>
      </p:grpSpPr>
      <p:cxnSp>
        <p:nvCxnSpPr>
          <p:cNvPr id="7" name="直線コネクタ 6"/>
          <p:cNvCxnSpPr/>
          <p:nvPr userDrawn="1"/>
        </p:nvCxnSpPr>
        <p:spPr>
          <a:xfrm>
            <a:off x="0" y="620688"/>
            <a:ext cx="9906000"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userDrawn="1"/>
        </p:nvSpPr>
        <p:spPr>
          <a:xfrm>
            <a:off x="34397" y="6634602"/>
            <a:ext cx="3240360" cy="216024"/>
          </a:xfrm>
          <a:prstGeom prst="rect">
            <a:avLst/>
          </a:prstGeom>
          <a:noFill/>
        </p:spPr>
        <p:txBody>
          <a:bodyPr wrap="square" lIns="0" tIns="0" rIns="0" bIns="0" rtlCol="0" anchor="ctr">
            <a:noAutofit/>
          </a:bodyPr>
          <a:lstStyle/>
          <a:p>
            <a:pPr marL="0" marR="0" indent="0" algn="l" defTabSz="742950" rtl="0" eaLnBrk="1" fontAlgn="base" latinLnBrk="0" hangingPunct="1">
              <a:lnSpc>
                <a:spcPct val="125000"/>
              </a:lnSpc>
              <a:spcBef>
                <a:spcPct val="0"/>
              </a:spcBef>
              <a:spcAft>
                <a:spcPct val="0"/>
              </a:spcAft>
              <a:buClrTx/>
              <a:buSzTx/>
              <a:buFontTx/>
              <a:buNone/>
              <a:tabLst/>
              <a:defRPr/>
            </a:pPr>
            <a:r>
              <a:rPr lang="en-US" altLang="ja-JP" sz="650" dirty="0">
                <a:solidFill>
                  <a:schemeClr val="tx1"/>
                </a:solidFill>
                <a:latin typeface="Lucida Calligraphy" pitchFamily="66" charset="0"/>
                <a:ea typeface="Arial Unicode MS" pitchFamily="50" charset="-128"/>
                <a:cs typeface="Arial Unicode MS" pitchFamily="50" charset="-128"/>
              </a:rPr>
              <a:t>Copyright </a:t>
            </a:r>
            <a:r>
              <a:rPr lang="ja-JP" altLang="en-US" sz="650" dirty="0">
                <a:solidFill>
                  <a:schemeClr val="tx1"/>
                </a:solidFill>
                <a:latin typeface="Lucida Calligraphy" pitchFamily="66" charset="0"/>
                <a:ea typeface="Arial Unicode MS" pitchFamily="50" charset="-128"/>
                <a:cs typeface="Arial Unicode MS" pitchFamily="50" charset="-128"/>
              </a:rPr>
              <a:t> </a:t>
            </a:r>
            <a:r>
              <a:rPr lang="en-US" altLang="ja-JP" sz="650" dirty="0">
                <a:solidFill>
                  <a:schemeClr val="tx1"/>
                </a:solidFill>
                <a:latin typeface="Lucida Calligraphy" pitchFamily="66" charset="0"/>
                <a:ea typeface="Arial Unicode MS" pitchFamily="50" charset="-128"/>
                <a:cs typeface="Arial Unicode MS" pitchFamily="50" charset="-128"/>
              </a:rPr>
              <a:t>Funai Consulting Inc.</a:t>
            </a:r>
            <a:r>
              <a:rPr lang="ja-JP" altLang="en-US" sz="650" baseline="0" dirty="0">
                <a:solidFill>
                  <a:schemeClr val="tx1"/>
                </a:solidFill>
                <a:latin typeface="Lucida Calligraphy" pitchFamily="66" charset="0"/>
                <a:ea typeface="Arial Unicode MS" pitchFamily="50" charset="-128"/>
                <a:cs typeface="Arial Unicode MS" pitchFamily="50" charset="-128"/>
              </a:rPr>
              <a:t> </a:t>
            </a:r>
            <a:r>
              <a:rPr lang="en-US" altLang="ja-JP" sz="650" baseline="0" dirty="0">
                <a:solidFill>
                  <a:schemeClr val="tx1"/>
                </a:solidFill>
                <a:latin typeface="Lucida Calligraphy" pitchFamily="66" charset="0"/>
                <a:ea typeface="Arial Unicode MS" pitchFamily="50" charset="-128"/>
                <a:cs typeface="Arial Unicode MS" pitchFamily="50" charset="-128"/>
              </a:rPr>
              <a:t>All Rights Reserved.</a:t>
            </a:r>
            <a:endParaRPr kumimoji="1" lang="ja-JP" altLang="en-US" sz="650" kern="1200" dirty="0">
              <a:solidFill>
                <a:schemeClr val="tx1"/>
              </a:solidFill>
              <a:latin typeface="Lucida Calligraphy" pitchFamily="66" charset="0"/>
              <a:ea typeface="Arial Unicode MS" pitchFamily="50" charset="-128"/>
              <a:cs typeface="Arial Unicode MS" pitchFamily="50" charset="-128"/>
            </a:endParaRPr>
          </a:p>
        </p:txBody>
      </p:sp>
      <p:sp>
        <p:nvSpPr>
          <p:cNvPr id="11" name="スライド番号プレースホルダ 5"/>
          <p:cNvSpPr txBox="1">
            <a:spLocks/>
          </p:cNvSpPr>
          <p:nvPr userDrawn="1"/>
        </p:nvSpPr>
        <p:spPr>
          <a:xfrm>
            <a:off x="3797300" y="6592269"/>
            <a:ext cx="2311400" cy="365125"/>
          </a:xfrm>
          <a:prstGeom prst="rect">
            <a:avLst/>
          </a:prstGeom>
        </p:spPr>
        <p:txBody>
          <a:bodyPr vert="horz" lIns="74295" tIns="37148" rIns="74295" bIns="37148" rtlCol="0" anchor="ctr"/>
          <a:lstStyle>
            <a:lvl1pPr algn="ctr">
              <a:defRPr sz="900">
                <a:solidFill>
                  <a:schemeClr val="bg1"/>
                </a:solidFill>
                <a:latin typeface="HGSｺﾞｼｯｸM" pitchFamily="50" charset="-128"/>
                <a:ea typeface="HGSｺﾞｼｯｸM" pitchFamily="50" charset="-128"/>
              </a:defRPr>
            </a:lvl1pPr>
          </a:lstStyle>
          <a:p>
            <a:pPr marL="0" marR="0" lvl="0" indent="0" algn="ctr" defTabSz="742950" rtl="0" eaLnBrk="1" fontAlgn="auto" latinLnBrk="0" hangingPunct="1">
              <a:lnSpc>
                <a:spcPct val="100000"/>
              </a:lnSpc>
              <a:spcBef>
                <a:spcPts val="0"/>
              </a:spcBef>
              <a:spcAft>
                <a:spcPts val="0"/>
              </a:spcAft>
              <a:buClrTx/>
              <a:buSzTx/>
              <a:buFontTx/>
              <a:buNone/>
              <a:tabLst/>
              <a:defRPr/>
            </a:pPr>
            <a:fld id="{E1682566-0BE5-4691-A89E-B3D89F8502D1}" type="slidenum">
              <a:rPr kumimoji="1" lang="ja-JP" altLang="en-US" sz="731" b="0" i="0" u="none" strike="noStrike" kern="1200" cap="none" spc="0" normalizeH="0" baseline="0" noProof="0" smtClean="0">
                <a:ln>
                  <a:noFill/>
                </a:ln>
                <a:solidFill>
                  <a:schemeClr val="tx1"/>
                </a:solidFill>
                <a:effectLst/>
                <a:uLnTx/>
                <a:uFillTx/>
                <a:latin typeface="Meiryo UI" panose="020B0604030504040204" pitchFamily="50" charset="-128"/>
                <a:ea typeface="Meiryo UI" panose="020B0604030504040204" pitchFamily="50" charset="-128"/>
                <a:cs typeface="+mn-cs"/>
              </a:rPr>
              <a:pPr marL="0" marR="0" lvl="0" indent="0" algn="ctr" defTabSz="742950" rtl="0" eaLnBrk="1" fontAlgn="auto" latinLnBrk="0" hangingPunct="1">
                <a:lnSpc>
                  <a:spcPct val="100000"/>
                </a:lnSpc>
                <a:spcBef>
                  <a:spcPts val="0"/>
                </a:spcBef>
                <a:spcAft>
                  <a:spcPts val="0"/>
                </a:spcAft>
                <a:buClrTx/>
                <a:buSzTx/>
                <a:buFontTx/>
                <a:buNone/>
                <a:tabLst/>
                <a:defRPr/>
              </a:pPr>
              <a:t>‹#›</a:t>
            </a:fld>
            <a:endParaRPr kumimoji="1" lang="ja-JP" altLang="en-US" sz="731"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p:txBody>
      </p:sp>
      <p:sp>
        <p:nvSpPr>
          <p:cNvPr id="12" name="タイトル 1"/>
          <p:cNvSpPr>
            <a:spLocks noGrp="1"/>
          </p:cNvSpPr>
          <p:nvPr>
            <p:ph type="ctrTitle"/>
          </p:nvPr>
        </p:nvSpPr>
        <p:spPr>
          <a:xfrm>
            <a:off x="-2" y="8468"/>
            <a:ext cx="8949798" cy="620688"/>
          </a:xfrm>
        </p:spPr>
        <p:txBody>
          <a:bodyPr>
            <a:normAutofit/>
          </a:bodyPr>
          <a:lstStyle>
            <a:lvl1pPr>
              <a:defRPr sz="2600" b="1">
                <a:latin typeface="Meiryo UI" panose="020B0604030504040204" pitchFamily="50" charset="-128"/>
                <a:ea typeface="Meiryo UI" panose="020B0604030504040204" pitchFamily="50" charset="-128"/>
              </a:defRPr>
            </a:lvl1pPr>
          </a:lstStyle>
          <a:p>
            <a:r>
              <a:rPr kumimoji="1" lang="ja-JP" altLang="en-US"/>
              <a:t>マスタ タイトルの書式設定</a:t>
            </a:r>
          </a:p>
        </p:txBody>
      </p:sp>
      <p:pic>
        <p:nvPicPr>
          <p:cNvPr id="8" name="Picture 1" descr="C:\Users\F2034\Pictures\6.会社データ(ロゴ・サイン）\パターンC(タグ無し）\パターンC(タグ無し）カラー.png"/>
          <p:cNvPicPr>
            <a:picLocks noChangeAspect="1" noChangeArrowheads="1"/>
          </p:cNvPicPr>
          <p:nvPr userDrawn="1"/>
        </p:nvPicPr>
        <p:blipFill>
          <a:blip r:embed="rId2" cstate="print"/>
          <a:srcRect/>
          <a:stretch>
            <a:fillRect/>
          </a:stretch>
        </p:blipFill>
        <p:spPr bwMode="auto">
          <a:xfrm>
            <a:off x="8887351" y="68626"/>
            <a:ext cx="979838" cy="504000"/>
          </a:xfrm>
          <a:prstGeom prst="rect">
            <a:avLst/>
          </a:prstGeom>
          <a:noFill/>
        </p:spPr>
      </p:pic>
    </p:spTree>
    <p:extLst>
      <p:ext uri="{BB962C8B-B14F-4D97-AF65-F5344CB8AC3E}">
        <p14:creationId xmlns:p14="http://schemas.microsoft.com/office/powerpoint/2010/main" val="22510598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タイトル">
    <p:spTree>
      <p:nvGrpSpPr>
        <p:cNvPr id="1" name=""/>
        <p:cNvGrpSpPr/>
        <p:nvPr/>
      </p:nvGrpSpPr>
      <p:grpSpPr>
        <a:xfrm>
          <a:off x="0" y="0"/>
          <a:ext cx="0" cy="0"/>
          <a:chOff x="0" y="0"/>
          <a:chExt cx="0" cy="0"/>
        </a:xfrm>
      </p:grpSpPr>
      <p:sp>
        <p:nvSpPr>
          <p:cNvPr id="4" name="日付プレースホルダ 3"/>
          <p:cNvSpPr>
            <a:spLocks noGrp="1"/>
          </p:cNvSpPr>
          <p:nvPr>
            <p:ph type="dt" sz="half" idx="10"/>
          </p:nvPr>
        </p:nvSpPr>
        <p:spPr/>
        <p:txBody>
          <a:bodyPr/>
          <a:lstStyle/>
          <a:p>
            <a:fld id="{291B9067-D5A7-4D20-AE49-915E5BDB9F4F}"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Line 6">
            <a:extLst>
              <a:ext uri="{FF2B5EF4-FFF2-40B4-BE49-F238E27FC236}">
                <a16:creationId xmlns:a16="http://schemas.microsoft.com/office/drawing/2014/main" id="{8E823636-1305-4F53-9866-547E7D8CE7E8}"/>
              </a:ext>
            </a:extLst>
          </p:cNvPr>
          <p:cNvSpPr>
            <a:spLocks noChangeShapeType="1"/>
          </p:cNvSpPr>
          <p:nvPr userDrawn="1"/>
        </p:nvSpPr>
        <p:spPr bwMode="auto">
          <a:xfrm>
            <a:off x="438150" y="3403600"/>
            <a:ext cx="8979346" cy="0"/>
          </a:xfrm>
          <a:prstGeom prst="line">
            <a:avLst/>
          </a:prstGeom>
          <a:noFill/>
          <a:ln w="38100">
            <a:solidFill>
              <a:srgbClr val="808080"/>
            </a:solidFill>
            <a:round/>
            <a:headEnd/>
            <a:tailEnd/>
          </a:ln>
        </p:spPr>
        <p:txBody>
          <a:bodyPr/>
          <a:lstStyle/>
          <a:p>
            <a:endParaRPr lang="ja-JP" altLang="en-US"/>
          </a:p>
        </p:txBody>
      </p:sp>
      <p:pic>
        <p:nvPicPr>
          <p:cNvPr id="7" name="図 6" descr="パターンA_カラー.jpg">
            <a:extLst>
              <a:ext uri="{FF2B5EF4-FFF2-40B4-BE49-F238E27FC236}">
                <a16:creationId xmlns:a16="http://schemas.microsoft.com/office/drawing/2014/main" id="{3DBCC9CD-6C0C-47EC-80E8-87633DBE3D9B}"/>
              </a:ext>
            </a:extLst>
          </p:cNvPr>
          <p:cNvPicPr>
            <a:picLocks noChangeAspect="1"/>
          </p:cNvPicPr>
          <p:nvPr userDrawn="1"/>
        </p:nvPicPr>
        <p:blipFill>
          <a:blip r:embed="rId2" cstate="print"/>
          <a:stretch>
            <a:fillRect/>
          </a:stretch>
        </p:blipFill>
        <p:spPr>
          <a:xfrm>
            <a:off x="8193360" y="6453336"/>
            <a:ext cx="1512168" cy="263485"/>
          </a:xfrm>
          <a:prstGeom prst="rect">
            <a:avLst/>
          </a:prstGeom>
        </p:spPr>
      </p:pic>
      <p:sp>
        <p:nvSpPr>
          <p:cNvPr id="9" name="コンテンツ プレースホルダー 8">
            <a:extLst>
              <a:ext uri="{FF2B5EF4-FFF2-40B4-BE49-F238E27FC236}">
                <a16:creationId xmlns:a16="http://schemas.microsoft.com/office/drawing/2014/main" id="{4AFCC08E-3E46-4DAF-AB38-B8819EC7D9A5}"/>
              </a:ext>
            </a:extLst>
          </p:cNvPr>
          <p:cNvSpPr>
            <a:spLocks noGrp="1"/>
          </p:cNvSpPr>
          <p:nvPr>
            <p:ph sz="quarter" idx="12" hasCustomPrompt="1"/>
          </p:nvPr>
        </p:nvSpPr>
        <p:spPr>
          <a:xfrm>
            <a:off x="704528" y="2564904"/>
            <a:ext cx="5545138" cy="719138"/>
          </a:xfrm>
        </p:spPr>
        <p:txBody>
          <a:bodyPr>
            <a:noAutofit/>
          </a:bodyPr>
          <a:lstStyle>
            <a:lvl1pPr marL="0" indent="0">
              <a:buNone/>
              <a:defRPr sz="4400" b="1"/>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〇月度お打合せ資料</a:t>
            </a:r>
          </a:p>
        </p:txBody>
      </p:sp>
      <p:sp>
        <p:nvSpPr>
          <p:cNvPr id="10" name="コンテンツ プレースホルダー 8">
            <a:extLst>
              <a:ext uri="{FF2B5EF4-FFF2-40B4-BE49-F238E27FC236}">
                <a16:creationId xmlns:a16="http://schemas.microsoft.com/office/drawing/2014/main" id="{28B2D2FF-C2AA-40BF-9A54-68583069E683}"/>
              </a:ext>
            </a:extLst>
          </p:cNvPr>
          <p:cNvSpPr>
            <a:spLocks noGrp="1"/>
          </p:cNvSpPr>
          <p:nvPr>
            <p:ph sz="quarter" idx="13" hasCustomPrompt="1"/>
          </p:nvPr>
        </p:nvSpPr>
        <p:spPr>
          <a:xfrm>
            <a:off x="704528" y="2085777"/>
            <a:ext cx="5545138" cy="719138"/>
          </a:xfrm>
        </p:spPr>
        <p:txBody>
          <a:bodyPr>
            <a:noAutofit/>
          </a:bodyPr>
          <a:lstStyle>
            <a:lvl1pPr marL="0" indent="0">
              <a:buNone/>
              <a:defRPr sz="2400" b="1">
                <a:solidFill>
                  <a:schemeClr val="bg1">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株式会社御中</a:t>
            </a:r>
          </a:p>
        </p:txBody>
      </p:sp>
      <p:sp>
        <p:nvSpPr>
          <p:cNvPr id="11" name="コンテンツ プレースホルダー 8">
            <a:extLst>
              <a:ext uri="{FF2B5EF4-FFF2-40B4-BE49-F238E27FC236}">
                <a16:creationId xmlns:a16="http://schemas.microsoft.com/office/drawing/2014/main" id="{ECF04A37-370B-4768-A875-EF9C667848E9}"/>
              </a:ext>
            </a:extLst>
          </p:cNvPr>
          <p:cNvSpPr>
            <a:spLocks noGrp="1"/>
          </p:cNvSpPr>
          <p:nvPr>
            <p:ph sz="quarter" idx="14" hasCustomPrompt="1"/>
          </p:nvPr>
        </p:nvSpPr>
        <p:spPr>
          <a:xfrm>
            <a:off x="4736976" y="3433465"/>
            <a:ext cx="5545138" cy="719138"/>
          </a:xfrm>
        </p:spPr>
        <p:txBody>
          <a:bodyPr>
            <a:noAutofit/>
          </a:bodyPr>
          <a:lstStyle>
            <a:lvl1pPr marL="0" indent="0">
              <a:buNone/>
              <a:defRPr sz="2400" b="1">
                <a:solidFill>
                  <a:schemeClr val="bg1">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日付</a:t>
            </a:r>
          </a:p>
        </p:txBody>
      </p:sp>
    </p:spTree>
    <p:extLst>
      <p:ext uri="{BB962C8B-B14F-4D97-AF65-F5344CB8AC3E}">
        <p14:creationId xmlns:p14="http://schemas.microsoft.com/office/powerpoint/2010/main" val="149912360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アジェンダ">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8AEF3C9B-15A5-4754-B97A-474B280C6C7E}"/>
              </a:ext>
            </a:extLst>
          </p:cNvPr>
          <p:cNvSpPr>
            <a:spLocks noGrp="1"/>
          </p:cNvSpPr>
          <p:nvPr>
            <p:ph type="dt" sz="half" idx="10"/>
          </p:nvPr>
        </p:nvSpPr>
        <p:spPr/>
        <p:txBody>
          <a:bodyPr/>
          <a:lstStyle/>
          <a:p>
            <a:fld id="{5ED59477-32A0-4799-AD80-C098563D5CC0}" type="datetime1">
              <a:rPr kumimoji="1" lang="ja-JP" altLang="en-US" smtClean="0"/>
              <a:pPr/>
              <a:t>2026/5/20</a:t>
            </a:fld>
            <a:endParaRPr kumimoji="1" lang="ja-JP" altLang="en-US"/>
          </a:p>
        </p:txBody>
      </p:sp>
      <p:sp>
        <p:nvSpPr>
          <p:cNvPr id="4" name="フッター プレースホルダー 3">
            <a:extLst>
              <a:ext uri="{FF2B5EF4-FFF2-40B4-BE49-F238E27FC236}">
                <a16:creationId xmlns:a16="http://schemas.microsoft.com/office/drawing/2014/main" id="{2CD5602E-9916-437E-9C25-C8047E099BE4}"/>
              </a:ext>
            </a:extLst>
          </p:cNvPr>
          <p:cNvSpPr>
            <a:spLocks noGrp="1"/>
          </p:cNvSpPr>
          <p:nvPr>
            <p:ph type="ftr" sz="quarter" idx="11"/>
          </p:nvPr>
        </p:nvSpPr>
        <p:spPr/>
        <p:txBody>
          <a:bodyPr/>
          <a:lstStyle/>
          <a:p>
            <a:endParaRPr kumimoji="1" lang="ja-JP" altLang="en-US"/>
          </a:p>
        </p:txBody>
      </p:sp>
      <p:sp>
        <p:nvSpPr>
          <p:cNvPr id="5" name="テキスト ボックス 4">
            <a:extLst>
              <a:ext uri="{FF2B5EF4-FFF2-40B4-BE49-F238E27FC236}">
                <a16:creationId xmlns:a16="http://schemas.microsoft.com/office/drawing/2014/main" id="{6B43BD0A-BD54-4DF0-A3BE-6D3FA31F9069}"/>
              </a:ext>
            </a:extLst>
          </p:cNvPr>
          <p:cNvSpPr txBox="1"/>
          <p:nvPr userDrawn="1"/>
        </p:nvSpPr>
        <p:spPr>
          <a:xfrm>
            <a:off x="-15552" y="44624"/>
            <a:ext cx="6408712" cy="523220"/>
          </a:xfrm>
          <a:prstGeom prst="rect">
            <a:avLst/>
          </a:prstGeom>
          <a:noFill/>
        </p:spPr>
        <p:txBody>
          <a:bodyPr wrap="square" rtlCol="0">
            <a:spAutoFit/>
          </a:bodyPr>
          <a:lstStyle/>
          <a:p>
            <a:r>
              <a:rPr lang="ja-JP" altLang="en-US" sz="2800" b="1" dirty="0">
                <a:solidFill>
                  <a:schemeClr val="tx1">
                    <a:lumMod val="95000"/>
                    <a:lumOff val="5000"/>
                  </a:schemeClr>
                </a:solidFill>
                <a:latin typeface="Meiryo UI" panose="020B0604030504040204" pitchFamily="50" charset="-128"/>
                <a:ea typeface="Meiryo UI" panose="020B0604030504040204" pitchFamily="50" charset="-128"/>
                <a:cs typeface="メイリオ" pitchFamily="50" charset="-128"/>
              </a:rPr>
              <a:t>本日のお打合せ内容</a:t>
            </a:r>
            <a:endParaRPr kumimoji="1" lang="ja-JP" altLang="en-US" sz="2800" b="1" dirty="0">
              <a:solidFill>
                <a:schemeClr val="tx1">
                  <a:lumMod val="95000"/>
                  <a:lumOff val="5000"/>
                </a:schemeClr>
              </a:solidFill>
              <a:latin typeface="Meiryo UI" panose="020B0604030504040204" pitchFamily="50" charset="-128"/>
              <a:ea typeface="Meiryo UI" panose="020B0604030504040204" pitchFamily="50" charset="-128"/>
              <a:cs typeface="メイリオ" pitchFamily="50" charset="-128"/>
            </a:endParaRPr>
          </a:p>
        </p:txBody>
      </p:sp>
      <p:sp>
        <p:nvSpPr>
          <p:cNvPr id="6" name="正方形/長方形 5">
            <a:extLst>
              <a:ext uri="{FF2B5EF4-FFF2-40B4-BE49-F238E27FC236}">
                <a16:creationId xmlns:a16="http://schemas.microsoft.com/office/drawing/2014/main" id="{C1EA3A4F-1EF2-4A9E-BD1F-DE9A3E01A425}"/>
              </a:ext>
            </a:extLst>
          </p:cNvPr>
          <p:cNvSpPr/>
          <p:nvPr userDrawn="1"/>
        </p:nvSpPr>
        <p:spPr>
          <a:xfrm>
            <a:off x="69725" y="666126"/>
            <a:ext cx="2592000" cy="29237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Meiryo UI" panose="020B0604030504040204" pitchFamily="50" charset="-128"/>
                <a:ea typeface="Meiryo UI" panose="020B0604030504040204" pitchFamily="50" charset="-128"/>
              </a:rPr>
              <a:t>お打合せ事項</a:t>
            </a:r>
            <a:endParaRPr kumimoji="1" lang="ja-JP" altLang="en-US" sz="1600" b="1" dirty="0">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E7B66B0E-B525-4135-A640-3C5077DFBABA}"/>
              </a:ext>
            </a:extLst>
          </p:cNvPr>
          <p:cNvSpPr/>
          <p:nvPr userDrawn="1"/>
        </p:nvSpPr>
        <p:spPr>
          <a:xfrm>
            <a:off x="72749" y="3911838"/>
            <a:ext cx="2592000" cy="29237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Meiryo UI" panose="020B0604030504040204" pitchFamily="50" charset="-128"/>
                <a:ea typeface="Meiryo UI" panose="020B0604030504040204" pitchFamily="50" charset="-128"/>
              </a:rPr>
              <a:t>次回お打合せ日程</a:t>
            </a:r>
            <a:endParaRPr kumimoji="1" lang="ja-JP" altLang="en-US" sz="1600" b="1" dirty="0">
              <a:latin typeface="Meiryo UI" panose="020B0604030504040204" pitchFamily="50" charset="-128"/>
              <a:ea typeface="Meiryo UI" panose="020B0604030504040204" pitchFamily="50" charset="-128"/>
            </a:endParaRPr>
          </a:p>
        </p:txBody>
      </p:sp>
      <p:cxnSp>
        <p:nvCxnSpPr>
          <p:cNvPr id="11" name="直線コネクタ 10">
            <a:extLst>
              <a:ext uri="{FF2B5EF4-FFF2-40B4-BE49-F238E27FC236}">
                <a16:creationId xmlns:a16="http://schemas.microsoft.com/office/drawing/2014/main" id="{F0CE6683-2EEC-4A4B-B2A1-E385C7062BF3}"/>
              </a:ext>
            </a:extLst>
          </p:cNvPr>
          <p:cNvCxnSpPr/>
          <p:nvPr userDrawn="1"/>
        </p:nvCxnSpPr>
        <p:spPr>
          <a:xfrm>
            <a:off x="0" y="620688"/>
            <a:ext cx="9906000"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12" name="Picture 1" descr="C:\Users\F2034\Pictures\6.会社データ(ロゴ・サイン）\パターンC(タグ無し）\パターンC(タグ無し）カラー.png">
            <a:extLst>
              <a:ext uri="{FF2B5EF4-FFF2-40B4-BE49-F238E27FC236}">
                <a16:creationId xmlns:a16="http://schemas.microsoft.com/office/drawing/2014/main" id="{8872FC31-1813-49E9-8E6B-E9B5CED7B01D}"/>
              </a:ext>
            </a:extLst>
          </p:cNvPr>
          <p:cNvPicPr>
            <a:picLocks noChangeAspect="1" noChangeArrowheads="1"/>
          </p:cNvPicPr>
          <p:nvPr userDrawn="1"/>
        </p:nvPicPr>
        <p:blipFill>
          <a:blip r:embed="rId2" cstate="print"/>
          <a:srcRect/>
          <a:stretch>
            <a:fillRect/>
          </a:stretch>
        </p:blipFill>
        <p:spPr bwMode="auto">
          <a:xfrm>
            <a:off x="8841432" y="68626"/>
            <a:ext cx="979838" cy="504000"/>
          </a:xfrm>
          <a:prstGeom prst="rect">
            <a:avLst/>
          </a:prstGeom>
          <a:noFill/>
        </p:spPr>
      </p:pic>
      <p:sp>
        <p:nvSpPr>
          <p:cNvPr id="13" name="正方形/長方形 12">
            <a:extLst>
              <a:ext uri="{FF2B5EF4-FFF2-40B4-BE49-F238E27FC236}">
                <a16:creationId xmlns:a16="http://schemas.microsoft.com/office/drawing/2014/main" id="{AC1EA9E4-A15B-418D-B69C-E609A5DDD9EC}"/>
              </a:ext>
            </a:extLst>
          </p:cNvPr>
          <p:cNvSpPr/>
          <p:nvPr userDrawn="1"/>
        </p:nvSpPr>
        <p:spPr>
          <a:xfrm>
            <a:off x="0" y="6678000"/>
            <a:ext cx="9906000" cy="18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A78DDC5E-044B-4C3D-BEA8-24AF979B3258}"/>
              </a:ext>
            </a:extLst>
          </p:cNvPr>
          <p:cNvSpPr txBox="1"/>
          <p:nvPr userDrawn="1"/>
        </p:nvSpPr>
        <p:spPr>
          <a:xfrm>
            <a:off x="6609184" y="6649964"/>
            <a:ext cx="3240360" cy="216024"/>
          </a:xfrm>
          <a:prstGeom prst="rect">
            <a:avLst/>
          </a:prstGeom>
          <a:noFill/>
        </p:spPr>
        <p:txBody>
          <a:bodyPr wrap="square" lIns="0" tIns="0" rIns="0" bIns="0" rtlCol="0" anchor="ctr">
            <a:noAutofit/>
          </a:bodyPr>
          <a:lstStyle/>
          <a:p>
            <a:pPr marL="0" marR="0" indent="0" algn="r" defTabSz="914400" rtl="0" eaLnBrk="1" fontAlgn="base" latinLnBrk="0" hangingPunct="1">
              <a:lnSpc>
                <a:spcPct val="125000"/>
              </a:lnSpc>
              <a:spcBef>
                <a:spcPct val="0"/>
              </a:spcBef>
              <a:spcAft>
                <a:spcPct val="0"/>
              </a:spcAft>
              <a:buClrTx/>
              <a:buSzTx/>
              <a:buFontTx/>
              <a:buNone/>
              <a:tabLst/>
              <a:defRPr/>
            </a:pPr>
            <a:r>
              <a:rPr lang="en-US" altLang="ja-JP" sz="800" dirty="0">
                <a:solidFill>
                  <a:schemeClr val="bg1"/>
                </a:solidFill>
                <a:latin typeface="Lucida Calligraphy" pitchFamily="66" charset="0"/>
                <a:ea typeface="Arial Unicode MS" pitchFamily="50" charset="-128"/>
                <a:cs typeface="Arial Unicode MS" pitchFamily="50" charset="-128"/>
              </a:rPr>
              <a:t>Copyright</a:t>
            </a:r>
            <a:r>
              <a:rPr lang="ja-JP" altLang="en-US" sz="800" dirty="0">
                <a:solidFill>
                  <a:schemeClr val="bg1"/>
                </a:solidFill>
                <a:latin typeface="Lucida Calligraphy" pitchFamily="66" charset="0"/>
                <a:ea typeface="Arial Unicode MS" pitchFamily="50" charset="-128"/>
                <a:cs typeface="Arial Unicode MS" pitchFamily="50" charset="-128"/>
              </a:rPr>
              <a:t> </a:t>
            </a:r>
            <a:r>
              <a:rPr lang="en-US" altLang="ja-JP" sz="800" dirty="0">
                <a:solidFill>
                  <a:schemeClr val="bg1"/>
                </a:solidFill>
                <a:latin typeface="Lucida Calligraphy" pitchFamily="66" charset="0"/>
                <a:ea typeface="Arial Unicode MS" pitchFamily="50" charset="-128"/>
                <a:cs typeface="Arial Unicode MS" pitchFamily="50" charset="-128"/>
              </a:rPr>
              <a:t>Funai Consulting Inc.</a:t>
            </a:r>
            <a:r>
              <a:rPr lang="ja-JP" altLang="en-US" sz="800" baseline="0" dirty="0">
                <a:solidFill>
                  <a:schemeClr val="bg1"/>
                </a:solidFill>
                <a:latin typeface="Lucida Calligraphy" pitchFamily="66" charset="0"/>
                <a:ea typeface="Arial Unicode MS" pitchFamily="50" charset="-128"/>
                <a:cs typeface="Arial Unicode MS" pitchFamily="50" charset="-128"/>
              </a:rPr>
              <a:t> </a:t>
            </a:r>
            <a:r>
              <a:rPr lang="en-US" altLang="ja-JP" sz="800" baseline="0" dirty="0">
                <a:solidFill>
                  <a:schemeClr val="bg1"/>
                </a:solidFill>
                <a:latin typeface="Lucida Calligraphy" pitchFamily="66" charset="0"/>
                <a:ea typeface="Arial Unicode MS" pitchFamily="50" charset="-128"/>
                <a:cs typeface="Arial Unicode MS" pitchFamily="50" charset="-128"/>
              </a:rPr>
              <a:t>All Rights Reserved.</a:t>
            </a:r>
            <a:endParaRPr kumimoji="1" lang="ja-JP" altLang="en-US" sz="800" kern="1200" dirty="0">
              <a:solidFill>
                <a:schemeClr val="bg1"/>
              </a:solidFill>
              <a:latin typeface="Lucida Calligraphy" pitchFamily="66" charset="0"/>
              <a:ea typeface="Arial Unicode MS" pitchFamily="50" charset="-128"/>
              <a:cs typeface="Arial Unicode MS" pitchFamily="50" charset="-128"/>
            </a:endParaRPr>
          </a:p>
        </p:txBody>
      </p:sp>
      <p:sp>
        <p:nvSpPr>
          <p:cNvPr id="15" name="スライド番号プレースホルダ 5">
            <a:extLst>
              <a:ext uri="{FF2B5EF4-FFF2-40B4-BE49-F238E27FC236}">
                <a16:creationId xmlns:a16="http://schemas.microsoft.com/office/drawing/2014/main" id="{52F86702-B75D-40EF-96B7-30E910044692}"/>
              </a:ext>
            </a:extLst>
          </p:cNvPr>
          <p:cNvSpPr txBox="1">
            <a:spLocks/>
          </p:cNvSpPr>
          <p:nvPr userDrawn="1"/>
        </p:nvSpPr>
        <p:spPr>
          <a:xfrm>
            <a:off x="3797300" y="6592267"/>
            <a:ext cx="2311400" cy="365125"/>
          </a:xfrm>
          <a:prstGeom prst="rect">
            <a:avLst/>
          </a:prstGeom>
        </p:spPr>
        <p:txBody>
          <a:bodyPr vert="horz" lIns="91440" tIns="45720" rIns="91440" bIns="45720" rtlCol="0" anchor="ctr"/>
          <a:lstStyle>
            <a:lvl1pPr algn="ctr">
              <a:defRPr sz="900">
                <a:solidFill>
                  <a:schemeClr val="bg1"/>
                </a:solidFill>
                <a:latin typeface="HGSｺﾞｼｯｸM" pitchFamily="50" charset="-128"/>
                <a:ea typeface="HGSｺﾞｼｯｸM"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1682566-0BE5-4691-A89E-B3D89F8502D1}" type="slidenum">
              <a:rPr kumimoji="1" lang="ja-JP" altLang="en-US" sz="900" b="0" i="0" u="none" strike="noStrike" kern="1200" cap="none" spc="0" normalizeH="0" baseline="0" noProof="0" smtClean="0">
                <a:ln>
                  <a:noFill/>
                </a:ln>
                <a:solidFill>
                  <a:schemeClr val="bg1"/>
                </a:solidFill>
                <a:effectLst/>
                <a:uLnTx/>
                <a:uFillTx/>
                <a:latin typeface="HGSｺﾞｼｯｸM" pitchFamily="50" charset="-128"/>
                <a:ea typeface="HGSｺﾞｼｯｸM"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a:ln>
                <a:noFill/>
              </a:ln>
              <a:solidFill>
                <a:schemeClr val="bg1"/>
              </a:solidFill>
              <a:effectLst/>
              <a:uLnTx/>
              <a:uFillTx/>
              <a:latin typeface="HGSｺﾞｼｯｸM" pitchFamily="50" charset="-128"/>
              <a:ea typeface="HGSｺﾞｼｯｸM" pitchFamily="50" charset="-128"/>
              <a:cs typeface="+mn-cs"/>
            </a:endParaRPr>
          </a:p>
        </p:txBody>
      </p:sp>
      <p:sp>
        <p:nvSpPr>
          <p:cNvPr id="17" name="テキスト プレースホルダー 16">
            <a:extLst>
              <a:ext uri="{FF2B5EF4-FFF2-40B4-BE49-F238E27FC236}">
                <a16:creationId xmlns:a16="http://schemas.microsoft.com/office/drawing/2014/main" id="{8C66AEEA-90B1-4FF5-983E-12E09DD675E4}"/>
              </a:ext>
            </a:extLst>
          </p:cNvPr>
          <p:cNvSpPr>
            <a:spLocks noGrp="1"/>
          </p:cNvSpPr>
          <p:nvPr>
            <p:ph type="body" sz="quarter" idx="12" hasCustomPrompt="1"/>
          </p:nvPr>
        </p:nvSpPr>
        <p:spPr>
          <a:xfrm>
            <a:off x="239500" y="1129818"/>
            <a:ext cx="5505450" cy="1792288"/>
          </a:xfrm>
        </p:spPr>
        <p:txBody>
          <a:bodyPr>
            <a:normAutofit/>
          </a:bodyPr>
          <a:lstStyle>
            <a:lvl1pPr marL="0" indent="0">
              <a:buFont typeface="+mj-ea"/>
              <a:buNone/>
              <a:defRPr sz="2400" b="1"/>
            </a:lvl1pPr>
          </a:lstStyle>
          <a:p>
            <a:pPr lvl="0"/>
            <a:r>
              <a:rPr kumimoji="1" lang="ja-JP" altLang="en-US" dirty="0"/>
              <a:t>①</a:t>
            </a:r>
            <a:endParaRPr kumimoji="1" lang="en-US" altLang="ja-JP" dirty="0"/>
          </a:p>
          <a:p>
            <a:pPr lvl="0"/>
            <a:r>
              <a:rPr kumimoji="1" lang="ja-JP" altLang="en-US" dirty="0"/>
              <a:t>②</a:t>
            </a:r>
            <a:endParaRPr kumimoji="1" lang="en-US" altLang="ja-JP" dirty="0"/>
          </a:p>
        </p:txBody>
      </p:sp>
      <p:sp>
        <p:nvSpPr>
          <p:cNvPr id="20" name="テキスト プレースホルダー 16">
            <a:extLst>
              <a:ext uri="{FF2B5EF4-FFF2-40B4-BE49-F238E27FC236}">
                <a16:creationId xmlns:a16="http://schemas.microsoft.com/office/drawing/2014/main" id="{347F4DAF-2DE1-4CC8-9835-4DFC642B513E}"/>
              </a:ext>
            </a:extLst>
          </p:cNvPr>
          <p:cNvSpPr>
            <a:spLocks noGrp="1"/>
          </p:cNvSpPr>
          <p:nvPr>
            <p:ph type="body" sz="quarter" idx="13" hasCustomPrompt="1"/>
          </p:nvPr>
        </p:nvSpPr>
        <p:spPr>
          <a:xfrm>
            <a:off x="239500" y="4374514"/>
            <a:ext cx="5505450" cy="1792288"/>
          </a:xfrm>
        </p:spPr>
        <p:txBody>
          <a:bodyPr>
            <a:normAutofit/>
          </a:bodyPr>
          <a:lstStyle>
            <a:lvl1pPr marL="0" indent="0">
              <a:buFont typeface="+mj-ea"/>
              <a:buNone/>
              <a:defRPr sz="1800" b="1"/>
            </a:lvl1pPr>
          </a:lstStyle>
          <a:p>
            <a:pPr lvl="0"/>
            <a:r>
              <a:rPr kumimoji="1" lang="en-US" altLang="ja-JP" dirty="0"/>
              <a:t>2024</a:t>
            </a:r>
            <a:r>
              <a:rPr kumimoji="1" lang="ja-JP" altLang="en-US" dirty="0"/>
              <a:t>年</a:t>
            </a:r>
            <a:endParaRPr kumimoji="1" lang="en-US" altLang="ja-JP" dirty="0"/>
          </a:p>
        </p:txBody>
      </p:sp>
    </p:spTree>
    <p:extLst>
      <p:ext uri="{BB962C8B-B14F-4D97-AF65-F5344CB8AC3E}">
        <p14:creationId xmlns:p14="http://schemas.microsoft.com/office/powerpoint/2010/main" val="36961619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3600E18-DBF4-4DED-A3E8-EBDE8D9EA3B5}"/>
              </a:ext>
            </a:extLst>
          </p:cNvPr>
          <p:cNvSpPr/>
          <p:nvPr userDrawn="1"/>
        </p:nvSpPr>
        <p:spPr bwMode="auto">
          <a:xfrm>
            <a:off x="272480" y="332656"/>
            <a:ext cx="9454650" cy="6264696"/>
          </a:xfrm>
          <a:prstGeom prst="rect">
            <a:avLst/>
          </a:prstGeom>
          <a:solidFill>
            <a:schemeClr val="accent1">
              <a:lumMod val="20000"/>
              <a:lumOff val="80000"/>
            </a:schemeClr>
          </a:solidFill>
          <a:ln w="28575">
            <a:solidFill>
              <a:schemeClr val="tx2">
                <a:lumMod val="75000"/>
              </a:schemeClr>
            </a:solidFill>
            <a:miter lim="800000"/>
            <a:headEnd/>
            <a:tailEnd/>
          </a:ln>
        </p:spPr>
        <p:txBody>
          <a:bodyPr wrap="none" rtlCol="0" anchor="t"/>
          <a:lstStyle/>
          <a:p>
            <a:endParaRPr lang="en-US" altLang="ja-JP" sz="1400" dirty="0">
              <a:latin typeface="Meiryo UI" panose="020B0604030504040204" pitchFamily="50" charset="-128"/>
              <a:ea typeface="Meiryo UI" panose="020B0604030504040204" pitchFamily="50" charset="-128"/>
            </a:endParaRPr>
          </a:p>
          <a:p>
            <a:endParaRPr lang="en-US" altLang="ja-JP" sz="1400" dirty="0">
              <a:latin typeface="Meiryo UI" panose="020B0604030504040204" pitchFamily="50" charset="-128"/>
              <a:ea typeface="Meiryo UI" panose="020B0604030504040204" pitchFamily="50" charset="-128"/>
            </a:endParaRPr>
          </a:p>
          <a:p>
            <a:pPr lvl="2"/>
            <a:r>
              <a:rPr lang="ja-JP" altLang="en-US" sz="1600" dirty="0">
                <a:latin typeface="Meiryo UI" panose="020B0604030504040204" pitchFamily="50" charset="-128"/>
                <a:ea typeface="Meiryo UI" panose="020B0604030504040204" pitchFamily="50" charset="-128"/>
              </a:rPr>
              <a:t>   </a:t>
            </a:r>
          </a:p>
          <a:p>
            <a:pPr lvl="2"/>
            <a:endParaRPr lang="en-US" altLang="ja-JP" sz="1400" dirty="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84EF40AA-2D98-4C1A-9B75-77B4B1EC2A46}"/>
              </a:ext>
            </a:extLst>
          </p:cNvPr>
          <p:cNvSpPr/>
          <p:nvPr userDrawn="1"/>
        </p:nvSpPr>
        <p:spPr bwMode="auto">
          <a:xfrm>
            <a:off x="128464" y="188640"/>
            <a:ext cx="2592288" cy="432048"/>
          </a:xfrm>
          <a:prstGeom prst="rect">
            <a:avLst/>
          </a:prstGeom>
          <a:solidFill>
            <a:schemeClr val="tx2">
              <a:lumMod val="75000"/>
            </a:schemeClr>
          </a:solidFill>
          <a:ln w="9525">
            <a:noFill/>
            <a:miter lim="800000"/>
            <a:headEnd/>
            <a:tailEnd/>
          </a:ln>
        </p:spPr>
        <p:txBody>
          <a:bodyPr wrap="none" rtlCol="0" anchor="ctr"/>
          <a:lstStyle/>
          <a:p>
            <a:pPr algn="ctr"/>
            <a:r>
              <a:rPr kumimoji="1" lang="ja-JP" altLang="en-US" sz="1600" b="1" dirty="0">
                <a:solidFill>
                  <a:schemeClr val="bg1"/>
                </a:solidFill>
                <a:latin typeface="Meiryo UI" panose="020B0604030504040204" pitchFamily="50" charset="-128"/>
                <a:ea typeface="Meiryo UI" panose="020B0604030504040204" pitchFamily="50" charset="-128"/>
              </a:rPr>
              <a:t>決定事項</a:t>
            </a:r>
          </a:p>
        </p:txBody>
      </p:sp>
    </p:spTree>
    <p:extLst>
      <p:ext uri="{BB962C8B-B14F-4D97-AF65-F5344CB8AC3E}">
        <p14:creationId xmlns:p14="http://schemas.microsoft.com/office/powerpoint/2010/main" val="2542922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アジェンダ">
    <p:spTree>
      <p:nvGrpSpPr>
        <p:cNvPr id="1" name=""/>
        <p:cNvGrpSpPr/>
        <p:nvPr/>
      </p:nvGrpSpPr>
      <p:grpSpPr>
        <a:xfrm>
          <a:off x="0" y="0"/>
          <a:ext cx="0" cy="0"/>
          <a:chOff x="0" y="0"/>
          <a:chExt cx="0" cy="0"/>
        </a:xfrm>
      </p:grpSpPr>
      <p:cxnSp>
        <p:nvCxnSpPr>
          <p:cNvPr id="11" name="直線コネクタ 10">
            <a:extLst>
              <a:ext uri="{FF2B5EF4-FFF2-40B4-BE49-F238E27FC236}">
                <a16:creationId xmlns:a16="http://schemas.microsoft.com/office/drawing/2014/main" id="{F0CE6683-2EEC-4A4B-B2A1-E385C7062BF3}"/>
              </a:ext>
            </a:extLst>
          </p:cNvPr>
          <p:cNvCxnSpPr/>
          <p:nvPr userDrawn="1"/>
        </p:nvCxnSpPr>
        <p:spPr>
          <a:xfrm>
            <a:off x="0" y="620688"/>
            <a:ext cx="9906000"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12" name="Picture 1" descr="C:\Users\F2034\Pictures\6.会社データ(ロゴ・サイン）\パターンC(タグ無し）\パターンC(タグ無し）カラー.png">
            <a:extLst>
              <a:ext uri="{FF2B5EF4-FFF2-40B4-BE49-F238E27FC236}">
                <a16:creationId xmlns:a16="http://schemas.microsoft.com/office/drawing/2014/main" id="{8872FC31-1813-49E9-8E6B-E9B5CED7B01D}"/>
              </a:ext>
            </a:extLst>
          </p:cNvPr>
          <p:cNvPicPr>
            <a:picLocks noChangeAspect="1" noChangeArrowheads="1"/>
          </p:cNvPicPr>
          <p:nvPr userDrawn="1"/>
        </p:nvPicPr>
        <p:blipFill>
          <a:blip r:embed="rId2" cstate="print"/>
          <a:srcRect/>
          <a:stretch>
            <a:fillRect/>
          </a:stretch>
        </p:blipFill>
        <p:spPr bwMode="auto">
          <a:xfrm>
            <a:off x="8841432" y="68626"/>
            <a:ext cx="979838" cy="504000"/>
          </a:xfrm>
          <a:prstGeom prst="rect">
            <a:avLst/>
          </a:prstGeom>
          <a:noFill/>
        </p:spPr>
      </p:pic>
      <p:sp>
        <p:nvSpPr>
          <p:cNvPr id="13" name="正方形/長方形 12">
            <a:extLst>
              <a:ext uri="{FF2B5EF4-FFF2-40B4-BE49-F238E27FC236}">
                <a16:creationId xmlns:a16="http://schemas.microsoft.com/office/drawing/2014/main" id="{AC1EA9E4-A15B-418D-B69C-E609A5DDD9EC}"/>
              </a:ext>
            </a:extLst>
          </p:cNvPr>
          <p:cNvSpPr/>
          <p:nvPr userDrawn="1"/>
        </p:nvSpPr>
        <p:spPr>
          <a:xfrm>
            <a:off x="0" y="6678000"/>
            <a:ext cx="9906000" cy="18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A78DDC5E-044B-4C3D-BEA8-24AF979B3258}"/>
              </a:ext>
            </a:extLst>
          </p:cNvPr>
          <p:cNvSpPr txBox="1"/>
          <p:nvPr userDrawn="1"/>
        </p:nvSpPr>
        <p:spPr>
          <a:xfrm>
            <a:off x="6609184" y="6649964"/>
            <a:ext cx="3240360" cy="216024"/>
          </a:xfrm>
          <a:prstGeom prst="rect">
            <a:avLst/>
          </a:prstGeom>
          <a:noFill/>
        </p:spPr>
        <p:txBody>
          <a:bodyPr wrap="square" lIns="0" tIns="0" rIns="0" bIns="0" rtlCol="0" anchor="ctr">
            <a:noAutofit/>
          </a:bodyPr>
          <a:lstStyle/>
          <a:p>
            <a:pPr marL="0" marR="0" indent="0" algn="r" defTabSz="914400" rtl="0" eaLnBrk="1" fontAlgn="base" latinLnBrk="0" hangingPunct="1">
              <a:lnSpc>
                <a:spcPct val="125000"/>
              </a:lnSpc>
              <a:spcBef>
                <a:spcPct val="0"/>
              </a:spcBef>
              <a:spcAft>
                <a:spcPct val="0"/>
              </a:spcAft>
              <a:buClrTx/>
              <a:buSzTx/>
              <a:buFontTx/>
              <a:buNone/>
              <a:tabLst/>
              <a:defRPr/>
            </a:pPr>
            <a:r>
              <a:rPr lang="en-US" altLang="ja-JP" sz="800" dirty="0">
                <a:solidFill>
                  <a:schemeClr val="bg1"/>
                </a:solidFill>
                <a:latin typeface="Lucida Calligraphy" pitchFamily="66" charset="0"/>
                <a:ea typeface="Arial Unicode MS" pitchFamily="50" charset="-128"/>
                <a:cs typeface="Arial Unicode MS" pitchFamily="50" charset="-128"/>
              </a:rPr>
              <a:t>Copyright</a:t>
            </a:r>
            <a:r>
              <a:rPr lang="ja-JP" altLang="en-US" sz="800" dirty="0">
                <a:solidFill>
                  <a:schemeClr val="bg1"/>
                </a:solidFill>
                <a:latin typeface="Lucida Calligraphy" pitchFamily="66" charset="0"/>
                <a:ea typeface="Arial Unicode MS" pitchFamily="50" charset="-128"/>
                <a:cs typeface="Arial Unicode MS" pitchFamily="50" charset="-128"/>
              </a:rPr>
              <a:t> </a:t>
            </a:r>
            <a:r>
              <a:rPr lang="en-US" altLang="ja-JP" sz="800" dirty="0">
                <a:solidFill>
                  <a:schemeClr val="bg1"/>
                </a:solidFill>
                <a:latin typeface="Lucida Calligraphy" pitchFamily="66" charset="0"/>
                <a:ea typeface="Arial Unicode MS" pitchFamily="50" charset="-128"/>
                <a:cs typeface="Arial Unicode MS" pitchFamily="50" charset="-128"/>
              </a:rPr>
              <a:t>Funai Consulting Inc.</a:t>
            </a:r>
            <a:r>
              <a:rPr lang="ja-JP" altLang="en-US" sz="800" baseline="0" dirty="0">
                <a:solidFill>
                  <a:schemeClr val="bg1"/>
                </a:solidFill>
                <a:latin typeface="Lucida Calligraphy" pitchFamily="66" charset="0"/>
                <a:ea typeface="Arial Unicode MS" pitchFamily="50" charset="-128"/>
                <a:cs typeface="Arial Unicode MS" pitchFamily="50" charset="-128"/>
              </a:rPr>
              <a:t> </a:t>
            </a:r>
            <a:r>
              <a:rPr lang="en-US" altLang="ja-JP" sz="800" baseline="0" dirty="0">
                <a:solidFill>
                  <a:schemeClr val="bg1"/>
                </a:solidFill>
                <a:latin typeface="Lucida Calligraphy" pitchFamily="66" charset="0"/>
                <a:ea typeface="Arial Unicode MS" pitchFamily="50" charset="-128"/>
                <a:cs typeface="Arial Unicode MS" pitchFamily="50" charset="-128"/>
              </a:rPr>
              <a:t>All Rights Reserved.</a:t>
            </a:r>
            <a:endParaRPr kumimoji="1" lang="ja-JP" altLang="en-US" sz="800" kern="1200" dirty="0">
              <a:solidFill>
                <a:schemeClr val="bg1"/>
              </a:solidFill>
              <a:latin typeface="Lucida Calligraphy" pitchFamily="66" charset="0"/>
              <a:ea typeface="Arial Unicode MS" pitchFamily="50" charset="-128"/>
              <a:cs typeface="Arial Unicode MS" pitchFamily="50" charset="-128"/>
            </a:endParaRPr>
          </a:p>
        </p:txBody>
      </p:sp>
      <p:sp>
        <p:nvSpPr>
          <p:cNvPr id="15" name="スライド番号プレースホルダ 5">
            <a:extLst>
              <a:ext uri="{FF2B5EF4-FFF2-40B4-BE49-F238E27FC236}">
                <a16:creationId xmlns:a16="http://schemas.microsoft.com/office/drawing/2014/main" id="{52F86702-B75D-40EF-96B7-30E910044692}"/>
              </a:ext>
            </a:extLst>
          </p:cNvPr>
          <p:cNvSpPr txBox="1">
            <a:spLocks/>
          </p:cNvSpPr>
          <p:nvPr userDrawn="1"/>
        </p:nvSpPr>
        <p:spPr>
          <a:xfrm>
            <a:off x="3797300" y="6592267"/>
            <a:ext cx="2311400" cy="365125"/>
          </a:xfrm>
          <a:prstGeom prst="rect">
            <a:avLst/>
          </a:prstGeom>
        </p:spPr>
        <p:txBody>
          <a:bodyPr vert="horz" lIns="91440" tIns="45720" rIns="91440" bIns="45720" rtlCol="0" anchor="ctr"/>
          <a:lstStyle>
            <a:lvl1pPr algn="ctr">
              <a:defRPr sz="900">
                <a:solidFill>
                  <a:schemeClr val="bg1"/>
                </a:solidFill>
                <a:latin typeface="HGSｺﾞｼｯｸM" pitchFamily="50" charset="-128"/>
                <a:ea typeface="HGSｺﾞｼｯｸM"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1682566-0BE5-4691-A89E-B3D89F8502D1}" type="slidenum">
              <a:rPr kumimoji="1" lang="ja-JP" altLang="en-US" sz="900" b="0" i="0" u="none" strike="noStrike" kern="1200" cap="none" spc="0" normalizeH="0" baseline="0" noProof="0" smtClean="0">
                <a:ln>
                  <a:noFill/>
                </a:ln>
                <a:solidFill>
                  <a:schemeClr val="bg1"/>
                </a:solidFill>
                <a:effectLst/>
                <a:uLnTx/>
                <a:uFillTx/>
                <a:latin typeface="HGSｺﾞｼｯｸM" pitchFamily="50" charset="-128"/>
                <a:ea typeface="HGSｺﾞｼｯｸM"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a:ln>
                <a:noFill/>
              </a:ln>
              <a:solidFill>
                <a:schemeClr val="bg1"/>
              </a:solidFill>
              <a:effectLst/>
              <a:uLnTx/>
              <a:uFillTx/>
              <a:latin typeface="HGSｺﾞｼｯｸM" pitchFamily="50" charset="-128"/>
              <a:ea typeface="HGSｺﾞｼｯｸM" pitchFamily="50" charset="-128"/>
              <a:cs typeface="+mn-cs"/>
            </a:endParaRPr>
          </a:p>
        </p:txBody>
      </p:sp>
      <p:sp>
        <p:nvSpPr>
          <p:cNvPr id="7" name="テキスト プレースホルダー 6">
            <a:extLst>
              <a:ext uri="{FF2B5EF4-FFF2-40B4-BE49-F238E27FC236}">
                <a16:creationId xmlns:a16="http://schemas.microsoft.com/office/drawing/2014/main" id="{84B55609-F8C4-4A71-A410-286691A67269}"/>
              </a:ext>
            </a:extLst>
          </p:cNvPr>
          <p:cNvSpPr>
            <a:spLocks noGrp="1"/>
          </p:cNvSpPr>
          <p:nvPr>
            <p:ph type="body" sz="quarter" idx="10" hasCustomPrompt="1"/>
          </p:nvPr>
        </p:nvSpPr>
        <p:spPr>
          <a:xfrm>
            <a:off x="200472" y="68627"/>
            <a:ext cx="3960812" cy="552062"/>
          </a:xfrm>
        </p:spPr>
        <p:txBody>
          <a:bodyPr>
            <a:normAutofit/>
          </a:bodyPr>
          <a:lstStyle>
            <a:lvl1pPr marL="0" indent="0">
              <a:buNone/>
              <a:defRPr sz="2800" b="1"/>
            </a:lvl1pPr>
          </a:lstStyle>
          <a:p>
            <a:pPr lvl="0"/>
            <a:r>
              <a:rPr kumimoji="1" lang="ja-JP" altLang="en-US" dirty="0"/>
              <a:t>タイトル</a:t>
            </a:r>
          </a:p>
        </p:txBody>
      </p:sp>
    </p:spTree>
    <p:extLst>
      <p:ext uri="{BB962C8B-B14F-4D97-AF65-F5344CB8AC3E}">
        <p14:creationId xmlns:p14="http://schemas.microsoft.com/office/powerpoint/2010/main" val="19062224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a:xfrm>
            <a:off x="495300" y="1600203"/>
            <a:ext cx="8915400" cy="4525963"/>
          </a:xfrm>
          <a:prstGeom prst="rect">
            <a:avLst/>
          </a:prstGeom>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2E1EC131-7E93-4E21-A3A0-1A53928AA2CA}" type="datetime1">
              <a:rPr kumimoji="1" lang="ja-JP" altLang="en-US" smtClean="0"/>
              <a:t>2026/5/20</a:t>
            </a:fld>
            <a:endParaRPr kumimoji="1" lang="ja-JP" altLang="en-US" dirty="0"/>
          </a:p>
        </p:txBody>
      </p:sp>
      <p:sp>
        <p:nvSpPr>
          <p:cNvPr id="5" name="フッター プレースホルダ 4"/>
          <p:cNvSpPr>
            <a:spLocks noGrp="1"/>
          </p:cNvSpPr>
          <p:nvPr>
            <p:ph type="ftr" sz="quarter" idx="11"/>
          </p:nvPr>
        </p:nvSpPr>
        <p:spPr/>
        <p:txBody>
          <a:bodyPr/>
          <a:lstStyle/>
          <a:p>
            <a:endParaRPr kumimoji="1" lang="ja-JP" altLang="en-US" dirty="0"/>
          </a:p>
        </p:txBody>
      </p:sp>
      <p:sp>
        <p:nvSpPr>
          <p:cNvPr id="6" name="スライド番号プレースホルダ 5"/>
          <p:cNvSpPr>
            <a:spLocks noGrp="1"/>
          </p:cNvSpPr>
          <p:nvPr>
            <p:ph type="sldNum" sz="quarter" idx="12"/>
          </p:nvPr>
        </p:nvSpPr>
        <p:spPr>
          <a:xfrm>
            <a:off x="7538144" y="6491969"/>
            <a:ext cx="2311400" cy="365125"/>
          </a:xfrm>
        </p:spPr>
        <p:txBody>
          <a:bodyPr/>
          <a:lstStyle/>
          <a:p>
            <a:fld id="{619B85A0-BB21-4C42-9028-BB80073B34CD}" type="slidenum">
              <a:rPr kumimoji="1" lang="ja-JP" altLang="en-US" smtClean="0"/>
              <a:pPr/>
              <a:t>‹#›</a:t>
            </a:fld>
            <a:endParaRPr kumimoji="1" lang="ja-JP" altLang="en-US" dirty="0"/>
          </a:p>
        </p:txBody>
      </p:sp>
    </p:spTree>
    <p:extLst>
      <p:ext uri="{BB962C8B-B14F-4D97-AF65-F5344CB8AC3E}">
        <p14:creationId xmlns:p14="http://schemas.microsoft.com/office/powerpoint/2010/main" val="27718939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5" Type="http://schemas.openxmlformats.org/officeDocument/2006/relationships/slideLayout" Target="../slideLayouts/slideLayout58.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p:cNvSpPr/>
          <p:nvPr/>
        </p:nvSpPr>
        <p:spPr>
          <a:xfrm>
            <a:off x="0" y="6642000"/>
            <a:ext cx="9906000" cy="21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日付プレースホル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52DF90-A6ED-4A10-B24A-8E192E896765}" type="datetime1">
              <a:rPr kumimoji="1" lang="ja-JP" altLang="en-US" smtClean="0"/>
              <a:pPr/>
              <a:t>2026/5/20</a:t>
            </a:fld>
            <a:endParaRPr kumimoji="1" lang="ja-JP" altLang="en-US"/>
          </a:p>
        </p:txBody>
      </p:sp>
      <p:sp>
        <p:nvSpPr>
          <p:cNvPr id="5" name="フッター プレースホル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7594600" y="6567437"/>
            <a:ext cx="2311400" cy="365125"/>
          </a:xfrm>
          <a:prstGeom prst="rect">
            <a:avLst/>
          </a:prstGeom>
        </p:spPr>
        <p:txBody>
          <a:bodyPr vert="horz" lIns="91440" tIns="45720" rIns="91440" bIns="45720" rtlCol="0" anchor="ctr"/>
          <a:lstStyle>
            <a:lvl1pPr algn="r">
              <a:defRPr sz="1200">
                <a:solidFill>
                  <a:schemeClr val="bg1"/>
                </a:solidFill>
              </a:defRPr>
            </a:lvl1pPr>
          </a:lstStyle>
          <a:p>
            <a:fld id="{723687FF-647B-4F7E-A20E-637EB01FA9DF}" type="slidenum">
              <a:rPr lang="ja-JP" altLang="en-US" smtClean="0"/>
              <a:pPr/>
              <a:t>‹#›</a:t>
            </a:fld>
            <a:endParaRPr lang="ja-JP" altLang="en-US" dirty="0"/>
          </a:p>
        </p:txBody>
      </p:sp>
      <p:sp>
        <p:nvSpPr>
          <p:cNvPr id="7" name="正方形/長方形 6"/>
          <p:cNvSpPr/>
          <p:nvPr userDrawn="1"/>
        </p:nvSpPr>
        <p:spPr>
          <a:xfrm>
            <a:off x="0" y="0"/>
            <a:ext cx="9906000" cy="5486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p:cNvSpPr txBox="1"/>
          <p:nvPr userDrawn="1"/>
        </p:nvSpPr>
        <p:spPr>
          <a:xfrm>
            <a:off x="0" y="271681"/>
            <a:ext cx="3384550" cy="276999"/>
          </a:xfrm>
          <a:prstGeom prst="rect">
            <a:avLst/>
          </a:prstGeom>
          <a:noFill/>
        </p:spPr>
        <p:txBody>
          <a:bodyPr wrap="square" rtlCol="0">
            <a:spAutoFit/>
          </a:bodyPr>
          <a:lstStyle/>
          <a:p>
            <a:pPr algn="l"/>
            <a:r>
              <a:rPr kumimoji="1" lang="en-US" altLang="ja-JP" sz="1200" b="0">
                <a:solidFill>
                  <a:schemeClr val="bg1"/>
                </a:solidFill>
                <a:latin typeface="HGP創英角ｺﾞｼｯｸUB" panose="020B0900000000000000" pitchFamily="50" charset="-128"/>
                <a:ea typeface="HGP創英角ｺﾞｼｯｸUB" panose="020B0900000000000000" pitchFamily="50" charset="-128"/>
              </a:rPr>
              <a:t>2026</a:t>
            </a:r>
            <a:r>
              <a:rPr kumimoji="1" lang="ja-JP" altLang="en-US" sz="1200" b="0">
                <a:solidFill>
                  <a:schemeClr val="bg1"/>
                </a:solidFill>
                <a:latin typeface="HGP創英角ｺﾞｼｯｸUB" panose="020B0900000000000000" pitchFamily="50" charset="-128"/>
                <a:ea typeface="HGP創英角ｺﾞｼｯｸUB" panose="020B0900000000000000" pitchFamily="50" charset="-128"/>
              </a:rPr>
              <a:t>年度　</a:t>
            </a:r>
            <a:r>
              <a:rPr kumimoji="1" lang="ja-JP" altLang="en-US" sz="1200" b="0" dirty="0">
                <a:solidFill>
                  <a:schemeClr val="bg1"/>
                </a:solidFill>
                <a:latin typeface="HGP創英角ｺﾞｼｯｸUB" panose="020B0900000000000000" pitchFamily="50" charset="-128"/>
                <a:ea typeface="HGP創英角ｺﾞｼｯｸUB" panose="020B0900000000000000" pitchFamily="50" charset="-128"/>
              </a:rPr>
              <a:t>住宅用太陽光・蓄電池研修</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D59477-32A0-4799-AD80-C098563D5CC0}" type="datetime1">
              <a:rPr kumimoji="1" lang="ja-JP" altLang="en-US" smtClean="0"/>
              <a:pPr/>
              <a:t>2026/5/20</a:t>
            </a:fld>
            <a:endParaRPr kumimoji="1" lang="ja-JP" altLang="en-US"/>
          </a:p>
        </p:txBody>
      </p:sp>
      <p:sp>
        <p:nvSpPr>
          <p:cNvPr id="5" name="フッター プレースホル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8" name="Text Box 16"/>
          <p:cNvSpPr txBox="1">
            <a:spLocks noChangeArrowheads="1"/>
          </p:cNvSpPr>
          <p:nvPr userDrawn="1"/>
        </p:nvSpPr>
        <p:spPr bwMode="auto">
          <a:xfrm>
            <a:off x="6048044" y="6677175"/>
            <a:ext cx="3934883" cy="230832"/>
          </a:xfrm>
          <a:prstGeom prst="rect">
            <a:avLst/>
          </a:prstGeom>
          <a:noFill/>
          <a:ln w="9525">
            <a:noFill/>
            <a:miter lim="800000"/>
            <a:headEnd/>
            <a:tailEnd/>
          </a:ln>
          <a:effectLst/>
        </p:spPr>
        <p:txBody>
          <a:bodyPr>
            <a:spAutoFit/>
          </a:bodyPr>
          <a:lstStyle/>
          <a:p>
            <a:pPr algn="r">
              <a:spcBef>
                <a:spcPct val="50000"/>
              </a:spcBef>
              <a:defRPr/>
            </a:pPr>
            <a:r>
              <a:rPr lang="en-US" altLang="ja-JP" sz="900" dirty="0">
                <a:ea typeface="ＭＳ Ｐゴシック" pitchFamily="50" charset="-128"/>
              </a:rPr>
              <a:t>Copyright</a:t>
            </a:r>
            <a:r>
              <a:rPr lang="ja-JP" altLang="en-US" sz="900" dirty="0">
                <a:ea typeface="ＭＳ Ｐゴシック" pitchFamily="50" charset="-128"/>
              </a:rPr>
              <a:t>　</a:t>
            </a:r>
            <a:r>
              <a:rPr lang="en-US" altLang="ja-JP" sz="900" dirty="0" err="1">
                <a:ea typeface="ＭＳ Ｐゴシック" pitchFamily="50" charset="-128"/>
              </a:rPr>
              <a:t>Funai</a:t>
            </a:r>
            <a:r>
              <a:rPr lang="en-US" altLang="ja-JP" sz="900" dirty="0">
                <a:ea typeface="ＭＳ Ｐゴシック" pitchFamily="50" charset="-128"/>
              </a:rPr>
              <a:t> Consulting Co.ltd</a:t>
            </a:r>
            <a:r>
              <a:rPr lang="ja-JP" altLang="en-US" sz="900" dirty="0">
                <a:ea typeface="ＭＳ Ｐゴシック" pitchFamily="50" charset="-128"/>
              </a:rPr>
              <a:t>　　禁転載・禁複写</a:t>
            </a:r>
          </a:p>
        </p:txBody>
      </p:sp>
      <p:sp>
        <p:nvSpPr>
          <p:cNvPr id="11" name="スライド番号プレースホルダ 5"/>
          <p:cNvSpPr txBox="1">
            <a:spLocks/>
          </p:cNvSpPr>
          <p:nvPr userDrawn="1"/>
        </p:nvSpPr>
        <p:spPr>
          <a:xfrm>
            <a:off x="3797300" y="6602900"/>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451D2E0-CC30-4DAC-88BB-E6AB37505372}" type="slidenum">
              <a:rPr kumimoji="1" lang="ja-JP" altLang="en-US" sz="900" b="0" i="0" u="none" strike="noStrike" kern="1200" cap="none" spc="0" normalizeH="0" baseline="0" noProof="0" smtClean="0">
                <a:ln>
                  <a:noFill/>
                </a:ln>
                <a:solidFill>
                  <a:schemeClr val="tx1">
                    <a:tint val="75000"/>
                  </a:schemeClr>
                </a:solidFill>
                <a:effectLst/>
                <a:uLnTx/>
                <a:uFillTx/>
                <a:latin typeface="メイリオ" pitchFamily="50" charset="-128"/>
                <a:ea typeface="メイリオ" pitchFamily="50" charset="-128"/>
                <a:cs typeface="メイリオ" pitchFamily="50" charset="-128"/>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dirty="0">
              <a:ln>
                <a:noFill/>
              </a:ln>
              <a:solidFill>
                <a:schemeClr val="tx1">
                  <a:tint val="75000"/>
                </a:schemeClr>
              </a:solidFill>
              <a:effectLst/>
              <a:uLnTx/>
              <a:uFillTx/>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27682347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4C9A310-3AB5-49FE-B1F9-2C427DCC1826}"/>
              </a:ext>
            </a:extLst>
          </p:cNvPr>
          <p:cNvPicPr>
            <a:picLocks noChangeAspect="1"/>
          </p:cNvPicPr>
          <p:nvPr/>
        </p:nvPicPr>
        <p:blipFill rotWithShape="1">
          <a:blip r:embed="rId3">
            <a:extLst>
              <a:ext uri="{28A0092B-C50C-407E-A947-70E740481C1C}">
                <a14:useLocalDpi xmlns:a14="http://schemas.microsoft.com/office/drawing/2010/main" val="0"/>
              </a:ext>
            </a:extLst>
          </a:blip>
          <a:srcRect l="3516" t="1834" r="3141" b="3667"/>
          <a:stretch/>
        </p:blipFill>
        <p:spPr>
          <a:xfrm>
            <a:off x="-15552" y="-27384"/>
            <a:ext cx="9921552" cy="6888954"/>
          </a:xfrm>
          <a:prstGeom prst="rect">
            <a:avLst/>
          </a:prstGeom>
        </p:spPr>
      </p:pic>
      <p:sp>
        <p:nvSpPr>
          <p:cNvPr id="5" name="正方形/長方形 4">
            <a:extLst>
              <a:ext uri="{FF2B5EF4-FFF2-40B4-BE49-F238E27FC236}">
                <a16:creationId xmlns:a16="http://schemas.microsoft.com/office/drawing/2014/main" id="{A50DF95E-7A9A-442E-9966-946D2B476491}"/>
              </a:ext>
            </a:extLst>
          </p:cNvPr>
          <p:cNvSpPr/>
          <p:nvPr/>
        </p:nvSpPr>
        <p:spPr>
          <a:xfrm>
            <a:off x="0" y="0"/>
            <a:ext cx="9906000" cy="6858000"/>
          </a:xfrm>
          <a:prstGeom prst="rect">
            <a:avLst/>
          </a:prstGeom>
          <a:solidFill>
            <a:srgbClr val="F7964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2CD832A5-E759-420F-B835-DF29A241CBFB}"/>
              </a:ext>
            </a:extLst>
          </p:cNvPr>
          <p:cNvSpPr txBox="1"/>
          <p:nvPr/>
        </p:nvSpPr>
        <p:spPr>
          <a:xfrm>
            <a:off x="288032" y="1988840"/>
            <a:ext cx="9619052" cy="2923877"/>
          </a:xfrm>
          <a:prstGeom prst="rect">
            <a:avLst/>
          </a:prstGeom>
          <a:noFill/>
        </p:spPr>
        <p:txBody>
          <a:bodyPr wrap="square" lIns="0" rIns="0" rtlCol="0">
            <a:spAutoFit/>
          </a:bodyPr>
          <a:lstStyle/>
          <a:p>
            <a:pPr algn="l">
              <a:spcAft>
                <a:spcPts val="800"/>
              </a:spcAft>
            </a:pPr>
            <a:r>
              <a:rPr sz="3200" b="1">
                <a:solidFill>
                  <a:srgbClr val="FFFFFF"/>
                </a:solidFill>
                <a:latin typeface="BIZ UDPゴシック"/>
                <a:ea typeface="BIZ UDPゴシック"/>
              </a:rPr>
              <a:t>2026年度　営業研修</a:t>
            </a:r>
            <a:endParaRPr lang="en-US" altLang="ja-JP" sz="7200" b="1" dirty="0">
              <a:solidFill>
                <a:schemeClr val="bg1"/>
              </a:solidFill>
              <a:effectLst>
                <a:outerShdw blurRad="38100" dist="38100" dir="2700000" algn="tl">
                  <a:srgbClr val="000000">
                    <a:alpha val="43137"/>
                  </a:srgbClr>
                </a:outerShdw>
              </a:effectLst>
              <a:latin typeface="BIZ UDPゴシック" panose="020B0400000000000000" pitchFamily="50" charset="-128"/>
              <a:ea typeface="BIZ UDPゴシック" panose="020B0400000000000000" pitchFamily="50" charset="-128"/>
            </a:endParaRPr>
          </a:p>
          <a:p>
            <a:pPr algn="l">
              <a:spcAft>
                <a:spcPts val="200"/>
              </a:spcAft>
            </a:pPr>
            <a:r>
              <a:rPr sz="5200" b="1">
                <a:solidFill>
                  <a:srgbClr val="FFFFFF"/>
                </a:solidFill>
                <a:latin typeface="BIZ UDPゴシック"/>
                <a:ea typeface="BIZ UDPゴシック"/>
              </a:rPr>
              <a:t>第3回　必要性訴求②</a:t>
            </a:r>
          </a:p>
          <a:p>
            <a:pPr algn="l">
              <a:spcAft>
                <a:spcPts val="1000"/>
              </a:spcAft>
            </a:pPr>
            <a:r>
              <a:rPr sz="5200" b="1">
                <a:solidFill>
                  <a:srgbClr val="FFFFFF"/>
                </a:solidFill>
                <a:latin typeface="BIZ UDPゴシック"/>
                <a:ea typeface="BIZ UDPゴシック"/>
              </a:rPr>
              <a:t>＆ロープレ</a:t>
            </a:r>
          </a:p>
          <a:p>
            <a:pPr algn="l">
              <a:spcAft>
                <a:spcPts val="500"/>
              </a:spcAft>
            </a:pPr>
            <a:r>
              <a:rPr sz="2400" b="1">
                <a:solidFill>
                  <a:srgbClr val="FFFFFF"/>
                </a:solidFill>
                <a:latin typeface="BIZ UDPゴシック"/>
                <a:ea typeface="BIZ UDPゴシック"/>
              </a:rPr>
              <a:t>〜太陽光＋蓄電池セット販売〜</a:t>
            </a:r>
          </a:p>
        </p:txBody>
      </p:sp>
      <p:sp>
        <p:nvSpPr>
          <p:cNvPr id="7" name="テキスト ボックス 6">
            <a:extLst>
              <a:ext uri="{FF2B5EF4-FFF2-40B4-BE49-F238E27FC236}">
                <a16:creationId xmlns:a16="http://schemas.microsoft.com/office/drawing/2014/main" id="{D71E207B-1CE8-4FD8-B86D-32251E1C4C12}"/>
              </a:ext>
            </a:extLst>
          </p:cNvPr>
          <p:cNvSpPr txBox="1"/>
          <p:nvPr/>
        </p:nvSpPr>
        <p:spPr>
          <a:xfrm>
            <a:off x="4664968" y="4471938"/>
            <a:ext cx="5112568" cy="369332"/>
          </a:xfrm>
          <a:prstGeom prst="rect">
            <a:avLst/>
          </a:prstGeom>
          <a:noFill/>
        </p:spPr>
        <p:txBody>
          <a:bodyPr wrap="square" rtlCol="0">
            <a:spAutoFit/>
          </a:bodyPr>
          <a:lstStyle/>
          <a:p>
            <a:pPr algn="r">
              <a:spcAft>
                <a:spcPts val="500"/>
              </a:spcAft>
            </a:pPr>
            <a:r>
              <a:rPr sz="1400" b="0">
                <a:solidFill>
                  <a:srgbClr val="FFFFFF"/>
                </a:solidFill>
                <a:latin typeface="BIZ UDPゴシック"/>
                <a:ea typeface="BIZ UDPゴシック"/>
              </a:rPr>
              <a:t>2026年8月下旬　＠船井総研</a:t>
            </a:r>
          </a:p>
        </p:txBody>
      </p:sp>
      <p:pic>
        <p:nvPicPr>
          <p:cNvPr id="9" name="図 8">
            <a:extLst>
              <a:ext uri="{FF2B5EF4-FFF2-40B4-BE49-F238E27FC236}">
                <a16:creationId xmlns:a16="http://schemas.microsoft.com/office/drawing/2014/main" id="{1B7CC725-B595-4742-A8BF-D882BB45AE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98388" y="5736453"/>
            <a:ext cx="2309225" cy="473385"/>
          </a:xfrm>
          <a:prstGeom prst="rect">
            <a:avLst/>
          </a:prstGeom>
        </p:spPr>
      </p:pic>
    </p:spTree>
    <p:extLst>
      <p:ext uri="{BB962C8B-B14F-4D97-AF65-F5344CB8AC3E}">
        <p14:creationId xmlns:p14="http://schemas.microsoft.com/office/powerpoint/2010/main" val="145079866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本日のゴール</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a:t>
            </a:r>
          </a:p>
        </p:txBody>
      </p:sp>
      <p:sp>
        <p:nvSpPr>
          <p:cNvPr id="5" name="TextBox 4"/>
          <p:cNvSpPr txBox="1"/>
          <p:nvPr/>
        </p:nvSpPr>
        <p:spPr>
          <a:xfrm>
            <a:off x="411480" y="1325880"/>
            <a:ext cx="9052560" cy="566928"/>
          </a:xfrm>
          <a:prstGeom prst="rect">
            <a:avLst/>
          </a:prstGeom>
          <a:noFill/>
        </p:spPr>
        <p:txBody>
          <a:bodyPr wrap="square" anchor="t" lIns="0" rIns="0" tIns="18288" bIns="18288">
            <a:spAutoFit/>
          </a:bodyPr>
          <a:lstStyle/>
          <a:p>
            <a:pPr algn="l">
              <a:spcAft>
                <a:spcPts val="500"/>
              </a:spcAft>
            </a:pPr>
            <a:r>
              <a:rPr sz="2800" b="1">
                <a:solidFill>
                  <a:srgbClr val="FF0000"/>
                </a:solidFill>
                <a:latin typeface="HGPｺﾞｼｯｸE"/>
                <a:ea typeface="HGPｺﾞｼｯｸE"/>
              </a:rPr>
              <a:t>災害と使い方のパートを、サラッと・確実に通せるようになる</a:t>
            </a:r>
          </a:p>
        </p:txBody>
      </p:sp>
      <p:sp>
        <p:nvSpPr>
          <p:cNvPr id="6" name="Rectangle 5"/>
          <p:cNvSpPr/>
          <p:nvPr/>
        </p:nvSpPr>
        <p:spPr>
          <a:xfrm>
            <a:off x="411480" y="2148840"/>
            <a:ext cx="9098280" cy="278892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1000"/>
              </a:spcAft>
            </a:pPr>
            <a:r>
              <a:rPr sz="1800" b="1">
                <a:solidFill>
                  <a:srgbClr val="000000"/>
                </a:solidFill>
                <a:latin typeface="HGPｺﾞｼｯｸE"/>
                <a:ea typeface="HGPｺﾞｼｯｸE"/>
              </a:rPr>
              <a:t>研修が終わったときの「できる状態」</a:t>
            </a:r>
          </a:p>
          <a:p>
            <a:pPr algn="l">
              <a:spcAft>
                <a:spcPts val="900"/>
              </a:spcAft>
            </a:pPr>
            <a:r>
              <a:rPr sz="1900" b="0">
                <a:solidFill>
                  <a:srgbClr val="000000"/>
                </a:solidFill>
                <a:latin typeface="HGPｺﾞｼｯｸE"/>
                <a:ea typeface="HGPｺﾞｼｯｸE"/>
              </a:rPr>
              <a:t>①　「うちの地域は災害が来ない」を、その場で潰せる</a:t>
            </a:r>
          </a:p>
          <a:p>
            <a:pPr algn="l">
              <a:spcAft>
                <a:spcPts val="900"/>
              </a:spcAft>
            </a:pPr>
            <a:r>
              <a:rPr sz="1900" b="0">
                <a:solidFill>
                  <a:srgbClr val="000000"/>
                </a:solidFill>
                <a:latin typeface="HGPｺﾞｼｯｸE"/>
                <a:ea typeface="HGPｺﾞｼｯｸE"/>
              </a:rPr>
              <a:t>②　災害の話を第三者話法だけで、3分以内に終えられる</a:t>
            </a:r>
          </a:p>
          <a:p>
            <a:pPr algn="l">
              <a:spcAft>
                <a:spcPts val="900"/>
              </a:spcAft>
            </a:pPr>
            <a:r>
              <a:rPr sz="1900" b="0">
                <a:solidFill>
                  <a:srgbClr val="000000"/>
                </a:solidFill>
                <a:latin typeface="HGPｺﾞｼｯｸE"/>
                <a:ea typeface="HGPｺﾞｼｯｸE"/>
              </a:rPr>
              <a:t>③　太陽光で創る→蓄電池に貯める→夜に使う、を図なしで説明できる</a:t>
            </a:r>
          </a:p>
          <a:p>
            <a:pPr algn="l">
              <a:spcAft>
                <a:spcPts val="500"/>
              </a:spcAft>
            </a:pPr>
            <a:r>
              <a:rPr sz="1900" b="0">
                <a:solidFill>
                  <a:srgbClr val="000000"/>
                </a:solidFill>
                <a:latin typeface="HGPｺﾞｼｯｸE"/>
                <a:ea typeface="HGPｺﾞｼｯｸE"/>
              </a:rPr>
              <a:t>④　p.21からシミュレーションへ、自然に受け渡せる</a:t>
            </a:r>
          </a:p>
        </p:txBody>
      </p:sp>
      <p:sp>
        <p:nvSpPr>
          <p:cNvPr id="7" name="Rectangle 6"/>
          <p:cNvSpPr/>
          <p:nvPr/>
        </p:nvSpPr>
        <p:spPr>
          <a:xfrm>
            <a:off x="411480" y="5166360"/>
            <a:ext cx="9098280" cy="77724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2200" b="1">
                <a:solidFill>
                  <a:srgbClr val="000000"/>
                </a:solidFill>
                <a:latin typeface="HGPｺﾞｼｯｸE"/>
                <a:ea typeface="HGPｺﾞｼｯｸE"/>
              </a:rPr>
              <a:t>本日の範囲：営業ルール ⑩〜⑫　／　アプローチブック p.18〜p.21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本日のアジェンダ</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3</a:t>
            </a:r>
          </a:p>
        </p:txBody>
      </p:sp>
      <p:graphicFrame>
        <p:nvGraphicFramePr>
          <p:cNvPr id="5" name="Table 4"/>
          <p:cNvGraphicFramePr>
            <a:graphicFrameLocks noGrp="1"/>
          </p:cNvGraphicFramePr>
          <p:nvPr/>
        </p:nvGraphicFramePr>
        <p:xfrm>
          <a:off x="411480" y="1481328"/>
          <a:ext cx="9098279" cy="4005072"/>
        </p:xfrm>
        <a:graphic>
          <a:graphicData uri="http://schemas.openxmlformats.org/drawingml/2006/table">
            <a:tbl>
              <a:tblPr firstRow="1">
                <a:tableStyleId>{5C22544A-7EE6-4342-B048-85BDC9FD1C3A}</a:tableStyleId>
              </a:tblPr>
              <a:tblGrid>
                <a:gridCol w="1417320"/>
                <a:gridCol w="3931920"/>
                <a:gridCol w="3749039"/>
              </a:tblGrid>
              <a:tr h="347472">
                <a:tc>
                  <a:txBody>
                    <a:bodyPr wrap="square"/>
                    <a:lstStyle/>
                    <a:p>
                      <a:pPr algn="ctr"/>
                      <a:r>
                        <a:rPr sz="1400" b="1">
                          <a:solidFill>
                            <a:srgbClr val="FFFFFF"/>
                          </a:solidFill>
                          <a:latin typeface="游ゴシック"/>
                          <a:ea typeface="游ゴシック"/>
                        </a:rPr>
                        <a:t>時間</a:t>
                      </a:r>
                    </a:p>
                  </a:txBody>
                  <a:tcPr marL="45720" marR="45720" marT="18288" marB="18288" anchor="ctr">
                    <a:solidFill>
                      <a:srgbClr val="000000"/>
                    </a:solidFill>
                  </a:tcPr>
                </a:tc>
                <a:tc>
                  <a:txBody>
                    <a:bodyPr wrap="square"/>
                    <a:lstStyle/>
                    <a:p>
                      <a:pPr algn="ctr"/>
                      <a:r>
                        <a:rPr sz="1400" b="1">
                          <a:solidFill>
                            <a:srgbClr val="FFFFFF"/>
                          </a:solidFill>
                          <a:latin typeface="游ゴシック"/>
                          <a:ea typeface="游ゴシック"/>
                        </a:rPr>
                        <a:t>内容</a:t>
                      </a:r>
                    </a:p>
                  </a:txBody>
                  <a:tcPr marL="45720" marR="45720" marT="18288" marB="18288" anchor="ctr">
                    <a:solidFill>
                      <a:srgbClr val="000000"/>
                    </a:solidFill>
                  </a:tcPr>
                </a:tc>
                <a:tc>
                  <a:txBody>
                    <a:bodyPr wrap="square"/>
                    <a:lstStyle/>
                    <a:p>
                      <a:pPr algn="ctr"/>
                      <a:r>
                        <a:rPr sz="1400" b="1">
                          <a:solidFill>
                            <a:srgbClr val="FFFFFF"/>
                          </a:solidFill>
                          <a:latin typeface="游ゴシック"/>
                          <a:ea typeface="游ゴシック"/>
                        </a:rPr>
                        <a:t>扱うもの</a:t>
                      </a:r>
                    </a:p>
                  </a:txBody>
                  <a:tcPr marL="45720" marR="45720" marT="18288" marB="18288" anchor="ctr">
                    <a:solidFill>
                      <a:srgbClr val="000000"/>
                    </a:solidFill>
                  </a:tcPr>
                </a:tc>
              </a:tr>
              <a:tr h="457200">
                <a:tc>
                  <a:txBody>
                    <a:bodyPr wrap="square"/>
                    <a:lstStyle/>
                    <a:p>
                      <a:pPr algn="l"/>
                      <a:r>
                        <a:rPr sz="1400" b="0">
                          <a:solidFill>
                            <a:srgbClr val="000000"/>
                          </a:solidFill>
                          <a:latin typeface="游ゴシック"/>
                          <a:ea typeface="游ゴシック"/>
                        </a:rPr>
                        <a:t>0:00-0:10</a:t>
                      </a:r>
                    </a:p>
                  </a:txBody>
                  <a:tcPr marL="45720" marR="45720" marT="18288" marB="18288" anchor="ctr">
                    <a:noFill/>
                  </a:tcPr>
                </a:tc>
                <a:tc>
                  <a:txBody>
                    <a:bodyPr wrap="square"/>
                    <a:lstStyle/>
                    <a:p>
                      <a:pPr algn="l"/>
                      <a:r>
                        <a:rPr sz="1400" b="0">
                          <a:solidFill>
                            <a:srgbClr val="000000"/>
                          </a:solidFill>
                          <a:latin typeface="游ゴシック"/>
                          <a:ea typeface="游ゴシック"/>
                        </a:rPr>
                        <a:t>前回の振り返り／宿題の確認</a:t>
                      </a:r>
                    </a:p>
                  </a:txBody>
                  <a:tcPr marL="45720" marR="45720" marT="18288" marB="18288" anchor="ctr">
                    <a:noFill/>
                  </a:tcPr>
                </a:tc>
                <a:tc>
                  <a:txBody>
                    <a:bodyPr wrap="square"/>
                    <a:lstStyle/>
                    <a:p>
                      <a:pPr algn="l"/>
                      <a:r>
                        <a:rPr sz="1400" b="0">
                          <a:solidFill>
                            <a:srgbClr val="000000"/>
                          </a:solidFill>
                          <a:latin typeface="游ゴシック"/>
                          <a:ea typeface="游ゴシック"/>
                        </a:rPr>
                        <a:t>第2回：ルール①〜⑨</a:t>
                      </a:r>
                    </a:p>
                  </a:txBody>
                  <a:tcPr marL="45720" marR="45720" marT="18288" marB="18288" anchor="ctr">
                    <a:noFill/>
                  </a:tcPr>
                </a:tc>
              </a:tr>
              <a:tr h="457200">
                <a:tc>
                  <a:txBody>
                    <a:bodyPr wrap="square"/>
                    <a:lstStyle/>
                    <a:p>
                      <a:pPr algn="l"/>
                      <a:r>
                        <a:rPr sz="1400" b="0">
                          <a:solidFill>
                            <a:srgbClr val="000000"/>
                          </a:solidFill>
                          <a:latin typeface="游ゴシック"/>
                          <a:ea typeface="游ゴシック"/>
                        </a:rPr>
                        <a:t>0:10-0:20</a:t>
                      </a:r>
                    </a:p>
                  </a:txBody>
                  <a:tcPr marL="45720" marR="45720" marT="18288" marB="18288" anchor="ctr">
                    <a:noFill/>
                  </a:tcPr>
                </a:tc>
                <a:tc>
                  <a:txBody>
                    <a:bodyPr wrap="square"/>
                    <a:lstStyle/>
                    <a:p>
                      <a:pPr algn="l"/>
                      <a:r>
                        <a:rPr sz="1400" b="0">
                          <a:solidFill>
                            <a:srgbClr val="000000"/>
                          </a:solidFill>
                          <a:latin typeface="游ゴシック"/>
                          <a:ea typeface="游ゴシック"/>
                        </a:rPr>
                        <a:t>必要性訴求の原理（価値÷価格・FAB）</a:t>
                      </a:r>
                    </a:p>
                  </a:txBody>
                  <a:tcPr marL="45720" marR="45720" marT="18288" marB="18288" anchor="ctr">
                    <a:noFill/>
                  </a:tcPr>
                </a:tc>
                <a:tc>
                  <a:txBody>
                    <a:bodyPr wrap="square"/>
                    <a:lstStyle/>
                    <a:p>
                      <a:pPr algn="l"/>
                      <a:r>
                        <a:rPr sz="1400" b="0">
                          <a:solidFill>
                            <a:srgbClr val="000000"/>
                          </a:solidFill>
                          <a:latin typeface="游ゴシック"/>
                          <a:ea typeface="游ゴシック"/>
                        </a:rPr>
                        <a:t>−</a:t>
                      </a:r>
                    </a:p>
                  </a:txBody>
                  <a:tcPr marL="45720" marR="45720" marT="18288" marB="18288" anchor="ctr">
                    <a:noFill/>
                  </a:tcPr>
                </a:tc>
              </a:tr>
              <a:tr h="457200">
                <a:tc>
                  <a:txBody>
                    <a:bodyPr wrap="square"/>
                    <a:lstStyle/>
                    <a:p>
                      <a:pPr algn="l"/>
                      <a:r>
                        <a:rPr sz="1400" b="0">
                          <a:solidFill>
                            <a:srgbClr val="000000"/>
                          </a:solidFill>
                          <a:latin typeface="游ゴシック"/>
                          <a:ea typeface="游ゴシック"/>
                        </a:rPr>
                        <a:t>0:20-0:50</a:t>
                      </a:r>
                    </a:p>
                  </a:txBody>
                  <a:tcPr marL="45720" marR="45720" marT="18288" marB="18288" anchor="ctr">
                    <a:noFill/>
                  </a:tcPr>
                </a:tc>
                <a:tc>
                  <a:txBody>
                    <a:bodyPr wrap="square"/>
                    <a:lstStyle/>
                    <a:p>
                      <a:pPr algn="l"/>
                      <a:r>
                        <a:rPr sz="1400" b="1">
                          <a:solidFill>
                            <a:srgbClr val="000000"/>
                          </a:solidFill>
                          <a:latin typeface="游ゴシック"/>
                          <a:ea typeface="游ゴシック"/>
                        </a:rPr>
                        <a:t>ルール⑩　非常時に備える意義</a:t>
                      </a:r>
                    </a:p>
                  </a:txBody>
                  <a:tcPr marL="45720" marR="45720" marT="18288" marB="18288" anchor="ctr">
                    <a:noFill/>
                  </a:tcPr>
                </a:tc>
                <a:tc>
                  <a:txBody>
                    <a:bodyPr wrap="square"/>
                    <a:lstStyle/>
                    <a:p>
                      <a:pPr algn="l"/>
                      <a:r>
                        <a:rPr sz="1400" b="0">
                          <a:solidFill>
                            <a:srgbClr val="000000"/>
                          </a:solidFill>
                          <a:latin typeface="游ゴシック"/>
                          <a:ea typeface="游ゴシック"/>
                        </a:rPr>
                        <a:t>アプローチブック p.18〜p.19</a:t>
                      </a:r>
                    </a:p>
                  </a:txBody>
                  <a:tcPr marL="45720" marR="45720" marT="18288" marB="18288" anchor="ctr">
                    <a:noFill/>
                  </a:tcPr>
                </a:tc>
              </a:tr>
              <a:tr h="457200">
                <a:tc>
                  <a:txBody>
                    <a:bodyPr wrap="square"/>
                    <a:lstStyle/>
                    <a:p>
                      <a:pPr algn="l"/>
                      <a:r>
                        <a:rPr sz="1400" b="0">
                          <a:solidFill>
                            <a:srgbClr val="000000"/>
                          </a:solidFill>
                          <a:latin typeface="游ゴシック"/>
                          <a:ea typeface="游ゴシック"/>
                        </a:rPr>
                        <a:t>0:50-1:00</a:t>
                      </a:r>
                    </a:p>
                  </a:txBody>
                  <a:tcPr marL="45720" marR="45720" marT="18288" marB="18288" anchor="ctr">
                    <a:noFill/>
                  </a:tcPr>
                </a:tc>
                <a:tc>
                  <a:txBody>
                    <a:bodyPr wrap="square"/>
                    <a:lstStyle/>
                    <a:p>
                      <a:pPr algn="l"/>
                      <a:r>
                        <a:rPr sz="1400" b="0">
                          <a:solidFill>
                            <a:srgbClr val="000000"/>
                          </a:solidFill>
                          <a:latin typeface="游ゴシック"/>
                          <a:ea typeface="游ゴシック"/>
                        </a:rPr>
                        <a:t>休憩</a:t>
                      </a:r>
                    </a:p>
                  </a:txBody>
                  <a:tcPr marL="45720" marR="45720" marT="18288" marB="18288" anchor="ctr">
                    <a:noFill/>
                  </a:tcPr>
                </a:tc>
                <a:tc>
                  <a:txBody>
                    <a:bodyPr wrap="square"/>
                    <a:lstStyle/>
                    <a:p>
                      <a:pPr algn="l"/>
                      <a:r>
                        <a:rPr sz="1400" b="0">
                          <a:solidFill>
                            <a:srgbClr val="000000"/>
                          </a:solidFill>
                          <a:latin typeface="游ゴシック"/>
                          <a:ea typeface="游ゴシック"/>
                        </a:rPr>
                        <a:t>−</a:t>
                      </a:r>
                    </a:p>
                  </a:txBody>
                  <a:tcPr marL="45720" marR="45720" marT="18288" marB="18288" anchor="ctr">
                    <a:noFill/>
                  </a:tcPr>
                </a:tc>
              </a:tr>
              <a:tr h="457200">
                <a:tc>
                  <a:txBody>
                    <a:bodyPr wrap="square"/>
                    <a:lstStyle/>
                    <a:p>
                      <a:pPr algn="l"/>
                      <a:r>
                        <a:rPr sz="1400" b="0">
                          <a:solidFill>
                            <a:srgbClr val="000000"/>
                          </a:solidFill>
                          <a:latin typeface="游ゴシック"/>
                          <a:ea typeface="游ゴシック"/>
                        </a:rPr>
                        <a:t>1:00-1:20</a:t>
                      </a:r>
                    </a:p>
                  </a:txBody>
                  <a:tcPr marL="45720" marR="45720" marT="18288" marB="18288" anchor="ctr">
                    <a:noFill/>
                  </a:tcPr>
                </a:tc>
                <a:tc>
                  <a:txBody>
                    <a:bodyPr wrap="square"/>
                    <a:lstStyle/>
                    <a:p>
                      <a:pPr algn="l"/>
                      <a:r>
                        <a:rPr sz="1400" b="1">
                          <a:solidFill>
                            <a:srgbClr val="000000"/>
                          </a:solidFill>
                          <a:latin typeface="游ゴシック"/>
                          <a:ea typeface="游ゴシック"/>
                        </a:rPr>
                        <a:t>ルール⑪　非常時対策の効果の確認</a:t>
                      </a:r>
                    </a:p>
                  </a:txBody>
                  <a:tcPr marL="45720" marR="45720" marT="18288" marB="18288" anchor="ctr">
                    <a:noFill/>
                  </a:tcPr>
                </a:tc>
                <a:tc>
                  <a:txBody>
                    <a:bodyPr wrap="square"/>
                    <a:lstStyle/>
                    <a:p>
                      <a:pPr algn="l"/>
                      <a:r>
                        <a:rPr sz="1400" b="0">
                          <a:solidFill>
                            <a:srgbClr val="000000"/>
                          </a:solidFill>
                          <a:latin typeface="游ゴシック"/>
                          <a:ea typeface="游ゴシック"/>
                        </a:rPr>
                        <a:t>（該当ページなし）メーカー事例</a:t>
                      </a:r>
                    </a:p>
                  </a:txBody>
                  <a:tcPr marL="45720" marR="45720" marT="18288" marB="18288" anchor="ctr">
                    <a:noFill/>
                  </a:tcPr>
                </a:tc>
              </a:tr>
              <a:tr h="457200">
                <a:tc>
                  <a:txBody>
                    <a:bodyPr wrap="square"/>
                    <a:lstStyle/>
                    <a:p>
                      <a:pPr algn="l"/>
                      <a:r>
                        <a:rPr sz="1400" b="0">
                          <a:solidFill>
                            <a:srgbClr val="000000"/>
                          </a:solidFill>
                          <a:latin typeface="游ゴシック"/>
                          <a:ea typeface="游ゴシック"/>
                        </a:rPr>
                        <a:t>1:20-1:40</a:t>
                      </a:r>
                    </a:p>
                  </a:txBody>
                  <a:tcPr marL="45720" marR="45720" marT="18288" marB="18288" anchor="ctr">
                    <a:noFill/>
                  </a:tcPr>
                </a:tc>
                <a:tc>
                  <a:txBody>
                    <a:bodyPr wrap="square"/>
                    <a:lstStyle/>
                    <a:p>
                      <a:pPr algn="l"/>
                      <a:r>
                        <a:rPr sz="1400" b="1">
                          <a:solidFill>
                            <a:srgbClr val="000000"/>
                          </a:solidFill>
                          <a:latin typeface="游ゴシック"/>
                          <a:ea typeface="游ゴシック"/>
                        </a:rPr>
                        <a:t>ルール⑫　太陽光・蓄電池の使い方</a:t>
                      </a:r>
                    </a:p>
                  </a:txBody>
                  <a:tcPr marL="45720" marR="45720" marT="18288" marB="18288" anchor="ctr">
                    <a:noFill/>
                  </a:tcPr>
                </a:tc>
                <a:tc>
                  <a:txBody>
                    <a:bodyPr wrap="square"/>
                    <a:lstStyle/>
                    <a:p>
                      <a:pPr algn="l"/>
                      <a:r>
                        <a:rPr sz="1400" b="0">
                          <a:solidFill>
                            <a:srgbClr val="000000"/>
                          </a:solidFill>
                          <a:latin typeface="游ゴシック"/>
                          <a:ea typeface="游ゴシック"/>
                        </a:rPr>
                        <a:t>アプローチブック p.20〜p.21</a:t>
                      </a:r>
                    </a:p>
                  </a:txBody>
                  <a:tcPr marL="45720" marR="45720" marT="18288" marB="18288" anchor="ctr">
                    <a:noFill/>
                  </a:tcPr>
                </a:tc>
              </a:tr>
              <a:tr h="457200">
                <a:tc>
                  <a:txBody>
                    <a:bodyPr wrap="square"/>
                    <a:lstStyle/>
                    <a:p>
                      <a:pPr algn="l"/>
                      <a:r>
                        <a:rPr sz="1400" b="0">
                          <a:solidFill>
                            <a:srgbClr val="000000"/>
                          </a:solidFill>
                          <a:latin typeface="游ゴシック"/>
                          <a:ea typeface="游ゴシック"/>
                        </a:rPr>
                        <a:t>1:40-1:55</a:t>
                      </a:r>
                    </a:p>
                  </a:txBody>
                  <a:tcPr marL="45720" marR="45720" marT="18288" marB="18288" anchor="ctr">
                    <a:noFill/>
                  </a:tcPr>
                </a:tc>
                <a:tc>
                  <a:txBody>
                    <a:bodyPr wrap="square"/>
                    <a:lstStyle/>
                    <a:p>
                      <a:pPr algn="l"/>
                      <a:r>
                        <a:rPr sz="1400" b="0">
                          <a:solidFill>
                            <a:srgbClr val="000000"/>
                          </a:solidFill>
                          <a:latin typeface="游ゴシック"/>
                          <a:ea typeface="游ゴシック"/>
                        </a:rPr>
                        <a:t>ロールプレイング（2周）</a:t>
                      </a:r>
                    </a:p>
                  </a:txBody>
                  <a:tcPr marL="45720" marR="45720" marT="18288" marB="18288" anchor="ctr">
                    <a:noFill/>
                  </a:tcPr>
                </a:tc>
                <a:tc>
                  <a:txBody>
                    <a:bodyPr wrap="square"/>
                    <a:lstStyle/>
                    <a:p>
                      <a:pPr algn="l"/>
                      <a:r>
                        <a:rPr sz="1400" b="0">
                          <a:solidFill>
                            <a:srgbClr val="000000"/>
                          </a:solidFill>
                          <a:latin typeface="游ゴシック"/>
                          <a:ea typeface="游ゴシック"/>
                        </a:rPr>
                        <a:t>p.18〜21　→　p.9〜21 通し</a:t>
                      </a:r>
                    </a:p>
                  </a:txBody>
                  <a:tcPr marL="45720" marR="45720" marT="18288" marB="18288" anchor="ctr">
                    <a:noFill/>
                  </a:tcPr>
                </a:tc>
              </a:tr>
              <a:tr h="457200">
                <a:tc>
                  <a:txBody>
                    <a:bodyPr wrap="square"/>
                    <a:lstStyle/>
                    <a:p>
                      <a:pPr algn="l"/>
                      <a:r>
                        <a:rPr sz="1400" b="0">
                          <a:solidFill>
                            <a:srgbClr val="000000"/>
                          </a:solidFill>
                          <a:latin typeface="游ゴシック"/>
                          <a:ea typeface="游ゴシック"/>
                        </a:rPr>
                        <a:t>1:55-2:00</a:t>
                      </a:r>
                    </a:p>
                  </a:txBody>
                  <a:tcPr marL="45720" marR="45720" marT="18288" marB="18288" anchor="ctr">
                    <a:noFill/>
                  </a:tcPr>
                </a:tc>
                <a:tc>
                  <a:txBody>
                    <a:bodyPr wrap="square"/>
                    <a:lstStyle/>
                    <a:p>
                      <a:pPr algn="l"/>
                      <a:r>
                        <a:rPr sz="1400" b="0">
                          <a:solidFill>
                            <a:srgbClr val="000000"/>
                          </a:solidFill>
                          <a:latin typeface="游ゴシック"/>
                          <a:ea typeface="游ゴシック"/>
                        </a:rPr>
                        <a:t>チェック／まとめ／宿題</a:t>
                      </a:r>
                    </a:p>
                  </a:txBody>
                  <a:tcPr marL="45720" marR="45720" marT="18288" marB="18288" anchor="ctr">
                    <a:noFill/>
                  </a:tcPr>
                </a:tc>
                <a:tc>
                  <a:txBody>
                    <a:bodyPr wrap="square"/>
                    <a:lstStyle/>
                    <a:p>
                      <a:pPr algn="l"/>
                      <a:r>
                        <a:rPr sz="1400" b="0">
                          <a:solidFill>
                            <a:srgbClr val="000000"/>
                          </a:solidFill>
                          <a:latin typeface="游ゴシック"/>
                          <a:ea typeface="游ゴシック"/>
                        </a:rPr>
                        <a:t>−</a:t>
                      </a:r>
                    </a:p>
                  </a:txBody>
                  <a:tcPr marL="45720" marR="45720" marT="18288" marB="18288" anchor="ctr">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前回の振り返り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4</a:t>
            </a:r>
          </a:p>
        </p:txBody>
      </p:sp>
      <p:sp>
        <p:nvSpPr>
          <p:cNvPr id="5" name="TextBox 4"/>
          <p:cNvSpPr txBox="1"/>
          <p:nvPr/>
        </p:nvSpPr>
        <p:spPr>
          <a:xfrm>
            <a:off x="411480" y="1298448"/>
            <a:ext cx="905256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第2回「聞く姿勢づくり＆必要性訴求①」で押さえたこと</a:t>
            </a:r>
          </a:p>
        </p:txBody>
      </p:sp>
      <p:sp>
        <p:nvSpPr>
          <p:cNvPr id="6" name="Rectangle 5"/>
          <p:cNvSpPr/>
          <p:nvPr/>
        </p:nvSpPr>
        <p:spPr>
          <a:xfrm>
            <a:off x="411480" y="1828800"/>
            <a:ext cx="443484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聴く姿勢作り（①〜⑥）</a:t>
            </a:r>
          </a:p>
          <a:p>
            <a:pPr algn="l">
              <a:spcAft>
                <a:spcPts val="500"/>
              </a:spcAft>
            </a:pPr>
            <a:r>
              <a:rPr sz="1400" b="0">
                <a:solidFill>
                  <a:srgbClr val="000000"/>
                </a:solidFill>
                <a:latin typeface="HGPｺﾞｼｯｸE"/>
                <a:ea typeface="HGPｺﾞｼｯｸE"/>
              </a:rPr>
              <a:t>・失注理由は「商談設定」か「商談内容」しかない</a:t>
            </a:r>
          </a:p>
          <a:p>
            <a:pPr algn="l">
              <a:spcAft>
                <a:spcPts val="500"/>
              </a:spcAft>
            </a:pPr>
            <a:r>
              <a:rPr sz="1400" b="0">
                <a:solidFill>
                  <a:srgbClr val="000000"/>
                </a:solidFill>
                <a:latin typeface="HGPｺﾞｼｯｸE"/>
                <a:ea typeface="HGPｺﾞｼｯｸE"/>
              </a:rPr>
              <a:t>・先に相手の話を聞くことが、自分の話を聞いてもらうことに直結する</a:t>
            </a:r>
          </a:p>
          <a:p>
            <a:pPr algn="l">
              <a:spcAft>
                <a:spcPts val="500"/>
              </a:spcAft>
            </a:pPr>
            <a:r>
              <a:rPr sz="1400" b="0">
                <a:solidFill>
                  <a:srgbClr val="000000"/>
                </a:solidFill>
                <a:latin typeface="HGPｺﾞｼｯｸE"/>
                <a:ea typeface="HGPｺﾞｼｯｸE"/>
              </a:rPr>
              <a:t>・包み込みの法則で「先生－生徒」の関係をつくる</a:t>
            </a:r>
          </a:p>
          <a:p>
            <a:pPr algn="l">
              <a:spcAft>
                <a:spcPts val="500"/>
              </a:spcAft>
            </a:pPr>
            <a:r>
              <a:rPr sz="1400" b="1">
                <a:solidFill>
                  <a:srgbClr val="FF0000"/>
                </a:solidFill>
                <a:latin typeface="HGPｺﾞｼｯｸE"/>
                <a:ea typeface="HGPｺﾞｼｯｸE"/>
              </a:rPr>
              <a:t>・太陽光と蓄電池は切り離さず、常にセットで話す</a:t>
            </a:r>
          </a:p>
        </p:txBody>
      </p:sp>
      <p:sp>
        <p:nvSpPr>
          <p:cNvPr id="7" name="Rectangle 6"/>
          <p:cNvSpPr/>
          <p:nvPr/>
        </p:nvSpPr>
        <p:spPr>
          <a:xfrm>
            <a:off x="5074920" y="1828800"/>
            <a:ext cx="443484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必要性訴求①（⑦〜⑨）</a:t>
            </a:r>
          </a:p>
          <a:p>
            <a:pPr algn="l">
              <a:spcAft>
                <a:spcPts val="500"/>
              </a:spcAft>
            </a:pPr>
            <a:r>
              <a:rPr sz="1400" b="0">
                <a:solidFill>
                  <a:srgbClr val="000000"/>
                </a:solidFill>
                <a:latin typeface="HGPｺﾞｼｯｸE"/>
                <a:ea typeface="HGPｺﾞｼｯｸE"/>
              </a:rPr>
              <a:t>・電気代は2011年以降45％、約5.5万円上昇</a:t>
            </a:r>
          </a:p>
          <a:p>
            <a:pPr algn="l">
              <a:spcAft>
                <a:spcPts val="500"/>
              </a:spcAft>
            </a:pPr>
            <a:r>
              <a:rPr sz="1400" b="0">
                <a:solidFill>
                  <a:srgbClr val="000000"/>
                </a:solidFill>
                <a:latin typeface="HGPｺﾞｼｯｸE"/>
                <a:ea typeface="HGPｺﾞｼｯｸE"/>
              </a:rPr>
              <a:t>・再エネ賦課金は13年で18倍（2026年 4.18円/kWh）</a:t>
            </a:r>
          </a:p>
          <a:p>
            <a:pPr algn="l">
              <a:spcAft>
                <a:spcPts val="500"/>
              </a:spcAft>
            </a:pPr>
            <a:r>
              <a:rPr sz="1400" b="0">
                <a:solidFill>
                  <a:srgbClr val="000000"/>
                </a:solidFill>
                <a:latin typeface="HGPｺﾞｼｯｸE"/>
                <a:ea typeface="HGPｺﾞｼｯｸE"/>
              </a:rPr>
              <a:t>・30年で432万円〜700万円以上を支払う</a:t>
            </a:r>
          </a:p>
          <a:p>
            <a:pPr algn="l">
              <a:spcAft>
                <a:spcPts val="500"/>
              </a:spcAft>
            </a:pPr>
            <a:r>
              <a:rPr sz="1400" b="1">
                <a:solidFill>
                  <a:srgbClr val="FF0000"/>
                </a:solidFill>
                <a:latin typeface="HGPｺﾞｼｯｸE"/>
                <a:ea typeface="HGPｺﾞｼｯｸE"/>
              </a:rPr>
              <a:t>・基本設計は「下げてから上げる」</a:t>
            </a:r>
          </a:p>
        </p:txBody>
      </p:sp>
      <p:sp>
        <p:nvSpPr>
          <p:cNvPr id="8" name="Rectangle 7"/>
          <p:cNvSpPr/>
          <p:nvPr/>
        </p:nvSpPr>
        <p:spPr>
          <a:xfrm>
            <a:off x="411480" y="4206240"/>
            <a:ext cx="9098280" cy="160020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800" b="1">
                <a:solidFill>
                  <a:srgbClr val="000000"/>
                </a:solidFill>
                <a:latin typeface="HGPｺﾞｼｯｸE"/>
                <a:ea typeface="HGPｺﾞｼｯｸE"/>
              </a:rPr>
              <a:t>宿題の確認（10分）</a:t>
            </a:r>
          </a:p>
          <a:p>
            <a:pPr algn="l">
              <a:spcAft>
                <a:spcPts val="600"/>
              </a:spcAft>
            </a:pPr>
            <a:r>
              <a:rPr sz="1600" b="0">
                <a:solidFill>
                  <a:srgbClr val="000000"/>
                </a:solidFill>
                <a:latin typeface="HGPｺﾞｼｯｸE"/>
                <a:ea typeface="HGPｺﾞｼｯｸE"/>
              </a:rPr>
              <a:t>① 自社ストーリー5段構成を、20秒で言ってみてください（2名指名）</a:t>
            </a:r>
          </a:p>
          <a:p>
            <a:pPr algn="l">
              <a:spcAft>
                <a:spcPts val="600"/>
              </a:spcAft>
            </a:pPr>
            <a:r>
              <a:rPr sz="1600" b="0">
                <a:solidFill>
                  <a:srgbClr val="000000"/>
                </a:solidFill>
                <a:latin typeface="HGPｺﾞｼｯｸE"/>
                <a:ea typeface="HGPｺﾞｼｯｸE"/>
              </a:rPr>
              <a:t>② アプローチブック p.9・p.14・p.17 の結論の一文を、資料を見ずに言えますか</a:t>
            </a:r>
          </a:p>
          <a:p>
            <a:pPr algn="l">
              <a:spcAft>
                <a:spcPts val="500"/>
              </a:spcAft>
            </a:pPr>
            <a:r>
              <a:rPr sz="1600" b="0">
                <a:solidFill>
                  <a:srgbClr val="000000"/>
                </a:solidFill>
                <a:latin typeface="HGPｺﾞｼｯｸE"/>
                <a:ea typeface="HGPｺﾞｼｯｸE"/>
              </a:rPr>
              <a:t>③ 実商談のチェックシートで、○が付かなかったルールはどれでしたか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全体像①：契約までの4ステップ</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5</a:t>
            </a:r>
          </a:p>
        </p:txBody>
      </p:sp>
      <p:pic>
        <p:nvPicPr>
          <p:cNvPr id="5" name="Picture 4" descr="pyramid.png"/>
          <p:cNvPicPr>
            <a:picLocks noChangeAspect="1"/>
          </p:cNvPicPr>
          <p:nvPr/>
        </p:nvPicPr>
        <p:blipFill>
          <a:blip r:embed="rId2"/>
          <a:stretch>
            <a:fillRect/>
          </a:stretch>
        </p:blipFill>
        <p:spPr>
          <a:xfrm>
            <a:off x="502920" y="1417320"/>
            <a:ext cx="5486400" cy="3455719"/>
          </a:xfrm>
          <a:prstGeom prst="rect">
            <a:avLst/>
          </a:prstGeom>
        </p:spPr>
      </p:pic>
      <p:sp>
        <p:nvSpPr>
          <p:cNvPr id="6" name="Rectangle 5"/>
          <p:cNvSpPr/>
          <p:nvPr/>
        </p:nvSpPr>
        <p:spPr>
          <a:xfrm>
            <a:off x="6355080" y="1600200"/>
            <a:ext cx="3154680" cy="141732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800"/>
              </a:spcAft>
            </a:pPr>
            <a:r>
              <a:rPr sz="2000" b="1">
                <a:solidFill>
                  <a:srgbClr val="FF0000"/>
                </a:solidFill>
                <a:latin typeface="HGPｺﾞｼｯｸE"/>
                <a:ea typeface="HGPｺﾞｼｯｸE"/>
              </a:rPr>
              <a:t>本日の範囲</a:t>
            </a:r>
          </a:p>
          <a:p>
            <a:pPr algn="l">
              <a:spcAft>
                <a:spcPts val="500"/>
              </a:spcAft>
            </a:pPr>
            <a:r>
              <a:rPr sz="1700" b="1">
                <a:solidFill>
                  <a:srgbClr val="000000"/>
                </a:solidFill>
                <a:latin typeface="HGPｺﾞｼｯｸE"/>
                <a:ea typeface="HGPｺﾞｼｯｸE"/>
              </a:rPr>
              <a:t>STEP2　必要性訴求（後半）</a:t>
            </a:r>
          </a:p>
          <a:p>
            <a:pPr algn="l">
              <a:spcAft>
                <a:spcPts val="500"/>
              </a:spcAft>
            </a:pPr>
            <a:r>
              <a:rPr sz="1700" b="1">
                <a:solidFill>
                  <a:srgbClr val="000000"/>
                </a:solidFill>
                <a:latin typeface="HGPｺﾞｼｯｸE"/>
                <a:ea typeface="HGPｺﾞｼｯｸE"/>
              </a:rPr>
              <a:t>ルール⑩〜⑫</a:t>
            </a:r>
          </a:p>
        </p:txBody>
      </p:sp>
      <p:sp>
        <p:nvSpPr>
          <p:cNvPr id="7" name="Rectangle 6"/>
          <p:cNvSpPr/>
          <p:nvPr/>
        </p:nvSpPr>
        <p:spPr>
          <a:xfrm>
            <a:off x="6355080" y="3246120"/>
            <a:ext cx="3154680" cy="2331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必要性訴求の残り3つ</a:t>
            </a:r>
          </a:p>
          <a:p>
            <a:pPr algn="l">
              <a:spcAft>
                <a:spcPts val="0"/>
              </a:spcAft>
            </a:pPr>
            <a:r>
              <a:rPr sz="1400" b="0">
                <a:solidFill>
                  <a:srgbClr val="000000"/>
                </a:solidFill>
                <a:latin typeface="HGPｺﾞｼｯｸE"/>
                <a:ea typeface="HGPｺﾞｼｯｸE"/>
              </a:rPr>
              <a:t>⑦⑧⑨で「電気代」という</a:t>
            </a:r>
          </a:p>
          <a:p>
            <a:pPr algn="l">
              <a:spcAft>
                <a:spcPts val="800"/>
              </a:spcAft>
            </a:pPr>
            <a:r>
              <a:rPr sz="1400" b="0">
                <a:solidFill>
                  <a:srgbClr val="000000"/>
                </a:solidFill>
                <a:latin typeface="HGPｺﾞｼｯｸE"/>
                <a:ea typeface="HGPｺﾞｼｯｸE"/>
              </a:rPr>
              <a:t>お金のネガは作れました。</a:t>
            </a:r>
          </a:p>
          <a:p>
            <a:pPr algn="l">
              <a:spcAft>
                <a:spcPts val="0"/>
              </a:spcAft>
            </a:pPr>
            <a:r>
              <a:rPr sz="1400" b="0">
                <a:solidFill>
                  <a:srgbClr val="000000"/>
                </a:solidFill>
                <a:latin typeface="HGPｺﾞｼｯｸE"/>
                <a:ea typeface="HGPｺﾞｼｯｸE"/>
              </a:rPr>
              <a:t>今日はそこに</a:t>
            </a:r>
          </a:p>
          <a:p>
            <a:pPr algn="l">
              <a:spcAft>
                <a:spcPts val="0"/>
              </a:spcAft>
            </a:pPr>
            <a:r>
              <a:rPr sz="1400" b="1">
                <a:solidFill>
                  <a:srgbClr val="000000"/>
                </a:solidFill>
                <a:latin typeface="HGPｺﾞｼｯｸE"/>
                <a:ea typeface="HGPｺﾞｼｯｸE"/>
              </a:rPr>
              <a:t>「もしもの備え」と</a:t>
            </a:r>
          </a:p>
          <a:p>
            <a:pPr algn="l">
              <a:spcAft>
                <a:spcPts val="0"/>
              </a:spcAft>
            </a:pPr>
            <a:r>
              <a:rPr sz="1400" b="1">
                <a:solidFill>
                  <a:srgbClr val="000000"/>
                </a:solidFill>
                <a:latin typeface="HGPｺﾞｼｯｸE"/>
                <a:ea typeface="HGPｺﾞｼｯｸE"/>
              </a:rPr>
              <a:t>「使い方のイメージ」</a:t>
            </a:r>
          </a:p>
          <a:p>
            <a:pPr algn="l">
              <a:spcAft>
                <a:spcPts val="800"/>
              </a:spcAft>
            </a:pPr>
            <a:r>
              <a:rPr sz="1400" b="0">
                <a:solidFill>
                  <a:srgbClr val="000000"/>
                </a:solidFill>
                <a:latin typeface="HGPｺﾞｼｯｸE"/>
                <a:ea typeface="HGPｺﾞｼｯｸE"/>
              </a:rPr>
              <a:t>を足して、STEP2を閉じます。</a:t>
            </a:r>
          </a:p>
          <a:p>
            <a:pPr algn="l">
              <a:spcAft>
                <a:spcPts val="0"/>
              </a:spcAft>
            </a:pPr>
            <a:r>
              <a:rPr sz="1400" b="0">
                <a:solidFill>
                  <a:srgbClr val="000000"/>
                </a:solidFill>
                <a:latin typeface="HGPｺﾞｼｯｸE"/>
                <a:ea typeface="HGPｺﾞｼｯｸE"/>
              </a:rPr>
              <a:t>ここまでで「欲しい」を</a:t>
            </a:r>
          </a:p>
          <a:p>
            <a:pPr algn="l">
              <a:spcAft>
                <a:spcPts val="500"/>
              </a:spcAft>
            </a:pPr>
            <a:r>
              <a:rPr sz="1400" b="0">
                <a:solidFill>
                  <a:srgbClr val="000000"/>
                </a:solidFill>
                <a:latin typeface="HGPｺﾞｼｯｸE"/>
                <a:ea typeface="HGPｺﾞｼｯｸE"/>
              </a:rPr>
              <a:t>作りきります。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全体像②：太陽光＋蓄電池営業 20のルール</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6</a:t>
            </a:r>
          </a:p>
        </p:txBody>
      </p:sp>
      <p:graphicFrame>
        <p:nvGraphicFramePr>
          <p:cNvPr id="5" name="Table 4"/>
          <p:cNvGraphicFramePr>
            <a:graphicFrameLocks noGrp="1"/>
          </p:cNvGraphicFramePr>
          <p:nvPr/>
        </p:nvGraphicFramePr>
        <p:xfrm>
          <a:off x="274320" y="1444752"/>
          <a:ext cx="9372600" cy="4114800"/>
        </p:xfrm>
        <a:graphic>
          <a:graphicData uri="http://schemas.openxmlformats.org/drawingml/2006/table">
            <a:tbl>
              <a:tblPr firstRow="1">
                <a:tableStyleId>{5C22544A-7EE6-4342-B048-85BDC9FD1C3A}</a:tableStyleId>
              </a:tblPr>
              <a:tblGrid>
                <a:gridCol w="1051560"/>
                <a:gridCol w="1554480"/>
                <a:gridCol w="2468880"/>
                <a:gridCol w="4297680"/>
              </a:tblGrid>
              <a:tr h="274320">
                <a:tc>
                  <a:txBody>
                    <a:bodyPr wrap="square"/>
                    <a:lstStyle/>
                    <a:p>
                      <a:pPr algn="ctr"/>
                      <a:r>
                        <a:rPr sz="1100" b="1">
                          <a:solidFill>
                            <a:srgbClr val="FFFFFF"/>
                          </a:solidFill>
                          <a:latin typeface="游ゴシック"/>
                          <a:ea typeface="游ゴシック"/>
                        </a:rPr>
                        <a:t>項目</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ゴール</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ルール</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詳細</a:t>
                      </a:r>
                    </a:p>
                  </a:txBody>
                  <a:tcPr marL="45720" marR="45720" marT="18288" marB="18288" anchor="ctr">
                    <a:solidFill>
                      <a:srgbClr val="000000"/>
                    </a:solidFill>
                  </a:tcPr>
                </a:tc>
              </a:tr>
              <a:tr h="384048">
                <a:tc>
                  <a:txBody>
                    <a:bodyPr wrap="square"/>
                    <a:lstStyle/>
                    <a:p>
                      <a:pPr algn="l"/>
                      <a:r>
                        <a:rPr sz="1100" b="0">
                          <a:solidFill>
                            <a:srgbClr val="595959"/>
                          </a:solidFill>
                          <a:latin typeface="游ゴシック"/>
                          <a:ea typeface="游ゴシック"/>
                        </a:rPr>
                        <a:t>前準備</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必要な情報を揃える</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①商談テーブルの確認</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第2回で実施済み</a:t>
                      </a:r>
                    </a:p>
                  </a:txBody>
                  <a:tcPr marL="45720" marR="45720" marT="18288" marB="18288" anchor="ctr">
                    <a:solidFill>
                      <a:srgbClr val="F2F2F2"/>
                    </a:solidFill>
                  </a:tcPr>
                </a:tc>
              </a:tr>
              <a:tr h="384048">
                <a:tc>
                  <a:txBody>
                    <a:bodyPr wrap="square"/>
                    <a:lstStyle/>
                    <a:p>
                      <a:pPr algn="l"/>
                      <a:r>
                        <a:rPr sz="1100" b="0">
                          <a:solidFill>
                            <a:srgbClr val="595959"/>
                          </a:solidFill>
                          <a:latin typeface="游ゴシック"/>
                          <a:ea typeface="游ゴシック"/>
                        </a:rPr>
                        <a:t>聴く姿勢作り</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商談の趣旨を認識する</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②〜⑥</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第2回で実施済み</a:t>
                      </a:r>
                    </a:p>
                  </a:txBody>
                  <a:tcPr marL="45720" marR="45720" marT="18288" marB="18288" anchor="ctr">
                    <a:solidFill>
                      <a:srgbClr val="F2F2F2"/>
                    </a:solidFill>
                  </a:tcPr>
                </a:tc>
              </a:tr>
              <a:tr h="384048">
                <a:tc>
                  <a:txBody>
                    <a:bodyPr wrap="square"/>
                    <a:lstStyle/>
                    <a:p>
                      <a:pPr algn="l"/>
                      <a:r>
                        <a:rPr sz="1100" b="0">
                          <a:solidFill>
                            <a:srgbClr val="595959"/>
                          </a:solidFill>
                          <a:latin typeface="游ゴシック"/>
                          <a:ea typeface="游ゴシック"/>
                        </a:rPr>
                        <a:t>必要性訴求</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現状を正確に把握する</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⑦直近数か年の電気代推移の理解</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第2回で実施済み</a:t>
                      </a:r>
                    </a:p>
                  </a:txBody>
                  <a:tcPr marL="45720" marR="45720" marT="18288" marB="18288" anchor="ctr">
                    <a:solidFill>
                      <a:srgbClr val="F2F2F2"/>
                    </a:solidFill>
                  </a:tcPr>
                </a:tc>
              </a:tr>
              <a:tr h="384048">
                <a:tc>
                  <a:txBody>
                    <a:bodyPr wrap="square"/>
                    <a:lstStyle/>
                    <a:p>
                      <a:pPr algn="l"/>
                      <a:r>
                        <a:rPr sz="1100" b="0">
                          <a:solidFill>
                            <a:srgbClr val="595959"/>
                          </a:solidFill>
                          <a:latin typeface="游ゴシック"/>
                          <a:ea typeface="游ゴシック"/>
                        </a:rPr>
                        <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⑧再エネ賦課金の構造の理解</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第2回で実施済み</a:t>
                      </a:r>
                    </a:p>
                  </a:txBody>
                  <a:tcPr marL="45720" marR="45720" marT="18288" marB="18288" anchor="ctr">
                    <a:solidFill>
                      <a:srgbClr val="F2F2F2"/>
                    </a:solidFill>
                  </a:tcPr>
                </a:tc>
              </a:tr>
              <a:tr h="384048">
                <a:tc>
                  <a:txBody>
                    <a:bodyPr wrap="square"/>
                    <a:lstStyle/>
                    <a:p>
                      <a:pPr algn="l"/>
                      <a:r>
                        <a:rPr sz="1100" b="0">
                          <a:solidFill>
                            <a:srgbClr val="595959"/>
                          </a:solidFill>
                          <a:latin typeface="游ゴシック"/>
                          <a:ea typeface="游ゴシック"/>
                        </a:rPr>
                        <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⑨長期で支払う電気代総額の理解</a:t>
                      </a:r>
                    </a:p>
                  </a:txBody>
                  <a:tcPr marL="45720" marR="45720" marT="18288" marB="18288" anchor="ctr">
                    <a:solidFill>
                      <a:srgbClr val="F2F2F2"/>
                    </a:solidFill>
                  </a:tcPr>
                </a:tc>
                <a:tc>
                  <a:txBody>
                    <a:bodyPr wrap="square"/>
                    <a:lstStyle/>
                    <a:p>
                      <a:pPr algn="l"/>
                      <a:r>
                        <a:rPr sz="1100" b="0">
                          <a:solidFill>
                            <a:srgbClr val="595959"/>
                          </a:solidFill>
                          <a:latin typeface="游ゴシック"/>
                          <a:ea typeface="游ゴシック"/>
                        </a:rPr>
                        <a:t>第2回で実施済み</a:t>
                      </a:r>
                    </a:p>
                  </a:txBody>
                  <a:tcPr marL="45720" marR="45720" marT="18288" marB="18288" anchor="ctr">
                    <a:solidFill>
                      <a:srgbClr val="F2F2F2"/>
                    </a:solidFill>
                  </a:tcPr>
                </a:tc>
              </a:tr>
              <a:tr h="384048">
                <a:tc>
                  <a:txBody>
                    <a:bodyPr wrap="square"/>
                    <a:lstStyle/>
                    <a:p>
                      <a:pPr algn="l"/>
                      <a:r>
                        <a:rPr sz="11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1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100" b="0">
                          <a:solidFill>
                            <a:srgbClr val="000000"/>
                          </a:solidFill>
                          <a:latin typeface="游ゴシック"/>
                          <a:ea typeface="游ゴシック"/>
                        </a:rPr>
                        <a:t>⑩非常時に備える意義の理解</a:t>
                      </a:r>
                    </a:p>
                  </a:txBody>
                  <a:tcPr marL="45720" marR="45720" marT="18288" marB="18288" anchor="ctr">
                    <a:solidFill>
                      <a:srgbClr val="FFF2CC"/>
                    </a:solidFill>
                  </a:tcPr>
                </a:tc>
                <a:tc>
                  <a:txBody>
                    <a:bodyPr wrap="square"/>
                    <a:lstStyle/>
                    <a:p>
                      <a:pPr algn="l"/>
                      <a:r>
                        <a:rPr sz="1100" b="0">
                          <a:solidFill>
                            <a:srgbClr val="000000"/>
                          </a:solidFill>
                          <a:latin typeface="游ゴシック"/>
                          <a:ea typeface="游ゴシック"/>
                        </a:rPr>
                        <a:t>度重なる災害から、非常時に備える必要があることを理解してもらう</a:t>
                      </a:r>
                    </a:p>
                  </a:txBody>
                  <a:tcPr marL="45720" marR="45720" marT="18288" marB="18288" anchor="ctr">
                    <a:solidFill>
                      <a:srgbClr val="FFF2CC"/>
                    </a:solidFill>
                  </a:tcPr>
                </a:tc>
              </a:tr>
              <a:tr h="384048">
                <a:tc>
                  <a:txBody>
                    <a:bodyPr wrap="square"/>
                    <a:lstStyle/>
                    <a:p>
                      <a:pPr algn="l"/>
                      <a:r>
                        <a:rPr sz="11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1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100" b="0">
                          <a:solidFill>
                            <a:srgbClr val="000000"/>
                          </a:solidFill>
                          <a:latin typeface="游ゴシック"/>
                          <a:ea typeface="游ゴシック"/>
                        </a:rPr>
                        <a:t>⑪非常時対策の効果の確認</a:t>
                      </a:r>
                    </a:p>
                  </a:txBody>
                  <a:tcPr marL="45720" marR="45720" marT="18288" marB="18288" anchor="ctr">
                    <a:solidFill>
                      <a:srgbClr val="FFF2CC"/>
                    </a:solidFill>
                  </a:tcPr>
                </a:tc>
                <a:tc>
                  <a:txBody>
                    <a:bodyPr wrap="square"/>
                    <a:lstStyle/>
                    <a:p>
                      <a:pPr algn="l"/>
                      <a:r>
                        <a:rPr sz="1100" b="0">
                          <a:solidFill>
                            <a:srgbClr val="000000"/>
                          </a:solidFill>
                          <a:latin typeface="游ゴシック"/>
                          <a:ea typeface="游ゴシック"/>
                        </a:rPr>
                        <a:t>太陽光・蓄電池があれば、向こう30年近くは停電時の保証が得られることを理解してもらう</a:t>
                      </a:r>
                    </a:p>
                  </a:txBody>
                  <a:tcPr marL="45720" marR="45720" marT="18288" marB="18288" anchor="ctr">
                    <a:solidFill>
                      <a:srgbClr val="FFF2CC"/>
                    </a:solidFill>
                  </a:tcPr>
                </a:tc>
              </a:tr>
              <a:tr h="384048">
                <a:tc>
                  <a:txBody>
                    <a:bodyPr wrap="square"/>
                    <a:lstStyle/>
                    <a:p>
                      <a:pPr algn="l"/>
                      <a:r>
                        <a:rPr sz="11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1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100" b="0">
                          <a:solidFill>
                            <a:srgbClr val="000000"/>
                          </a:solidFill>
                          <a:latin typeface="游ゴシック"/>
                          <a:ea typeface="游ゴシック"/>
                        </a:rPr>
                        <a:t>⑫太陽光・蓄電池の使い方の理解</a:t>
                      </a:r>
                    </a:p>
                  </a:txBody>
                  <a:tcPr marL="45720" marR="45720" marT="18288" marB="18288" anchor="ctr">
                    <a:solidFill>
                      <a:srgbClr val="FFF2CC"/>
                    </a:solidFill>
                  </a:tcPr>
                </a:tc>
                <a:tc>
                  <a:txBody>
                    <a:bodyPr wrap="square"/>
                    <a:lstStyle/>
                    <a:p>
                      <a:pPr algn="l"/>
                      <a:r>
                        <a:rPr sz="1100" b="0">
                          <a:solidFill>
                            <a:srgbClr val="000000"/>
                          </a:solidFill>
                          <a:latin typeface="游ゴシック"/>
                          <a:ea typeface="游ゴシック"/>
                        </a:rPr>
                        <a:t>シミュレーションに移る前に太陽光・蓄電池の一般的な使い方を理解してもらう</a:t>
                      </a:r>
                    </a:p>
                  </a:txBody>
                  <a:tcPr marL="45720" marR="45720" marT="18288" marB="18288" anchor="ctr">
                    <a:solidFill>
                      <a:srgbClr val="FFF2CC"/>
                    </a:solidFill>
                  </a:tcPr>
                </a:tc>
              </a:tr>
              <a:tr h="384048">
                <a:tc>
                  <a:txBody>
                    <a:bodyPr wrap="square"/>
                    <a:lstStyle/>
                    <a:p>
                      <a:pPr algn="l"/>
                      <a:r>
                        <a:rPr sz="1100" b="0">
                          <a:solidFill>
                            <a:srgbClr val="000000"/>
                          </a:solidFill>
                          <a:latin typeface="游ゴシック"/>
                          <a:ea typeface="游ゴシック"/>
                        </a:rPr>
                        <a:t>時期訴求</a:t>
                      </a:r>
                    </a:p>
                  </a:txBody>
                  <a:tcPr marL="45720" marR="45720" marT="18288" marB="18288" anchor="ctr">
                    <a:noFill/>
                  </a:tcPr>
                </a:tc>
                <a:tc>
                  <a:txBody>
                    <a:bodyPr wrap="square"/>
                    <a:lstStyle/>
                    <a:p>
                      <a:pPr algn="l"/>
                      <a:r>
                        <a:rPr sz="1100" b="0">
                          <a:solidFill>
                            <a:srgbClr val="000000"/>
                          </a:solidFill>
                          <a:latin typeface="游ゴシック"/>
                          <a:ea typeface="游ゴシック"/>
                        </a:rPr>
                        <a:t>早期対策を進める</a:t>
                      </a:r>
                    </a:p>
                  </a:txBody>
                  <a:tcPr marL="45720" marR="45720" marT="18288" marB="18288" anchor="ctr">
                    <a:noFill/>
                  </a:tcPr>
                </a:tc>
                <a:tc>
                  <a:txBody>
                    <a:bodyPr wrap="square"/>
                    <a:lstStyle/>
                    <a:p>
                      <a:pPr algn="l"/>
                      <a:r>
                        <a:rPr sz="1100" b="0">
                          <a:solidFill>
                            <a:srgbClr val="000000"/>
                          </a:solidFill>
                          <a:latin typeface="游ゴシック"/>
                          <a:ea typeface="游ゴシック"/>
                        </a:rPr>
                        <a:t>⑬〜⑮</a:t>
                      </a:r>
                    </a:p>
                  </a:txBody>
                  <a:tcPr marL="45720" marR="45720" marT="18288" marB="18288" anchor="ctr">
                    <a:noFill/>
                  </a:tcPr>
                </a:tc>
                <a:tc>
                  <a:txBody>
                    <a:bodyPr wrap="square"/>
                    <a:lstStyle/>
                    <a:p>
                      <a:pPr algn="l"/>
                      <a:r>
                        <a:rPr sz="1100" b="0">
                          <a:solidFill>
                            <a:srgbClr val="000000"/>
                          </a:solidFill>
                          <a:latin typeface="游ゴシック"/>
                          <a:ea typeface="游ゴシック"/>
                        </a:rPr>
                        <a:t>第4回</a:t>
                      </a:r>
                    </a:p>
                  </a:txBody>
                  <a:tcPr marL="45720" marR="45720" marT="18288" marB="18288" anchor="ctr">
                    <a:noFill/>
                  </a:tcPr>
                </a:tc>
              </a:tr>
              <a:tr h="384048">
                <a:tc>
                  <a:txBody>
                    <a:bodyPr wrap="square"/>
                    <a:lstStyle/>
                    <a:p>
                      <a:pPr algn="l"/>
                      <a:r>
                        <a:rPr sz="1100" b="0">
                          <a:solidFill>
                            <a:srgbClr val="000000"/>
                          </a:solidFill>
                          <a:latin typeface="游ゴシック"/>
                          <a:ea typeface="游ゴシック"/>
                        </a:rPr>
                        <a:t>金額訴求</a:t>
                      </a:r>
                    </a:p>
                  </a:txBody>
                  <a:tcPr marL="45720" marR="45720" marT="18288" marB="18288" anchor="ctr">
                    <a:noFill/>
                  </a:tcPr>
                </a:tc>
                <a:tc>
                  <a:txBody>
                    <a:bodyPr wrap="square"/>
                    <a:lstStyle/>
                    <a:p>
                      <a:pPr algn="l"/>
                      <a:r>
                        <a:rPr sz="1100" b="0">
                          <a:solidFill>
                            <a:srgbClr val="000000"/>
                          </a:solidFill>
                          <a:latin typeface="游ゴシック"/>
                          <a:ea typeface="游ゴシック"/>
                        </a:rPr>
                        <a:t>費用対効果に納得する</a:t>
                      </a:r>
                    </a:p>
                  </a:txBody>
                  <a:tcPr marL="45720" marR="45720" marT="18288" marB="18288" anchor="ctr">
                    <a:noFill/>
                  </a:tcPr>
                </a:tc>
                <a:tc>
                  <a:txBody>
                    <a:bodyPr wrap="square"/>
                    <a:lstStyle/>
                    <a:p>
                      <a:pPr algn="l"/>
                      <a:r>
                        <a:rPr sz="1100" b="0">
                          <a:solidFill>
                            <a:srgbClr val="000000"/>
                          </a:solidFill>
                          <a:latin typeface="游ゴシック"/>
                          <a:ea typeface="游ゴシック"/>
                        </a:rPr>
                        <a:t>⑯〜⑳</a:t>
                      </a:r>
                    </a:p>
                  </a:txBody>
                  <a:tcPr marL="45720" marR="45720" marT="18288" marB="18288" anchor="ctr">
                    <a:noFill/>
                  </a:tcPr>
                </a:tc>
                <a:tc>
                  <a:txBody>
                    <a:bodyPr wrap="square"/>
                    <a:lstStyle/>
                    <a:p>
                      <a:pPr algn="l"/>
                      <a:r>
                        <a:rPr sz="1100" b="0">
                          <a:solidFill>
                            <a:srgbClr val="000000"/>
                          </a:solidFill>
                          <a:latin typeface="游ゴシック"/>
                          <a:ea typeface="游ゴシック"/>
                        </a:rPr>
                        <a:t>第4回</a:t>
                      </a:r>
                    </a:p>
                  </a:txBody>
                  <a:tcPr marL="45720" marR="45720" marT="18288" marB="18288" anchor="ctr">
                    <a:noFill/>
                  </a:tcPr>
                </a:tc>
              </a:tr>
            </a:tbl>
          </a:graphicData>
        </a:graphic>
      </p:graphicFrame>
      <p:sp>
        <p:nvSpPr>
          <p:cNvPr id="6" name="Rectangle 5"/>
          <p:cNvSpPr/>
          <p:nvPr/>
        </p:nvSpPr>
        <p:spPr>
          <a:xfrm>
            <a:off x="274320" y="5779008"/>
            <a:ext cx="9372600" cy="4572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700" b="1">
                <a:solidFill>
                  <a:srgbClr val="000000"/>
                </a:solidFill>
                <a:latin typeface="HGPｺﾞｼｯｸE"/>
                <a:ea typeface="HGPｺﾞｼｯｸE"/>
              </a:rPr>
              <a:t>黄色が本日の範囲。⑩〜⑫で「欲しい」を作りきり、シミュレーションに渡します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7</a:t>
            </a:r>
          </a:p>
        </p:txBody>
      </p:sp>
      <p:sp>
        <p:nvSpPr>
          <p:cNvPr id="5" name="TextBox 4"/>
          <p:cNvSpPr txBox="1"/>
          <p:nvPr/>
        </p:nvSpPr>
        <p:spPr>
          <a:xfrm>
            <a:off x="411480" y="1261872"/>
            <a:ext cx="9052560" cy="384048"/>
          </a:xfrm>
          <a:prstGeom prst="rect">
            <a:avLst/>
          </a:prstGeom>
          <a:noFill/>
        </p:spPr>
        <p:txBody>
          <a:bodyPr wrap="square" anchor="t" lIns="0" rIns="0" tIns="18288" bIns="18288">
            <a:spAutoFit/>
          </a:bodyPr>
          <a:lstStyle/>
          <a:p>
            <a:pPr algn="l">
              <a:spcAft>
                <a:spcPts val="500"/>
              </a:spcAft>
            </a:pPr>
            <a:r>
              <a:rPr sz="2200" b="1">
                <a:solidFill>
                  <a:srgbClr val="000000"/>
                </a:solidFill>
                <a:latin typeface="HGPｺﾞｼｯｸE"/>
                <a:ea typeface="HGPｺﾞｼｯｸE"/>
              </a:rPr>
              <a:t>ゴール：現状を正確に把握してもらう（後半）</a:t>
            </a:r>
          </a:p>
        </p:txBody>
      </p:sp>
      <p:graphicFrame>
        <p:nvGraphicFramePr>
          <p:cNvPr id="6" name="Table 5"/>
          <p:cNvGraphicFramePr>
            <a:graphicFrameLocks noGrp="1"/>
          </p:cNvGraphicFramePr>
          <p:nvPr/>
        </p:nvGraphicFramePr>
        <p:xfrm>
          <a:off x="274320" y="1783080"/>
          <a:ext cx="9372600" cy="1801368"/>
        </p:xfrm>
        <a:graphic>
          <a:graphicData uri="http://schemas.openxmlformats.org/drawingml/2006/table">
            <a:tbl>
              <a:tblPr firstRow="1">
                <a:tableStyleId>{5C22544A-7EE6-4342-B048-85BDC9FD1C3A}</a:tableStyleId>
              </a:tblPr>
              <a:tblGrid>
                <a:gridCol w="1143000"/>
                <a:gridCol w="1600200"/>
                <a:gridCol w="2606040"/>
                <a:gridCol w="4023360"/>
              </a:tblGrid>
              <a:tr h="292608">
                <a:tc>
                  <a:txBody>
                    <a:bodyPr wrap="square"/>
                    <a:lstStyle/>
                    <a:p>
                      <a:pPr algn="ctr"/>
                      <a:r>
                        <a:rPr sz="1200" b="1">
                          <a:solidFill>
                            <a:srgbClr val="FFFFFF"/>
                          </a:solidFill>
                          <a:latin typeface="游ゴシック"/>
                          <a:ea typeface="游ゴシック"/>
                        </a:rPr>
                        <a:t>項目</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ゴール</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ルール</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POINT</a:t>
                      </a:r>
                    </a:p>
                  </a:txBody>
                  <a:tcPr marL="45720" marR="45720" marT="18288" marB="18288" anchor="ctr">
                    <a:solidFill>
                      <a:srgbClr val="000000"/>
                    </a:solidFill>
                  </a:tcPr>
                </a:tc>
              </a:tr>
              <a:tr h="502920">
                <a:tc>
                  <a:txBody>
                    <a:bodyPr wrap="square"/>
                    <a:lstStyle/>
                    <a:p>
                      <a:pPr algn="l"/>
                      <a:r>
                        <a:rPr sz="1200" b="0">
                          <a:solidFill>
                            <a:srgbClr val="000000"/>
                          </a:solidFill>
                          <a:latin typeface="游ゴシック"/>
                          <a:ea typeface="游ゴシック"/>
                        </a:rPr>
                        <a:t>必要性訴求</a:t>
                      </a:r>
                    </a:p>
                  </a:txBody>
                  <a:tcPr marL="45720" marR="45720" marT="18288" marB="18288" anchor="ctr">
                    <a:solidFill>
                      <a:srgbClr val="EAF1DD"/>
                    </a:solidFill>
                  </a:tcPr>
                </a:tc>
                <a:tc>
                  <a:txBody>
                    <a:bodyPr wrap="square"/>
                    <a:lstStyle/>
                    <a:p>
                      <a:pPr algn="l"/>
                      <a:r>
                        <a:rPr sz="1200" b="0">
                          <a:solidFill>
                            <a:srgbClr val="000000"/>
                          </a:solidFill>
                          <a:latin typeface="游ゴシック"/>
                          <a:ea typeface="游ゴシック"/>
                        </a:rPr>
                        <a:t>現状を正確に把握する</a:t>
                      </a:r>
                    </a:p>
                  </a:txBody>
                  <a:tcPr marL="45720" marR="45720" marT="18288" marB="18288" anchor="ctr">
                    <a:solidFill>
                      <a:srgbClr val="EAF1DD"/>
                    </a:solidFill>
                  </a:tcPr>
                </a:tc>
                <a:tc>
                  <a:txBody>
                    <a:bodyPr wrap="square"/>
                    <a:lstStyle/>
                    <a:p>
                      <a:pPr algn="l"/>
                      <a:r>
                        <a:rPr sz="1200" b="0">
                          <a:solidFill>
                            <a:srgbClr val="000000"/>
                          </a:solidFill>
                          <a:latin typeface="游ゴシック"/>
                          <a:ea typeface="游ゴシック"/>
                        </a:rPr>
                        <a:t>⑩非常時に備える意義の理解</a:t>
                      </a:r>
                    </a:p>
                  </a:txBody>
                  <a:tcPr marL="45720" marR="45720" marT="18288" marB="18288" anchor="ctr">
                    <a:solidFill>
                      <a:srgbClr val="EAF1DD"/>
                    </a:solidFill>
                  </a:tcPr>
                </a:tc>
                <a:tc>
                  <a:txBody>
                    <a:bodyPr wrap="square"/>
                    <a:lstStyle/>
                    <a:p>
                      <a:pPr algn="l"/>
                      <a:r>
                        <a:rPr sz="1200" b="0">
                          <a:solidFill>
                            <a:srgbClr val="000000"/>
                          </a:solidFill>
                          <a:latin typeface="游ゴシック"/>
                          <a:ea typeface="游ゴシック"/>
                        </a:rPr>
                        <a:t>「いつ身の回りで起きてもおかしくない」に腹落ちさせる</a:t>
                      </a:r>
                    </a:p>
                  </a:txBody>
                  <a:tcPr marL="45720" marR="45720" marT="18288" marB="18288" anchor="ctr">
                    <a:solidFill>
                      <a:srgbClr val="EAF1DD"/>
                    </a:solidFill>
                  </a:tcPr>
                </a:tc>
              </a:tr>
              <a:tr h="502920">
                <a:tc>
                  <a:txBody>
                    <a:bodyPr wrap="square"/>
                    <a:lstStyle/>
                    <a:p>
                      <a:pPr algn="l"/>
                      <a:r>
                        <a:rPr sz="12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2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200" b="0">
                          <a:solidFill>
                            <a:srgbClr val="000000"/>
                          </a:solidFill>
                          <a:latin typeface="游ゴシック"/>
                          <a:ea typeface="游ゴシック"/>
                        </a:rPr>
                        <a:t>⑪非常時対策の効果の確認</a:t>
                      </a:r>
                    </a:p>
                  </a:txBody>
                  <a:tcPr marL="45720" marR="45720" marT="18288" marB="18288" anchor="ctr">
                    <a:solidFill>
                      <a:srgbClr val="EAF1DD"/>
                    </a:solidFill>
                  </a:tcPr>
                </a:tc>
                <a:tc>
                  <a:txBody>
                    <a:bodyPr wrap="square"/>
                    <a:lstStyle/>
                    <a:p>
                      <a:pPr algn="l"/>
                      <a:r>
                        <a:rPr sz="1200" b="0">
                          <a:solidFill>
                            <a:srgbClr val="000000"/>
                          </a:solidFill>
                          <a:latin typeface="游ゴシック"/>
                          <a:ea typeface="游ゴシック"/>
                        </a:rPr>
                        <a:t>災害トークは「第三者話法」でしか伝えない</a:t>
                      </a:r>
                    </a:p>
                  </a:txBody>
                  <a:tcPr marL="45720" marR="45720" marT="18288" marB="18288" anchor="ctr">
                    <a:solidFill>
                      <a:srgbClr val="EAF1DD"/>
                    </a:solidFill>
                  </a:tcPr>
                </a:tc>
              </a:tr>
              <a:tr h="502920">
                <a:tc>
                  <a:txBody>
                    <a:bodyPr wrap="square"/>
                    <a:lstStyle/>
                    <a:p>
                      <a:pPr algn="l"/>
                      <a:r>
                        <a:rPr sz="12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2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200" b="0">
                          <a:solidFill>
                            <a:srgbClr val="000000"/>
                          </a:solidFill>
                          <a:latin typeface="游ゴシック"/>
                          <a:ea typeface="游ゴシック"/>
                        </a:rPr>
                        <a:t>⑫太陽光・蓄電池の使い方の理解</a:t>
                      </a:r>
                    </a:p>
                  </a:txBody>
                  <a:tcPr marL="45720" marR="45720" marT="18288" marB="18288" anchor="ctr">
                    <a:solidFill>
                      <a:srgbClr val="EAF1DD"/>
                    </a:solidFill>
                  </a:tcPr>
                </a:tc>
                <a:tc>
                  <a:txBody>
                    <a:bodyPr wrap="square"/>
                    <a:lstStyle/>
                    <a:p>
                      <a:pPr algn="l"/>
                      <a:r>
                        <a:rPr sz="1200" b="0">
                          <a:solidFill>
                            <a:srgbClr val="000000"/>
                          </a:solidFill>
                          <a:latin typeface="游ゴシック"/>
                          <a:ea typeface="游ゴシック"/>
                        </a:rPr>
                        <a:t>シミュレーションに移る前に基本概念をおさらいする</a:t>
                      </a:r>
                    </a:p>
                  </a:txBody>
                  <a:tcPr marL="45720" marR="45720" marT="18288" marB="18288" anchor="ctr">
                    <a:solidFill>
                      <a:srgbClr val="EAF1DD"/>
                    </a:solidFill>
                  </a:tcPr>
                </a:tc>
              </a:tr>
            </a:tbl>
          </a:graphicData>
        </a:graphic>
      </p:graphicFrame>
      <p:sp>
        <p:nvSpPr>
          <p:cNvPr id="7" name="Rectangle 6"/>
          <p:cNvSpPr/>
          <p:nvPr/>
        </p:nvSpPr>
        <p:spPr>
          <a:xfrm>
            <a:off x="274320" y="3749039"/>
            <a:ext cx="452628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使うアプローチブック</a:t>
            </a:r>
          </a:p>
          <a:p>
            <a:pPr algn="l">
              <a:spcAft>
                <a:spcPts val="600"/>
              </a:spcAft>
            </a:pPr>
            <a:r>
              <a:rPr sz="1500" b="0">
                <a:solidFill>
                  <a:srgbClr val="000000"/>
                </a:solidFill>
                <a:latin typeface="HGPｺﾞｼｯｸE"/>
                <a:ea typeface="HGPｺﾞｼｯｸE"/>
              </a:rPr>
              <a:t>p.18　政府機関にも予測が困難な地震情報</a:t>
            </a:r>
          </a:p>
          <a:p>
            <a:pPr algn="l">
              <a:spcAft>
                <a:spcPts val="600"/>
              </a:spcAft>
            </a:pPr>
            <a:r>
              <a:rPr sz="1500" b="0">
                <a:solidFill>
                  <a:srgbClr val="000000"/>
                </a:solidFill>
                <a:latin typeface="HGPｺﾞｼｯｸE"/>
                <a:ea typeface="HGPｺﾞｼｯｸE"/>
              </a:rPr>
              <a:t>p.19　自然災害とともに停電被害はたくさん出ている</a:t>
            </a:r>
          </a:p>
          <a:p>
            <a:pPr algn="l">
              <a:spcAft>
                <a:spcPts val="600"/>
              </a:spcAft>
            </a:pPr>
            <a:r>
              <a:rPr sz="1500" b="0">
                <a:solidFill>
                  <a:srgbClr val="000000"/>
                </a:solidFill>
                <a:latin typeface="HGPｺﾞｼｯｸE"/>
                <a:ea typeface="HGPｺﾞｼｯｸE"/>
              </a:rPr>
              <a:t>p.20　電気を購入する生活から自給自足する生活へ</a:t>
            </a:r>
          </a:p>
          <a:p>
            <a:pPr algn="l">
              <a:spcAft>
                <a:spcPts val="1000"/>
              </a:spcAft>
            </a:pPr>
            <a:r>
              <a:rPr sz="1500" b="0">
                <a:solidFill>
                  <a:srgbClr val="000000"/>
                </a:solidFill>
                <a:latin typeface="HGPｺﾞｼｯｸE"/>
                <a:ea typeface="HGPｺﾞｼｯｸE"/>
              </a:rPr>
              <a:t>p.21　太陽光発電・蓄電池の使い方</a:t>
            </a:r>
          </a:p>
          <a:p>
            <a:pPr algn="l">
              <a:spcAft>
                <a:spcPts val="500"/>
              </a:spcAft>
            </a:pPr>
            <a:r>
              <a:rPr sz="1400" b="1">
                <a:solidFill>
                  <a:srgbClr val="FF0000"/>
                </a:solidFill>
                <a:latin typeface="HGPｺﾞｼｯｸE"/>
                <a:ea typeface="HGPｺﾞｼｯｸE"/>
              </a:rPr>
              <a:t>※ ⑪に対応するページはありません（理由は後述）</a:t>
            </a:r>
          </a:p>
        </p:txBody>
      </p:sp>
      <p:sp>
        <p:nvSpPr>
          <p:cNvPr id="8" name="Rectangle 7"/>
          <p:cNvSpPr/>
          <p:nvPr/>
        </p:nvSpPr>
        <p:spPr>
          <a:xfrm>
            <a:off x="5120640" y="3749039"/>
            <a:ext cx="4526280" cy="210312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このパートの勝ち筋</a:t>
            </a:r>
          </a:p>
          <a:p>
            <a:pPr algn="l">
              <a:spcAft>
                <a:spcPts val="600"/>
              </a:spcAft>
            </a:pPr>
            <a:r>
              <a:rPr sz="1500" b="0">
                <a:solidFill>
                  <a:srgbClr val="000000"/>
                </a:solidFill>
                <a:latin typeface="HGPｺﾞｼｯｸE"/>
                <a:ea typeface="HGPｺﾞｼｯｸE"/>
              </a:rPr>
              <a:t>災害の話は、長く話すほど失敗します。</a:t>
            </a:r>
          </a:p>
          <a:p>
            <a:pPr algn="l">
              <a:spcAft>
                <a:spcPts val="1000"/>
              </a:spcAft>
            </a:pPr>
            <a:r>
              <a:rPr sz="1500" b="0">
                <a:solidFill>
                  <a:srgbClr val="000000"/>
                </a:solidFill>
                <a:latin typeface="HGPｺﾞｼｯｸE"/>
                <a:ea typeface="HGPｺﾞｼｯｸE"/>
              </a:rPr>
              <a:t>商談の雰囲気が暗くなるからです。</a:t>
            </a:r>
          </a:p>
          <a:p>
            <a:pPr algn="l">
              <a:spcAft>
                <a:spcPts val="600"/>
              </a:spcAft>
            </a:pPr>
            <a:r>
              <a:rPr sz="1600" b="1">
                <a:solidFill>
                  <a:srgbClr val="FF0000"/>
                </a:solidFill>
                <a:latin typeface="HGPｺﾞｼｯｸE"/>
                <a:ea typeface="HGPｺﾞｼｯｸE"/>
              </a:rPr>
              <a:t>「事実 → 事例 → サラッと次へ」</a:t>
            </a:r>
          </a:p>
          <a:p>
            <a:pPr algn="l">
              <a:spcAft>
                <a:spcPts val="500"/>
              </a:spcAft>
            </a:pPr>
            <a:r>
              <a:rPr sz="1500" b="0">
                <a:solidFill>
                  <a:srgbClr val="000000"/>
                </a:solidFill>
                <a:latin typeface="HGPｺﾞｼｯｸE"/>
                <a:ea typeface="HGPｺﾞｼｯｸE"/>
              </a:rPr>
              <a:t>が鉄則。3分で抜けてください。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必要性訴求の原理</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8</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なぜ「必要性」を訴求するのか</a:t>
            </a:r>
          </a:p>
        </p:txBody>
      </p:sp>
      <p:sp>
        <p:nvSpPr>
          <p:cNvPr id="6" name="Rounded Rectangle 5"/>
          <p:cNvSpPr/>
          <p:nvPr/>
        </p:nvSpPr>
        <p:spPr>
          <a:xfrm>
            <a:off x="822960" y="1810512"/>
            <a:ext cx="3794760" cy="1554480"/>
          </a:xfrm>
          <a:prstGeom prst="round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800"/>
              </a:spcAft>
            </a:pPr>
            <a:r>
              <a:rPr sz="2200" b="1">
                <a:solidFill>
                  <a:srgbClr val="000000"/>
                </a:solidFill>
                <a:latin typeface="HGPｺﾞｼｯｸE"/>
                <a:ea typeface="HGPｺﾞｼｯｸE"/>
              </a:rPr>
              <a:t>購入 ＝ 価値 ÷ 価格</a:t>
            </a:r>
          </a:p>
          <a:p>
            <a:pPr algn="ctr">
              <a:spcAft>
                <a:spcPts val="200"/>
              </a:spcAft>
            </a:pPr>
            <a:r>
              <a:rPr sz="1400" b="0">
                <a:solidFill>
                  <a:srgbClr val="000000"/>
                </a:solidFill>
                <a:latin typeface="HGPｺﾞｼｯｸE"/>
                <a:ea typeface="HGPｺﾞｼｯｸE"/>
              </a:rPr>
              <a:t>この値が1を超えたとき、</a:t>
            </a:r>
          </a:p>
          <a:p>
            <a:pPr algn="ctr">
              <a:spcAft>
                <a:spcPts val="500"/>
              </a:spcAft>
            </a:pPr>
            <a:r>
              <a:rPr sz="1400" b="0">
                <a:solidFill>
                  <a:srgbClr val="000000"/>
                </a:solidFill>
                <a:latin typeface="HGPｺﾞｼｯｸE"/>
                <a:ea typeface="HGPｺﾞｼｯｸE"/>
              </a:rPr>
              <a:t>人は購入に至る</a:t>
            </a:r>
          </a:p>
        </p:txBody>
      </p:sp>
      <p:sp>
        <p:nvSpPr>
          <p:cNvPr id="7" name="Rectangle 6"/>
          <p:cNvSpPr/>
          <p:nvPr/>
        </p:nvSpPr>
        <p:spPr>
          <a:xfrm>
            <a:off x="4892040" y="1810512"/>
            <a:ext cx="4617720" cy="1554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600"/>
              </a:spcAft>
            </a:pPr>
            <a:r>
              <a:rPr sz="1500" b="1">
                <a:solidFill>
                  <a:srgbClr val="000000"/>
                </a:solidFill>
                <a:latin typeface="HGPｺﾞｼｯｸE"/>
                <a:ea typeface="HGPｺﾞｼｯｸE"/>
              </a:rPr>
              <a:t>100均で考えると</a:t>
            </a:r>
          </a:p>
          <a:p>
            <a:pPr algn="l">
              <a:spcAft>
                <a:spcPts val="500"/>
              </a:spcAft>
            </a:pPr>
            <a:r>
              <a:rPr sz="1400" b="0">
                <a:solidFill>
                  <a:srgbClr val="000000"/>
                </a:solidFill>
                <a:latin typeface="HGPｺﾞｼｯｸE"/>
                <a:ea typeface="HGPｺﾞｼｯｸE"/>
              </a:rPr>
              <a:t>100円の商品を買うのは、100円以上の価値を感じているから。</a:t>
            </a:r>
          </a:p>
          <a:p>
            <a:pPr algn="l">
              <a:spcAft>
                <a:spcPts val="500"/>
              </a:spcAft>
            </a:pPr>
            <a:r>
              <a:rPr sz="1400" b="0">
                <a:solidFill>
                  <a:srgbClr val="000000"/>
                </a:solidFill>
                <a:latin typeface="HGPｺﾞｼｯｸE"/>
                <a:ea typeface="HGPｺﾞｼｯｸE"/>
              </a:rPr>
              <a:t>つまり X &gt; 100円 ÷ 100円 の状態です。</a:t>
            </a:r>
          </a:p>
        </p:txBody>
      </p:sp>
      <p:sp>
        <p:nvSpPr>
          <p:cNvPr id="8" name="Rectangle 7"/>
          <p:cNvSpPr/>
          <p:nvPr/>
        </p:nvSpPr>
        <p:spPr>
          <a:xfrm>
            <a:off x="411480" y="3566160"/>
            <a:ext cx="4526280" cy="214884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800" b="1">
                <a:solidFill>
                  <a:srgbClr val="000000"/>
                </a:solidFill>
                <a:latin typeface="HGPｺﾞｼｯｸE"/>
                <a:ea typeface="HGPｺﾞｼｯｸE"/>
              </a:rPr>
              <a:t>やり方①　価値を上げる</a:t>
            </a:r>
          </a:p>
          <a:p>
            <a:pPr algn="l">
              <a:spcAft>
                <a:spcPts val="400"/>
              </a:spcAft>
            </a:pPr>
            <a:r>
              <a:rPr sz="1500" b="0">
                <a:solidFill>
                  <a:srgbClr val="000000"/>
                </a:solidFill>
                <a:latin typeface="HGPｺﾞｼｯｸE"/>
                <a:ea typeface="HGPｺﾞｼｯｸE"/>
              </a:rPr>
              <a:t>電気代のネガ（⑦⑧⑨）</a:t>
            </a:r>
          </a:p>
          <a:p>
            <a:pPr algn="l">
              <a:spcAft>
                <a:spcPts val="400"/>
              </a:spcAft>
            </a:pPr>
            <a:r>
              <a:rPr sz="1500" b="0">
                <a:solidFill>
                  <a:srgbClr val="000000"/>
                </a:solidFill>
                <a:latin typeface="HGPｺﾞｼｯｸE"/>
                <a:ea typeface="HGPｺﾞｼｯｸE"/>
              </a:rPr>
              <a:t>＋ もしもの備え（⑩⑪）</a:t>
            </a:r>
          </a:p>
          <a:p>
            <a:pPr algn="l">
              <a:spcAft>
                <a:spcPts val="1000"/>
              </a:spcAft>
            </a:pPr>
            <a:r>
              <a:rPr sz="1500" b="0">
                <a:solidFill>
                  <a:srgbClr val="000000"/>
                </a:solidFill>
                <a:latin typeface="HGPｺﾞｼｯｸE"/>
                <a:ea typeface="HGPｺﾞｼｯｸE"/>
              </a:rPr>
              <a:t>＋ 使い方のイメージ（⑫）</a:t>
            </a:r>
          </a:p>
          <a:p>
            <a:pPr algn="l">
              <a:spcAft>
                <a:spcPts val="500"/>
              </a:spcAft>
            </a:pPr>
            <a:r>
              <a:rPr sz="1600" b="1">
                <a:solidFill>
                  <a:srgbClr val="FF0000"/>
                </a:solidFill>
                <a:latin typeface="HGPｺﾞｼｯｸE"/>
                <a:ea typeface="HGPｺﾞｼｯｸE"/>
              </a:rPr>
              <a:t>本日はここを積み上げます</a:t>
            </a:r>
          </a:p>
        </p:txBody>
      </p:sp>
      <p:sp>
        <p:nvSpPr>
          <p:cNvPr id="9" name="Rectangle 8"/>
          <p:cNvSpPr/>
          <p:nvPr/>
        </p:nvSpPr>
        <p:spPr>
          <a:xfrm>
            <a:off x="5120640" y="3566160"/>
            <a:ext cx="4526280" cy="2148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800" b="1">
                <a:solidFill>
                  <a:srgbClr val="000000"/>
                </a:solidFill>
                <a:latin typeface="HGPｺﾞｼｯｸE"/>
                <a:ea typeface="HGPｺﾞｼｯｸE"/>
              </a:rPr>
              <a:t>やり方②　価格を下げる</a:t>
            </a:r>
          </a:p>
          <a:p>
            <a:pPr algn="l">
              <a:spcAft>
                <a:spcPts val="400"/>
              </a:spcAft>
            </a:pPr>
            <a:r>
              <a:rPr sz="1500" b="0">
                <a:solidFill>
                  <a:srgbClr val="000000"/>
                </a:solidFill>
                <a:latin typeface="HGPｺﾞｼｯｸE"/>
                <a:ea typeface="HGPｺﾞｼｯｸE"/>
              </a:rPr>
              <a:t>価格 −（経済メリット）を下げる</a:t>
            </a:r>
          </a:p>
          <a:p>
            <a:pPr algn="l">
              <a:spcAft>
                <a:spcPts val="1000"/>
              </a:spcAft>
            </a:pPr>
            <a:r>
              <a:rPr sz="1500" b="0">
                <a:solidFill>
                  <a:srgbClr val="000000"/>
                </a:solidFill>
                <a:latin typeface="HGPｺﾞｼｯｸE"/>
                <a:ea typeface="HGPｺﾞｼｯｸE"/>
              </a:rPr>
              <a:t>＝ 時期訴求・金額訴求（⑬〜⑳）</a:t>
            </a:r>
          </a:p>
          <a:p>
            <a:pPr algn="l">
              <a:spcAft>
                <a:spcPts val="500"/>
              </a:spcAft>
            </a:pPr>
            <a:r>
              <a:rPr sz="1600" b="1">
                <a:solidFill>
                  <a:srgbClr val="595959"/>
                </a:solidFill>
                <a:latin typeface="HGPｺﾞｼｯｸE"/>
                <a:ea typeface="HGPｺﾞｼｯｸE"/>
              </a:rPr>
              <a:t>第4回で扱います</a:t>
            </a:r>
          </a:p>
        </p:txBody>
      </p:sp>
      <p:sp>
        <p:nvSpPr>
          <p:cNvPr id="10" name="Rectangle 9"/>
          <p:cNvSpPr/>
          <p:nvPr/>
        </p:nvSpPr>
        <p:spPr>
          <a:xfrm>
            <a:off x="411480" y="585216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必要性訴求とは「価値」を積み上げる作業のこと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必要性訴求の原理</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9</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価値の伝え方：FAB</a:t>
            </a:r>
          </a:p>
        </p:txBody>
      </p:sp>
      <p:graphicFrame>
        <p:nvGraphicFramePr>
          <p:cNvPr id="6" name="Table 5"/>
          <p:cNvGraphicFramePr>
            <a:graphicFrameLocks noGrp="1"/>
          </p:cNvGraphicFramePr>
          <p:nvPr/>
        </p:nvGraphicFramePr>
        <p:xfrm>
          <a:off x="411480" y="1783080"/>
          <a:ext cx="9098280" cy="1993392"/>
        </p:xfrm>
        <a:graphic>
          <a:graphicData uri="http://schemas.openxmlformats.org/drawingml/2006/table">
            <a:tbl>
              <a:tblPr firstRow="1">
                <a:tableStyleId>{5C22544A-7EE6-4342-B048-85BDC9FD1C3A}</a:tableStyleId>
              </a:tblPr>
              <a:tblGrid>
                <a:gridCol w="457200"/>
                <a:gridCol w="2331720"/>
                <a:gridCol w="4206240"/>
                <a:gridCol w="2103120"/>
              </a:tblGrid>
              <a:tr h="292608">
                <a:tc>
                  <a:txBody>
                    <a:bodyPr wrap="square"/>
                    <a:lstStyle/>
                    <a:p>
                      <a:pPr algn="ctr"/>
                      <a:r>
                        <a:rPr sz="1300" b="1">
                          <a:solidFill>
                            <a:srgbClr val="FFFFFF"/>
                          </a:solidFill>
                          <a:latin typeface="游ゴシック"/>
                          <a:ea typeface="游ゴシック"/>
                        </a:rPr>
                        <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要素</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意味</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できる営業の割合</a:t>
                      </a:r>
                    </a:p>
                  </a:txBody>
                  <a:tcPr marL="45720" marR="45720" marT="18288" marB="18288" anchor="ctr">
                    <a:solidFill>
                      <a:srgbClr val="000000"/>
                    </a:solidFill>
                  </a:tcPr>
                </a:tc>
              </a:tr>
              <a:tr h="566928">
                <a:tc>
                  <a:txBody>
                    <a:bodyPr wrap="square"/>
                    <a:lstStyle/>
                    <a:p>
                      <a:pPr algn="l"/>
                      <a:r>
                        <a:rPr sz="1300" b="0">
                          <a:solidFill>
                            <a:srgbClr val="000000"/>
                          </a:solidFill>
                          <a:latin typeface="游ゴシック"/>
                          <a:ea typeface="游ゴシック"/>
                        </a:rPr>
                        <a:t>F</a:t>
                      </a:r>
                    </a:p>
                  </a:txBody>
                  <a:tcPr marL="45720" marR="45720" marT="18288" marB="18288" anchor="ctr">
                    <a:noFill/>
                  </a:tcPr>
                </a:tc>
                <a:tc>
                  <a:txBody>
                    <a:bodyPr wrap="square"/>
                    <a:lstStyle/>
                    <a:p>
                      <a:pPr algn="l"/>
                      <a:r>
                        <a:rPr sz="1300" b="0">
                          <a:solidFill>
                            <a:srgbClr val="000000"/>
                          </a:solidFill>
                          <a:latin typeface="游ゴシック"/>
                          <a:ea typeface="游ゴシック"/>
                        </a:rPr>
                        <a:t>Feature（特徴）</a:t>
                      </a:r>
                    </a:p>
                  </a:txBody>
                  <a:tcPr marL="45720" marR="45720" marT="18288" marB="18288" anchor="ctr">
                    <a:noFill/>
                  </a:tcPr>
                </a:tc>
                <a:tc>
                  <a:txBody>
                    <a:bodyPr wrap="square"/>
                    <a:lstStyle/>
                    <a:p>
                      <a:pPr algn="l"/>
                      <a:r>
                        <a:rPr sz="1300" b="0">
                          <a:solidFill>
                            <a:srgbClr val="000000"/>
                          </a:solidFill>
                          <a:latin typeface="游ゴシック"/>
                          <a:ea typeface="游ゴシック"/>
                        </a:rPr>
                        <a:t>その製品の特長・長所　※固定</a:t>
                      </a:r>
                    </a:p>
                  </a:txBody>
                  <a:tcPr marL="45720" marR="45720" marT="18288" marB="18288" anchor="ctr">
                    <a:noFill/>
                  </a:tcPr>
                </a:tc>
                <a:tc>
                  <a:txBody>
                    <a:bodyPr wrap="square"/>
                    <a:lstStyle/>
                    <a:p>
                      <a:pPr algn="l"/>
                      <a:r>
                        <a:rPr sz="1300" b="0">
                          <a:solidFill>
                            <a:srgbClr val="000000"/>
                          </a:solidFill>
                          <a:latin typeface="游ゴシック"/>
                          <a:ea typeface="游ゴシック"/>
                        </a:rPr>
                        <a:t>ほとんどの営業マンができる</a:t>
                      </a:r>
                    </a:p>
                  </a:txBody>
                  <a:tcPr marL="45720" marR="45720" marT="18288" marB="18288" anchor="ctr">
                    <a:noFill/>
                  </a:tcPr>
                </a:tc>
              </a:tr>
              <a:tr h="566928">
                <a:tc>
                  <a:txBody>
                    <a:bodyPr wrap="square"/>
                    <a:lstStyle/>
                    <a:p>
                      <a:pPr algn="l"/>
                      <a:r>
                        <a:rPr sz="1300" b="0">
                          <a:solidFill>
                            <a:srgbClr val="000000"/>
                          </a:solidFill>
                          <a:latin typeface="游ゴシック"/>
                          <a:ea typeface="游ゴシック"/>
                        </a:rPr>
                        <a:t>A</a:t>
                      </a:r>
                    </a:p>
                  </a:txBody>
                  <a:tcPr marL="45720" marR="45720" marT="18288" marB="18288" anchor="ctr">
                    <a:noFill/>
                  </a:tcPr>
                </a:tc>
                <a:tc>
                  <a:txBody>
                    <a:bodyPr wrap="square"/>
                    <a:lstStyle/>
                    <a:p>
                      <a:pPr algn="l"/>
                      <a:r>
                        <a:rPr sz="1300" b="0">
                          <a:solidFill>
                            <a:srgbClr val="000000"/>
                          </a:solidFill>
                          <a:latin typeface="游ゴシック"/>
                          <a:ea typeface="游ゴシック"/>
                        </a:rPr>
                        <a:t>Advantage（メリット）</a:t>
                      </a:r>
                    </a:p>
                  </a:txBody>
                  <a:tcPr marL="45720" marR="45720" marT="18288" marB="18288" anchor="ctr">
                    <a:noFill/>
                  </a:tcPr>
                </a:tc>
                <a:tc>
                  <a:txBody>
                    <a:bodyPr wrap="square"/>
                    <a:lstStyle/>
                    <a:p>
                      <a:pPr algn="l"/>
                      <a:r>
                        <a:rPr sz="1300" b="0">
                          <a:solidFill>
                            <a:srgbClr val="000000"/>
                          </a:solidFill>
                          <a:latin typeface="游ゴシック"/>
                          <a:ea typeface="游ゴシック"/>
                        </a:rPr>
                        <a:t>その特徴が「全ての人に」もたらす利点　※固定</a:t>
                      </a:r>
                    </a:p>
                  </a:txBody>
                  <a:tcPr marL="45720" marR="45720" marT="18288" marB="18288" anchor="ctr">
                    <a:noFill/>
                  </a:tcPr>
                </a:tc>
                <a:tc>
                  <a:txBody>
                    <a:bodyPr wrap="square"/>
                    <a:lstStyle/>
                    <a:p>
                      <a:pPr algn="l"/>
                      <a:r>
                        <a:rPr sz="1300" b="0">
                          <a:solidFill>
                            <a:srgbClr val="000000"/>
                          </a:solidFill>
                          <a:latin typeface="游ゴシック"/>
                          <a:ea typeface="游ゴシック"/>
                        </a:rPr>
                        <a:t>約8割ができる</a:t>
                      </a:r>
                    </a:p>
                  </a:txBody>
                  <a:tcPr marL="45720" marR="45720" marT="18288" marB="18288" anchor="ctr">
                    <a:noFill/>
                  </a:tcPr>
                </a:tc>
              </a:tr>
              <a:tr h="566928">
                <a:tc>
                  <a:txBody>
                    <a:bodyPr wrap="square"/>
                    <a:lstStyle/>
                    <a:p>
                      <a:pPr algn="l"/>
                      <a:r>
                        <a:rPr sz="1300" b="0">
                          <a:solidFill>
                            <a:srgbClr val="000000"/>
                          </a:solidFill>
                          <a:latin typeface="游ゴシック"/>
                          <a:ea typeface="游ゴシック"/>
                        </a:rPr>
                        <a:t>B</a:t>
                      </a:r>
                    </a:p>
                  </a:txBody>
                  <a:tcPr marL="45720" marR="45720" marT="18288" marB="18288" anchor="ctr">
                    <a:noFill/>
                  </a:tcPr>
                </a:tc>
                <a:tc>
                  <a:txBody>
                    <a:bodyPr wrap="square"/>
                    <a:lstStyle/>
                    <a:p>
                      <a:pPr algn="l"/>
                      <a:r>
                        <a:rPr sz="1300" b="1">
                          <a:solidFill>
                            <a:srgbClr val="000000"/>
                          </a:solidFill>
                          <a:latin typeface="游ゴシック"/>
                          <a:ea typeface="游ゴシック"/>
                        </a:rPr>
                        <a:t>Benefit（ベネフィット）</a:t>
                      </a:r>
                    </a:p>
                  </a:txBody>
                  <a:tcPr marL="45720" marR="45720" marT="18288" marB="18288" anchor="ctr">
                    <a:noFill/>
                  </a:tcPr>
                </a:tc>
                <a:tc>
                  <a:txBody>
                    <a:bodyPr wrap="square"/>
                    <a:lstStyle/>
                    <a:p>
                      <a:pPr algn="l"/>
                      <a:r>
                        <a:rPr sz="1300" b="1">
                          <a:solidFill>
                            <a:srgbClr val="000000"/>
                          </a:solidFill>
                          <a:latin typeface="游ゴシック"/>
                          <a:ea typeface="游ゴシック"/>
                        </a:rPr>
                        <a:t>だからこそ「目の前のお客様が」受ける利益　※変動</a:t>
                      </a:r>
                    </a:p>
                  </a:txBody>
                  <a:tcPr marL="45720" marR="45720" marT="18288" marB="18288" anchor="ctr">
                    <a:noFill/>
                  </a:tcPr>
                </a:tc>
                <a:tc>
                  <a:txBody>
                    <a:bodyPr wrap="square"/>
                    <a:lstStyle/>
                    <a:p>
                      <a:pPr algn="l"/>
                      <a:r>
                        <a:rPr sz="1300" b="1">
                          <a:solidFill>
                            <a:srgbClr val="FF0000"/>
                          </a:solidFill>
                          <a:latin typeface="游ゴシック"/>
                          <a:ea typeface="游ゴシック"/>
                        </a:rPr>
                        <a:t>トップ2割しかできない</a:t>
                      </a:r>
                    </a:p>
                  </a:txBody>
                  <a:tcPr marL="45720" marR="45720" marT="18288" marB="18288" anchor="ctr">
                    <a:noFill/>
                  </a:tcPr>
                </a:tc>
              </a:tr>
            </a:tbl>
          </a:graphicData>
        </a:graphic>
      </p:graphicFrame>
      <p:sp>
        <p:nvSpPr>
          <p:cNvPr id="7" name="Rectangle 6"/>
          <p:cNvSpPr/>
          <p:nvPr/>
        </p:nvSpPr>
        <p:spPr>
          <a:xfrm>
            <a:off x="411480" y="3931920"/>
            <a:ext cx="9098280"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700"/>
              </a:spcAft>
            </a:pPr>
            <a:r>
              <a:rPr sz="1600" b="1">
                <a:solidFill>
                  <a:srgbClr val="000000"/>
                </a:solidFill>
                <a:latin typeface="HGPｺﾞｼｯｸE"/>
                <a:ea typeface="HGPｺﾞｼｯｸE"/>
              </a:rPr>
              <a:t>例）コーヒーマシン</a:t>
            </a:r>
          </a:p>
          <a:p>
            <a:pPr algn="l">
              <a:spcAft>
                <a:spcPts val="500"/>
              </a:spcAft>
            </a:pPr>
            <a:r>
              <a:rPr sz="1500" b="0">
                <a:solidFill>
                  <a:srgbClr val="000000"/>
                </a:solidFill>
                <a:latin typeface="HGPｺﾞｼｯｸE"/>
                <a:ea typeface="HGPｺﾞｼｯｸE"/>
              </a:rPr>
              <a:t>F：専用カプセルを入れてボタン一つで本格的なコーヒーが淹れられる</a:t>
            </a:r>
          </a:p>
          <a:p>
            <a:pPr algn="l">
              <a:spcAft>
                <a:spcPts val="500"/>
              </a:spcAft>
            </a:pPr>
            <a:r>
              <a:rPr sz="1500" b="0">
                <a:solidFill>
                  <a:srgbClr val="000000"/>
                </a:solidFill>
                <a:latin typeface="HGPｺﾞｼｯｸE"/>
                <a:ea typeface="HGPｺﾞｼｯｸE"/>
              </a:rPr>
              <a:t>A：誰でも安定した味を再現でき、手間も汚れも少ない</a:t>
            </a:r>
          </a:p>
          <a:p>
            <a:pPr algn="l">
              <a:spcAft>
                <a:spcPts val="500"/>
              </a:spcAft>
            </a:pPr>
            <a:r>
              <a:rPr sz="1500" b="1">
                <a:solidFill>
                  <a:srgbClr val="FF0000"/>
                </a:solidFill>
                <a:latin typeface="HGPｺﾞｼｯｸE"/>
                <a:ea typeface="HGPｺﾞｼｯｸE"/>
              </a:rPr>
              <a:t>B：忙しい朝でもボタン1つで一息つける／カプセルが毎月届くので買い忘れ・豆挽き・ボトル運びの負担がない</a:t>
            </a:r>
          </a:p>
        </p:txBody>
      </p:sp>
      <p:sp>
        <p:nvSpPr>
          <p:cNvPr id="8" name="Rectangle 7"/>
          <p:cNvSpPr/>
          <p:nvPr/>
        </p:nvSpPr>
        <p:spPr>
          <a:xfrm>
            <a:off x="411480" y="585216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お客様に対してのB（利益）を、いかに具体的に話せるかが最重要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10</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ルール⑩：非常時に備える意義の理解</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「いつ身の回りで起きてもおかしくない」に腹落ちさせる</a:t>
            </a:r>
          </a:p>
        </p:txBody>
      </p:sp>
      <p:pic>
        <p:nvPicPr>
          <p:cNvPr id="7" name="Picture 6" descr="ab-18.jpg"/>
          <p:cNvPicPr>
            <a:picLocks noChangeAspect="1"/>
          </p:cNvPicPr>
          <p:nvPr/>
        </p:nvPicPr>
        <p:blipFill>
          <a:blip r:embed="rId2"/>
          <a:stretch>
            <a:fillRect/>
          </a:stretch>
        </p:blipFill>
        <p:spPr>
          <a:xfrm>
            <a:off x="411480" y="2286000"/>
            <a:ext cx="4160520" cy="2879555"/>
          </a:xfrm>
          <a:prstGeom prst="rect">
            <a:avLst/>
          </a:prstGeom>
          <a:ln w="12700">
            <a:solidFill>
              <a:srgbClr val="808080"/>
            </a:solidFill>
          </a:ln>
        </p:spPr>
      </p:pic>
      <p:sp>
        <p:nvSpPr>
          <p:cNvPr id="8" name="TextBox 7"/>
          <p:cNvSpPr txBox="1"/>
          <p:nvPr/>
        </p:nvSpPr>
        <p:spPr>
          <a:xfrm>
            <a:off x="411480" y="534924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p.18　予測が困難な地震情報</a:t>
            </a:r>
          </a:p>
        </p:txBody>
      </p:sp>
      <p:sp>
        <p:nvSpPr>
          <p:cNvPr id="9" name="Rounded Rectangle 8"/>
          <p:cNvSpPr/>
          <p:nvPr/>
        </p:nvSpPr>
        <p:spPr>
          <a:xfrm>
            <a:off x="4892040" y="2286000"/>
            <a:ext cx="4617720" cy="1051560"/>
          </a:xfrm>
          <a:prstGeom prst="round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600"/>
              </a:spcAft>
            </a:pPr>
            <a:r>
              <a:rPr sz="1300" b="1">
                <a:solidFill>
                  <a:srgbClr val="0070C0"/>
                </a:solidFill>
                <a:latin typeface="HGPｺﾞｼｯｸE"/>
                <a:ea typeface="HGPｺﾞｼｯｸE"/>
              </a:rPr>
              <a:t>ゴール（お客様の反応）</a:t>
            </a:r>
          </a:p>
          <a:p>
            <a:pPr algn="l">
              <a:spcAft>
                <a:spcPts val="300"/>
              </a:spcAft>
            </a:pPr>
            <a:r>
              <a:rPr sz="1600" b="1">
                <a:solidFill>
                  <a:srgbClr val="000000"/>
                </a:solidFill>
                <a:latin typeface="HGPｺﾞｼｯｸE"/>
                <a:ea typeface="HGPｺﾞｼｯｸE"/>
              </a:rPr>
              <a:t>「いつ災害が起こるか分からないですね」</a:t>
            </a:r>
          </a:p>
        </p:txBody>
      </p:sp>
      <p:sp>
        <p:nvSpPr>
          <p:cNvPr id="10" name="Rectangle 9"/>
          <p:cNvSpPr/>
          <p:nvPr/>
        </p:nvSpPr>
        <p:spPr>
          <a:xfrm>
            <a:off x="4892040" y="3456432"/>
            <a:ext cx="4617720" cy="228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600"/>
              </a:spcAft>
            </a:pPr>
            <a:r>
              <a:rPr sz="1300" b="1">
                <a:solidFill>
                  <a:srgbClr val="595959"/>
                </a:solidFill>
                <a:latin typeface="HGPｺﾞｼｯｸE"/>
                <a:ea typeface="HGPｺﾞｼｯｸE"/>
              </a:rPr>
              <a:t>説明のポイント</a:t>
            </a:r>
          </a:p>
          <a:p>
            <a:pPr algn="l">
              <a:spcAft>
                <a:spcPts val="600"/>
              </a:spcAft>
            </a:pPr>
            <a:r>
              <a:rPr sz="1300" b="1">
                <a:solidFill>
                  <a:srgbClr val="000000"/>
                </a:solidFill>
                <a:latin typeface="HGPｺﾞｼｯｸE"/>
                <a:ea typeface="HGPｺﾞｼｯｸE"/>
              </a:rPr>
              <a:t>地震リスクが最低とされた札幌で、大規模停電が起きた</a:t>
            </a:r>
          </a:p>
          <a:p>
            <a:pPr algn="l">
              <a:spcAft>
                <a:spcPts val="600"/>
              </a:spcAft>
            </a:pPr>
            <a:r>
              <a:rPr sz="1250" b="0">
                <a:solidFill>
                  <a:srgbClr val="000000"/>
                </a:solidFill>
                <a:latin typeface="HGPｺﾞｼｯｸE"/>
                <a:ea typeface="HGPｺﾞｼｯｸE"/>
              </a:rPr>
              <a:t>地震調査委員会が2018年6月に発表した「今後30年以内に震度6弱以上」の確率で札幌が最下位</a:t>
            </a:r>
          </a:p>
          <a:p>
            <a:pPr algn="l">
              <a:spcAft>
                <a:spcPts val="600"/>
              </a:spcAft>
            </a:pPr>
            <a:r>
              <a:rPr sz="1250" b="0">
                <a:solidFill>
                  <a:srgbClr val="000000"/>
                </a:solidFill>
                <a:latin typeface="HGPｺﾞｼｯｸE"/>
                <a:ea typeface="HGPｺﾞｼｯｸE"/>
              </a:rPr>
              <a:t>その3か月後に北海道胆振東部地震が発生。気象庁も「確度の高い地震の予測は難しい」と明言</a:t>
            </a:r>
          </a:p>
          <a:p>
            <a:pPr algn="l">
              <a:spcAft>
                <a:spcPts val="600"/>
              </a:spcAft>
            </a:pPr>
            <a:r>
              <a:rPr sz="1300" b="1">
                <a:solidFill>
                  <a:srgbClr val="FF0000"/>
                </a:solidFill>
                <a:latin typeface="HGPｺﾞｼｯｸE"/>
                <a:ea typeface="HGPｺﾞｼｯｸE"/>
              </a:rPr>
              <a:t>「うちの地域は地震来ないから」を潰すためのページ</a:t>
            </a:r>
          </a:p>
        </p:txBody>
      </p:sp>
      <p:sp>
        <p:nvSpPr>
          <p:cNvPr id="11" name="Rectangle 10"/>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専門家ですら、いつ「もしものこと」が起きるのか分からない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11</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ルール⑩：3段構成で逃げ道を無くす</a:t>
            </a:r>
          </a:p>
        </p:txBody>
      </p:sp>
      <p:sp>
        <p:nvSpPr>
          <p:cNvPr id="6" name="Rectangle 5"/>
          <p:cNvSpPr/>
          <p:nvPr/>
        </p:nvSpPr>
        <p:spPr>
          <a:xfrm>
            <a:off x="411480" y="1755648"/>
            <a:ext cx="7360920" cy="548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「実は、日本で最も権威のある『地震調査委員会』という機関が、定期的に地震のデータを出しているんです。」</a:t>
            </a:r>
          </a:p>
        </p:txBody>
      </p:sp>
      <p:sp>
        <p:nvSpPr>
          <p:cNvPr id="7" name="Rectangle 6"/>
          <p:cNvSpPr/>
          <p:nvPr/>
        </p:nvSpPr>
        <p:spPr>
          <a:xfrm>
            <a:off x="7936992" y="1755648"/>
            <a:ext cx="1572768" cy="347472"/>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200" b="1">
                <a:solidFill>
                  <a:srgbClr val="FFFFFF"/>
                </a:solidFill>
                <a:latin typeface="HGPｺﾞｼｯｸE"/>
                <a:ea typeface="HGPｺﾞｼｯｸE"/>
              </a:rPr>
              <a:t>①権威</a:t>
            </a:r>
          </a:p>
        </p:txBody>
      </p:sp>
      <p:sp>
        <p:nvSpPr>
          <p:cNvPr id="8" name="Rectangle 7"/>
          <p:cNvSpPr/>
          <p:nvPr/>
        </p:nvSpPr>
        <p:spPr>
          <a:xfrm>
            <a:off x="411480" y="2450591"/>
            <a:ext cx="7360920" cy="548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「そのデータの2018年6月版では、札幌市の地震発生確率が全国で最も低かったんですね。」</a:t>
            </a:r>
          </a:p>
        </p:txBody>
      </p:sp>
      <p:sp>
        <p:nvSpPr>
          <p:cNvPr id="9" name="Rectangle 8"/>
          <p:cNvSpPr/>
          <p:nvPr/>
        </p:nvSpPr>
        <p:spPr>
          <a:xfrm>
            <a:off x="7936992" y="2450591"/>
            <a:ext cx="1572768" cy="347472"/>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200" b="1">
                <a:solidFill>
                  <a:srgbClr val="FFFFFF"/>
                </a:solidFill>
                <a:latin typeface="HGPｺﾞｼｯｸE"/>
                <a:ea typeface="HGPｺﾞｼｯｸE"/>
              </a:rPr>
              <a:t>②事実</a:t>
            </a:r>
          </a:p>
        </p:txBody>
      </p:sp>
      <p:sp>
        <p:nvSpPr>
          <p:cNvPr id="10" name="Rectangle 9"/>
          <p:cNvSpPr/>
          <p:nvPr/>
        </p:nvSpPr>
        <p:spPr>
          <a:xfrm>
            <a:off x="411480" y="3145535"/>
            <a:ext cx="736092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「ところが、その3か月後に胆振東部地震が起きてしまいました。気象庁も『確度の高い地震の予測は難しい』と明言しています。」</a:t>
            </a:r>
          </a:p>
        </p:txBody>
      </p:sp>
      <p:sp>
        <p:nvSpPr>
          <p:cNvPr id="11" name="Rectangle 10"/>
          <p:cNvSpPr/>
          <p:nvPr/>
        </p:nvSpPr>
        <p:spPr>
          <a:xfrm>
            <a:off x="7936992" y="3145535"/>
            <a:ext cx="1572768" cy="347472"/>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200" b="1">
                <a:solidFill>
                  <a:srgbClr val="FFFFFF"/>
                </a:solidFill>
                <a:latin typeface="HGPｺﾞｼｯｸE"/>
                <a:ea typeface="HGPｺﾞｼｯｸE"/>
              </a:rPr>
              <a:t>③事実</a:t>
            </a:r>
          </a:p>
        </p:txBody>
      </p:sp>
      <p:sp>
        <p:nvSpPr>
          <p:cNvPr id="12" name="Rectangle 11"/>
          <p:cNvSpPr/>
          <p:nvPr/>
        </p:nvSpPr>
        <p:spPr>
          <a:xfrm>
            <a:off x="411480" y="3977639"/>
            <a:ext cx="736092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「どこでどのくらい大きな地震が来るかなんて、分からないですよね？」</a:t>
            </a:r>
          </a:p>
          <a:p>
            <a:pPr algn="l">
              <a:spcAft>
                <a:spcPts val="300"/>
              </a:spcAft>
            </a:pPr>
            <a:r>
              <a:rPr sz="1400" b="0">
                <a:solidFill>
                  <a:srgbClr val="000000"/>
                </a:solidFill>
                <a:latin typeface="HGPｺﾞｼｯｸE"/>
                <a:ea typeface="HGPｺﾞｼｯｸE"/>
              </a:rPr>
              <a:t>（＝だからこそ、今の生活を守るために備えが必要ですよね？）</a:t>
            </a:r>
          </a:p>
        </p:txBody>
      </p:sp>
      <p:sp>
        <p:nvSpPr>
          <p:cNvPr id="13" name="Rectangle 12"/>
          <p:cNvSpPr/>
          <p:nvPr/>
        </p:nvSpPr>
        <p:spPr>
          <a:xfrm>
            <a:off x="7936992" y="3977639"/>
            <a:ext cx="1572768" cy="347472"/>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200" b="1">
                <a:solidFill>
                  <a:srgbClr val="FFFFFF"/>
                </a:solidFill>
                <a:latin typeface="HGPｺﾞｼｯｸE"/>
                <a:ea typeface="HGPｺﾞｼｯｸE"/>
              </a:rPr>
              <a:t>着地</a:t>
            </a:r>
          </a:p>
        </p:txBody>
      </p:sp>
      <p:sp>
        <p:nvSpPr>
          <p:cNvPr id="14" name="Rectangle 13"/>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最終着地は「分からないですよね？」の一言に落とす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12</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ルール⑩：停電被害の実績で「規模」を見せる</a:t>
            </a:r>
          </a:p>
        </p:txBody>
      </p:sp>
      <p:pic>
        <p:nvPicPr>
          <p:cNvPr id="6" name="Picture 5" descr="ab-19.jpg"/>
          <p:cNvPicPr>
            <a:picLocks noChangeAspect="1"/>
          </p:cNvPicPr>
          <p:nvPr/>
        </p:nvPicPr>
        <p:blipFill>
          <a:blip r:embed="rId2"/>
          <a:stretch>
            <a:fillRect/>
          </a:stretch>
        </p:blipFill>
        <p:spPr>
          <a:xfrm>
            <a:off x="411480" y="1783080"/>
            <a:ext cx="4160520" cy="2879555"/>
          </a:xfrm>
          <a:prstGeom prst="rect">
            <a:avLst/>
          </a:prstGeom>
          <a:ln w="12700">
            <a:solidFill>
              <a:srgbClr val="808080"/>
            </a:solidFill>
          </a:ln>
        </p:spPr>
      </p:pic>
      <p:sp>
        <p:nvSpPr>
          <p:cNvPr id="7" name="TextBox 6"/>
          <p:cNvSpPr txBox="1"/>
          <p:nvPr/>
        </p:nvSpPr>
        <p:spPr>
          <a:xfrm>
            <a:off x="411480" y="484632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p.19　自然災害と停電被害</a:t>
            </a:r>
          </a:p>
        </p:txBody>
      </p:sp>
      <p:graphicFrame>
        <p:nvGraphicFramePr>
          <p:cNvPr id="8" name="Table 7"/>
          <p:cNvGraphicFramePr>
            <a:graphicFrameLocks noGrp="1"/>
          </p:cNvGraphicFramePr>
          <p:nvPr/>
        </p:nvGraphicFramePr>
        <p:xfrm>
          <a:off x="4892040" y="1783080"/>
          <a:ext cx="4617720" cy="2907792"/>
        </p:xfrm>
        <a:graphic>
          <a:graphicData uri="http://schemas.openxmlformats.org/drawingml/2006/table">
            <a:tbl>
              <a:tblPr firstRow="1">
                <a:tableStyleId>{5C22544A-7EE6-4342-B048-85BDC9FD1C3A}</a:tableStyleId>
              </a:tblPr>
              <a:tblGrid>
                <a:gridCol w="2148840"/>
                <a:gridCol w="1051560"/>
                <a:gridCol w="1417320"/>
              </a:tblGrid>
              <a:tr h="274320">
                <a:tc>
                  <a:txBody>
                    <a:bodyPr wrap="square"/>
                    <a:lstStyle/>
                    <a:p>
                      <a:pPr algn="ctr"/>
                      <a:r>
                        <a:rPr sz="1050" b="1">
                          <a:solidFill>
                            <a:srgbClr val="FFFFFF"/>
                          </a:solidFill>
                          <a:latin typeface="游ゴシック"/>
                          <a:ea typeface="游ゴシック"/>
                        </a:rPr>
                        <a:t>災害</a:t>
                      </a:r>
                    </a:p>
                  </a:txBody>
                  <a:tcPr marL="45720" marR="45720" marT="18288" marB="18288" anchor="ctr">
                    <a:solidFill>
                      <a:srgbClr val="000000"/>
                    </a:solidFill>
                  </a:tcPr>
                </a:tc>
                <a:tc>
                  <a:txBody>
                    <a:bodyPr wrap="square"/>
                    <a:lstStyle/>
                    <a:p>
                      <a:pPr algn="ctr"/>
                      <a:r>
                        <a:rPr sz="1050" b="1">
                          <a:solidFill>
                            <a:srgbClr val="FFFFFF"/>
                          </a:solidFill>
                          <a:latin typeface="游ゴシック"/>
                          <a:ea typeface="游ゴシック"/>
                        </a:rPr>
                        <a:t>停電戸数</a:t>
                      </a:r>
                    </a:p>
                  </a:txBody>
                  <a:tcPr marL="45720" marR="45720" marT="18288" marB="18288" anchor="ctr">
                    <a:solidFill>
                      <a:srgbClr val="000000"/>
                    </a:solidFill>
                  </a:tcPr>
                </a:tc>
                <a:tc>
                  <a:txBody>
                    <a:bodyPr wrap="square"/>
                    <a:lstStyle/>
                    <a:p>
                      <a:pPr algn="ctr"/>
                      <a:r>
                        <a:rPr sz="1050" b="1">
                          <a:solidFill>
                            <a:srgbClr val="FFFFFF"/>
                          </a:solidFill>
                          <a:latin typeface="游ゴシック"/>
                          <a:ea typeface="游ゴシック"/>
                        </a:rPr>
                        <a:t>備考</a:t>
                      </a:r>
                    </a:p>
                  </a:txBody>
                  <a:tcPr marL="45720" marR="45720" marT="18288" marB="18288" anchor="ctr">
                    <a:solidFill>
                      <a:srgbClr val="000000"/>
                    </a:solidFill>
                  </a:tcPr>
                </a:tc>
              </a:tr>
              <a:tr h="438912">
                <a:tc>
                  <a:txBody>
                    <a:bodyPr wrap="square"/>
                    <a:lstStyle/>
                    <a:p>
                      <a:pPr algn="l"/>
                      <a:r>
                        <a:rPr sz="1050" b="0">
                          <a:solidFill>
                            <a:srgbClr val="000000"/>
                          </a:solidFill>
                          <a:latin typeface="游ゴシック"/>
                          <a:ea typeface="游ゴシック"/>
                        </a:rPr>
                        <a:t>2016年4月　熊本地震</a:t>
                      </a:r>
                    </a:p>
                  </a:txBody>
                  <a:tcPr marL="45720" marR="45720" marT="18288" marB="18288" anchor="ctr">
                    <a:noFill/>
                  </a:tcPr>
                </a:tc>
                <a:tc>
                  <a:txBody>
                    <a:bodyPr wrap="square"/>
                    <a:lstStyle/>
                    <a:p>
                      <a:pPr algn="l"/>
                      <a:r>
                        <a:rPr sz="1050" b="0">
                          <a:solidFill>
                            <a:srgbClr val="000000"/>
                          </a:solidFill>
                          <a:latin typeface="游ゴシック"/>
                          <a:ea typeface="游ゴシック"/>
                        </a:rPr>
                        <a:t>約50万戸</a:t>
                      </a:r>
                    </a:p>
                  </a:txBody>
                  <a:tcPr marL="45720" marR="45720" marT="18288" marB="18288" anchor="ctr">
                    <a:noFill/>
                  </a:tcPr>
                </a:tc>
                <a:tc>
                  <a:txBody>
                    <a:bodyPr wrap="square"/>
                    <a:lstStyle/>
                    <a:p>
                      <a:pPr algn="l"/>
                      <a:r>
                        <a:rPr sz="1050" b="0">
                          <a:solidFill>
                            <a:srgbClr val="000000"/>
                          </a:solidFill>
                          <a:latin typeface="游ゴシック"/>
                          <a:ea typeface="游ゴシック"/>
                        </a:rPr>
                        <a:t>−</a:t>
                      </a:r>
                    </a:p>
                  </a:txBody>
                  <a:tcPr marL="45720" marR="45720" marT="18288" marB="18288" anchor="ctr">
                    <a:noFill/>
                  </a:tcPr>
                </a:tc>
              </a:tr>
              <a:tr h="438912">
                <a:tc>
                  <a:txBody>
                    <a:bodyPr wrap="square"/>
                    <a:lstStyle/>
                    <a:p>
                      <a:pPr algn="l"/>
                      <a:r>
                        <a:rPr sz="1050" b="0">
                          <a:solidFill>
                            <a:srgbClr val="000000"/>
                          </a:solidFill>
                          <a:latin typeface="游ゴシック"/>
                          <a:ea typeface="游ゴシック"/>
                        </a:rPr>
                        <a:t>2018年9月　台風21号（関東）</a:t>
                      </a:r>
                    </a:p>
                  </a:txBody>
                  <a:tcPr marL="45720" marR="45720" marT="18288" marB="18288" anchor="ctr">
                    <a:noFill/>
                  </a:tcPr>
                </a:tc>
                <a:tc>
                  <a:txBody>
                    <a:bodyPr wrap="square"/>
                    <a:lstStyle/>
                    <a:p>
                      <a:pPr algn="l"/>
                      <a:r>
                        <a:rPr sz="1050" b="0">
                          <a:solidFill>
                            <a:srgbClr val="000000"/>
                          </a:solidFill>
                          <a:latin typeface="游ゴシック"/>
                          <a:ea typeface="游ゴシック"/>
                        </a:rPr>
                        <a:t>240万戸</a:t>
                      </a:r>
                    </a:p>
                  </a:txBody>
                  <a:tcPr marL="45720" marR="45720" marT="18288" marB="18288" anchor="ctr">
                    <a:noFill/>
                  </a:tcPr>
                </a:tc>
                <a:tc>
                  <a:txBody>
                    <a:bodyPr wrap="square"/>
                    <a:lstStyle/>
                    <a:p>
                      <a:pPr algn="l"/>
                      <a:r>
                        <a:rPr sz="1050" b="0">
                          <a:solidFill>
                            <a:srgbClr val="000000"/>
                          </a:solidFill>
                          <a:latin typeface="游ゴシック"/>
                          <a:ea typeface="游ゴシック"/>
                        </a:rPr>
                        <a:t>−</a:t>
                      </a:r>
                    </a:p>
                  </a:txBody>
                  <a:tcPr marL="45720" marR="45720" marT="18288" marB="18288" anchor="ctr">
                    <a:noFill/>
                  </a:tcPr>
                </a:tc>
              </a:tr>
              <a:tr h="438912">
                <a:tc>
                  <a:txBody>
                    <a:bodyPr wrap="square"/>
                    <a:lstStyle/>
                    <a:p>
                      <a:pPr algn="l"/>
                      <a:r>
                        <a:rPr sz="1050" b="0">
                          <a:solidFill>
                            <a:srgbClr val="000000"/>
                          </a:solidFill>
                          <a:latin typeface="游ゴシック"/>
                          <a:ea typeface="游ゴシック"/>
                        </a:rPr>
                        <a:t>2018年9月　台風24号</a:t>
                      </a:r>
                    </a:p>
                  </a:txBody>
                  <a:tcPr marL="45720" marR="45720" marT="18288" marB="18288" anchor="ctr">
                    <a:noFill/>
                  </a:tcPr>
                </a:tc>
                <a:tc>
                  <a:txBody>
                    <a:bodyPr wrap="square"/>
                    <a:lstStyle/>
                    <a:p>
                      <a:pPr algn="l"/>
                      <a:r>
                        <a:rPr sz="1050" b="0">
                          <a:solidFill>
                            <a:srgbClr val="000000"/>
                          </a:solidFill>
                          <a:latin typeface="游ゴシック"/>
                          <a:ea typeface="游ゴシック"/>
                        </a:rPr>
                        <a:t>約180万戸</a:t>
                      </a:r>
                    </a:p>
                  </a:txBody>
                  <a:tcPr marL="45720" marR="45720" marT="18288" marB="18288" anchor="ctr">
                    <a:noFill/>
                  </a:tcPr>
                </a:tc>
                <a:tc>
                  <a:txBody>
                    <a:bodyPr wrap="square"/>
                    <a:lstStyle/>
                    <a:p>
                      <a:pPr algn="l"/>
                      <a:r>
                        <a:rPr sz="1050" b="0">
                          <a:solidFill>
                            <a:srgbClr val="000000"/>
                          </a:solidFill>
                          <a:latin typeface="游ゴシック"/>
                          <a:ea typeface="游ゴシック"/>
                        </a:rPr>
                        <a:t>−</a:t>
                      </a:r>
                    </a:p>
                  </a:txBody>
                  <a:tcPr marL="45720" marR="45720" marT="18288" marB="18288" anchor="ctr">
                    <a:noFill/>
                  </a:tcPr>
                </a:tc>
              </a:tr>
              <a:tr h="438912">
                <a:tc>
                  <a:txBody>
                    <a:bodyPr wrap="square"/>
                    <a:lstStyle/>
                    <a:p>
                      <a:pPr algn="l"/>
                      <a:r>
                        <a:rPr sz="1050" b="0">
                          <a:solidFill>
                            <a:srgbClr val="000000"/>
                          </a:solidFill>
                          <a:latin typeface="游ゴシック"/>
                          <a:ea typeface="游ゴシック"/>
                        </a:rPr>
                        <a:t>2018年9月　北海道胆振東部地震</a:t>
                      </a:r>
                    </a:p>
                  </a:txBody>
                  <a:tcPr marL="45720" marR="45720" marT="18288" marB="18288" anchor="ctr">
                    <a:noFill/>
                  </a:tcPr>
                </a:tc>
                <a:tc>
                  <a:txBody>
                    <a:bodyPr wrap="square"/>
                    <a:lstStyle/>
                    <a:p>
                      <a:pPr algn="l"/>
                      <a:r>
                        <a:rPr sz="1050" b="0">
                          <a:solidFill>
                            <a:srgbClr val="000000"/>
                          </a:solidFill>
                          <a:latin typeface="游ゴシック"/>
                          <a:ea typeface="游ゴシック"/>
                        </a:rPr>
                        <a:t>約300万戸</a:t>
                      </a:r>
                    </a:p>
                  </a:txBody>
                  <a:tcPr marL="45720" marR="45720" marT="18288" marB="18288" anchor="ctr">
                    <a:noFill/>
                  </a:tcPr>
                </a:tc>
                <a:tc>
                  <a:txBody>
                    <a:bodyPr wrap="square"/>
                    <a:lstStyle/>
                    <a:p>
                      <a:pPr algn="l"/>
                      <a:r>
                        <a:rPr sz="1050" b="1">
                          <a:solidFill>
                            <a:srgbClr val="FF0000"/>
                          </a:solidFill>
                          <a:latin typeface="游ゴシック"/>
                          <a:ea typeface="游ゴシック"/>
                        </a:rPr>
                        <a:t>日本初のブラックアウト</a:t>
                      </a:r>
                    </a:p>
                  </a:txBody>
                  <a:tcPr marL="45720" marR="45720" marT="18288" marB="18288" anchor="ctr">
                    <a:noFill/>
                  </a:tcPr>
                </a:tc>
              </a:tr>
              <a:tr h="438912">
                <a:tc>
                  <a:txBody>
                    <a:bodyPr wrap="square"/>
                    <a:lstStyle/>
                    <a:p>
                      <a:pPr algn="l"/>
                      <a:r>
                        <a:rPr sz="1050" b="0">
                          <a:solidFill>
                            <a:srgbClr val="000000"/>
                          </a:solidFill>
                          <a:latin typeface="游ゴシック"/>
                          <a:ea typeface="游ゴシック"/>
                        </a:rPr>
                        <a:t>2019年9月　台風15号（関東）</a:t>
                      </a:r>
                    </a:p>
                  </a:txBody>
                  <a:tcPr marL="45720" marR="45720" marT="18288" marB="18288" anchor="ctr">
                    <a:noFill/>
                  </a:tcPr>
                </a:tc>
                <a:tc>
                  <a:txBody>
                    <a:bodyPr wrap="square"/>
                    <a:lstStyle/>
                    <a:p>
                      <a:pPr algn="l"/>
                      <a:r>
                        <a:rPr sz="1050" b="0">
                          <a:solidFill>
                            <a:srgbClr val="000000"/>
                          </a:solidFill>
                          <a:latin typeface="游ゴシック"/>
                          <a:ea typeface="游ゴシック"/>
                        </a:rPr>
                        <a:t>93万戸</a:t>
                      </a:r>
                    </a:p>
                  </a:txBody>
                  <a:tcPr marL="45720" marR="45720" marT="18288" marB="18288" anchor="ctr">
                    <a:noFill/>
                  </a:tcPr>
                </a:tc>
                <a:tc>
                  <a:txBody>
                    <a:bodyPr wrap="square"/>
                    <a:lstStyle/>
                    <a:p>
                      <a:pPr algn="l"/>
                      <a:r>
                        <a:rPr sz="1050" b="0">
                          <a:solidFill>
                            <a:srgbClr val="000000"/>
                          </a:solidFill>
                          <a:latin typeface="游ゴシック"/>
                          <a:ea typeface="游ゴシック"/>
                        </a:rPr>
                        <a:t>5日連続で停電</a:t>
                      </a:r>
                    </a:p>
                  </a:txBody>
                  <a:tcPr marL="45720" marR="45720" marT="18288" marB="18288" anchor="ctr">
                    <a:noFill/>
                  </a:tcPr>
                </a:tc>
              </a:tr>
              <a:tr h="438912">
                <a:tc>
                  <a:txBody>
                    <a:bodyPr wrap="square"/>
                    <a:lstStyle/>
                    <a:p>
                      <a:pPr algn="l"/>
                      <a:r>
                        <a:rPr sz="1050" b="0">
                          <a:solidFill>
                            <a:srgbClr val="000000"/>
                          </a:solidFill>
                          <a:latin typeface="游ゴシック"/>
                          <a:ea typeface="游ゴシック"/>
                        </a:rPr>
                        <a:t>今後10年以内　南海トラフ地震？</a:t>
                      </a:r>
                    </a:p>
                  </a:txBody>
                  <a:tcPr marL="45720" marR="45720" marT="18288" marB="18288" anchor="ctr">
                    <a:noFill/>
                  </a:tcPr>
                </a:tc>
                <a:tc>
                  <a:txBody>
                    <a:bodyPr wrap="square"/>
                    <a:lstStyle/>
                    <a:p>
                      <a:pPr algn="l"/>
                      <a:r>
                        <a:rPr sz="1050" b="0">
                          <a:solidFill>
                            <a:srgbClr val="000000"/>
                          </a:solidFill>
                          <a:latin typeface="游ゴシック"/>
                          <a:ea typeface="游ゴシック"/>
                        </a:rPr>
                        <a:t>？</a:t>
                      </a:r>
                    </a:p>
                  </a:txBody>
                  <a:tcPr marL="45720" marR="45720" marT="18288" marB="18288" anchor="ctr">
                    <a:noFill/>
                  </a:tcPr>
                </a:tc>
                <a:tc>
                  <a:txBody>
                    <a:bodyPr wrap="square"/>
                    <a:lstStyle/>
                    <a:p>
                      <a:pPr algn="l"/>
                      <a:r>
                        <a:rPr sz="1050" b="0">
                          <a:solidFill>
                            <a:srgbClr val="000000"/>
                          </a:solidFill>
                          <a:latin typeface="游ゴシック"/>
                          <a:ea typeface="游ゴシック"/>
                        </a:rPr>
                        <a:t>−</a:t>
                      </a:r>
                    </a:p>
                  </a:txBody>
                  <a:tcPr marL="45720" marR="45720" marT="18288" marB="18288" anchor="ctr">
                    <a:noFill/>
                  </a:tcPr>
                </a:tc>
              </a:tr>
            </a:tbl>
          </a:graphicData>
        </a:graphic>
      </p:graphicFrame>
      <p:sp>
        <p:nvSpPr>
          <p:cNvPr id="9" name="Rectangle 8"/>
          <p:cNvSpPr/>
          <p:nvPr/>
        </p:nvSpPr>
        <p:spPr>
          <a:xfrm>
            <a:off x="4892040" y="4846320"/>
            <a:ext cx="46177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400"/>
              </a:spcAft>
            </a:pPr>
            <a:r>
              <a:rPr sz="1400" b="0">
                <a:solidFill>
                  <a:srgbClr val="000000"/>
                </a:solidFill>
                <a:latin typeface="HGPｺﾞｼｯｸE"/>
                <a:ea typeface="HGPｺﾞｼｯｸE"/>
              </a:rPr>
              <a:t>胆振東部地震は平成最大規模。</a:t>
            </a:r>
          </a:p>
          <a:p>
            <a:pPr algn="l">
              <a:spcAft>
                <a:spcPts val="500"/>
              </a:spcAft>
            </a:pPr>
            <a:r>
              <a:rPr sz="1400" b="0">
                <a:solidFill>
                  <a:srgbClr val="000000"/>
                </a:solidFill>
                <a:latin typeface="HGPｺﾞｼｯｸE"/>
                <a:ea typeface="HGPｺﾞｼｯｸE"/>
              </a:rPr>
              <a:t>復旧まで2週間かかった地域もありました。</a:t>
            </a:r>
          </a:p>
        </p:txBody>
      </p:sp>
      <p:sp>
        <p:nvSpPr>
          <p:cNvPr id="10" name="Rectangle 9"/>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災害大国だからこそ、もしもの時には備える必要があるのです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13</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ルール⑩：「うちの地域は災害が来ない」への対処</a:t>
            </a:r>
          </a:p>
        </p:txBody>
      </p:sp>
      <p:sp>
        <p:nvSpPr>
          <p:cNvPr id="6" name="TextBox 5"/>
          <p:cNvSpPr txBox="1"/>
          <p:nvPr/>
        </p:nvSpPr>
        <p:spPr>
          <a:xfrm>
            <a:off x="411480" y="1719072"/>
            <a:ext cx="9098280" cy="320040"/>
          </a:xfrm>
          <a:prstGeom prst="rect">
            <a:avLst/>
          </a:prstGeom>
          <a:noFill/>
        </p:spPr>
        <p:txBody>
          <a:bodyPr wrap="square" anchor="t" lIns="0" rIns="0" tIns="18288" bIns="18288">
            <a:spAutoFit/>
          </a:bodyPr>
          <a:lstStyle/>
          <a:p>
            <a:pPr algn="l">
              <a:spcAft>
                <a:spcPts val="500"/>
              </a:spcAft>
            </a:pPr>
            <a:r>
              <a:rPr sz="1500" b="0">
                <a:solidFill>
                  <a:srgbClr val="595959"/>
                </a:solidFill>
                <a:latin typeface="HGPｺﾞｼｯｸE"/>
                <a:ea typeface="HGPｺﾞｼｯｸE"/>
              </a:rPr>
              <a:t>ここでも逃げ道を作らないことが目的です。真正面から否定せず、事実で包み込みます</a:t>
            </a:r>
          </a:p>
        </p:txBody>
      </p:sp>
      <p:graphicFrame>
        <p:nvGraphicFramePr>
          <p:cNvPr id="7" name="Table 6"/>
          <p:cNvGraphicFramePr>
            <a:graphicFrameLocks noGrp="1"/>
          </p:cNvGraphicFramePr>
          <p:nvPr/>
        </p:nvGraphicFramePr>
        <p:xfrm>
          <a:off x="411480" y="2121408"/>
          <a:ext cx="9098280" cy="3236976"/>
        </p:xfrm>
        <a:graphic>
          <a:graphicData uri="http://schemas.openxmlformats.org/drawingml/2006/table">
            <a:tbl>
              <a:tblPr firstRow="1">
                <a:tableStyleId>{5C22544A-7EE6-4342-B048-85BDC9FD1C3A}</a:tableStyleId>
              </a:tblPr>
              <a:tblGrid>
                <a:gridCol w="3337560"/>
                <a:gridCol w="5760720"/>
              </a:tblGrid>
              <a:tr h="310896">
                <a:tc>
                  <a:txBody>
                    <a:bodyPr wrap="square"/>
                    <a:lstStyle/>
                    <a:p>
                      <a:pPr algn="ctr"/>
                      <a:r>
                        <a:rPr sz="1400" b="1">
                          <a:solidFill>
                            <a:srgbClr val="FFFFFF"/>
                          </a:solidFill>
                          <a:latin typeface="游ゴシック"/>
                          <a:ea typeface="游ゴシック"/>
                        </a:rPr>
                        <a:t>よくあるネガ</a:t>
                      </a:r>
                    </a:p>
                  </a:txBody>
                  <a:tcPr marL="45720" marR="45720" marT="18288" marB="18288" anchor="ctr">
                    <a:solidFill>
                      <a:srgbClr val="000000"/>
                    </a:solidFill>
                  </a:tcPr>
                </a:tc>
                <a:tc>
                  <a:txBody>
                    <a:bodyPr wrap="square"/>
                    <a:lstStyle/>
                    <a:p>
                      <a:pPr algn="ctr"/>
                      <a:r>
                        <a:rPr sz="1400" b="1">
                          <a:solidFill>
                            <a:srgbClr val="FFFFFF"/>
                          </a:solidFill>
                          <a:latin typeface="游ゴシック"/>
                          <a:ea typeface="游ゴシック"/>
                        </a:rPr>
                        <a:t>切り返し方</a:t>
                      </a:r>
                    </a:p>
                  </a:txBody>
                  <a:tcPr marL="45720" marR="45720" marT="18288" marB="18288" anchor="ctr">
                    <a:solidFill>
                      <a:srgbClr val="000000"/>
                    </a:solidFill>
                  </a:tcPr>
                </a:tc>
              </a:tr>
              <a:tr h="731520">
                <a:tc>
                  <a:txBody>
                    <a:bodyPr wrap="square"/>
                    <a:lstStyle/>
                    <a:p>
                      <a:pPr algn="l"/>
                      <a:r>
                        <a:rPr sz="1400" b="0">
                          <a:solidFill>
                            <a:srgbClr val="000000"/>
                          </a:solidFill>
                          <a:latin typeface="游ゴシック"/>
                          <a:ea typeface="游ゴシック"/>
                        </a:rPr>
                        <a:t>この地域では災害なんて、ここ何十年起きていないから</a:t>
                      </a:r>
                    </a:p>
                  </a:txBody>
                  <a:tcPr marL="45720" marR="45720" marT="18288" marB="18288" anchor="ctr">
                    <a:noFill/>
                  </a:tcPr>
                </a:tc>
                <a:tc>
                  <a:txBody>
                    <a:bodyPr wrap="square"/>
                    <a:lstStyle/>
                    <a:p>
                      <a:pPr algn="l"/>
                      <a:r>
                        <a:rPr sz="1400" b="0">
                          <a:solidFill>
                            <a:srgbClr val="000000"/>
                          </a:solidFill>
                          <a:latin typeface="游ゴシック"/>
                          <a:ea typeface="游ゴシック"/>
                        </a:rPr>
                        <a:t>そうですよね。実は札幌の方も、まったく同じことをおっしゃっていたそうです（→p.18へ）</a:t>
                      </a:r>
                    </a:p>
                  </a:txBody>
                  <a:tcPr marL="45720" marR="45720" marT="18288" marB="18288" anchor="ctr">
                    <a:noFill/>
                  </a:tcPr>
                </a:tc>
              </a:tr>
              <a:tr h="731520">
                <a:tc>
                  <a:txBody>
                    <a:bodyPr wrap="square"/>
                    <a:lstStyle/>
                    <a:p>
                      <a:pPr algn="l"/>
                      <a:r>
                        <a:rPr sz="1400" b="0">
                          <a:solidFill>
                            <a:srgbClr val="000000"/>
                          </a:solidFill>
                          <a:latin typeface="游ゴシック"/>
                          <a:ea typeface="游ゴシック"/>
                        </a:rPr>
                        <a:t>備蓄はしてあるから大丈夫</a:t>
                      </a:r>
                    </a:p>
                  </a:txBody>
                  <a:tcPr marL="45720" marR="45720" marT="18288" marB="18288" anchor="ctr">
                    <a:noFill/>
                  </a:tcPr>
                </a:tc>
                <a:tc>
                  <a:txBody>
                    <a:bodyPr wrap="square"/>
                    <a:lstStyle/>
                    <a:p>
                      <a:pPr algn="l"/>
                      <a:r>
                        <a:rPr sz="1400" b="0">
                          <a:solidFill>
                            <a:srgbClr val="000000"/>
                          </a:solidFill>
                          <a:latin typeface="游ゴシック"/>
                          <a:ea typeface="游ゴシック"/>
                        </a:rPr>
                        <a:t>食料は備えられますが、電気だけは備蓄できないんですよね。冷蔵庫もスマホも止まってしまいます</a:t>
                      </a:r>
                    </a:p>
                  </a:txBody>
                  <a:tcPr marL="45720" marR="45720" marT="18288" marB="18288" anchor="ctr">
                    <a:noFill/>
                  </a:tcPr>
                </a:tc>
              </a:tr>
              <a:tr h="731520">
                <a:tc>
                  <a:txBody>
                    <a:bodyPr wrap="square"/>
                    <a:lstStyle/>
                    <a:p>
                      <a:pPr algn="l"/>
                      <a:r>
                        <a:rPr sz="1400" b="0">
                          <a:solidFill>
                            <a:srgbClr val="000000"/>
                          </a:solidFill>
                          <a:latin typeface="游ゴシック"/>
                          <a:ea typeface="游ゴシック"/>
                        </a:rPr>
                        <a:t>停電なんてすぐ復旧するでしょう</a:t>
                      </a:r>
                    </a:p>
                  </a:txBody>
                  <a:tcPr marL="45720" marR="45720" marT="18288" marB="18288" anchor="ctr">
                    <a:noFill/>
                  </a:tcPr>
                </a:tc>
                <a:tc>
                  <a:txBody>
                    <a:bodyPr wrap="square"/>
                    <a:lstStyle/>
                    <a:p>
                      <a:pPr algn="l"/>
                      <a:r>
                        <a:rPr sz="1400" b="0">
                          <a:solidFill>
                            <a:srgbClr val="000000"/>
                          </a:solidFill>
                          <a:latin typeface="游ゴシック"/>
                          <a:ea typeface="游ゴシック"/>
                        </a:rPr>
                        <a:t>胆振東部地震では、復旧まで2週間かかった地域もありました</a:t>
                      </a:r>
                    </a:p>
                  </a:txBody>
                  <a:tcPr marL="45720" marR="45720" marT="18288" marB="18288" anchor="ctr">
                    <a:noFill/>
                  </a:tcPr>
                </a:tc>
              </a:tr>
              <a:tr h="731520">
                <a:tc>
                  <a:txBody>
                    <a:bodyPr wrap="square"/>
                    <a:lstStyle/>
                    <a:p>
                      <a:pPr algn="l"/>
                      <a:r>
                        <a:rPr sz="1400" b="0">
                          <a:solidFill>
                            <a:srgbClr val="000000"/>
                          </a:solidFill>
                          <a:latin typeface="游ゴシック"/>
                          <a:ea typeface="游ゴシック"/>
                        </a:rPr>
                        <a:t>保険に入っているから</a:t>
                      </a:r>
                    </a:p>
                  </a:txBody>
                  <a:tcPr marL="45720" marR="45720" marT="18288" marB="18288" anchor="ctr">
                    <a:noFill/>
                  </a:tcPr>
                </a:tc>
                <a:tc>
                  <a:txBody>
                    <a:bodyPr wrap="square"/>
                    <a:lstStyle/>
                    <a:p>
                      <a:pPr algn="l"/>
                      <a:r>
                        <a:rPr sz="1400" b="0">
                          <a:solidFill>
                            <a:srgbClr val="000000"/>
                          </a:solidFill>
                          <a:latin typeface="游ゴシック"/>
                          <a:ea typeface="游ゴシック"/>
                        </a:rPr>
                        <a:t>保険はあとから戻ってくるお金です。停電したその日の生活は、保険では戻せないんですよね</a:t>
                      </a:r>
                    </a:p>
                  </a:txBody>
                  <a:tcPr marL="45720" marR="45720" marT="18288" marB="18288" anchor="ctr">
                    <a:noFill/>
                  </a:tcPr>
                </a:tc>
              </a:tr>
            </a:tbl>
          </a:graphicData>
        </a:graphic>
      </p:graphicFrame>
      <p:sp>
        <p:nvSpPr>
          <p:cNvPr id="8" name="Rectangle 7"/>
          <p:cNvSpPr/>
          <p:nvPr/>
        </p:nvSpPr>
        <p:spPr>
          <a:xfrm>
            <a:off x="411480" y="580644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否定せず、事実と事例で包み込む。議論にしない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14</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FF0000"/>
                </a:solidFill>
                <a:latin typeface="HGPｺﾞｼｯｸE"/>
                <a:ea typeface="HGPｺﾞｼｯｸE"/>
              </a:rPr>
              <a:t>災害トークの落とし穴：長く話すほど失注する</a:t>
            </a:r>
          </a:p>
        </p:txBody>
      </p:sp>
      <p:sp>
        <p:nvSpPr>
          <p:cNvPr id="6" name="Rectangle 5"/>
          <p:cNvSpPr/>
          <p:nvPr/>
        </p:nvSpPr>
        <p:spPr>
          <a:xfrm>
            <a:off x="411480" y="1810512"/>
            <a:ext cx="4526280" cy="3246120"/>
          </a:xfrm>
          <a:prstGeom prst="rect">
            <a:avLst/>
          </a:prstGeom>
          <a:solidFill>
            <a:srgbClr val="FCE4E4"/>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1000"/>
              </a:spcAft>
            </a:pPr>
            <a:r>
              <a:rPr sz="2000" b="1">
                <a:solidFill>
                  <a:srgbClr val="FF0000"/>
                </a:solidFill>
                <a:latin typeface="HGPｺﾞｼｯｸE"/>
                <a:ea typeface="HGPｺﾞｼｯｸE"/>
              </a:rPr>
              <a:t>✕　やりすぎ例</a:t>
            </a:r>
          </a:p>
          <a:p>
            <a:pPr algn="l">
              <a:spcAft>
                <a:spcPts val="300"/>
              </a:spcAft>
            </a:pPr>
            <a:r>
              <a:rPr sz="1400" b="0">
                <a:solidFill>
                  <a:srgbClr val="000000"/>
                </a:solidFill>
                <a:latin typeface="HGPｺﾞｼｯｸE"/>
                <a:ea typeface="HGPｺﾞｼｯｸE"/>
              </a:rPr>
              <a:t>「南海トラフが来たら、この地域は震度7です。</a:t>
            </a:r>
          </a:p>
          <a:p>
            <a:pPr algn="l">
              <a:spcAft>
                <a:spcPts val="300"/>
              </a:spcAft>
            </a:pPr>
            <a:r>
              <a:rPr sz="1400" b="0">
                <a:solidFill>
                  <a:srgbClr val="000000"/>
                </a:solidFill>
                <a:latin typeface="HGPｺﾞｼｯｸE"/>
                <a:ea typeface="HGPｺﾞｼｯｸE"/>
              </a:rPr>
              <a:t>　ライフラインは1か月止まると言われています。</a:t>
            </a:r>
          </a:p>
          <a:p>
            <a:pPr algn="l">
              <a:spcAft>
                <a:spcPts val="300"/>
              </a:spcAft>
            </a:pPr>
            <a:r>
              <a:rPr sz="1400" b="0">
                <a:solidFill>
                  <a:srgbClr val="000000"/>
                </a:solidFill>
                <a:latin typeface="HGPｺﾞｼｯｸE"/>
                <a:ea typeface="HGPｺﾞｼｯｸE"/>
              </a:rPr>
              <a:t>　お子さんもいらっしゃいますよね。</a:t>
            </a:r>
          </a:p>
          <a:p>
            <a:pPr algn="l">
              <a:spcAft>
                <a:spcPts val="1200"/>
              </a:spcAft>
            </a:pPr>
            <a:r>
              <a:rPr sz="1400" b="0">
                <a:solidFill>
                  <a:srgbClr val="000000"/>
                </a:solidFill>
                <a:latin typeface="HGPｺﾞｼｯｸE"/>
                <a:ea typeface="HGPｺﾞｼｯｸE"/>
              </a:rPr>
              <a:t>　真っ暗な中で、水も出ない状態で……」</a:t>
            </a:r>
          </a:p>
          <a:p>
            <a:pPr algn="l">
              <a:spcAft>
                <a:spcPts val="500"/>
              </a:spcAft>
            </a:pPr>
            <a:r>
              <a:rPr sz="1500" b="1">
                <a:solidFill>
                  <a:srgbClr val="000000"/>
                </a:solidFill>
                <a:latin typeface="HGPｺﾞｼｯｸE"/>
                <a:ea typeface="HGPｺﾞｼｯｸE"/>
              </a:rPr>
              <a:t>何が起きるか</a:t>
            </a:r>
          </a:p>
          <a:p>
            <a:pPr algn="l">
              <a:spcAft>
                <a:spcPts val="400"/>
              </a:spcAft>
            </a:pPr>
            <a:r>
              <a:rPr sz="1400" b="0">
                <a:solidFill>
                  <a:srgbClr val="000000"/>
                </a:solidFill>
                <a:latin typeface="HGPｺﾞｼｯｸE"/>
                <a:ea typeface="HGPｺﾞｼｯｸE"/>
              </a:rPr>
              <a:t>・商談の雰囲気が暗くなる</a:t>
            </a:r>
          </a:p>
          <a:p>
            <a:pPr algn="l">
              <a:spcAft>
                <a:spcPts val="400"/>
              </a:spcAft>
            </a:pPr>
            <a:r>
              <a:rPr sz="1400" b="0">
                <a:solidFill>
                  <a:srgbClr val="000000"/>
                </a:solidFill>
                <a:latin typeface="HGPｺﾞｼｯｸE"/>
                <a:ea typeface="HGPｺﾞｼｯｸE"/>
              </a:rPr>
              <a:t>・「不安を煽られた」と警戒される</a:t>
            </a:r>
          </a:p>
          <a:p>
            <a:pPr algn="l">
              <a:spcAft>
                <a:spcPts val="400"/>
              </a:spcAft>
            </a:pPr>
            <a:r>
              <a:rPr sz="1400" b="0">
                <a:solidFill>
                  <a:srgbClr val="000000"/>
                </a:solidFill>
                <a:latin typeface="HGPｺﾞｼｯｸE"/>
                <a:ea typeface="HGPｺﾞｼｯｸE"/>
              </a:rPr>
              <a:t>・お客様が黙り、ラリーが止まる</a:t>
            </a:r>
          </a:p>
          <a:p>
            <a:pPr algn="l">
              <a:spcAft>
                <a:spcPts val="500"/>
              </a:spcAft>
            </a:pPr>
            <a:r>
              <a:rPr sz="1400" b="0">
                <a:solidFill>
                  <a:srgbClr val="000000"/>
                </a:solidFill>
                <a:latin typeface="HGPｺﾞｼｯｸE"/>
                <a:ea typeface="HGPｺﾞｼｯｸE"/>
              </a:rPr>
              <a:t>・そのあとの金額の話が入らなくなる</a:t>
            </a:r>
          </a:p>
        </p:txBody>
      </p:sp>
      <p:sp>
        <p:nvSpPr>
          <p:cNvPr id="7" name="Rectangle 6"/>
          <p:cNvSpPr/>
          <p:nvPr/>
        </p:nvSpPr>
        <p:spPr>
          <a:xfrm>
            <a:off x="5120640" y="1810512"/>
            <a:ext cx="4526280" cy="3246120"/>
          </a:xfrm>
          <a:prstGeom prst="rect">
            <a:avLst/>
          </a:prstGeom>
          <a:solidFill>
            <a:srgbClr val="EAF1DD"/>
          </a:solidFill>
          <a:ln w="12700">
            <a:solidFill>
              <a:srgbClr val="70A04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1000"/>
              </a:spcAft>
            </a:pPr>
            <a:r>
              <a:rPr sz="2000" b="1">
                <a:solidFill>
                  <a:srgbClr val="000000"/>
                </a:solidFill>
                <a:latin typeface="HGPｺﾞｼｯｸE"/>
                <a:ea typeface="HGPｺﾞｼｯｸE"/>
              </a:rPr>
              <a:t>○　適切な例</a:t>
            </a:r>
          </a:p>
          <a:p>
            <a:pPr algn="l">
              <a:spcAft>
                <a:spcPts val="300"/>
              </a:spcAft>
            </a:pPr>
            <a:r>
              <a:rPr sz="1400" b="0">
                <a:solidFill>
                  <a:srgbClr val="000000"/>
                </a:solidFill>
                <a:latin typeface="HGPｺﾞｼｯｸE"/>
                <a:ea typeface="HGPｺﾞｼｯｸE"/>
              </a:rPr>
              <a:t>「札幌が地震の確率が最も低いと出ていたのに、</a:t>
            </a:r>
          </a:p>
          <a:p>
            <a:pPr algn="l">
              <a:spcAft>
                <a:spcPts val="300"/>
              </a:spcAft>
            </a:pPr>
            <a:r>
              <a:rPr sz="1400" b="0">
                <a:solidFill>
                  <a:srgbClr val="000000"/>
                </a:solidFill>
                <a:latin typeface="HGPｺﾞｼｯｸE"/>
                <a:ea typeface="HGPｺﾞｼｯｸE"/>
              </a:rPr>
              <a:t>　3か月後に大きな地震が来てしまったんですね。</a:t>
            </a:r>
          </a:p>
          <a:p>
            <a:pPr algn="l">
              <a:spcAft>
                <a:spcPts val="300"/>
              </a:spcAft>
            </a:pPr>
            <a:r>
              <a:rPr sz="1400" b="0">
                <a:solidFill>
                  <a:srgbClr val="000000"/>
                </a:solidFill>
                <a:latin typeface="HGPｺﾞｼｯｸE"/>
                <a:ea typeface="HGPｺﾞｼｯｸE"/>
              </a:rPr>
              <a:t>　気象庁も予測は難しいと言っています。</a:t>
            </a:r>
          </a:p>
          <a:p>
            <a:pPr algn="l">
              <a:spcAft>
                <a:spcPts val="1200"/>
              </a:spcAft>
            </a:pPr>
            <a:r>
              <a:rPr sz="1400" b="0">
                <a:solidFill>
                  <a:srgbClr val="000000"/>
                </a:solidFill>
                <a:latin typeface="HGPｺﾞｼｯｸE"/>
                <a:ea typeface="HGPｺﾞｼｯｸE"/>
              </a:rPr>
              <a:t>　どこで起きるかは分からないですよね？」</a:t>
            </a:r>
          </a:p>
          <a:p>
            <a:pPr algn="l">
              <a:spcAft>
                <a:spcPts val="500"/>
              </a:spcAft>
            </a:pPr>
            <a:r>
              <a:rPr sz="1500" b="1">
                <a:solidFill>
                  <a:srgbClr val="000000"/>
                </a:solidFill>
                <a:latin typeface="HGPｺﾞｼｯｸE"/>
                <a:ea typeface="HGPｺﾞｼｯｸE"/>
              </a:rPr>
              <a:t>何が違うか</a:t>
            </a:r>
          </a:p>
          <a:p>
            <a:pPr algn="l">
              <a:spcAft>
                <a:spcPts val="400"/>
              </a:spcAft>
            </a:pPr>
            <a:r>
              <a:rPr sz="1400" b="0">
                <a:solidFill>
                  <a:srgbClr val="000000"/>
                </a:solidFill>
                <a:latin typeface="HGPｺﾞｼｯｸE"/>
                <a:ea typeface="HGPｺﾞｼｯｸE"/>
              </a:rPr>
              <a:t>・主語が「事実」と「第三者」</a:t>
            </a:r>
          </a:p>
          <a:p>
            <a:pPr algn="l">
              <a:spcAft>
                <a:spcPts val="400"/>
              </a:spcAft>
            </a:pPr>
            <a:r>
              <a:rPr sz="1400" b="0">
                <a:solidFill>
                  <a:srgbClr val="000000"/>
                </a:solidFill>
                <a:latin typeface="HGPｺﾞｼｯｸE"/>
                <a:ea typeface="HGPｺﾞｼｯｸE"/>
              </a:rPr>
              <a:t>・お客様の家族を想像させていない</a:t>
            </a:r>
          </a:p>
          <a:p>
            <a:pPr algn="l">
              <a:spcAft>
                <a:spcPts val="400"/>
              </a:spcAft>
            </a:pPr>
            <a:r>
              <a:rPr sz="1400" b="0">
                <a:solidFill>
                  <a:srgbClr val="000000"/>
                </a:solidFill>
                <a:latin typeface="HGPｺﾞｼｯｸE"/>
                <a:ea typeface="HGPｺﾞｼｯｸE"/>
              </a:rPr>
              <a:t>・最後が質問で終わり、ラリーが続く</a:t>
            </a:r>
          </a:p>
          <a:p>
            <a:pPr algn="l">
              <a:spcAft>
                <a:spcPts val="500"/>
              </a:spcAft>
            </a:pPr>
            <a:r>
              <a:rPr sz="1400" b="0">
                <a:solidFill>
                  <a:srgbClr val="000000"/>
                </a:solidFill>
                <a:latin typeface="HGPｺﾞｼｯｸE"/>
                <a:ea typeface="HGPｺﾞｼｯｸE"/>
              </a:rPr>
              <a:t>・3分で次のページへ抜けられる</a:t>
            </a:r>
          </a:p>
        </p:txBody>
      </p:sp>
      <p:sp>
        <p:nvSpPr>
          <p:cNvPr id="8" name="Rectangle 7"/>
          <p:cNvSpPr/>
          <p:nvPr/>
        </p:nvSpPr>
        <p:spPr>
          <a:xfrm>
            <a:off x="411480" y="521208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災害は「事実 → 事例 → サラッと次へ」。3分で抜ける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15</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ルール⑪：非常時対策の効果の確認</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災害トークは「第三者話法」でしか伝えない</a:t>
            </a:r>
          </a:p>
        </p:txBody>
      </p:sp>
      <p:sp>
        <p:nvSpPr>
          <p:cNvPr id="7" name="Rectangle 6"/>
          <p:cNvSpPr/>
          <p:nvPr/>
        </p:nvSpPr>
        <p:spPr>
          <a:xfrm>
            <a:off x="411480" y="2286000"/>
            <a:ext cx="4526280" cy="310896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300"/>
              </a:spcAft>
            </a:pPr>
            <a:r>
              <a:rPr sz="1800" b="1">
                <a:solidFill>
                  <a:srgbClr val="000000"/>
                </a:solidFill>
                <a:latin typeface="HGPｺﾞｼｯｸE"/>
                <a:ea typeface="HGPｺﾞｼｯｸE"/>
              </a:rPr>
              <a:t>このルールに対応するページは</a:t>
            </a:r>
          </a:p>
          <a:p>
            <a:pPr algn="ctr">
              <a:spcAft>
                <a:spcPts val="1400"/>
              </a:spcAft>
            </a:pPr>
            <a:r>
              <a:rPr sz="1800" b="1">
                <a:solidFill>
                  <a:srgbClr val="FF0000"/>
                </a:solidFill>
                <a:latin typeface="HGPｺﾞｼｯｸE"/>
                <a:ea typeface="HGPｺﾞｼｯｸE"/>
              </a:rPr>
              <a:t>アプローチブックにありません</a:t>
            </a:r>
          </a:p>
          <a:p>
            <a:pPr algn="l">
              <a:spcAft>
                <a:spcPts val="600"/>
              </a:spcAft>
            </a:pPr>
            <a:r>
              <a:rPr sz="1600" b="1">
                <a:solidFill>
                  <a:srgbClr val="000000"/>
                </a:solidFill>
                <a:latin typeface="HGPｺﾞｼｯｸE"/>
                <a:ea typeface="HGPｺﾞｼｯｸE"/>
              </a:rPr>
              <a:t>なぜか？</a:t>
            </a:r>
          </a:p>
          <a:p>
            <a:pPr algn="l">
              <a:spcAft>
                <a:spcPts val="800"/>
              </a:spcAft>
            </a:pPr>
            <a:r>
              <a:rPr sz="1500" b="0">
                <a:solidFill>
                  <a:srgbClr val="000000"/>
                </a:solidFill>
                <a:latin typeface="HGPｺﾞｼｯｸE"/>
                <a:ea typeface="HGPｺﾞｼｯｸE"/>
              </a:rPr>
              <a:t>「事例」でないと意味が無いからです。</a:t>
            </a:r>
          </a:p>
          <a:p>
            <a:pPr algn="l">
              <a:spcAft>
                <a:spcPts val="300"/>
              </a:spcAft>
            </a:pPr>
            <a:r>
              <a:rPr sz="1500" b="0">
                <a:solidFill>
                  <a:srgbClr val="000000"/>
                </a:solidFill>
                <a:latin typeface="HGPｺﾞｼｯｸE"/>
                <a:ea typeface="HGPｺﾞｼｯｸE"/>
              </a:rPr>
              <a:t>印刷された一般論を見せても、</a:t>
            </a:r>
          </a:p>
          <a:p>
            <a:pPr algn="l">
              <a:spcAft>
                <a:spcPts val="800"/>
              </a:spcAft>
            </a:pPr>
            <a:r>
              <a:rPr sz="1500" b="0">
                <a:solidFill>
                  <a:srgbClr val="000000"/>
                </a:solidFill>
                <a:latin typeface="HGPｺﾞｼｯｸE"/>
                <a:ea typeface="HGPｺﾞｼｯｸE"/>
              </a:rPr>
              <a:t>「うちの場合はどうなの？」に答えられません。</a:t>
            </a:r>
          </a:p>
          <a:p>
            <a:pPr algn="l">
              <a:spcAft>
                <a:spcPts val="300"/>
              </a:spcAft>
            </a:pPr>
            <a:r>
              <a:rPr sz="1500" b="0">
                <a:solidFill>
                  <a:srgbClr val="000000"/>
                </a:solidFill>
                <a:latin typeface="HGPｺﾞｼｯｸE"/>
                <a:ea typeface="HGPｺﾞｼｯｸE"/>
              </a:rPr>
              <a:t>だからこのパートは、</a:t>
            </a:r>
          </a:p>
          <a:p>
            <a:pPr algn="l">
              <a:spcAft>
                <a:spcPts val="500"/>
              </a:spcAft>
            </a:pPr>
            <a:r>
              <a:rPr sz="1500" b="1">
                <a:solidFill>
                  <a:srgbClr val="000000"/>
                </a:solidFill>
                <a:latin typeface="HGPｺﾞｼｯｸE"/>
                <a:ea typeface="HGPｺﾞｼｯｸE"/>
              </a:rPr>
              <a:t>営業マンが自分で用意した事例で語ります。</a:t>
            </a:r>
          </a:p>
        </p:txBody>
      </p:sp>
      <p:sp>
        <p:nvSpPr>
          <p:cNvPr id="8" name="Rectangle 7"/>
          <p:cNvSpPr/>
          <p:nvPr/>
        </p:nvSpPr>
        <p:spPr>
          <a:xfrm>
            <a:off x="5120640" y="2286000"/>
            <a:ext cx="4526280" cy="3108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600"/>
              </a:spcAft>
            </a:pPr>
            <a:r>
              <a:rPr sz="1300" b="1">
                <a:solidFill>
                  <a:srgbClr val="595959"/>
                </a:solidFill>
                <a:latin typeface="HGPｺﾞｼｯｸE"/>
                <a:ea typeface="HGPｺﾞｼｯｸE"/>
              </a:rPr>
              <a:t>考え方</a:t>
            </a:r>
          </a:p>
          <a:p>
            <a:pPr algn="l">
              <a:spcAft>
                <a:spcPts val="600"/>
              </a:spcAft>
            </a:pPr>
            <a:r>
              <a:rPr sz="1300" b="1">
                <a:solidFill>
                  <a:srgbClr val="000000"/>
                </a:solidFill>
                <a:latin typeface="HGPｺﾞｼｯｸE"/>
                <a:ea typeface="HGPｺﾞｼｯｸE"/>
              </a:rPr>
              <a:t>⑩で「いつ起きてもおかしくない」を作った。次は「備えると、どうなるか」</a:t>
            </a:r>
          </a:p>
          <a:p>
            <a:pPr algn="l">
              <a:spcAft>
                <a:spcPts val="600"/>
              </a:spcAft>
            </a:pPr>
            <a:r>
              <a:rPr sz="1250" b="0">
                <a:solidFill>
                  <a:srgbClr val="000000"/>
                </a:solidFill>
                <a:latin typeface="HGPｺﾞｼｯｸE"/>
                <a:ea typeface="HGPｺﾞｼｯｸE"/>
              </a:rPr>
              <a:t>被災経験のある知人に話を聞いてみる、メーカーHPの事例を読み込むなどして、上滑りしないように練習しておく</a:t>
            </a:r>
          </a:p>
          <a:p>
            <a:pPr algn="l">
              <a:spcAft>
                <a:spcPts val="600"/>
              </a:spcAft>
            </a:pPr>
            <a:r>
              <a:rPr sz="1250" b="0">
                <a:solidFill>
                  <a:srgbClr val="000000"/>
                </a:solidFill>
                <a:latin typeface="HGPｺﾞｼｯｸE"/>
                <a:ea typeface="HGPｺﾞｼｯｸE"/>
              </a:rPr>
              <a:t>なるべく地域の近い事例や、お客様との境遇が重なる資料を見せる工夫が必要</a:t>
            </a:r>
          </a:p>
          <a:p>
            <a:pPr algn="l">
              <a:spcAft>
                <a:spcPts val="600"/>
              </a:spcAft>
            </a:pPr>
            <a:r>
              <a:rPr sz="1300" b="1">
                <a:solidFill>
                  <a:srgbClr val="FF0000"/>
                </a:solidFill>
                <a:latin typeface="HGPｺﾞｼｯｸE"/>
                <a:ea typeface="HGPｺﾞｼｯｸE"/>
              </a:rPr>
              <a:t>太陽光＋蓄電池があれば、向こう30年近く停電時の保証が得られる</a:t>
            </a:r>
          </a:p>
        </p:txBody>
      </p:sp>
      <p:sp>
        <p:nvSpPr>
          <p:cNvPr id="9" name="Rectangle 8"/>
          <p:cNvSpPr/>
          <p:nvPr/>
        </p:nvSpPr>
        <p:spPr>
          <a:xfrm>
            <a:off x="411480" y="557784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一般論ではなく「事例」。だからページが無い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16</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ルール⑪：使えるメーカー事例（第三者話法の材料）</a:t>
            </a:r>
          </a:p>
        </p:txBody>
      </p:sp>
      <p:sp>
        <p:nvSpPr>
          <p:cNvPr id="6" name="TextBox 5"/>
          <p:cNvSpPr txBox="1"/>
          <p:nvPr/>
        </p:nvSpPr>
        <p:spPr>
          <a:xfrm>
            <a:off x="411480" y="1719072"/>
            <a:ext cx="9098280" cy="320040"/>
          </a:xfrm>
          <a:prstGeom prst="rect">
            <a:avLst/>
          </a:prstGeom>
          <a:noFill/>
        </p:spPr>
        <p:txBody>
          <a:bodyPr wrap="square" anchor="t" lIns="0" rIns="0" tIns="18288" bIns="18288">
            <a:spAutoFit/>
          </a:bodyPr>
          <a:lstStyle/>
          <a:p>
            <a:pPr algn="l">
              <a:spcAft>
                <a:spcPts val="500"/>
              </a:spcAft>
            </a:pPr>
            <a:r>
              <a:rPr sz="1500" b="0">
                <a:solidFill>
                  <a:srgbClr val="595959"/>
                </a:solidFill>
                <a:latin typeface="HGPｺﾞｼｯｸE"/>
                <a:ea typeface="HGPｺﾞｼｯｸE"/>
              </a:rPr>
              <a:t>自社の施工事例が一番強いですが、無い場合は下記を読み込んでおきましょう</a:t>
            </a:r>
          </a:p>
        </p:txBody>
      </p:sp>
      <p:graphicFrame>
        <p:nvGraphicFramePr>
          <p:cNvPr id="7" name="Table 6"/>
          <p:cNvGraphicFramePr>
            <a:graphicFrameLocks noGrp="1"/>
          </p:cNvGraphicFramePr>
          <p:nvPr/>
        </p:nvGraphicFramePr>
        <p:xfrm>
          <a:off x="411480" y="2121408"/>
          <a:ext cx="9098280" cy="2011680"/>
        </p:xfrm>
        <a:graphic>
          <a:graphicData uri="http://schemas.openxmlformats.org/drawingml/2006/table">
            <a:tbl>
              <a:tblPr firstRow="1">
                <a:tableStyleId>{5C22544A-7EE6-4342-B048-85BDC9FD1C3A}</a:tableStyleId>
              </a:tblPr>
              <a:tblGrid>
                <a:gridCol w="1600200"/>
                <a:gridCol w="3840480"/>
                <a:gridCol w="3657600"/>
              </a:tblGrid>
              <a:tr h="310896">
                <a:tc>
                  <a:txBody>
                    <a:bodyPr wrap="square"/>
                    <a:lstStyle/>
                    <a:p>
                      <a:pPr algn="ctr"/>
                      <a:r>
                        <a:rPr sz="1300" b="1">
                          <a:solidFill>
                            <a:srgbClr val="FFFFFF"/>
                          </a:solidFill>
                          <a:latin typeface="游ゴシック"/>
                          <a:ea typeface="游ゴシック"/>
                        </a:rPr>
                        <a:t>メーカー</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特徴</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URL</a:t>
                      </a:r>
                    </a:p>
                  </a:txBody>
                  <a:tcPr marL="45720" marR="45720" marT="18288" marB="18288" anchor="ctr">
                    <a:solidFill>
                      <a:srgbClr val="000000"/>
                    </a:solidFill>
                  </a:tcPr>
                </a:tc>
              </a:tr>
              <a:tr h="566928">
                <a:tc>
                  <a:txBody>
                    <a:bodyPr wrap="square"/>
                    <a:lstStyle/>
                    <a:p>
                      <a:pPr algn="l"/>
                      <a:r>
                        <a:rPr sz="1300" b="0">
                          <a:solidFill>
                            <a:srgbClr val="000000"/>
                          </a:solidFill>
                          <a:latin typeface="游ゴシック"/>
                          <a:ea typeface="游ゴシック"/>
                        </a:rPr>
                        <a:t>Panasonic</a:t>
                      </a:r>
                    </a:p>
                  </a:txBody>
                  <a:tcPr marL="45720" marR="45720" marT="18288" marB="18288" anchor="ctr">
                    <a:noFill/>
                  </a:tcPr>
                </a:tc>
                <a:tc>
                  <a:txBody>
                    <a:bodyPr wrap="square"/>
                    <a:lstStyle/>
                    <a:p>
                      <a:pPr algn="l"/>
                      <a:r>
                        <a:rPr sz="1300" b="0">
                          <a:solidFill>
                            <a:srgbClr val="000000"/>
                          </a:solidFill>
                          <a:latin typeface="游ゴシック"/>
                          <a:ea typeface="游ゴシック"/>
                        </a:rPr>
                        <a:t>動画＋テキストベースでの記事があり、使いやすい</a:t>
                      </a:r>
                    </a:p>
                  </a:txBody>
                  <a:tcPr marL="45720" marR="45720" marT="18288" marB="18288" anchor="ctr">
                    <a:noFill/>
                  </a:tcPr>
                </a:tc>
                <a:tc>
                  <a:txBody>
                    <a:bodyPr wrap="square"/>
                    <a:lstStyle/>
                    <a:p>
                      <a:pPr algn="l"/>
                      <a:r>
                        <a:rPr sz="1300" b="0">
                          <a:solidFill>
                            <a:srgbClr val="000000"/>
                          </a:solidFill>
                          <a:latin typeface="游ゴシック"/>
                          <a:ea typeface="游ゴシック"/>
                        </a:rPr>
                        <a:t>https://sumai.panasonic.jp/chikuden/</a:t>
                      </a:r>
                    </a:p>
                  </a:txBody>
                  <a:tcPr marL="45720" marR="45720" marT="18288" marB="18288" anchor="ctr">
                    <a:noFill/>
                  </a:tcPr>
                </a:tc>
              </a:tr>
              <a:tr h="566928">
                <a:tc>
                  <a:txBody>
                    <a:bodyPr wrap="square"/>
                    <a:lstStyle/>
                    <a:p>
                      <a:pPr algn="l"/>
                      <a:r>
                        <a:rPr sz="1300" b="0">
                          <a:solidFill>
                            <a:srgbClr val="000000"/>
                          </a:solidFill>
                          <a:latin typeface="游ゴシック"/>
                          <a:ea typeface="游ゴシック"/>
                        </a:rPr>
                        <a:t>SmartStar</a:t>
                      </a:r>
                    </a:p>
                  </a:txBody>
                  <a:tcPr marL="45720" marR="45720" marT="18288" marB="18288" anchor="ctr">
                    <a:noFill/>
                  </a:tcPr>
                </a:tc>
                <a:tc>
                  <a:txBody>
                    <a:bodyPr wrap="square"/>
                    <a:lstStyle/>
                    <a:p>
                      <a:pPr algn="l"/>
                      <a:r>
                        <a:rPr sz="1300" b="0">
                          <a:solidFill>
                            <a:srgbClr val="000000"/>
                          </a:solidFill>
                          <a:latin typeface="游ゴシック"/>
                          <a:ea typeface="游ゴシック"/>
                        </a:rPr>
                        <a:t>災害時の活用に特化して動画が上がっている</a:t>
                      </a:r>
                    </a:p>
                  </a:txBody>
                  <a:tcPr marL="45720" marR="45720" marT="18288" marB="18288" anchor="ctr">
                    <a:noFill/>
                  </a:tcPr>
                </a:tc>
                <a:tc>
                  <a:txBody>
                    <a:bodyPr wrap="square"/>
                    <a:lstStyle/>
                    <a:p>
                      <a:pPr algn="l"/>
                      <a:r>
                        <a:rPr sz="1300" b="0">
                          <a:solidFill>
                            <a:srgbClr val="000000"/>
                          </a:solidFill>
                          <a:latin typeface="游ゴシック"/>
                          <a:ea typeface="游ゴシック"/>
                        </a:rPr>
                        <a:t>https://www.smartstar.jp/voice/</a:t>
                      </a:r>
                    </a:p>
                  </a:txBody>
                  <a:tcPr marL="45720" marR="45720" marT="18288" marB="18288" anchor="ctr">
                    <a:noFill/>
                  </a:tcPr>
                </a:tc>
              </a:tr>
              <a:tr h="566928">
                <a:tc>
                  <a:txBody>
                    <a:bodyPr wrap="square"/>
                    <a:lstStyle/>
                    <a:p>
                      <a:pPr algn="l"/>
                      <a:r>
                        <a:rPr sz="1300" b="0">
                          <a:solidFill>
                            <a:srgbClr val="000000"/>
                          </a:solidFill>
                          <a:latin typeface="游ゴシック"/>
                          <a:ea typeface="游ゴシック"/>
                        </a:rPr>
                        <a:t>ニチコン</a:t>
                      </a:r>
                    </a:p>
                  </a:txBody>
                  <a:tcPr marL="45720" marR="45720" marT="18288" marB="18288" anchor="ctr">
                    <a:noFill/>
                  </a:tcPr>
                </a:tc>
                <a:tc>
                  <a:txBody>
                    <a:bodyPr wrap="square"/>
                    <a:lstStyle/>
                    <a:p>
                      <a:pPr algn="l"/>
                      <a:r>
                        <a:rPr sz="1300" b="0">
                          <a:solidFill>
                            <a:srgbClr val="000000"/>
                          </a:solidFill>
                          <a:latin typeface="游ゴシック"/>
                          <a:ea typeface="游ゴシック"/>
                        </a:rPr>
                        <a:t>販売店にフィットしたコンテンツ作りがされている</a:t>
                      </a:r>
                    </a:p>
                  </a:txBody>
                  <a:tcPr marL="45720" marR="45720" marT="18288" marB="18288" anchor="ctr">
                    <a:noFill/>
                  </a:tcPr>
                </a:tc>
                <a:tc>
                  <a:txBody>
                    <a:bodyPr wrap="square"/>
                    <a:lstStyle/>
                    <a:p>
                      <a:pPr algn="l"/>
                      <a:r>
                        <a:rPr sz="1300" b="0">
                          <a:solidFill>
                            <a:srgbClr val="000000"/>
                          </a:solidFill>
                          <a:latin typeface="游ゴシック"/>
                          <a:ea typeface="游ゴシック"/>
                        </a:rPr>
                        <a:t>https://www.nichicon.co.jp/products/ess/about/voice.html</a:t>
                      </a:r>
                    </a:p>
                  </a:txBody>
                  <a:tcPr marL="45720" marR="45720" marT="18288" marB="18288" anchor="ctr">
                    <a:noFill/>
                  </a:tcPr>
                </a:tc>
              </a:tr>
            </a:tbl>
          </a:graphicData>
        </a:graphic>
      </p:graphicFrame>
      <p:sp>
        <p:nvSpPr>
          <p:cNvPr id="8" name="Rectangle 7"/>
          <p:cNvSpPr/>
          <p:nvPr/>
        </p:nvSpPr>
        <p:spPr>
          <a:xfrm>
            <a:off x="411480" y="4114800"/>
            <a:ext cx="9098280" cy="160020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第三者話法の型</a:t>
            </a:r>
          </a:p>
          <a:p>
            <a:pPr algn="l">
              <a:spcAft>
                <a:spcPts val="600"/>
              </a:spcAft>
            </a:pPr>
            <a:r>
              <a:rPr sz="1600" b="0">
                <a:solidFill>
                  <a:srgbClr val="000000"/>
                </a:solidFill>
                <a:latin typeface="HGPｺﾞｼｯｸE"/>
                <a:ea typeface="HGPｺﾞｼｯｸE"/>
              </a:rPr>
              <a:t>✕　「停電しても安心ですよ」　← 自分の意見。刺さらない</a:t>
            </a:r>
          </a:p>
          <a:p>
            <a:pPr algn="l">
              <a:spcAft>
                <a:spcPts val="400"/>
              </a:spcAft>
            </a:pPr>
            <a:r>
              <a:rPr sz="1600" b="1">
                <a:solidFill>
                  <a:srgbClr val="000000"/>
                </a:solidFill>
                <a:latin typeface="HGPｺﾞｼｯｸE"/>
                <a:ea typeface="HGPｺﾞｼｯｸE"/>
              </a:rPr>
              <a:t>○　「実際に○○市のA様が、台風の停電で3日間、冷蔵庫と照明を動かせたそうです」</a:t>
            </a:r>
          </a:p>
          <a:p>
            <a:pPr algn="l">
              <a:spcAft>
                <a:spcPts val="500"/>
              </a:spcAft>
            </a:pPr>
            <a:r>
              <a:rPr sz="1400" b="0">
                <a:solidFill>
                  <a:srgbClr val="595959"/>
                </a:solidFill>
                <a:latin typeface="HGPｺﾞｼｯｸE"/>
                <a:ea typeface="HGPｺﾞｼｯｸE"/>
              </a:rPr>
              <a:t>　　← 事例で返す</a:t>
            </a:r>
          </a:p>
        </p:txBody>
      </p:sp>
      <p:sp>
        <p:nvSpPr>
          <p:cNvPr id="9" name="Rectangle 8"/>
          <p:cNvSpPr/>
          <p:nvPr/>
        </p:nvSpPr>
        <p:spPr>
          <a:xfrm>
            <a:off x="411480" y="585216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「私が〜」ではなく「実際に〜あります」で返す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17</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ワーク：自分の「災害事例」を1本つくる（10分）</a:t>
            </a:r>
          </a:p>
        </p:txBody>
      </p:sp>
      <p:sp>
        <p:nvSpPr>
          <p:cNvPr id="6" name="TextBox 5"/>
          <p:cNvSpPr txBox="1"/>
          <p:nvPr/>
        </p:nvSpPr>
        <p:spPr>
          <a:xfrm>
            <a:off x="411480" y="1719072"/>
            <a:ext cx="9098280" cy="320040"/>
          </a:xfrm>
          <a:prstGeom prst="rect">
            <a:avLst/>
          </a:prstGeom>
          <a:noFill/>
        </p:spPr>
        <p:txBody>
          <a:bodyPr wrap="square" anchor="t" lIns="0" rIns="0" tIns="18288" bIns="18288">
            <a:spAutoFit/>
          </a:bodyPr>
          <a:lstStyle/>
          <a:p>
            <a:pPr algn="l">
              <a:spcAft>
                <a:spcPts val="500"/>
              </a:spcAft>
            </a:pPr>
            <a:r>
              <a:rPr sz="1500" b="0">
                <a:solidFill>
                  <a:srgbClr val="595959"/>
                </a:solidFill>
                <a:latin typeface="HGPｺﾞｼｯｸE"/>
                <a:ea typeface="HGPｺﾞｼｯｸE"/>
              </a:rPr>
              <a:t>商談で必ず使う1本を、いま書いてしまいましょう。地域が近いほど強くなります</a:t>
            </a:r>
          </a:p>
        </p:txBody>
      </p:sp>
      <p:graphicFrame>
        <p:nvGraphicFramePr>
          <p:cNvPr id="7" name="Table 6"/>
          <p:cNvGraphicFramePr>
            <a:graphicFrameLocks noGrp="1"/>
          </p:cNvGraphicFramePr>
          <p:nvPr/>
        </p:nvGraphicFramePr>
        <p:xfrm>
          <a:off x="411480" y="2121408"/>
          <a:ext cx="9098280" cy="3401568"/>
        </p:xfrm>
        <a:graphic>
          <a:graphicData uri="http://schemas.openxmlformats.org/drawingml/2006/table">
            <a:tbl>
              <a:tblPr firstRow="1">
                <a:tableStyleId>{5C22544A-7EE6-4342-B048-85BDC9FD1C3A}</a:tableStyleId>
              </a:tblPr>
              <a:tblGrid>
                <a:gridCol w="411480"/>
                <a:gridCol w="2880360"/>
                <a:gridCol w="5806440"/>
              </a:tblGrid>
              <a:tr h="292608">
                <a:tc>
                  <a:txBody>
                    <a:bodyPr wrap="square"/>
                    <a:lstStyle/>
                    <a:p>
                      <a:pPr algn="ctr"/>
                      <a:r>
                        <a:rPr sz="1300" b="1">
                          <a:solidFill>
                            <a:srgbClr val="FFFFFF"/>
                          </a:solidFill>
                          <a:latin typeface="游ゴシック"/>
                          <a:ea typeface="游ゴシック"/>
                        </a:rPr>
                        <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項目</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記入してください</a:t>
                      </a:r>
                    </a:p>
                  </a:txBody>
                  <a:tcPr marL="45720" marR="45720" marT="18288" marB="18288" anchor="ctr">
                    <a:solidFill>
                      <a:srgbClr val="000000"/>
                    </a:solidFill>
                  </a:tcPr>
                </a:tc>
              </a:tr>
              <a:tr h="621792">
                <a:tc>
                  <a:txBody>
                    <a:bodyPr wrap="square"/>
                    <a:lstStyle/>
                    <a:p>
                      <a:pPr algn="l"/>
                      <a:r>
                        <a:rPr sz="1300" b="0">
                          <a:solidFill>
                            <a:srgbClr val="000000"/>
                          </a:solidFill>
                          <a:latin typeface="游ゴシック"/>
                          <a:ea typeface="游ゴシック"/>
                        </a:rPr>
                        <a:t>①</a:t>
                      </a:r>
                    </a:p>
                  </a:txBody>
                  <a:tcPr marL="45720" marR="45720" marT="18288" marB="18288" anchor="ctr">
                    <a:noFill/>
                  </a:tcPr>
                </a:tc>
                <a:tc>
                  <a:txBody>
                    <a:bodyPr wrap="square"/>
                    <a:lstStyle/>
                    <a:p>
                      <a:pPr algn="l"/>
                      <a:r>
                        <a:rPr sz="1300" b="0">
                          <a:solidFill>
                            <a:srgbClr val="000000"/>
                          </a:solidFill>
                          <a:latin typeface="游ゴシック"/>
                          <a:ea typeface="游ゴシック"/>
                        </a:rPr>
                        <a:t>誰の事例か（地域・家族構成）</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r h="621792">
                <a:tc>
                  <a:txBody>
                    <a:bodyPr wrap="square"/>
                    <a:lstStyle/>
                    <a:p>
                      <a:pPr algn="l"/>
                      <a:r>
                        <a:rPr sz="1300" b="0">
                          <a:solidFill>
                            <a:srgbClr val="000000"/>
                          </a:solidFill>
                          <a:latin typeface="游ゴシック"/>
                          <a:ea typeface="游ゴシック"/>
                        </a:rPr>
                        <a:t>②</a:t>
                      </a:r>
                    </a:p>
                  </a:txBody>
                  <a:tcPr marL="45720" marR="45720" marT="18288" marB="18288" anchor="ctr">
                    <a:noFill/>
                  </a:tcPr>
                </a:tc>
                <a:tc>
                  <a:txBody>
                    <a:bodyPr wrap="square"/>
                    <a:lstStyle/>
                    <a:p>
                      <a:pPr algn="l"/>
                      <a:r>
                        <a:rPr sz="1300" b="0">
                          <a:solidFill>
                            <a:srgbClr val="000000"/>
                          </a:solidFill>
                          <a:latin typeface="游ゴシック"/>
                          <a:ea typeface="游ゴシック"/>
                        </a:rPr>
                        <a:t>いつ・どんな災害だったか</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r h="621792">
                <a:tc>
                  <a:txBody>
                    <a:bodyPr wrap="square"/>
                    <a:lstStyle/>
                    <a:p>
                      <a:pPr algn="l"/>
                      <a:r>
                        <a:rPr sz="1300" b="0">
                          <a:solidFill>
                            <a:srgbClr val="000000"/>
                          </a:solidFill>
                          <a:latin typeface="游ゴシック"/>
                          <a:ea typeface="游ゴシック"/>
                        </a:rPr>
                        <a:t>③</a:t>
                      </a:r>
                    </a:p>
                  </a:txBody>
                  <a:tcPr marL="45720" marR="45720" marT="18288" marB="18288" anchor="ctr">
                    <a:noFill/>
                  </a:tcPr>
                </a:tc>
                <a:tc>
                  <a:txBody>
                    <a:bodyPr wrap="square"/>
                    <a:lstStyle/>
                    <a:p>
                      <a:pPr algn="l"/>
                      <a:r>
                        <a:rPr sz="1300" b="0">
                          <a:solidFill>
                            <a:srgbClr val="000000"/>
                          </a:solidFill>
                          <a:latin typeface="游ゴシック"/>
                          <a:ea typeface="游ゴシック"/>
                        </a:rPr>
                        <a:t>停電は何日続いたか</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r h="621792">
                <a:tc>
                  <a:txBody>
                    <a:bodyPr wrap="square"/>
                    <a:lstStyle/>
                    <a:p>
                      <a:pPr algn="l"/>
                      <a:r>
                        <a:rPr sz="1300" b="0">
                          <a:solidFill>
                            <a:srgbClr val="000000"/>
                          </a:solidFill>
                          <a:latin typeface="游ゴシック"/>
                          <a:ea typeface="游ゴシック"/>
                        </a:rPr>
                        <a:t>④</a:t>
                      </a:r>
                    </a:p>
                  </a:txBody>
                  <a:tcPr marL="45720" marR="45720" marT="18288" marB="18288" anchor="ctr">
                    <a:noFill/>
                  </a:tcPr>
                </a:tc>
                <a:tc>
                  <a:txBody>
                    <a:bodyPr wrap="square"/>
                    <a:lstStyle/>
                    <a:p>
                      <a:pPr algn="l"/>
                      <a:r>
                        <a:rPr sz="1300" b="0">
                          <a:solidFill>
                            <a:srgbClr val="000000"/>
                          </a:solidFill>
                          <a:latin typeface="游ゴシック"/>
                          <a:ea typeface="游ゴシック"/>
                        </a:rPr>
                        <a:t>太陽光＋蓄電池で何ができたか</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r h="621792">
                <a:tc>
                  <a:txBody>
                    <a:bodyPr wrap="square"/>
                    <a:lstStyle/>
                    <a:p>
                      <a:pPr algn="l"/>
                      <a:r>
                        <a:rPr sz="1300" b="0">
                          <a:solidFill>
                            <a:srgbClr val="000000"/>
                          </a:solidFill>
                          <a:latin typeface="游ゴシック"/>
                          <a:ea typeface="游ゴシック"/>
                        </a:rPr>
                        <a:t>⑤</a:t>
                      </a:r>
                    </a:p>
                  </a:txBody>
                  <a:tcPr marL="45720" marR="45720" marT="18288" marB="18288" anchor="ctr">
                    <a:noFill/>
                  </a:tcPr>
                </a:tc>
                <a:tc>
                  <a:txBody>
                    <a:bodyPr wrap="square"/>
                    <a:lstStyle/>
                    <a:p>
                      <a:pPr algn="l"/>
                      <a:r>
                        <a:rPr sz="1300" b="0">
                          <a:solidFill>
                            <a:srgbClr val="000000"/>
                          </a:solidFill>
                          <a:latin typeface="游ゴシック"/>
                          <a:ea typeface="游ゴシック"/>
                        </a:rPr>
                        <a:t>その方は何とおっしゃっていたか</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bl>
          </a:graphicData>
        </a:graphic>
      </p:graphicFrame>
      <p:sp>
        <p:nvSpPr>
          <p:cNvPr id="8" name="Rectangle 7"/>
          <p:cNvSpPr/>
          <p:nvPr/>
        </p:nvSpPr>
        <p:spPr>
          <a:xfrm>
            <a:off x="411480" y="5532120"/>
            <a:ext cx="9098280" cy="73152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600" b="1">
                <a:solidFill>
                  <a:srgbClr val="000000"/>
                </a:solidFill>
                <a:latin typeface="HGPｺﾞｼｯｸE"/>
                <a:ea typeface="HGPｺﾞｼｯｸE"/>
              </a:rPr>
              <a:t>書けたらペアで実演。聞き手は「3分以内に終わったか」「暗くならなかったか」を答える</a:t>
            </a:r>
          </a:p>
          <a:p>
            <a:pPr algn="ctr">
              <a:spcAft>
                <a:spcPts val="500"/>
              </a:spcAft>
            </a:pPr>
            <a:r>
              <a:rPr sz="1400" b="0">
                <a:solidFill>
                  <a:srgbClr val="000000"/>
                </a:solidFill>
                <a:latin typeface="HGPｺﾞｼｯｸE"/>
                <a:ea typeface="HGPｺﾞｼｯｸE"/>
              </a:rPr>
              <a:t>自社に事例が無い人は、上記メーカーHPの事例を自分の言葉に置き換える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18</a:t>
            </a:r>
          </a:p>
        </p:txBody>
      </p:sp>
      <p:sp>
        <p:nvSpPr>
          <p:cNvPr id="3" name="Rounded Rectangle 2"/>
          <p:cNvSpPr/>
          <p:nvPr/>
        </p:nvSpPr>
        <p:spPr>
          <a:xfrm>
            <a:off x="2194560" y="2606040"/>
            <a:ext cx="5532120" cy="1645920"/>
          </a:xfrm>
          <a:prstGeom prst="round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1000"/>
              </a:spcAft>
            </a:pPr>
            <a:r>
              <a:rPr sz="4400" b="1">
                <a:solidFill>
                  <a:srgbClr val="000000"/>
                </a:solidFill>
                <a:latin typeface="HGPｺﾞｼｯｸE"/>
                <a:ea typeface="HGPｺﾞｼｯｸE"/>
              </a:rPr>
              <a:t>休憩　10分</a:t>
            </a:r>
          </a:p>
          <a:p>
            <a:pPr algn="ctr">
              <a:spcAft>
                <a:spcPts val="500"/>
              </a:spcAft>
            </a:pPr>
            <a:r>
              <a:rPr sz="1800" b="0">
                <a:solidFill>
                  <a:srgbClr val="000000"/>
                </a:solidFill>
                <a:latin typeface="HGPｺﾞｼｯｸE"/>
                <a:ea typeface="HGPｺﾞｼｯｸE"/>
              </a:rPr>
              <a:t>後半はルール⑫「使い方」とロープレです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19</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ルール⑫：太陽光・蓄電池の使い方の理解</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シミュレーションに移る前に基本概念をおさらいする</a:t>
            </a:r>
          </a:p>
        </p:txBody>
      </p:sp>
      <p:pic>
        <p:nvPicPr>
          <p:cNvPr id="7" name="Picture 6" descr="ab-20.jpg"/>
          <p:cNvPicPr>
            <a:picLocks noChangeAspect="1"/>
          </p:cNvPicPr>
          <p:nvPr/>
        </p:nvPicPr>
        <p:blipFill>
          <a:blip r:embed="rId2"/>
          <a:stretch>
            <a:fillRect/>
          </a:stretch>
        </p:blipFill>
        <p:spPr>
          <a:xfrm>
            <a:off x="411480" y="2286000"/>
            <a:ext cx="4160520" cy="2879555"/>
          </a:xfrm>
          <a:prstGeom prst="rect">
            <a:avLst/>
          </a:prstGeom>
          <a:ln w="12700">
            <a:solidFill>
              <a:srgbClr val="808080"/>
            </a:solidFill>
          </a:ln>
        </p:spPr>
      </p:pic>
      <p:sp>
        <p:nvSpPr>
          <p:cNvPr id="8" name="TextBox 7"/>
          <p:cNvSpPr txBox="1"/>
          <p:nvPr/>
        </p:nvSpPr>
        <p:spPr>
          <a:xfrm>
            <a:off x="411480" y="534924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p.20　電気を自給自足する生活へ</a:t>
            </a:r>
          </a:p>
        </p:txBody>
      </p:sp>
      <p:sp>
        <p:nvSpPr>
          <p:cNvPr id="9" name="Rounded Rectangle 8"/>
          <p:cNvSpPr/>
          <p:nvPr/>
        </p:nvSpPr>
        <p:spPr>
          <a:xfrm>
            <a:off x="4892040" y="2286000"/>
            <a:ext cx="4617720" cy="1051560"/>
          </a:xfrm>
          <a:prstGeom prst="round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600"/>
              </a:spcAft>
            </a:pPr>
            <a:r>
              <a:rPr sz="1300" b="1">
                <a:solidFill>
                  <a:srgbClr val="0070C0"/>
                </a:solidFill>
                <a:latin typeface="HGPｺﾞｼｯｸE"/>
                <a:ea typeface="HGPｺﾞｼｯｸE"/>
              </a:rPr>
              <a:t>ゴール（お客様の反応）</a:t>
            </a:r>
          </a:p>
          <a:p>
            <a:pPr algn="l">
              <a:spcAft>
                <a:spcPts val="300"/>
              </a:spcAft>
            </a:pPr>
            <a:r>
              <a:rPr sz="1600" b="1">
                <a:solidFill>
                  <a:srgbClr val="000000"/>
                </a:solidFill>
                <a:latin typeface="HGPｺﾞｼｯｸE"/>
                <a:ea typeface="HGPｺﾞｼｯｸE"/>
              </a:rPr>
              <a:t>「電気を買うより、自給自足した方が良いですね」</a:t>
            </a:r>
          </a:p>
        </p:txBody>
      </p:sp>
      <p:sp>
        <p:nvSpPr>
          <p:cNvPr id="10" name="Rectangle 9"/>
          <p:cNvSpPr/>
          <p:nvPr/>
        </p:nvSpPr>
        <p:spPr>
          <a:xfrm>
            <a:off x="4892040" y="3456432"/>
            <a:ext cx="4617720" cy="228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600"/>
              </a:spcAft>
            </a:pPr>
            <a:r>
              <a:rPr sz="1300" b="1">
                <a:solidFill>
                  <a:srgbClr val="595959"/>
                </a:solidFill>
                <a:latin typeface="HGPｺﾞｼｯｸE"/>
                <a:ea typeface="HGPｺﾞｼｯｸE"/>
              </a:rPr>
              <a:t>説明のポイント</a:t>
            </a:r>
          </a:p>
          <a:p>
            <a:pPr algn="l">
              <a:spcAft>
                <a:spcPts val="600"/>
              </a:spcAft>
            </a:pPr>
            <a:r>
              <a:rPr sz="1300" b="1">
                <a:solidFill>
                  <a:srgbClr val="000000"/>
                </a:solidFill>
                <a:latin typeface="HGPｺﾞｼｯｸE"/>
                <a:ea typeface="HGPｺﾞｼｯｸE"/>
              </a:rPr>
              <a:t>電気代上昇（⑦⑧⑨）と災害対策（⑩⑪）を受けての結論のページ</a:t>
            </a:r>
          </a:p>
          <a:p>
            <a:pPr algn="l">
              <a:spcAft>
                <a:spcPts val="600"/>
              </a:spcAft>
            </a:pPr>
            <a:r>
              <a:rPr sz="1250" b="0">
                <a:solidFill>
                  <a:srgbClr val="000000"/>
                </a:solidFill>
                <a:latin typeface="HGPｺﾞｼｯｸE"/>
                <a:ea typeface="HGPｺﾞｼｯｸE"/>
              </a:rPr>
              <a:t>これからは買うよりも自給自足の生活をした方がお得で安全であること</a:t>
            </a:r>
          </a:p>
          <a:p>
            <a:pPr algn="l">
              <a:spcAft>
                <a:spcPts val="600"/>
              </a:spcAft>
            </a:pPr>
            <a:r>
              <a:rPr sz="1300" b="1">
                <a:solidFill>
                  <a:srgbClr val="000000"/>
                </a:solidFill>
                <a:latin typeface="HGPｺﾞｼｯｸE"/>
                <a:ea typeface="HGPｺﾞｼｯｸE"/>
              </a:rPr>
              <a:t>太陽光でつくることだけでなく、蓄電池で貯めることも必要であること</a:t>
            </a:r>
          </a:p>
          <a:p>
            <a:pPr algn="l">
              <a:spcAft>
                <a:spcPts val="600"/>
              </a:spcAft>
            </a:pPr>
            <a:r>
              <a:rPr sz="1300" b="1">
                <a:solidFill>
                  <a:srgbClr val="FF0000"/>
                </a:solidFill>
                <a:latin typeface="HGPｺﾞｼｯｸE"/>
                <a:ea typeface="HGPｺﾞｼｯｸE"/>
              </a:rPr>
              <a:t>ここでセットである理由が経済合理性からも説明できる（売電15円＜買電30円）</a:t>
            </a:r>
          </a:p>
        </p:txBody>
      </p:sp>
      <p:sp>
        <p:nvSpPr>
          <p:cNvPr id="11" name="Rectangle 10"/>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上昇する電気代を削減するために、自給自足が求められます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20</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ルール⑫：1日の電気の流れ（これは図なしで言えるように）</a:t>
            </a:r>
          </a:p>
        </p:txBody>
      </p:sp>
      <p:sp>
        <p:nvSpPr>
          <p:cNvPr id="6" name="Rectangle 5"/>
          <p:cNvSpPr/>
          <p:nvPr/>
        </p:nvSpPr>
        <p:spPr>
          <a:xfrm>
            <a:off x="411480" y="1810512"/>
            <a:ext cx="2834640" cy="2240280"/>
          </a:xfrm>
          <a:prstGeom prst="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2200" b="1">
                <a:solidFill>
                  <a:srgbClr val="000000"/>
                </a:solidFill>
                <a:latin typeface="HGPｺﾞｼｯｸE"/>
                <a:ea typeface="HGPｺﾞｼｯｸE"/>
              </a:rPr>
              <a:t>朝</a:t>
            </a:r>
          </a:p>
          <a:p>
            <a:pPr algn="ctr">
              <a:spcAft>
                <a:spcPts val="1000"/>
              </a:spcAft>
            </a:pPr>
            <a:r>
              <a:rPr sz="1200" b="0">
                <a:solidFill>
                  <a:srgbClr val="595959"/>
                </a:solidFill>
                <a:latin typeface="HGPｺﾞｼｯｸE"/>
                <a:ea typeface="HGPｺﾞｼｯｸE"/>
              </a:rPr>
              <a:t>発電量が少ない時間帯</a:t>
            </a:r>
          </a:p>
          <a:p>
            <a:pPr algn="l">
              <a:spcAft>
                <a:spcPts val="600"/>
              </a:spcAft>
            </a:pPr>
            <a:r>
              <a:rPr sz="1300" b="0">
                <a:solidFill>
                  <a:srgbClr val="000000"/>
                </a:solidFill>
                <a:latin typeface="HGPｺﾞｼｯｸE"/>
                <a:ea typeface="HGPｺﾞｼｯｸE"/>
              </a:rPr>
              <a:t>電力会社から電気を購入する</a:t>
            </a:r>
          </a:p>
          <a:p>
            <a:pPr algn="l">
              <a:spcAft>
                <a:spcPts val="600"/>
              </a:spcAft>
            </a:pPr>
            <a:r>
              <a:rPr sz="1300" b="0">
                <a:solidFill>
                  <a:srgbClr val="000000"/>
                </a:solidFill>
                <a:latin typeface="HGPｺﾞｼｯｸE"/>
                <a:ea typeface="HGPｺﾞｼｯｸE"/>
              </a:rPr>
              <a:t>（買電消費）</a:t>
            </a:r>
          </a:p>
        </p:txBody>
      </p:sp>
      <p:sp>
        <p:nvSpPr>
          <p:cNvPr id="7" name="Rectangle 6"/>
          <p:cNvSpPr/>
          <p:nvPr/>
        </p:nvSpPr>
        <p:spPr>
          <a:xfrm>
            <a:off x="3429000" y="1810512"/>
            <a:ext cx="2834640" cy="224028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2200" b="1">
                <a:solidFill>
                  <a:srgbClr val="000000"/>
                </a:solidFill>
                <a:latin typeface="HGPｺﾞｼｯｸE"/>
                <a:ea typeface="HGPｺﾞｼｯｸE"/>
              </a:rPr>
              <a:t>昼</a:t>
            </a:r>
          </a:p>
          <a:p>
            <a:pPr algn="ctr">
              <a:spcAft>
                <a:spcPts val="1000"/>
              </a:spcAft>
            </a:pPr>
            <a:r>
              <a:rPr sz="1200" b="0">
                <a:solidFill>
                  <a:srgbClr val="595959"/>
                </a:solidFill>
                <a:latin typeface="HGPｺﾞｼｯｸE"/>
                <a:ea typeface="HGPｺﾞｼｯｸE"/>
              </a:rPr>
              <a:t>太陽光発電が活発な時間帯</a:t>
            </a:r>
          </a:p>
          <a:p>
            <a:pPr algn="l">
              <a:spcAft>
                <a:spcPts val="600"/>
              </a:spcAft>
            </a:pPr>
            <a:r>
              <a:rPr sz="1300" b="0">
                <a:solidFill>
                  <a:srgbClr val="000000"/>
                </a:solidFill>
                <a:latin typeface="HGPｺﾞｼｯｸE"/>
                <a:ea typeface="HGPｺﾞｼｯｸE"/>
              </a:rPr>
              <a:t>① 太陽光の電気をまず家庭で使う（自家消費）</a:t>
            </a:r>
          </a:p>
          <a:p>
            <a:pPr algn="l">
              <a:spcAft>
                <a:spcPts val="600"/>
              </a:spcAft>
            </a:pPr>
            <a:r>
              <a:rPr sz="1300" b="0">
                <a:solidFill>
                  <a:srgbClr val="000000"/>
                </a:solidFill>
                <a:latin typeface="HGPｺﾞｼｯｸE"/>
                <a:ea typeface="HGPｺﾞｼｯｸE"/>
              </a:rPr>
              <a:t>② 余った電気は蓄電池に充電する</a:t>
            </a:r>
          </a:p>
          <a:p>
            <a:pPr algn="l">
              <a:spcAft>
                <a:spcPts val="600"/>
              </a:spcAft>
            </a:pPr>
            <a:r>
              <a:rPr sz="1300" b="0">
                <a:solidFill>
                  <a:srgbClr val="000000"/>
                </a:solidFill>
                <a:latin typeface="HGPｺﾞｼｯｸE"/>
                <a:ea typeface="HGPｺﾞｼｯｸE"/>
              </a:rPr>
              <a:t>③ さらに余った電気は売電する</a:t>
            </a:r>
          </a:p>
        </p:txBody>
      </p:sp>
      <p:sp>
        <p:nvSpPr>
          <p:cNvPr id="8" name="Rectangle 7"/>
          <p:cNvSpPr/>
          <p:nvPr/>
        </p:nvSpPr>
        <p:spPr>
          <a:xfrm>
            <a:off x="6446520" y="1810512"/>
            <a:ext cx="2834640" cy="224028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2200" b="1">
                <a:solidFill>
                  <a:srgbClr val="000000"/>
                </a:solidFill>
                <a:latin typeface="HGPｺﾞｼｯｸE"/>
                <a:ea typeface="HGPｺﾞｼｯｸE"/>
              </a:rPr>
              <a:t>夕方〜夜間</a:t>
            </a:r>
          </a:p>
          <a:p>
            <a:pPr algn="ctr">
              <a:spcAft>
                <a:spcPts val="1000"/>
              </a:spcAft>
            </a:pPr>
            <a:r>
              <a:rPr sz="1200" b="0">
                <a:solidFill>
                  <a:srgbClr val="595959"/>
                </a:solidFill>
                <a:latin typeface="HGPｺﾞｼｯｸE"/>
                <a:ea typeface="HGPｺﾞｼｯｸE"/>
              </a:rPr>
              <a:t>発電できない時間帯</a:t>
            </a:r>
          </a:p>
          <a:p>
            <a:pPr algn="l">
              <a:spcAft>
                <a:spcPts val="600"/>
              </a:spcAft>
            </a:pPr>
            <a:r>
              <a:rPr sz="1300" b="0">
                <a:solidFill>
                  <a:srgbClr val="000000"/>
                </a:solidFill>
                <a:latin typeface="HGPｺﾞｼｯｸE"/>
                <a:ea typeface="HGPｺﾞｼｯｸE"/>
              </a:rPr>
              <a:t>蓄電池に貯めた電気を使う</a:t>
            </a:r>
          </a:p>
        </p:txBody>
      </p:sp>
      <p:sp>
        <p:nvSpPr>
          <p:cNvPr id="9" name="Right Arrow 8"/>
          <p:cNvSpPr/>
          <p:nvPr/>
        </p:nvSpPr>
        <p:spPr>
          <a:xfrm>
            <a:off x="3273552" y="2697480"/>
            <a:ext cx="274320" cy="32004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6291072" y="2697480"/>
            <a:ext cx="274320" cy="32004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4206240"/>
            <a:ext cx="9098280" cy="1508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800" b="1">
                <a:solidFill>
                  <a:srgbClr val="FF0000"/>
                </a:solidFill>
                <a:latin typeface="HGPｺﾞｼｯｸE"/>
                <a:ea typeface="HGPｺﾞｼｯｸE"/>
              </a:rPr>
              <a:t>このサイクルは、太陽光と蓄電池が「両方」あって初めて成立します</a:t>
            </a:r>
          </a:p>
          <a:p>
            <a:pPr algn="l">
              <a:spcAft>
                <a:spcPts val="500"/>
              </a:spcAft>
            </a:pPr>
            <a:r>
              <a:rPr sz="1500" b="0">
                <a:solidFill>
                  <a:srgbClr val="000000"/>
                </a:solidFill>
                <a:latin typeface="HGPｺﾞｼｯｸE"/>
                <a:ea typeface="HGPｺﾞｼｯｸE"/>
              </a:rPr>
              <a:t>・太陽光だけ　→　昼に余った電気は売るしかない。売電15円＜買電30円なので損</a:t>
            </a:r>
          </a:p>
          <a:p>
            <a:pPr algn="l">
              <a:spcAft>
                <a:spcPts val="500"/>
              </a:spcAft>
            </a:pPr>
            <a:r>
              <a:rPr sz="1500" b="0">
                <a:solidFill>
                  <a:srgbClr val="000000"/>
                </a:solidFill>
                <a:latin typeface="HGPｺﾞｼｯｸE"/>
                <a:ea typeface="HGPｺﾞｼｯｸE"/>
              </a:rPr>
              <a:t>・蓄電池だけ　→　貯める電気を電力会社から買うことになる</a:t>
            </a:r>
          </a:p>
          <a:p>
            <a:pPr algn="l">
              <a:spcAft>
                <a:spcPts val="500"/>
              </a:spcAft>
            </a:pPr>
            <a:r>
              <a:rPr sz="1500" b="1">
                <a:solidFill>
                  <a:srgbClr val="000000"/>
                </a:solidFill>
                <a:latin typeface="HGPｺﾞｼｯｸE"/>
                <a:ea typeface="HGPｺﾞｼｯｸE"/>
              </a:rPr>
              <a:t>・セット　　　→　自分で創った電気を、自分で使い切れる</a:t>
            </a:r>
          </a:p>
        </p:txBody>
      </p:sp>
      <p:sp>
        <p:nvSpPr>
          <p:cNvPr id="12" name="Rectangle 11"/>
          <p:cNvSpPr/>
          <p:nvPr/>
        </p:nvSpPr>
        <p:spPr>
          <a:xfrm>
            <a:off x="411480" y="585216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創る（太陽光）→ 貯める（蓄電池）→ 夜に使う</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21</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ルール⑫：シミュレーションへの受け渡し</a:t>
            </a:r>
          </a:p>
        </p:txBody>
      </p:sp>
      <p:pic>
        <p:nvPicPr>
          <p:cNvPr id="6" name="Picture 5" descr="ab-21.jpg"/>
          <p:cNvPicPr>
            <a:picLocks noChangeAspect="1"/>
          </p:cNvPicPr>
          <p:nvPr/>
        </p:nvPicPr>
        <p:blipFill>
          <a:blip r:embed="rId2"/>
          <a:stretch>
            <a:fillRect/>
          </a:stretch>
        </p:blipFill>
        <p:spPr>
          <a:xfrm>
            <a:off x="411480" y="1783080"/>
            <a:ext cx="4160520" cy="2879555"/>
          </a:xfrm>
          <a:prstGeom prst="rect">
            <a:avLst/>
          </a:prstGeom>
          <a:ln w="12700">
            <a:solidFill>
              <a:srgbClr val="808080"/>
            </a:solidFill>
          </a:ln>
        </p:spPr>
      </p:pic>
      <p:sp>
        <p:nvSpPr>
          <p:cNvPr id="7" name="TextBox 6"/>
          <p:cNvSpPr txBox="1"/>
          <p:nvPr/>
        </p:nvSpPr>
        <p:spPr>
          <a:xfrm>
            <a:off x="411480" y="484632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p.21　太陽光発電・蓄電池の使い方</a:t>
            </a:r>
          </a:p>
        </p:txBody>
      </p:sp>
      <p:sp>
        <p:nvSpPr>
          <p:cNvPr id="8" name="Rectangle 7"/>
          <p:cNvSpPr/>
          <p:nvPr/>
        </p:nvSpPr>
        <p:spPr>
          <a:xfrm>
            <a:off x="4892040" y="1783080"/>
            <a:ext cx="4617720"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600"/>
              </a:spcAft>
            </a:pPr>
            <a:r>
              <a:rPr sz="1500" b="1">
                <a:solidFill>
                  <a:srgbClr val="000000"/>
                </a:solidFill>
                <a:latin typeface="HGPｺﾞｼｯｸE"/>
                <a:ea typeface="HGPｺﾞｼｯｸE"/>
              </a:rPr>
              <a:t>①　ライフスタイルと結びつける</a:t>
            </a:r>
          </a:p>
          <a:p>
            <a:pPr algn="l">
              <a:spcAft>
                <a:spcPts val="500"/>
              </a:spcAft>
            </a:pPr>
            <a:r>
              <a:rPr sz="1300" b="0">
                <a:solidFill>
                  <a:srgbClr val="000000"/>
                </a:solidFill>
                <a:latin typeface="HGPｺﾞｼｯｸE"/>
                <a:ea typeface="HGPｺﾞｼｯｸE"/>
              </a:rPr>
              <a:t>「ご家庭によって電気を使う時間帯や量は異なりますので、このサイクルをいかにご家庭の生活に合わせて最適化するかがポイントになります」</a:t>
            </a:r>
          </a:p>
        </p:txBody>
      </p:sp>
      <p:sp>
        <p:nvSpPr>
          <p:cNvPr id="9" name="Rectangle 8"/>
          <p:cNvSpPr/>
          <p:nvPr/>
        </p:nvSpPr>
        <p:spPr>
          <a:xfrm>
            <a:off x="4892040" y="3310128"/>
            <a:ext cx="4617720" cy="1325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600"/>
              </a:spcAft>
            </a:pPr>
            <a:r>
              <a:rPr sz="1500" b="1">
                <a:solidFill>
                  <a:srgbClr val="000000"/>
                </a:solidFill>
                <a:latin typeface="HGPｺﾞｼｯｸE"/>
                <a:ea typeface="HGPｺﾞｼｯｸE"/>
              </a:rPr>
              <a:t>②　理解度を確認する</a:t>
            </a:r>
          </a:p>
          <a:p>
            <a:pPr algn="l">
              <a:spcAft>
                <a:spcPts val="400"/>
              </a:spcAft>
            </a:pPr>
            <a:r>
              <a:rPr sz="1300" b="0">
                <a:solidFill>
                  <a:srgbClr val="000000"/>
                </a:solidFill>
                <a:latin typeface="HGPｺﾞｼｯｸE"/>
                <a:ea typeface="HGPｺﾞｼｯｸE"/>
              </a:rPr>
              <a:t>「ここまでで、何かご不明な点はございますか？」</a:t>
            </a:r>
          </a:p>
          <a:p>
            <a:pPr algn="l">
              <a:spcAft>
                <a:spcPts val="500"/>
              </a:spcAft>
            </a:pPr>
            <a:r>
              <a:rPr sz="1300" b="0">
                <a:solidFill>
                  <a:srgbClr val="000000"/>
                </a:solidFill>
                <a:latin typeface="HGPｺﾞｼｯｸE"/>
                <a:ea typeface="HGPｺﾞｼｯｸE"/>
              </a:rPr>
              <a:t>「電気の流れのイメージは掴んでいただけましたでしょうか？」</a:t>
            </a:r>
          </a:p>
        </p:txBody>
      </p:sp>
      <p:sp>
        <p:nvSpPr>
          <p:cNvPr id="10" name="Rectangle 9"/>
          <p:cNvSpPr/>
          <p:nvPr/>
        </p:nvSpPr>
        <p:spPr>
          <a:xfrm>
            <a:off x="4892040" y="4754880"/>
            <a:ext cx="4617720" cy="96012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600"/>
              </a:spcAft>
            </a:pPr>
            <a:r>
              <a:rPr sz="1500" b="1">
                <a:solidFill>
                  <a:srgbClr val="000000"/>
                </a:solidFill>
                <a:latin typeface="HGPｺﾞｼｯｸE"/>
                <a:ea typeface="HGPｺﾞｼｯｸE"/>
              </a:rPr>
              <a:t>③　そのまま次へ</a:t>
            </a:r>
          </a:p>
          <a:p>
            <a:pPr algn="l">
              <a:spcAft>
                <a:spcPts val="500"/>
              </a:spcAft>
            </a:pPr>
            <a:r>
              <a:rPr sz="1400" b="1">
                <a:solidFill>
                  <a:srgbClr val="000000"/>
                </a:solidFill>
                <a:latin typeface="HGPｺﾞｼｯｸE"/>
                <a:ea typeface="HGPｺﾞｼｯｸE"/>
              </a:rPr>
              <a:t>「具体的なシミュレーションを見ていきましょう！」</a:t>
            </a:r>
          </a:p>
        </p:txBody>
      </p:sp>
      <p:sp>
        <p:nvSpPr>
          <p:cNvPr id="11" name="Rectangle 10"/>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p.21下部の一文をそのまま使い、シミュレーションへ渡す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Paragraph 02 の通し</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22</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p.9〜p.21をひと続きで見る（第2回＋第3回）</a:t>
            </a:r>
          </a:p>
        </p:txBody>
      </p:sp>
      <p:graphicFrame>
        <p:nvGraphicFramePr>
          <p:cNvPr id="6" name="Table 5"/>
          <p:cNvGraphicFramePr>
            <a:graphicFrameLocks noGrp="1"/>
          </p:cNvGraphicFramePr>
          <p:nvPr/>
        </p:nvGraphicFramePr>
        <p:xfrm>
          <a:off x="411480" y="1783080"/>
          <a:ext cx="9098280" cy="3694176"/>
        </p:xfrm>
        <a:graphic>
          <a:graphicData uri="http://schemas.openxmlformats.org/drawingml/2006/table">
            <a:tbl>
              <a:tblPr firstRow="1">
                <a:tableStyleId>{5C22544A-7EE6-4342-B048-85BDC9FD1C3A}</a:tableStyleId>
              </a:tblPr>
              <a:tblGrid>
                <a:gridCol w="1463040"/>
                <a:gridCol w="3246120"/>
                <a:gridCol w="731520"/>
                <a:gridCol w="3657600"/>
              </a:tblGrid>
              <a:tr h="292608">
                <a:tc>
                  <a:txBody>
                    <a:bodyPr wrap="square"/>
                    <a:lstStyle/>
                    <a:p>
                      <a:pPr algn="ctr"/>
                      <a:r>
                        <a:rPr sz="1200" b="1">
                          <a:solidFill>
                            <a:srgbClr val="FFFFFF"/>
                          </a:solidFill>
                          <a:latin typeface="游ゴシック"/>
                          <a:ea typeface="游ゴシック"/>
                        </a:rPr>
                        <a:t>ページ</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内容</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ルール</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狙う反応</a:t>
                      </a:r>
                    </a:p>
                  </a:txBody>
                  <a:tcPr marL="45720" marR="45720" marT="18288" marB="18288" anchor="ctr">
                    <a:solidFill>
                      <a:srgbClr val="000000"/>
                    </a:solidFill>
                  </a:tcPr>
                </a:tc>
              </a:tr>
              <a:tr h="566928">
                <a:tc>
                  <a:txBody>
                    <a:bodyPr wrap="square"/>
                    <a:lstStyle/>
                    <a:p>
                      <a:pPr algn="l"/>
                      <a:r>
                        <a:rPr sz="1200" b="0">
                          <a:solidFill>
                            <a:srgbClr val="000000"/>
                          </a:solidFill>
                          <a:latin typeface="游ゴシック"/>
                          <a:ea typeface="游ゴシック"/>
                        </a:rPr>
                        <a:t>p.9・10・12</a:t>
                      </a:r>
                    </a:p>
                  </a:txBody>
                  <a:tcPr marL="45720" marR="45720" marT="18288" marB="18288" anchor="ctr">
                    <a:noFill/>
                  </a:tcPr>
                </a:tc>
                <a:tc>
                  <a:txBody>
                    <a:bodyPr wrap="square"/>
                    <a:lstStyle/>
                    <a:p>
                      <a:pPr algn="l"/>
                      <a:r>
                        <a:rPr sz="1200" b="0">
                          <a:solidFill>
                            <a:srgbClr val="000000"/>
                          </a:solidFill>
                          <a:latin typeface="游ゴシック"/>
                          <a:ea typeface="游ゴシック"/>
                        </a:rPr>
                        <a:t>電気料金の推移／電力自由化／全国的な値上げ</a:t>
                      </a:r>
                    </a:p>
                  </a:txBody>
                  <a:tcPr marL="45720" marR="45720" marT="18288" marB="18288" anchor="ctr">
                    <a:noFill/>
                  </a:tcPr>
                </a:tc>
                <a:tc>
                  <a:txBody>
                    <a:bodyPr wrap="square"/>
                    <a:lstStyle/>
                    <a:p>
                      <a:pPr algn="l"/>
                      <a:r>
                        <a:rPr sz="1200" b="0">
                          <a:solidFill>
                            <a:srgbClr val="000000"/>
                          </a:solidFill>
                          <a:latin typeface="游ゴシック"/>
                          <a:ea typeface="游ゴシック"/>
                        </a:rPr>
                        <a:t>⑦</a:t>
                      </a:r>
                    </a:p>
                  </a:txBody>
                  <a:tcPr marL="45720" marR="45720" marT="18288" marB="18288" anchor="ctr">
                    <a:noFill/>
                  </a:tcPr>
                </a:tc>
                <a:tc>
                  <a:txBody>
                    <a:bodyPr wrap="square"/>
                    <a:lstStyle/>
                    <a:p>
                      <a:pPr algn="l"/>
                      <a:r>
                        <a:rPr sz="1200" b="0">
                          <a:solidFill>
                            <a:srgbClr val="000000"/>
                          </a:solidFill>
                          <a:latin typeface="游ゴシック"/>
                          <a:ea typeface="游ゴシック"/>
                        </a:rPr>
                        <a:t>10年で5.5万円も上がっている</a:t>
                      </a:r>
                    </a:p>
                  </a:txBody>
                  <a:tcPr marL="45720" marR="45720" marT="18288" marB="18288" anchor="ctr">
                    <a:noFill/>
                  </a:tcPr>
                </a:tc>
              </a:tr>
              <a:tr h="566928">
                <a:tc>
                  <a:txBody>
                    <a:bodyPr wrap="square"/>
                    <a:lstStyle/>
                    <a:p>
                      <a:pPr algn="l"/>
                      <a:r>
                        <a:rPr sz="1200" b="0">
                          <a:solidFill>
                            <a:srgbClr val="000000"/>
                          </a:solidFill>
                          <a:latin typeface="游ゴシック"/>
                          <a:ea typeface="游ゴシック"/>
                        </a:rPr>
                        <a:t>p.11・13〜16</a:t>
                      </a:r>
                    </a:p>
                  </a:txBody>
                  <a:tcPr marL="45720" marR="45720" marT="18288" marB="18288" anchor="ctr">
                    <a:noFill/>
                  </a:tcPr>
                </a:tc>
                <a:tc>
                  <a:txBody>
                    <a:bodyPr wrap="square"/>
                    <a:lstStyle/>
                    <a:p>
                      <a:pPr algn="l"/>
                      <a:r>
                        <a:rPr sz="1200" b="0">
                          <a:solidFill>
                            <a:srgbClr val="000000"/>
                          </a:solidFill>
                          <a:latin typeface="游ゴシック"/>
                          <a:ea typeface="游ゴシック"/>
                        </a:rPr>
                        <a:t>電気代の内訳／再エネ賦課金／燃料調整費</a:t>
                      </a:r>
                    </a:p>
                  </a:txBody>
                  <a:tcPr marL="45720" marR="45720" marT="18288" marB="18288" anchor="ctr">
                    <a:noFill/>
                  </a:tcPr>
                </a:tc>
                <a:tc>
                  <a:txBody>
                    <a:bodyPr wrap="square"/>
                    <a:lstStyle/>
                    <a:p>
                      <a:pPr algn="l"/>
                      <a:r>
                        <a:rPr sz="1200" b="0">
                          <a:solidFill>
                            <a:srgbClr val="000000"/>
                          </a:solidFill>
                          <a:latin typeface="游ゴシック"/>
                          <a:ea typeface="游ゴシック"/>
                        </a:rPr>
                        <a:t>⑧</a:t>
                      </a:r>
                    </a:p>
                  </a:txBody>
                  <a:tcPr marL="45720" marR="45720" marT="18288" marB="18288" anchor="ctr">
                    <a:noFill/>
                  </a:tcPr>
                </a:tc>
                <a:tc>
                  <a:txBody>
                    <a:bodyPr wrap="square"/>
                    <a:lstStyle/>
                    <a:p>
                      <a:pPr algn="l"/>
                      <a:r>
                        <a:rPr sz="1200" b="0">
                          <a:solidFill>
                            <a:srgbClr val="000000"/>
                          </a:solidFill>
                          <a:latin typeface="游ゴシック"/>
                          <a:ea typeface="游ゴシック"/>
                        </a:rPr>
                        <a:t>賦課金で電気代が上がる</a:t>
                      </a:r>
                    </a:p>
                  </a:txBody>
                  <a:tcPr marL="45720" marR="45720" marT="18288" marB="18288" anchor="ctr">
                    <a:noFill/>
                  </a:tcPr>
                </a:tc>
              </a:tr>
              <a:tr h="566928">
                <a:tc>
                  <a:txBody>
                    <a:bodyPr wrap="square"/>
                    <a:lstStyle/>
                    <a:p>
                      <a:pPr algn="l"/>
                      <a:r>
                        <a:rPr sz="1200" b="0">
                          <a:solidFill>
                            <a:srgbClr val="000000"/>
                          </a:solidFill>
                          <a:latin typeface="游ゴシック"/>
                          <a:ea typeface="游ゴシック"/>
                        </a:rPr>
                        <a:t>p.17</a:t>
                      </a:r>
                    </a:p>
                  </a:txBody>
                  <a:tcPr marL="45720" marR="45720" marT="18288" marB="18288" anchor="ctr">
                    <a:noFill/>
                  </a:tcPr>
                </a:tc>
                <a:tc>
                  <a:txBody>
                    <a:bodyPr wrap="square"/>
                    <a:lstStyle/>
                    <a:p>
                      <a:pPr algn="l"/>
                      <a:r>
                        <a:rPr sz="1200" b="0">
                          <a:solidFill>
                            <a:srgbClr val="000000"/>
                          </a:solidFill>
                          <a:latin typeface="游ゴシック"/>
                          <a:ea typeface="游ゴシック"/>
                        </a:rPr>
                        <a:t>生涯に支払う電気代</a:t>
                      </a:r>
                    </a:p>
                  </a:txBody>
                  <a:tcPr marL="45720" marR="45720" marT="18288" marB="18288" anchor="ctr">
                    <a:noFill/>
                  </a:tcPr>
                </a:tc>
                <a:tc>
                  <a:txBody>
                    <a:bodyPr wrap="square"/>
                    <a:lstStyle/>
                    <a:p>
                      <a:pPr algn="l"/>
                      <a:r>
                        <a:rPr sz="1200" b="0">
                          <a:solidFill>
                            <a:srgbClr val="000000"/>
                          </a:solidFill>
                          <a:latin typeface="游ゴシック"/>
                          <a:ea typeface="游ゴシック"/>
                        </a:rPr>
                        <a:t>⑨</a:t>
                      </a:r>
                    </a:p>
                  </a:txBody>
                  <a:tcPr marL="45720" marR="45720" marT="18288" marB="18288" anchor="ctr">
                    <a:noFill/>
                  </a:tcPr>
                </a:tc>
                <a:tc>
                  <a:txBody>
                    <a:bodyPr wrap="square"/>
                    <a:lstStyle/>
                    <a:p>
                      <a:pPr algn="l"/>
                      <a:r>
                        <a:rPr sz="1200" b="0">
                          <a:solidFill>
                            <a:srgbClr val="000000"/>
                          </a:solidFill>
                          <a:latin typeface="游ゴシック"/>
                          <a:ea typeface="游ゴシック"/>
                        </a:rPr>
                        <a:t>30年でそんなにも払うのですね</a:t>
                      </a:r>
                    </a:p>
                  </a:txBody>
                  <a:tcPr marL="45720" marR="45720" marT="18288" marB="18288" anchor="ctr">
                    <a:noFill/>
                  </a:tcPr>
                </a:tc>
              </a:tr>
              <a:tr h="566928">
                <a:tc>
                  <a:txBody>
                    <a:bodyPr wrap="square"/>
                    <a:lstStyle/>
                    <a:p>
                      <a:pPr algn="l"/>
                      <a:r>
                        <a:rPr sz="1200" b="1">
                          <a:solidFill>
                            <a:srgbClr val="000000"/>
                          </a:solidFill>
                          <a:latin typeface="游ゴシック"/>
                          <a:ea typeface="游ゴシック"/>
                        </a:rPr>
                        <a:t>p.18・19</a:t>
                      </a:r>
                    </a:p>
                  </a:txBody>
                  <a:tcPr marL="45720" marR="45720" marT="18288" marB="18288" anchor="ctr">
                    <a:solidFill>
                      <a:srgbClr val="FFF2CC"/>
                    </a:solidFill>
                  </a:tcPr>
                </a:tc>
                <a:tc>
                  <a:txBody>
                    <a:bodyPr wrap="square"/>
                    <a:lstStyle/>
                    <a:p>
                      <a:pPr algn="l"/>
                      <a:r>
                        <a:rPr sz="1200" b="1">
                          <a:solidFill>
                            <a:srgbClr val="000000"/>
                          </a:solidFill>
                          <a:latin typeface="游ゴシック"/>
                          <a:ea typeface="游ゴシック"/>
                        </a:rPr>
                        <a:t>地震予測／停電被害の実績</a:t>
                      </a:r>
                    </a:p>
                  </a:txBody>
                  <a:tcPr marL="45720" marR="45720" marT="18288" marB="18288" anchor="ctr">
                    <a:solidFill>
                      <a:srgbClr val="FFF2CC"/>
                    </a:solidFill>
                  </a:tcPr>
                </a:tc>
                <a:tc>
                  <a:txBody>
                    <a:bodyPr wrap="square"/>
                    <a:lstStyle/>
                    <a:p>
                      <a:pPr algn="l"/>
                      <a:r>
                        <a:rPr sz="1200" b="1">
                          <a:solidFill>
                            <a:srgbClr val="000000"/>
                          </a:solidFill>
                          <a:latin typeface="游ゴシック"/>
                          <a:ea typeface="游ゴシック"/>
                        </a:rPr>
                        <a:t>⑩</a:t>
                      </a:r>
                    </a:p>
                  </a:txBody>
                  <a:tcPr marL="45720" marR="45720" marT="18288" marB="18288" anchor="ctr">
                    <a:solidFill>
                      <a:srgbClr val="FFF2CC"/>
                    </a:solidFill>
                  </a:tcPr>
                </a:tc>
                <a:tc>
                  <a:txBody>
                    <a:bodyPr wrap="square"/>
                    <a:lstStyle/>
                    <a:p>
                      <a:pPr algn="l"/>
                      <a:r>
                        <a:rPr sz="1200" b="1">
                          <a:solidFill>
                            <a:srgbClr val="000000"/>
                          </a:solidFill>
                          <a:latin typeface="游ゴシック"/>
                          <a:ea typeface="游ゴシック"/>
                        </a:rPr>
                        <a:t>いつ災害が起こるか分からない</a:t>
                      </a:r>
                    </a:p>
                  </a:txBody>
                  <a:tcPr marL="45720" marR="45720" marT="18288" marB="18288" anchor="ctr">
                    <a:solidFill>
                      <a:srgbClr val="FFF2CC"/>
                    </a:solidFill>
                  </a:tcPr>
                </a:tc>
              </a:tr>
              <a:tr h="566928">
                <a:tc>
                  <a:txBody>
                    <a:bodyPr wrap="square"/>
                    <a:lstStyle/>
                    <a:p>
                      <a:pPr algn="l"/>
                      <a:r>
                        <a:rPr sz="1200" b="1">
                          <a:solidFill>
                            <a:srgbClr val="000000"/>
                          </a:solidFill>
                          <a:latin typeface="游ゴシック"/>
                          <a:ea typeface="游ゴシック"/>
                        </a:rPr>
                        <a:t>（ページなし）</a:t>
                      </a:r>
                    </a:p>
                  </a:txBody>
                  <a:tcPr marL="45720" marR="45720" marT="18288" marB="18288" anchor="ctr">
                    <a:solidFill>
                      <a:srgbClr val="FFF2CC"/>
                    </a:solidFill>
                  </a:tcPr>
                </a:tc>
                <a:tc>
                  <a:txBody>
                    <a:bodyPr wrap="square"/>
                    <a:lstStyle/>
                    <a:p>
                      <a:pPr algn="l"/>
                      <a:r>
                        <a:rPr sz="1200" b="1">
                          <a:solidFill>
                            <a:srgbClr val="000000"/>
                          </a:solidFill>
                          <a:latin typeface="游ゴシック"/>
                          <a:ea typeface="游ゴシック"/>
                        </a:rPr>
                        <a:t>メーカー事例・自社事例</a:t>
                      </a:r>
                    </a:p>
                  </a:txBody>
                  <a:tcPr marL="45720" marR="45720" marT="18288" marB="18288" anchor="ctr">
                    <a:solidFill>
                      <a:srgbClr val="FFF2CC"/>
                    </a:solidFill>
                  </a:tcPr>
                </a:tc>
                <a:tc>
                  <a:txBody>
                    <a:bodyPr wrap="square"/>
                    <a:lstStyle/>
                    <a:p>
                      <a:pPr algn="l"/>
                      <a:r>
                        <a:rPr sz="1200" b="1">
                          <a:solidFill>
                            <a:srgbClr val="000000"/>
                          </a:solidFill>
                          <a:latin typeface="游ゴシック"/>
                          <a:ea typeface="游ゴシック"/>
                        </a:rPr>
                        <a:t>⑪</a:t>
                      </a:r>
                    </a:p>
                  </a:txBody>
                  <a:tcPr marL="45720" marR="45720" marT="18288" marB="18288" anchor="ctr">
                    <a:solidFill>
                      <a:srgbClr val="FFF2CC"/>
                    </a:solidFill>
                  </a:tcPr>
                </a:tc>
                <a:tc>
                  <a:txBody>
                    <a:bodyPr wrap="square"/>
                    <a:lstStyle/>
                    <a:p>
                      <a:pPr algn="l"/>
                      <a:r>
                        <a:rPr sz="1200" b="1">
                          <a:solidFill>
                            <a:srgbClr val="000000"/>
                          </a:solidFill>
                          <a:latin typeface="游ゴシック"/>
                          <a:ea typeface="游ゴシック"/>
                        </a:rPr>
                        <a:t>停電時も電気が使えた方が安心</a:t>
                      </a:r>
                    </a:p>
                  </a:txBody>
                  <a:tcPr marL="45720" marR="45720" marT="18288" marB="18288" anchor="ctr">
                    <a:solidFill>
                      <a:srgbClr val="FFF2CC"/>
                    </a:solidFill>
                  </a:tcPr>
                </a:tc>
              </a:tr>
              <a:tr h="566928">
                <a:tc>
                  <a:txBody>
                    <a:bodyPr wrap="square"/>
                    <a:lstStyle/>
                    <a:p>
                      <a:pPr algn="l"/>
                      <a:r>
                        <a:rPr sz="1200" b="1">
                          <a:solidFill>
                            <a:srgbClr val="000000"/>
                          </a:solidFill>
                          <a:latin typeface="游ゴシック"/>
                          <a:ea typeface="游ゴシック"/>
                        </a:rPr>
                        <a:t>p.20・21</a:t>
                      </a:r>
                    </a:p>
                  </a:txBody>
                  <a:tcPr marL="45720" marR="45720" marT="18288" marB="18288" anchor="ctr">
                    <a:solidFill>
                      <a:srgbClr val="FFF2CC"/>
                    </a:solidFill>
                  </a:tcPr>
                </a:tc>
                <a:tc>
                  <a:txBody>
                    <a:bodyPr wrap="square"/>
                    <a:lstStyle/>
                    <a:p>
                      <a:pPr algn="l"/>
                      <a:r>
                        <a:rPr sz="1200" b="1">
                          <a:solidFill>
                            <a:srgbClr val="000000"/>
                          </a:solidFill>
                          <a:latin typeface="游ゴシック"/>
                          <a:ea typeface="游ゴシック"/>
                        </a:rPr>
                        <a:t>自給自足へ／太陽光・蓄電池の使い方</a:t>
                      </a:r>
                    </a:p>
                  </a:txBody>
                  <a:tcPr marL="45720" marR="45720" marT="18288" marB="18288" anchor="ctr">
                    <a:solidFill>
                      <a:srgbClr val="FFF2CC"/>
                    </a:solidFill>
                  </a:tcPr>
                </a:tc>
                <a:tc>
                  <a:txBody>
                    <a:bodyPr wrap="square"/>
                    <a:lstStyle/>
                    <a:p>
                      <a:pPr algn="l"/>
                      <a:r>
                        <a:rPr sz="1200" b="1">
                          <a:solidFill>
                            <a:srgbClr val="000000"/>
                          </a:solidFill>
                          <a:latin typeface="游ゴシック"/>
                          <a:ea typeface="游ゴシック"/>
                        </a:rPr>
                        <a:t>⑫</a:t>
                      </a:r>
                    </a:p>
                  </a:txBody>
                  <a:tcPr marL="45720" marR="45720" marT="18288" marB="18288" anchor="ctr">
                    <a:solidFill>
                      <a:srgbClr val="FFF2CC"/>
                    </a:solidFill>
                  </a:tcPr>
                </a:tc>
                <a:tc>
                  <a:txBody>
                    <a:bodyPr wrap="square"/>
                    <a:lstStyle/>
                    <a:p>
                      <a:pPr algn="l"/>
                      <a:r>
                        <a:rPr sz="1200" b="1">
                          <a:solidFill>
                            <a:srgbClr val="000000"/>
                          </a:solidFill>
                          <a:latin typeface="游ゴシック"/>
                          <a:ea typeface="游ゴシック"/>
                        </a:rPr>
                        <a:t>買うより自給自足した方が良い</a:t>
                      </a:r>
                    </a:p>
                  </a:txBody>
                  <a:tcPr marL="45720" marR="45720" marT="18288" marB="18288" anchor="ctr">
                    <a:solidFill>
                      <a:srgbClr val="FFF2CC"/>
                    </a:solidFill>
                  </a:tcPr>
                </a:tc>
              </a:tr>
            </a:tbl>
          </a:graphicData>
        </a:graphic>
      </p:graphicFrame>
      <p:sp>
        <p:nvSpPr>
          <p:cNvPr id="7" name="Rectangle 6"/>
          <p:cNvSpPr/>
          <p:nvPr/>
        </p:nvSpPr>
        <p:spPr>
          <a:xfrm>
            <a:off x="411480" y="5532120"/>
            <a:ext cx="9098280" cy="73152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700" b="1">
                <a:solidFill>
                  <a:srgbClr val="000000"/>
                </a:solidFill>
                <a:latin typeface="HGPｺﾞｼｯｸE"/>
                <a:ea typeface="HGPｺﾞｼｯｸE"/>
              </a:rPr>
              <a:t>黄色が本日追加した3ルール。これでParagraph 02が最後まで通ります</a:t>
            </a:r>
          </a:p>
          <a:p>
            <a:pPr algn="ctr">
              <a:spcAft>
                <a:spcPts val="500"/>
              </a:spcAft>
            </a:pPr>
            <a:r>
              <a:rPr sz="1400" b="0">
                <a:solidFill>
                  <a:srgbClr val="000000"/>
                </a:solidFill>
                <a:latin typeface="HGPｺﾞｼｯｸE"/>
                <a:ea typeface="HGPｺﾞｼｯｸE"/>
              </a:rPr>
              <a:t>次回はParagraph 03（p.23〜26）＝時期訴求・金額訴求です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ロールプレイング①</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23</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1周目：p.18〜p.21だけを通す（7分）</a:t>
            </a:r>
          </a:p>
        </p:txBody>
      </p:sp>
      <p:sp>
        <p:nvSpPr>
          <p:cNvPr id="6" name="Rectangle 5"/>
          <p:cNvSpPr/>
          <p:nvPr/>
        </p:nvSpPr>
        <p:spPr>
          <a:xfrm>
            <a:off x="411480" y="1783080"/>
            <a:ext cx="4526280" cy="214884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やること</a:t>
            </a:r>
          </a:p>
          <a:p>
            <a:pPr algn="l">
              <a:spcAft>
                <a:spcPts val="600"/>
              </a:spcAft>
            </a:pPr>
            <a:r>
              <a:rPr sz="1500" b="0">
                <a:solidFill>
                  <a:srgbClr val="000000"/>
                </a:solidFill>
                <a:latin typeface="HGPｺﾞｼｯｸE"/>
                <a:ea typeface="HGPｺﾞｼｯｸE"/>
              </a:rPr>
              <a:t>① 2人1組（営業／お客様役）</a:t>
            </a:r>
          </a:p>
          <a:p>
            <a:pPr algn="l">
              <a:spcAft>
                <a:spcPts val="600"/>
              </a:spcAft>
            </a:pPr>
            <a:r>
              <a:rPr sz="1500" b="0">
                <a:solidFill>
                  <a:srgbClr val="000000"/>
                </a:solidFill>
                <a:latin typeface="HGPｺﾞｼｯｸE"/>
                <a:ea typeface="HGPｺﾞｼｯｸE"/>
              </a:rPr>
              <a:t>② p.18から始めて、p.21の「シミュレーションを見ていきましょう」で終わる</a:t>
            </a:r>
          </a:p>
          <a:p>
            <a:pPr algn="l">
              <a:spcAft>
                <a:spcPts val="500"/>
              </a:spcAft>
            </a:pPr>
            <a:r>
              <a:rPr sz="1500" b="0">
                <a:solidFill>
                  <a:srgbClr val="000000"/>
                </a:solidFill>
                <a:latin typeface="HGPｺﾞｼｯｸE"/>
                <a:ea typeface="HGPｺﾞｼｯｸE"/>
              </a:rPr>
              <a:t>③ 3分で交代。全員が営業役をやる</a:t>
            </a:r>
          </a:p>
        </p:txBody>
      </p:sp>
      <p:sp>
        <p:nvSpPr>
          <p:cNvPr id="7" name="Rectangle 6"/>
          <p:cNvSpPr/>
          <p:nvPr/>
        </p:nvSpPr>
        <p:spPr>
          <a:xfrm>
            <a:off x="5120640" y="1783080"/>
            <a:ext cx="4526280" cy="214884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この周で見るポイント</a:t>
            </a:r>
          </a:p>
          <a:p>
            <a:pPr algn="l">
              <a:spcAft>
                <a:spcPts val="600"/>
              </a:spcAft>
            </a:pPr>
            <a:r>
              <a:rPr sz="1500" b="1">
                <a:solidFill>
                  <a:srgbClr val="FF0000"/>
                </a:solidFill>
                <a:latin typeface="HGPｺﾞｼｯｸE"/>
                <a:ea typeface="HGPｺﾞｼｯｸE"/>
              </a:rPr>
              <a:t>・災害パートが3分以内に終わったか</a:t>
            </a:r>
          </a:p>
          <a:p>
            <a:pPr algn="l">
              <a:spcAft>
                <a:spcPts val="600"/>
              </a:spcAft>
            </a:pPr>
            <a:r>
              <a:rPr sz="1500" b="0">
                <a:solidFill>
                  <a:srgbClr val="000000"/>
                </a:solidFill>
                <a:latin typeface="HGPｺﾞｼｯｸE"/>
                <a:ea typeface="HGPｺﾞｼｯｸE"/>
              </a:rPr>
              <a:t>・第三者話法だけで語れたか（自分の意見を混ぜていないか）</a:t>
            </a:r>
          </a:p>
          <a:p>
            <a:pPr algn="l">
              <a:spcAft>
                <a:spcPts val="500"/>
              </a:spcAft>
            </a:pPr>
            <a:r>
              <a:rPr sz="1500" b="0">
                <a:solidFill>
                  <a:srgbClr val="000000"/>
                </a:solidFill>
                <a:latin typeface="HGPｺﾞｼｯｸE"/>
                <a:ea typeface="HGPｺﾞｼｯｸE"/>
              </a:rPr>
              <a:t>・p.21の受け渡しの一言まで言い切れたか</a:t>
            </a:r>
          </a:p>
        </p:txBody>
      </p:sp>
      <p:sp>
        <p:nvSpPr>
          <p:cNvPr id="8" name="Rectangle 7"/>
          <p:cNvSpPr/>
          <p:nvPr/>
        </p:nvSpPr>
        <p:spPr>
          <a:xfrm>
            <a:off x="411480" y="4160520"/>
            <a:ext cx="9098280"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お客様役はこの断り文句を必ず1回入れてください</a:t>
            </a:r>
          </a:p>
          <a:p>
            <a:pPr algn="l">
              <a:spcAft>
                <a:spcPts val="600"/>
              </a:spcAft>
            </a:pPr>
            <a:r>
              <a:rPr sz="1700" b="1">
                <a:solidFill>
                  <a:srgbClr val="FF0000"/>
                </a:solidFill>
                <a:latin typeface="HGPｺﾞｼｯｸE"/>
                <a:ea typeface="HGPｺﾞｼｯｸE"/>
              </a:rPr>
              <a:t>「うちの地域、災害なんてここ何十年も起きてないですけどね」</a:t>
            </a:r>
          </a:p>
          <a:p>
            <a:pPr algn="l">
              <a:spcAft>
                <a:spcPts val="500"/>
              </a:spcAft>
            </a:pPr>
            <a:r>
              <a:rPr sz="1500" b="0">
                <a:solidFill>
                  <a:srgbClr val="000000"/>
                </a:solidFill>
                <a:latin typeface="HGPｺﾞｼｯｸE"/>
                <a:ea typeface="HGPｺﾞｼｯｸE"/>
              </a:rPr>
              <a:t>→ 営業役はスライド13の切り返しで対応する</a:t>
            </a:r>
          </a:p>
        </p:txBody>
      </p:sp>
      <p:sp>
        <p:nvSpPr>
          <p:cNvPr id="9" name="Rectangle 8"/>
          <p:cNvSpPr/>
          <p:nvPr/>
        </p:nvSpPr>
        <p:spPr>
          <a:xfrm>
            <a:off x="411480" y="576072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長く話さない。事実 → 事例 → サラッと次へ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ロールプレイング</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24</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顧客設定（第2回と同じ田中様ご夫婦）</a:t>
            </a:r>
          </a:p>
        </p:txBody>
      </p:sp>
      <p:graphicFrame>
        <p:nvGraphicFramePr>
          <p:cNvPr id="6" name="Table 5"/>
          <p:cNvGraphicFramePr>
            <a:graphicFrameLocks noGrp="1"/>
          </p:cNvGraphicFramePr>
          <p:nvPr/>
        </p:nvGraphicFramePr>
        <p:xfrm>
          <a:off x="411480" y="1755648"/>
          <a:ext cx="9098280" cy="3749040"/>
        </p:xfrm>
        <a:graphic>
          <a:graphicData uri="http://schemas.openxmlformats.org/drawingml/2006/table">
            <a:tbl>
              <a:tblPr firstRow="1">
                <a:tableStyleId>{5C22544A-7EE6-4342-B048-85BDC9FD1C3A}</a:tableStyleId>
              </a:tblPr>
              <a:tblGrid>
                <a:gridCol w="1691640"/>
                <a:gridCol w="7406640"/>
              </a:tblGrid>
              <a:tr h="292608">
                <a:tc>
                  <a:txBody>
                    <a:bodyPr wrap="square"/>
                    <a:lstStyle/>
                    <a:p>
                      <a:pPr algn="ctr"/>
                      <a:r>
                        <a:rPr sz="1250" b="1">
                          <a:solidFill>
                            <a:srgbClr val="FFFFFF"/>
                          </a:solidFill>
                          <a:latin typeface="游ゴシック"/>
                          <a:ea typeface="游ゴシック"/>
                        </a:rPr>
                        <a:t>項目</a:t>
                      </a:r>
                    </a:p>
                  </a:txBody>
                  <a:tcPr marL="45720" marR="45720" marT="18288" marB="18288" anchor="ctr">
                    <a:solidFill>
                      <a:srgbClr val="000000"/>
                    </a:solidFill>
                  </a:tcPr>
                </a:tc>
                <a:tc>
                  <a:txBody>
                    <a:bodyPr wrap="square"/>
                    <a:lstStyle/>
                    <a:p>
                      <a:pPr algn="ctr"/>
                      <a:r>
                        <a:rPr sz="1250" b="1">
                          <a:solidFill>
                            <a:srgbClr val="FFFFFF"/>
                          </a:solidFill>
                          <a:latin typeface="游ゴシック"/>
                          <a:ea typeface="游ゴシック"/>
                        </a:rPr>
                        <a:t>設定</a:t>
                      </a:r>
                    </a:p>
                  </a:txBody>
                  <a:tcPr marL="45720" marR="45720" marT="18288" marB="18288" anchor="ctr">
                    <a:solidFill>
                      <a:srgbClr val="000000"/>
                    </a:solidFill>
                  </a:tcPr>
                </a:tc>
              </a:tr>
              <a:tr h="493776">
                <a:tc>
                  <a:txBody>
                    <a:bodyPr wrap="square"/>
                    <a:lstStyle/>
                    <a:p>
                      <a:pPr algn="l"/>
                      <a:r>
                        <a:rPr sz="1250" b="0">
                          <a:solidFill>
                            <a:srgbClr val="000000"/>
                          </a:solidFill>
                          <a:latin typeface="游ゴシック"/>
                          <a:ea typeface="游ゴシック"/>
                        </a:rPr>
                        <a:t>ご家族</a:t>
                      </a:r>
                    </a:p>
                  </a:txBody>
                  <a:tcPr marL="45720" marR="45720" marT="18288" marB="18288" anchor="ctr">
                    <a:noFill/>
                  </a:tcPr>
                </a:tc>
                <a:tc>
                  <a:txBody>
                    <a:bodyPr wrap="square"/>
                    <a:lstStyle/>
                    <a:p>
                      <a:pPr algn="l"/>
                      <a:r>
                        <a:rPr sz="1250" b="0">
                          <a:solidFill>
                            <a:srgbClr val="000000"/>
                          </a:solidFill>
                          <a:latin typeface="游ゴシック"/>
                          <a:ea typeface="游ゴシック"/>
                        </a:rPr>
                        <a:t>田中様ご夫婦（ご主人48歳・会社員／奥様45歳・パート）＋ 高校生・中学生のお子様2人</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お住まい</a:t>
                      </a:r>
                    </a:p>
                  </a:txBody>
                  <a:tcPr marL="45720" marR="45720" marT="18288" marB="18288" anchor="ctr">
                    <a:noFill/>
                  </a:tcPr>
                </a:tc>
                <a:tc>
                  <a:txBody>
                    <a:bodyPr wrap="square"/>
                    <a:lstStyle/>
                    <a:p>
                      <a:pPr algn="l"/>
                      <a:r>
                        <a:rPr sz="1250" b="0">
                          <a:solidFill>
                            <a:srgbClr val="000000"/>
                          </a:solidFill>
                          <a:latin typeface="游ゴシック"/>
                          <a:ea typeface="游ゴシック"/>
                        </a:rPr>
                        <a:t>築14年の戸建て（4LDK）。南向き切妻屋根。オール電化ではない</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導入状況</a:t>
                      </a:r>
                    </a:p>
                  </a:txBody>
                  <a:tcPr marL="45720" marR="45720" marT="18288" marB="18288" anchor="ctr">
                    <a:noFill/>
                  </a:tcPr>
                </a:tc>
                <a:tc>
                  <a:txBody>
                    <a:bodyPr wrap="square"/>
                    <a:lstStyle/>
                    <a:p>
                      <a:pPr algn="l"/>
                      <a:r>
                        <a:rPr sz="1250" b="1">
                          <a:solidFill>
                            <a:srgbClr val="FF0000"/>
                          </a:solidFill>
                          <a:latin typeface="游ゴシック"/>
                          <a:ea typeface="游ゴシック"/>
                        </a:rPr>
                        <a:t>太陽光・蓄電池ともに未導入</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電気代</a:t>
                      </a:r>
                    </a:p>
                  </a:txBody>
                  <a:tcPr marL="45720" marR="45720" marT="18288" marB="18288" anchor="ctr">
                    <a:noFill/>
                  </a:tcPr>
                </a:tc>
                <a:tc>
                  <a:txBody>
                    <a:bodyPr wrap="square"/>
                    <a:lstStyle/>
                    <a:p>
                      <a:pPr algn="l"/>
                      <a:r>
                        <a:rPr sz="1250" b="0">
                          <a:solidFill>
                            <a:srgbClr val="000000"/>
                          </a:solidFill>
                          <a:latin typeface="游ゴシック"/>
                          <a:ea typeface="游ゴシック"/>
                        </a:rPr>
                        <a:t>月平均 18,000円（夏場は24,000円）。検針票はご主人が保管している</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温度感</a:t>
                      </a:r>
                    </a:p>
                  </a:txBody>
                  <a:tcPr marL="45720" marR="45720" marT="18288" marB="18288" anchor="ctr">
                    <a:noFill/>
                  </a:tcPr>
                </a:tc>
                <a:tc>
                  <a:txBody>
                    <a:bodyPr wrap="square"/>
                    <a:lstStyle/>
                    <a:p>
                      <a:pPr algn="l"/>
                      <a:r>
                        <a:rPr sz="1250" b="0">
                          <a:solidFill>
                            <a:srgbClr val="000000"/>
                          </a:solidFill>
                          <a:latin typeface="游ゴシック"/>
                          <a:ea typeface="游ゴシック"/>
                        </a:rPr>
                        <a:t>ご主人＝慎重。「元が取れるのか」が最大の関心。奥様＝前向き。停電と電気代が心配</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本日の追加設定</a:t>
                      </a:r>
                    </a:p>
                  </a:txBody>
                  <a:tcPr marL="45720" marR="45720" marT="18288" marB="18288" anchor="ctr">
                    <a:noFill/>
                  </a:tcPr>
                </a:tc>
                <a:tc>
                  <a:txBody>
                    <a:bodyPr wrap="square"/>
                    <a:lstStyle/>
                    <a:p>
                      <a:pPr algn="l"/>
                      <a:r>
                        <a:rPr sz="1250" b="1">
                          <a:solidFill>
                            <a:srgbClr val="FF0000"/>
                          </a:solidFill>
                          <a:latin typeface="游ゴシック"/>
                          <a:ea typeface="游ゴシック"/>
                        </a:rPr>
                        <a:t>停電の経験は一度もない。防災用品は備蓄しているが、電気の備えは考えたことがない</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断り文句</a:t>
                      </a:r>
                    </a:p>
                  </a:txBody>
                  <a:tcPr marL="45720" marR="45720" marT="18288" marB="18288" anchor="ctr">
                    <a:noFill/>
                  </a:tcPr>
                </a:tc>
                <a:tc>
                  <a:txBody>
                    <a:bodyPr wrap="square"/>
                    <a:lstStyle/>
                    <a:p>
                      <a:pPr algn="l"/>
                      <a:r>
                        <a:rPr sz="1250" b="0">
                          <a:solidFill>
                            <a:srgbClr val="000000"/>
                          </a:solidFill>
                          <a:latin typeface="游ゴシック"/>
                          <a:ea typeface="游ゴシック"/>
                        </a:rPr>
                        <a:t>「うちの地域、災害なんてここ何十年も起きてないですけどね」</a:t>
                      </a:r>
                    </a:p>
                  </a:txBody>
                  <a:tcPr marL="45720" marR="45720" marT="18288" marB="18288" anchor="ctr">
                    <a:noFill/>
                  </a:tcPr>
                </a:tc>
              </a:tr>
            </a:tbl>
          </a:graphicData>
        </a:graphic>
      </p:graphicFrame>
      <p:sp>
        <p:nvSpPr>
          <p:cNvPr id="7" name="Rectangle 6"/>
          <p:cNvSpPr/>
          <p:nvPr/>
        </p:nvSpPr>
        <p:spPr>
          <a:xfrm>
            <a:off x="411480" y="5806440"/>
            <a:ext cx="9098280" cy="512064"/>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700" b="1">
                <a:solidFill>
                  <a:srgbClr val="000000"/>
                </a:solidFill>
                <a:latin typeface="HGPｺﾞｼｯｸE"/>
                <a:ea typeface="HGPｺﾞｼｯｸE"/>
              </a:rPr>
              <a:t>奥様は停電に前向き、ご主人は懐疑的。夫婦の温度差をどう埋めるかも見ています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ロールプレイング②</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25</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2周目：Paragraph 02を通しで（8分）</a:t>
            </a:r>
          </a:p>
        </p:txBody>
      </p:sp>
      <p:sp>
        <p:nvSpPr>
          <p:cNvPr id="6" name="Rectangle 5"/>
          <p:cNvSpPr/>
          <p:nvPr/>
        </p:nvSpPr>
        <p:spPr>
          <a:xfrm>
            <a:off x="411480" y="1783080"/>
            <a:ext cx="4526280" cy="201168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やること</a:t>
            </a:r>
          </a:p>
          <a:p>
            <a:pPr algn="l">
              <a:spcAft>
                <a:spcPts val="600"/>
              </a:spcAft>
            </a:pPr>
            <a:r>
              <a:rPr sz="1500" b="0">
                <a:solidFill>
                  <a:srgbClr val="000000"/>
                </a:solidFill>
                <a:latin typeface="HGPｺﾞｼｯｸE"/>
                <a:ea typeface="HGPｺﾞｼｯｸE"/>
              </a:rPr>
              <a:t>① 3人1組（営業／ご主人役／奥様役）</a:t>
            </a:r>
          </a:p>
          <a:p>
            <a:pPr algn="l">
              <a:spcAft>
                <a:spcPts val="600"/>
              </a:spcAft>
            </a:pPr>
            <a:r>
              <a:rPr sz="1500" b="0">
                <a:solidFill>
                  <a:srgbClr val="000000"/>
                </a:solidFill>
                <a:latin typeface="HGPｺﾞｼｯｸE"/>
                <a:ea typeface="HGPｺﾞｼｯｸE"/>
              </a:rPr>
              <a:t>② p.9から p.21まで、止まらずに通す</a:t>
            </a:r>
          </a:p>
          <a:p>
            <a:pPr algn="l">
              <a:spcAft>
                <a:spcPts val="500"/>
              </a:spcAft>
            </a:pPr>
            <a:r>
              <a:rPr sz="1500" b="0">
                <a:solidFill>
                  <a:srgbClr val="000000"/>
                </a:solidFill>
                <a:latin typeface="HGPｺﾞｼｯｸE"/>
                <a:ea typeface="HGPｺﾞｼｯｸE"/>
              </a:rPr>
              <a:t>③ 4分で交代</a:t>
            </a:r>
          </a:p>
        </p:txBody>
      </p:sp>
      <p:sp>
        <p:nvSpPr>
          <p:cNvPr id="7" name="Rectangle 6"/>
          <p:cNvSpPr/>
          <p:nvPr/>
        </p:nvSpPr>
        <p:spPr>
          <a:xfrm>
            <a:off x="5120640" y="1783080"/>
            <a:ext cx="4526280" cy="201168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700" b="1">
                <a:solidFill>
                  <a:srgbClr val="000000"/>
                </a:solidFill>
                <a:latin typeface="HGPｺﾞｼｯｸE"/>
                <a:ea typeface="HGPｺﾞｼｯｸE"/>
              </a:rPr>
              <a:t>この周で見るポイント</a:t>
            </a:r>
          </a:p>
          <a:p>
            <a:pPr algn="l">
              <a:spcAft>
                <a:spcPts val="600"/>
              </a:spcAft>
            </a:pPr>
            <a:r>
              <a:rPr sz="1500" b="0">
                <a:solidFill>
                  <a:srgbClr val="000000"/>
                </a:solidFill>
                <a:latin typeface="HGPｺﾞｼｯｸE"/>
                <a:ea typeface="HGPｺﾞｼｯｸE"/>
              </a:rPr>
              <a:t>・発言比率は 営業6：お客様4 か</a:t>
            </a:r>
          </a:p>
          <a:p>
            <a:pPr algn="l">
              <a:spcAft>
                <a:spcPts val="600"/>
              </a:spcAft>
            </a:pPr>
            <a:r>
              <a:rPr sz="1500" b="0">
                <a:solidFill>
                  <a:srgbClr val="000000"/>
                </a:solidFill>
                <a:latin typeface="HGPｺﾞｼｯｸE"/>
                <a:ea typeface="HGPｺﾞｼｯｸE"/>
              </a:rPr>
              <a:t>・お客様側の4は、ご主人2：奥様2 か</a:t>
            </a:r>
          </a:p>
          <a:p>
            <a:pPr algn="l">
              <a:spcAft>
                <a:spcPts val="500"/>
              </a:spcAft>
            </a:pPr>
            <a:r>
              <a:rPr sz="1500" b="1">
                <a:solidFill>
                  <a:srgbClr val="FF0000"/>
                </a:solidFill>
                <a:latin typeface="HGPｺﾞｼｯｸE"/>
                <a:ea typeface="HGPｺﾞｼｯｸE"/>
              </a:rPr>
              <a:t>・最後までセット提案を崩していないか</a:t>
            </a:r>
          </a:p>
        </p:txBody>
      </p:sp>
      <p:graphicFrame>
        <p:nvGraphicFramePr>
          <p:cNvPr id="8" name="Table 7"/>
          <p:cNvGraphicFramePr>
            <a:graphicFrameLocks noGrp="1"/>
          </p:cNvGraphicFramePr>
          <p:nvPr/>
        </p:nvGraphicFramePr>
        <p:xfrm>
          <a:off x="411480" y="4023360"/>
          <a:ext cx="9098280" cy="1901952"/>
        </p:xfrm>
        <a:graphic>
          <a:graphicData uri="http://schemas.openxmlformats.org/drawingml/2006/table">
            <a:tbl>
              <a:tblPr firstRow="1">
                <a:tableStyleId>{5C22544A-7EE6-4342-B048-85BDC9FD1C3A}</a:tableStyleId>
              </a:tblPr>
              <a:tblGrid>
                <a:gridCol w="3246120"/>
                <a:gridCol w="2926080"/>
                <a:gridCol w="2926080"/>
              </a:tblGrid>
              <a:tr h="310896">
                <a:tc>
                  <a:txBody>
                    <a:bodyPr wrap="square"/>
                    <a:lstStyle/>
                    <a:p>
                      <a:pPr algn="ctr"/>
                      <a:r>
                        <a:rPr sz="1400" b="1">
                          <a:solidFill>
                            <a:srgbClr val="FFFFFF"/>
                          </a:solidFill>
                          <a:latin typeface="游ゴシック"/>
                          <a:ea typeface="游ゴシック"/>
                        </a:rPr>
                        <a:t>配分</a:t>
                      </a:r>
                    </a:p>
                  </a:txBody>
                  <a:tcPr marL="45720" marR="45720" marT="18288" marB="18288" anchor="ctr">
                    <a:solidFill>
                      <a:srgbClr val="000000"/>
                    </a:solidFill>
                  </a:tcPr>
                </a:tc>
                <a:tc>
                  <a:txBody>
                    <a:bodyPr wrap="square"/>
                    <a:lstStyle/>
                    <a:p>
                      <a:pPr algn="ctr"/>
                      <a:r>
                        <a:rPr sz="1400" b="1">
                          <a:solidFill>
                            <a:srgbClr val="FFFFFF"/>
                          </a:solidFill>
                          <a:latin typeface="游ゴシック"/>
                          <a:ea typeface="游ゴシック"/>
                        </a:rPr>
                        <a:t>ページ</a:t>
                      </a:r>
                    </a:p>
                  </a:txBody>
                  <a:tcPr marL="45720" marR="45720" marT="18288" marB="18288" anchor="ctr">
                    <a:solidFill>
                      <a:srgbClr val="000000"/>
                    </a:solidFill>
                  </a:tcPr>
                </a:tc>
                <a:tc>
                  <a:txBody>
                    <a:bodyPr wrap="square"/>
                    <a:lstStyle/>
                    <a:p>
                      <a:pPr algn="ctr"/>
                      <a:r>
                        <a:rPr sz="1400" b="1">
                          <a:solidFill>
                            <a:srgbClr val="FFFFFF"/>
                          </a:solidFill>
                          <a:latin typeface="游ゴシック"/>
                          <a:ea typeface="游ゴシック"/>
                        </a:rPr>
                        <a:t>時間の目安</a:t>
                      </a:r>
                    </a:p>
                  </a:txBody>
                  <a:tcPr marL="45720" marR="45720" marT="18288" marB="18288" anchor="ctr">
                    <a:solidFill>
                      <a:srgbClr val="000000"/>
                    </a:solidFill>
                  </a:tcPr>
                </a:tc>
              </a:tr>
              <a:tr h="530352">
                <a:tc>
                  <a:txBody>
                    <a:bodyPr wrap="square"/>
                    <a:lstStyle/>
                    <a:p>
                      <a:pPr algn="l"/>
                      <a:r>
                        <a:rPr sz="1400" b="0">
                          <a:solidFill>
                            <a:srgbClr val="000000"/>
                          </a:solidFill>
                          <a:latin typeface="游ゴシック"/>
                          <a:ea typeface="游ゴシック"/>
                        </a:rPr>
                        <a:t>電気代のネガ（⑦⑧⑨）</a:t>
                      </a:r>
                    </a:p>
                  </a:txBody>
                  <a:tcPr marL="45720" marR="45720" marT="18288" marB="18288" anchor="ctr">
                    <a:noFill/>
                  </a:tcPr>
                </a:tc>
                <a:tc>
                  <a:txBody>
                    <a:bodyPr wrap="square"/>
                    <a:lstStyle/>
                    <a:p>
                      <a:pPr algn="l"/>
                      <a:r>
                        <a:rPr sz="1400" b="0">
                          <a:solidFill>
                            <a:srgbClr val="000000"/>
                          </a:solidFill>
                          <a:latin typeface="游ゴシック"/>
                          <a:ea typeface="游ゴシック"/>
                        </a:rPr>
                        <a:t>p.9〜p.17</a:t>
                      </a:r>
                    </a:p>
                  </a:txBody>
                  <a:tcPr marL="45720" marR="45720" marT="18288" marB="18288" anchor="ctr">
                    <a:noFill/>
                  </a:tcPr>
                </a:tc>
                <a:tc>
                  <a:txBody>
                    <a:bodyPr wrap="square"/>
                    <a:lstStyle/>
                    <a:p>
                      <a:pPr algn="l"/>
                      <a:r>
                        <a:rPr sz="1400" b="0">
                          <a:solidFill>
                            <a:srgbClr val="000000"/>
                          </a:solidFill>
                          <a:latin typeface="游ゴシック"/>
                          <a:ea typeface="游ゴシック"/>
                        </a:rPr>
                        <a:t>2分</a:t>
                      </a:r>
                    </a:p>
                  </a:txBody>
                  <a:tcPr marL="45720" marR="45720" marT="18288" marB="18288" anchor="ctr">
                    <a:noFill/>
                  </a:tcPr>
                </a:tc>
              </a:tr>
              <a:tr h="530352">
                <a:tc>
                  <a:txBody>
                    <a:bodyPr wrap="square"/>
                    <a:lstStyle/>
                    <a:p>
                      <a:pPr algn="l"/>
                      <a:r>
                        <a:rPr sz="1400" b="1">
                          <a:solidFill>
                            <a:srgbClr val="FF0000"/>
                          </a:solidFill>
                          <a:latin typeface="游ゴシック"/>
                          <a:ea typeface="游ゴシック"/>
                        </a:rPr>
                        <a:t>災害（⑩⑪）</a:t>
                      </a:r>
                    </a:p>
                  </a:txBody>
                  <a:tcPr marL="45720" marR="45720" marT="18288" marB="18288" anchor="ctr">
                    <a:noFill/>
                  </a:tcPr>
                </a:tc>
                <a:tc>
                  <a:txBody>
                    <a:bodyPr wrap="square"/>
                    <a:lstStyle/>
                    <a:p>
                      <a:pPr algn="l"/>
                      <a:r>
                        <a:rPr sz="1400" b="1">
                          <a:solidFill>
                            <a:srgbClr val="000000"/>
                          </a:solidFill>
                          <a:latin typeface="游ゴシック"/>
                          <a:ea typeface="游ゴシック"/>
                        </a:rPr>
                        <a:t>p.18〜p.19＋事例</a:t>
                      </a:r>
                    </a:p>
                  </a:txBody>
                  <a:tcPr marL="45720" marR="45720" marT="18288" marB="18288" anchor="ctr">
                    <a:noFill/>
                  </a:tcPr>
                </a:tc>
                <a:tc>
                  <a:txBody>
                    <a:bodyPr wrap="square"/>
                    <a:lstStyle/>
                    <a:p>
                      <a:pPr algn="l"/>
                      <a:r>
                        <a:rPr sz="1400" b="1">
                          <a:solidFill>
                            <a:srgbClr val="FF0000"/>
                          </a:solidFill>
                          <a:latin typeface="游ゴシック"/>
                          <a:ea typeface="游ゴシック"/>
                        </a:rPr>
                        <a:t>1分　※ここを伸ばさない</a:t>
                      </a:r>
                    </a:p>
                  </a:txBody>
                  <a:tcPr marL="45720" marR="45720" marT="18288" marB="18288" anchor="ctr">
                    <a:noFill/>
                  </a:tcPr>
                </a:tc>
              </a:tr>
              <a:tr h="530352">
                <a:tc>
                  <a:txBody>
                    <a:bodyPr wrap="square"/>
                    <a:lstStyle/>
                    <a:p>
                      <a:pPr algn="l"/>
                      <a:r>
                        <a:rPr sz="1400" b="0">
                          <a:solidFill>
                            <a:srgbClr val="000000"/>
                          </a:solidFill>
                          <a:latin typeface="游ゴシック"/>
                          <a:ea typeface="游ゴシック"/>
                        </a:rPr>
                        <a:t>使い方（⑫）</a:t>
                      </a:r>
                    </a:p>
                  </a:txBody>
                  <a:tcPr marL="45720" marR="45720" marT="18288" marB="18288" anchor="ctr">
                    <a:noFill/>
                  </a:tcPr>
                </a:tc>
                <a:tc>
                  <a:txBody>
                    <a:bodyPr wrap="square"/>
                    <a:lstStyle/>
                    <a:p>
                      <a:pPr algn="l"/>
                      <a:r>
                        <a:rPr sz="1400" b="0">
                          <a:solidFill>
                            <a:srgbClr val="000000"/>
                          </a:solidFill>
                          <a:latin typeface="游ゴシック"/>
                          <a:ea typeface="游ゴシック"/>
                        </a:rPr>
                        <a:t>p.20〜p.21</a:t>
                      </a:r>
                    </a:p>
                  </a:txBody>
                  <a:tcPr marL="45720" marR="45720" marT="18288" marB="18288" anchor="ctr">
                    <a:noFill/>
                  </a:tcPr>
                </a:tc>
                <a:tc>
                  <a:txBody>
                    <a:bodyPr wrap="square"/>
                    <a:lstStyle/>
                    <a:p>
                      <a:pPr algn="l"/>
                      <a:r>
                        <a:rPr sz="1400" b="0">
                          <a:solidFill>
                            <a:srgbClr val="000000"/>
                          </a:solidFill>
                          <a:latin typeface="游ゴシック"/>
                          <a:ea typeface="游ゴシック"/>
                        </a:rPr>
                        <a:t>1分</a:t>
                      </a:r>
                    </a:p>
                  </a:txBody>
                  <a:tcPr marL="45720" marR="45720" marT="18288" marB="18288" anchor="ctr">
                    <a:noFill/>
                  </a:tcPr>
                </a:tc>
              </a:tr>
            </a:tbl>
          </a:graphicData>
        </a:graphic>
      </p:graphicFrame>
      <p:sp>
        <p:nvSpPr>
          <p:cNvPr id="9" name="Rectangle 8"/>
          <p:cNvSpPr/>
          <p:nvPr/>
        </p:nvSpPr>
        <p:spPr>
          <a:xfrm>
            <a:off x="411480" y="580644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4分のうち、災害に使ってよいのは1分だけ</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チェックシート</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26</a:t>
            </a:r>
          </a:p>
        </p:txBody>
      </p:sp>
      <p:sp>
        <p:nvSpPr>
          <p:cNvPr id="5" name="TextBox 4"/>
          <p:cNvSpPr txBox="1"/>
          <p:nvPr/>
        </p:nvSpPr>
        <p:spPr>
          <a:xfrm>
            <a:off x="411480" y="1261872"/>
            <a:ext cx="9098280" cy="384048"/>
          </a:xfrm>
          <a:prstGeom prst="rect">
            <a:avLst/>
          </a:prstGeom>
          <a:noFill/>
        </p:spPr>
        <p:txBody>
          <a:bodyPr wrap="square" anchor="t" lIns="0" rIns="0" tIns="18288" bIns="18288">
            <a:spAutoFit/>
          </a:bodyPr>
          <a:lstStyle/>
          <a:p>
            <a:pPr algn="l">
              <a:spcAft>
                <a:spcPts val="500"/>
              </a:spcAft>
            </a:pPr>
            <a:r>
              <a:rPr sz="2200" b="1">
                <a:solidFill>
                  <a:srgbClr val="000000"/>
                </a:solidFill>
                <a:latin typeface="HGPｺﾞｼｯｸE"/>
                <a:ea typeface="HGPｺﾞｼｯｸE"/>
              </a:rPr>
              <a:t>ロープレのあと、自分で○△×をつけてください</a:t>
            </a:r>
          </a:p>
        </p:txBody>
      </p:sp>
      <p:graphicFrame>
        <p:nvGraphicFramePr>
          <p:cNvPr id="6" name="Table 5"/>
          <p:cNvGraphicFramePr>
            <a:graphicFrameLocks noGrp="1"/>
          </p:cNvGraphicFramePr>
          <p:nvPr/>
        </p:nvGraphicFramePr>
        <p:xfrm>
          <a:off x="274320" y="1737360"/>
          <a:ext cx="9372600" cy="3803904"/>
        </p:xfrm>
        <a:graphic>
          <a:graphicData uri="http://schemas.openxmlformats.org/drawingml/2006/table">
            <a:tbl>
              <a:tblPr firstRow="1">
                <a:tableStyleId>{5C22544A-7EE6-4342-B048-85BDC9FD1C3A}</a:tableStyleId>
              </a:tblPr>
              <a:tblGrid>
                <a:gridCol w="2240280"/>
                <a:gridCol w="1325880"/>
                <a:gridCol w="3246120"/>
                <a:gridCol w="2560320"/>
              </a:tblGrid>
              <a:tr h="292608">
                <a:tc>
                  <a:txBody>
                    <a:bodyPr wrap="square"/>
                    <a:lstStyle/>
                    <a:p>
                      <a:pPr algn="ctr"/>
                      <a:r>
                        <a:rPr sz="1150" b="1">
                          <a:solidFill>
                            <a:srgbClr val="FFFFFF"/>
                          </a:solidFill>
                          <a:latin typeface="游ゴシック"/>
                          <a:ea typeface="游ゴシック"/>
                        </a:rPr>
                        <a:t>ルール</a:t>
                      </a:r>
                    </a:p>
                  </a:txBody>
                  <a:tcPr marL="45720" marR="45720" marT="18288" marB="18288" anchor="ctr">
                    <a:solidFill>
                      <a:srgbClr val="000000"/>
                    </a:solidFill>
                  </a:tcPr>
                </a:tc>
                <a:tc>
                  <a:txBody>
                    <a:bodyPr wrap="square"/>
                    <a:lstStyle/>
                    <a:p>
                      <a:pPr algn="ctr"/>
                      <a:r>
                        <a:rPr sz="1150" b="1">
                          <a:solidFill>
                            <a:srgbClr val="FFFFFF"/>
                          </a:solidFill>
                          <a:latin typeface="游ゴシック"/>
                          <a:ea typeface="游ゴシック"/>
                        </a:rPr>
                        <a:t>該当ページ</a:t>
                      </a:r>
                    </a:p>
                  </a:txBody>
                  <a:tcPr marL="45720" marR="45720" marT="18288" marB="18288" anchor="ctr">
                    <a:solidFill>
                      <a:srgbClr val="000000"/>
                    </a:solidFill>
                  </a:tcPr>
                </a:tc>
                <a:tc>
                  <a:txBody>
                    <a:bodyPr wrap="square"/>
                    <a:lstStyle/>
                    <a:p>
                      <a:pPr algn="ctr"/>
                      <a:r>
                        <a:rPr sz="1150" b="1">
                          <a:solidFill>
                            <a:srgbClr val="FFFFFF"/>
                          </a:solidFill>
                          <a:latin typeface="游ゴシック"/>
                          <a:ea typeface="游ゴシック"/>
                        </a:rPr>
                        <a:t>狙った台詞を引き出せたか</a:t>
                      </a:r>
                    </a:p>
                  </a:txBody>
                  <a:tcPr marL="45720" marR="45720" marT="18288" marB="18288" anchor="ctr">
                    <a:solidFill>
                      <a:srgbClr val="000000"/>
                    </a:solidFill>
                  </a:tcPr>
                </a:tc>
                <a:tc>
                  <a:txBody>
                    <a:bodyPr wrap="square"/>
                    <a:lstStyle/>
                    <a:p>
                      <a:pPr algn="ctr"/>
                      <a:r>
                        <a:rPr sz="1150" b="1">
                          <a:solidFill>
                            <a:srgbClr val="FFFFFF"/>
                          </a:solidFill>
                          <a:latin typeface="游ゴシック"/>
                          <a:ea typeface="游ゴシック"/>
                        </a:rPr>
                        <a:t>結論を言えたか</a:t>
                      </a:r>
                    </a:p>
                  </a:txBody>
                  <a:tcPr marL="45720" marR="45720" marT="18288" marB="18288" anchor="ctr">
                    <a:solidFill>
                      <a:srgbClr val="000000"/>
                    </a:solidFill>
                  </a:tcPr>
                </a:tc>
              </a:tr>
              <a:tr h="438912">
                <a:tc>
                  <a:txBody>
                    <a:bodyPr wrap="square"/>
                    <a:lstStyle/>
                    <a:p>
                      <a:pPr algn="l"/>
                      <a:r>
                        <a:rPr sz="1150" b="0">
                          <a:solidFill>
                            <a:srgbClr val="000000"/>
                          </a:solidFill>
                          <a:latin typeface="游ゴシック"/>
                          <a:ea typeface="游ゴシック"/>
                        </a:rPr>
                        <a:t>⑩非常時に備える意義</a:t>
                      </a:r>
                    </a:p>
                  </a:txBody>
                  <a:tcPr marL="45720" marR="45720" marT="18288" marB="18288" anchor="ctr">
                    <a:noFill/>
                  </a:tcPr>
                </a:tc>
                <a:tc>
                  <a:txBody>
                    <a:bodyPr wrap="square"/>
                    <a:lstStyle/>
                    <a:p>
                      <a:pPr algn="l"/>
                      <a:r>
                        <a:rPr sz="1150" b="0">
                          <a:solidFill>
                            <a:srgbClr val="000000"/>
                          </a:solidFill>
                          <a:latin typeface="游ゴシック"/>
                          <a:ea typeface="游ゴシック"/>
                        </a:rPr>
                        <a:t>p.18</a:t>
                      </a:r>
                    </a:p>
                  </a:txBody>
                  <a:tcPr marL="45720" marR="45720" marT="18288" marB="18288" anchor="ctr">
                    <a:noFill/>
                  </a:tcPr>
                </a:tc>
                <a:tc>
                  <a:txBody>
                    <a:bodyPr wrap="square"/>
                    <a:lstStyle/>
                    <a:p>
                      <a:pPr algn="l"/>
                      <a:r>
                        <a:rPr sz="1150" b="0">
                          <a:solidFill>
                            <a:srgbClr val="000000"/>
                          </a:solidFill>
                          <a:latin typeface="游ゴシック"/>
                          <a:ea typeface="游ゴシック"/>
                        </a:rPr>
                        <a:t>いつ災害が起こるか分からないですね</a:t>
                      </a:r>
                    </a:p>
                  </a:txBody>
                  <a:tcPr marL="45720" marR="45720" marT="18288" marB="18288" anchor="ctr">
                    <a:noFill/>
                  </a:tcPr>
                </a:tc>
                <a:tc>
                  <a:txBody>
                    <a:bodyPr wrap="square"/>
                    <a:lstStyle/>
                    <a:p>
                      <a:pPr algn="l"/>
                      <a:r>
                        <a:rPr sz="1150" b="0">
                          <a:solidFill>
                            <a:srgbClr val="000000"/>
                          </a:solidFill>
                          <a:latin typeface="游ゴシック"/>
                          <a:ea typeface="游ゴシック"/>
                        </a:rPr>
                        <a:t>専門家ですら予測できない</a:t>
                      </a:r>
                    </a:p>
                  </a:txBody>
                  <a:tcPr marL="45720" marR="45720" marT="18288" marB="18288" anchor="ctr">
                    <a:noFill/>
                  </a:tcPr>
                </a:tc>
              </a:tr>
              <a:tr h="438912">
                <a:tc>
                  <a:txBody>
                    <a:bodyPr wrap="square"/>
                    <a:lstStyle/>
                    <a:p>
                      <a:pPr algn="l"/>
                      <a:r>
                        <a:rPr sz="1150" b="0">
                          <a:solidFill>
                            <a:srgbClr val="000000"/>
                          </a:solidFill>
                          <a:latin typeface="游ゴシック"/>
                          <a:ea typeface="游ゴシック"/>
                        </a:rPr>
                        <a:t/>
                      </a:r>
                    </a:p>
                  </a:txBody>
                  <a:tcPr marL="45720" marR="45720" marT="18288" marB="18288" anchor="ctr">
                    <a:noFill/>
                  </a:tcPr>
                </a:tc>
                <a:tc>
                  <a:txBody>
                    <a:bodyPr wrap="square"/>
                    <a:lstStyle/>
                    <a:p>
                      <a:pPr algn="l"/>
                      <a:r>
                        <a:rPr sz="1150" b="0">
                          <a:solidFill>
                            <a:srgbClr val="000000"/>
                          </a:solidFill>
                          <a:latin typeface="游ゴシック"/>
                          <a:ea typeface="游ゴシック"/>
                        </a:rPr>
                        <a:t>p.19</a:t>
                      </a:r>
                    </a:p>
                  </a:txBody>
                  <a:tcPr marL="45720" marR="45720" marT="18288" marB="18288" anchor="ctr">
                    <a:noFill/>
                  </a:tcPr>
                </a:tc>
                <a:tc>
                  <a:txBody>
                    <a:bodyPr wrap="square"/>
                    <a:lstStyle/>
                    <a:p>
                      <a:pPr algn="l"/>
                      <a:r>
                        <a:rPr sz="1150" b="0">
                          <a:solidFill>
                            <a:srgbClr val="000000"/>
                          </a:solidFill>
                          <a:latin typeface="游ゴシック"/>
                          <a:ea typeface="游ゴシック"/>
                        </a:rPr>
                        <a:t>（規模を実感した反応）</a:t>
                      </a:r>
                    </a:p>
                  </a:txBody>
                  <a:tcPr marL="45720" marR="45720" marT="18288" marB="18288" anchor="ctr">
                    <a:noFill/>
                  </a:tcPr>
                </a:tc>
                <a:tc>
                  <a:txBody>
                    <a:bodyPr wrap="square"/>
                    <a:lstStyle/>
                    <a:p>
                      <a:pPr algn="l"/>
                      <a:r>
                        <a:rPr sz="1150" b="0">
                          <a:solidFill>
                            <a:srgbClr val="000000"/>
                          </a:solidFill>
                          <a:latin typeface="游ゴシック"/>
                          <a:ea typeface="游ゴシック"/>
                        </a:rPr>
                        <a:t>災害大国だからこそ備える必要がある</a:t>
                      </a:r>
                    </a:p>
                  </a:txBody>
                  <a:tcPr marL="45720" marR="45720" marT="18288" marB="18288" anchor="ctr">
                    <a:noFill/>
                  </a:tcPr>
                </a:tc>
              </a:tr>
              <a:tr h="438912">
                <a:tc>
                  <a:txBody>
                    <a:bodyPr wrap="square"/>
                    <a:lstStyle/>
                    <a:p>
                      <a:pPr algn="l"/>
                      <a:r>
                        <a:rPr sz="1150" b="0">
                          <a:solidFill>
                            <a:srgbClr val="000000"/>
                          </a:solidFill>
                          <a:latin typeface="游ゴシック"/>
                          <a:ea typeface="游ゴシック"/>
                        </a:rPr>
                        <a:t>⑪非常時対策の効果</a:t>
                      </a:r>
                    </a:p>
                  </a:txBody>
                  <a:tcPr marL="45720" marR="45720" marT="18288" marB="18288" anchor="ctr">
                    <a:noFill/>
                  </a:tcPr>
                </a:tc>
                <a:tc>
                  <a:txBody>
                    <a:bodyPr wrap="square"/>
                    <a:lstStyle/>
                    <a:p>
                      <a:pPr algn="l"/>
                      <a:r>
                        <a:rPr sz="1150" b="0">
                          <a:solidFill>
                            <a:srgbClr val="000000"/>
                          </a:solidFill>
                          <a:latin typeface="游ゴシック"/>
                          <a:ea typeface="游ゴシック"/>
                        </a:rPr>
                        <a:t>（ページなし）</a:t>
                      </a:r>
                    </a:p>
                  </a:txBody>
                  <a:tcPr marL="45720" marR="45720" marT="18288" marB="18288" anchor="ctr">
                    <a:noFill/>
                  </a:tcPr>
                </a:tc>
                <a:tc>
                  <a:txBody>
                    <a:bodyPr wrap="square"/>
                    <a:lstStyle/>
                    <a:p>
                      <a:pPr algn="l"/>
                      <a:r>
                        <a:rPr sz="1150" b="0">
                          <a:solidFill>
                            <a:srgbClr val="000000"/>
                          </a:solidFill>
                          <a:latin typeface="游ゴシック"/>
                          <a:ea typeface="游ゴシック"/>
                        </a:rPr>
                        <a:t>停電時も電気が使えた方が安心です</a:t>
                      </a:r>
                    </a:p>
                  </a:txBody>
                  <a:tcPr marL="45720" marR="45720" marT="18288" marB="18288" anchor="ctr">
                    <a:noFill/>
                  </a:tcPr>
                </a:tc>
                <a:tc>
                  <a:txBody>
                    <a:bodyPr wrap="square"/>
                    <a:lstStyle/>
                    <a:p>
                      <a:pPr algn="l"/>
                      <a:r>
                        <a:rPr sz="1150" b="0">
                          <a:solidFill>
                            <a:srgbClr val="000000"/>
                          </a:solidFill>
                          <a:latin typeface="游ゴシック"/>
                          <a:ea typeface="游ゴシック"/>
                        </a:rPr>
                        <a:t>「私が」ではなく「実際に」で返せた</a:t>
                      </a:r>
                    </a:p>
                  </a:txBody>
                  <a:tcPr marL="45720" marR="45720" marT="18288" marB="18288" anchor="ctr">
                    <a:noFill/>
                  </a:tcPr>
                </a:tc>
              </a:tr>
              <a:tr h="438912">
                <a:tc>
                  <a:txBody>
                    <a:bodyPr wrap="square"/>
                    <a:lstStyle/>
                    <a:p>
                      <a:pPr algn="l"/>
                      <a:r>
                        <a:rPr sz="1150" b="0">
                          <a:solidFill>
                            <a:srgbClr val="000000"/>
                          </a:solidFill>
                          <a:latin typeface="游ゴシック"/>
                          <a:ea typeface="游ゴシック"/>
                        </a:rPr>
                        <a:t>⑫太陽光・蓄電池の使い方</a:t>
                      </a:r>
                    </a:p>
                  </a:txBody>
                  <a:tcPr marL="45720" marR="45720" marT="18288" marB="18288" anchor="ctr">
                    <a:noFill/>
                  </a:tcPr>
                </a:tc>
                <a:tc>
                  <a:txBody>
                    <a:bodyPr wrap="square"/>
                    <a:lstStyle/>
                    <a:p>
                      <a:pPr algn="l"/>
                      <a:r>
                        <a:rPr sz="1150" b="0">
                          <a:solidFill>
                            <a:srgbClr val="000000"/>
                          </a:solidFill>
                          <a:latin typeface="游ゴシック"/>
                          <a:ea typeface="游ゴシック"/>
                        </a:rPr>
                        <a:t>p.20</a:t>
                      </a:r>
                    </a:p>
                  </a:txBody>
                  <a:tcPr marL="45720" marR="45720" marT="18288" marB="18288" anchor="ctr">
                    <a:noFill/>
                  </a:tcPr>
                </a:tc>
                <a:tc>
                  <a:txBody>
                    <a:bodyPr wrap="square"/>
                    <a:lstStyle/>
                    <a:p>
                      <a:pPr algn="l"/>
                      <a:r>
                        <a:rPr sz="1150" b="0">
                          <a:solidFill>
                            <a:srgbClr val="000000"/>
                          </a:solidFill>
                          <a:latin typeface="游ゴシック"/>
                          <a:ea typeface="游ゴシック"/>
                        </a:rPr>
                        <a:t>買うより自給自足した方が良いですね</a:t>
                      </a:r>
                    </a:p>
                  </a:txBody>
                  <a:tcPr marL="45720" marR="45720" marT="18288" marB="18288" anchor="ctr">
                    <a:noFill/>
                  </a:tcPr>
                </a:tc>
                <a:tc>
                  <a:txBody>
                    <a:bodyPr wrap="square"/>
                    <a:lstStyle/>
                    <a:p>
                      <a:pPr algn="l"/>
                      <a:r>
                        <a:rPr sz="1150" b="0">
                          <a:solidFill>
                            <a:srgbClr val="000000"/>
                          </a:solidFill>
                          <a:latin typeface="游ゴシック"/>
                          <a:ea typeface="游ゴシック"/>
                        </a:rPr>
                        <a:t>自給自足が求められます</a:t>
                      </a:r>
                    </a:p>
                  </a:txBody>
                  <a:tcPr marL="45720" marR="45720" marT="18288" marB="18288" anchor="ctr">
                    <a:noFill/>
                  </a:tcPr>
                </a:tc>
              </a:tr>
              <a:tr h="438912">
                <a:tc>
                  <a:txBody>
                    <a:bodyPr wrap="square"/>
                    <a:lstStyle/>
                    <a:p>
                      <a:pPr algn="l"/>
                      <a:r>
                        <a:rPr sz="1150" b="0">
                          <a:solidFill>
                            <a:srgbClr val="000000"/>
                          </a:solidFill>
                          <a:latin typeface="游ゴシック"/>
                          <a:ea typeface="游ゴシック"/>
                        </a:rPr>
                        <a:t/>
                      </a:r>
                    </a:p>
                  </a:txBody>
                  <a:tcPr marL="45720" marR="45720" marT="18288" marB="18288" anchor="ctr">
                    <a:noFill/>
                  </a:tcPr>
                </a:tc>
                <a:tc>
                  <a:txBody>
                    <a:bodyPr wrap="square"/>
                    <a:lstStyle/>
                    <a:p>
                      <a:pPr algn="l"/>
                      <a:r>
                        <a:rPr sz="1150" b="0">
                          <a:solidFill>
                            <a:srgbClr val="000000"/>
                          </a:solidFill>
                          <a:latin typeface="游ゴシック"/>
                          <a:ea typeface="游ゴシック"/>
                        </a:rPr>
                        <a:t>p.21</a:t>
                      </a:r>
                    </a:p>
                  </a:txBody>
                  <a:tcPr marL="45720" marR="45720" marT="18288" marB="18288" anchor="ctr">
                    <a:noFill/>
                  </a:tcPr>
                </a:tc>
                <a:tc>
                  <a:txBody>
                    <a:bodyPr wrap="square"/>
                    <a:lstStyle/>
                    <a:p>
                      <a:pPr algn="l"/>
                      <a:r>
                        <a:rPr sz="1150" b="0">
                          <a:solidFill>
                            <a:srgbClr val="000000"/>
                          </a:solidFill>
                          <a:latin typeface="游ゴシック"/>
                          <a:ea typeface="游ゴシック"/>
                        </a:rPr>
                        <a:t>活用方法が分かる</a:t>
                      </a:r>
                    </a:p>
                  </a:txBody>
                  <a:tcPr marL="45720" marR="45720" marT="18288" marB="18288" anchor="ctr">
                    <a:noFill/>
                  </a:tcPr>
                </a:tc>
                <a:tc>
                  <a:txBody>
                    <a:bodyPr wrap="square"/>
                    <a:lstStyle/>
                    <a:p>
                      <a:pPr algn="l"/>
                      <a:r>
                        <a:rPr sz="1150" b="0">
                          <a:solidFill>
                            <a:srgbClr val="000000"/>
                          </a:solidFill>
                          <a:latin typeface="游ゴシック"/>
                          <a:ea typeface="游ゴシック"/>
                        </a:rPr>
                        <a:t>シミュレーションを見ていきましょう</a:t>
                      </a:r>
                    </a:p>
                  </a:txBody>
                  <a:tcPr marL="45720" marR="45720" marT="18288" marB="18288" anchor="ctr">
                    <a:noFill/>
                  </a:tcPr>
                </a:tc>
              </a:tr>
              <a:tr h="438912">
                <a:tc>
                  <a:txBody>
                    <a:bodyPr wrap="square"/>
                    <a:lstStyle/>
                    <a:p>
                      <a:pPr algn="l"/>
                      <a:r>
                        <a:rPr sz="1150" b="1">
                          <a:solidFill>
                            <a:srgbClr val="000000"/>
                          </a:solidFill>
                          <a:latin typeface="游ゴシック"/>
                          <a:ea typeface="游ゴシック"/>
                        </a:rPr>
                        <a:t>時間管理</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c>
                  <a:txBody>
                    <a:bodyPr wrap="square"/>
                    <a:lstStyle/>
                    <a:p>
                      <a:pPr algn="l"/>
                      <a:r>
                        <a:rPr sz="1150" b="1">
                          <a:solidFill>
                            <a:srgbClr val="000000"/>
                          </a:solidFill>
                          <a:latin typeface="游ゴシック"/>
                          <a:ea typeface="游ゴシック"/>
                        </a:rPr>
                        <a:t>災害パートが3分以内で終わった</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r>
              <a:tr h="438912">
                <a:tc>
                  <a:txBody>
                    <a:bodyPr wrap="square"/>
                    <a:lstStyle/>
                    <a:p>
                      <a:pPr algn="l"/>
                      <a:r>
                        <a:rPr sz="1150" b="1">
                          <a:solidFill>
                            <a:srgbClr val="000000"/>
                          </a:solidFill>
                          <a:latin typeface="游ゴシック"/>
                          <a:ea typeface="游ゴシック"/>
                        </a:rPr>
                        <a:t>話法</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c>
                  <a:txBody>
                    <a:bodyPr wrap="square"/>
                    <a:lstStyle/>
                    <a:p>
                      <a:pPr algn="l"/>
                      <a:r>
                        <a:rPr sz="1150" b="1">
                          <a:solidFill>
                            <a:srgbClr val="000000"/>
                          </a:solidFill>
                          <a:latin typeface="游ゴシック"/>
                          <a:ea typeface="游ゴシック"/>
                        </a:rPr>
                        <a:t>第三者話法だけで語れた（自分の意見を混ぜない）</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r>
              <a:tr h="438912">
                <a:tc>
                  <a:txBody>
                    <a:bodyPr wrap="square"/>
                    <a:lstStyle/>
                    <a:p>
                      <a:pPr algn="l"/>
                      <a:r>
                        <a:rPr sz="1150" b="1">
                          <a:solidFill>
                            <a:srgbClr val="000000"/>
                          </a:solidFill>
                          <a:latin typeface="游ゴシック"/>
                          <a:ea typeface="游ゴシック"/>
                        </a:rPr>
                        <a:t>商談運営</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c>
                  <a:txBody>
                    <a:bodyPr wrap="square"/>
                    <a:lstStyle/>
                    <a:p>
                      <a:pPr algn="l"/>
                      <a:r>
                        <a:rPr sz="1150" b="0">
                          <a:solidFill>
                            <a:srgbClr val="000000"/>
                          </a:solidFill>
                          <a:latin typeface="游ゴシック"/>
                          <a:ea typeface="游ゴシック"/>
                        </a:rPr>
                        <a:t>発言比率6：4／ご主人2：奥様2</a:t>
                      </a:r>
                    </a:p>
                  </a:txBody>
                  <a:tcPr marL="45720" marR="45720" marT="18288" marB="18288" anchor="ctr">
                    <a:noFill/>
                  </a:tcPr>
                </a:tc>
                <a:tc>
                  <a:txBody>
                    <a:bodyPr wrap="square"/>
                    <a:lstStyle/>
                    <a:p>
                      <a:pPr algn="l"/>
                      <a:r>
                        <a:rPr sz="1150" b="0">
                          <a:solidFill>
                            <a:srgbClr val="000000"/>
                          </a:solidFill>
                          <a:latin typeface="游ゴシック"/>
                          <a:ea typeface="游ゴシック"/>
                        </a:rPr>
                        <a:t>セット提案を崩さなかった</a:t>
                      </a:r>
                    </a:p>
                  </a:txBody>
                  <a:tcPr marL="45720" marR="45720" marT="18288" marB="18288" anchor="ctr">
                    <a:noFill/>
                  </a:tcPr>
                </a:tc>
              </a:tr>
            </a:tbl>
          </a:graphicData>
        </a:graphic>
      </p:graphicFrame>
      <p:sp>
        <p:nvSpPr>
          <p:cNvPr id="7" name="Rectangle 6"/>
          <p:cNvSpPr/>
          <p:nvPr/>
        </p:nvSpPr>
        <p:spPr>
          <a:xfrm>
            <a:off x="274320" y="5669280"/>
            <a:ext cx="9372600" cy="566928"/>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700" b="1">
                <a:solidFill>
                  <a:srgbClr val="000000"/>
                </a:solidFill>
                <a:latin typeface="HGPｺﾞｼｯｸE"/>
                <a:ea typeface="HGPｺﾞｼｯｸE"/>
              </a:rPr>
              <a:t>「結論を言えたか」の欄は、資料を閉じて声に出して確認します（暗唱チェック）</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フィードバックの型</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27</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お互いにフィードバックするときの言い方</a:t>
            </a:r>
          </a:p>
        </p:txBody>
      </p:sp>
      <p:sp>
        <p:nvSpPr>
          <p:cNvPr id="6" name="TextBox 5"/>
          <p:cNvSpPr txBox="1"/>
          <p:nvPr/>
        </p:nvSpPr>
        <p:spPr>
          <a:xfrm>
            <a:off x="411480" y="1719072"/>
            <a:ext cx="9098280" cy="320040"/>
          </a:xfrm>
          <a:prstGeom prst="rect">
            <a:avLst/>
          </a:prstGeom>
          <a:noFill/>
        </p:spPr>
        <p:txBody>
          <a:bodyPr wrap="square" anchor="t" lIns="0" rIns="0" tIns="18288" bIns="18288">
            <a:spAutoFit/>
          </a:bodyPr>
          <a:lstStyle/>
          <a:p>
            <a:pPr algn="l">
              <a:spcAft>
                <a:spcPts val="500"/>
              </a:spcAft>
            </a:pPr>
            <a:r>
              <a:rPr sz="1500" b="0">
                <a:solidFill>
                  <a:srgbClr val="595959"/>
                </a:solidFill>
                <a:latin typeface="HGPｺﾞｼｯｸE"/>
                <a:ea typeface="HGPｺﾞｼｯｸE"/>
              </a:rPr>
              <a:t>褒め方は商談でもそのまま使えます。「質の高い褒め」を「数」多く言うのが基本です</a:t>
            </a:r>
          </a:p>
        </p:txBody>
      </p:sp>
      <p:sp>
        <p:nvSpPr>
          <p:cNvPr id="7" name="Rectangle 6"/>
          <p:cNvSpPr/>
          <p:nvPr/>
        </p:nvSpPr>
        <p:spPr>
          <a:xfrm>
            <a:off x="411480" y="2121408"/>
            <a:ext cx="4526280" cy="178308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800" b="1">
                <a:solidFill>
                  <a:srgbClr val="000000"/>
                </a:solidFill>
                <a:latin typeface="HGPｺﾞｼｯｸE"/>
                <a:ea typeface="HGPｺﾞｼｯｸE"/>
              </a:rPr>
              <a:t>型①　比較して褒める</a:t>
            </a:r>
          </a:p>
          <a:p>
            <a:pPr algn="l">
              <a:spcAft>
                <a:spcPts val="500"/>
              </a:spcAft>
            </a:pPr>
            <a:r>
              <a:rPr sz="1500" b="0">
                <a:solidFill>
                  <a:srgbClr val="000000"/>
                </a:solidFill>
                <a:latin typeface="HGPｺﾞｼｯｸE"/>
                <a:ea typeface="HGPｺﾞｼｯｸE"/>
              </a:rPr>
              <a:t>✕「良かったです」</a:t>
            </a:r>
          </a:p>
          <a:p>
            <a:pPr algn="l">
              <a:spcAft>
                <a:spcPts val="500"/>
              </a:spcAft>
            </a:pPr>
            <a:r>
              <a:rPr sz="1500" b="1">
                <a:solidFill>
                  <a:srgbClr val="000000"/>
                </a:solidFill>
                <a:latin typeface="HGPｺﾞｼｯｸE"/>
                <a:ea typeface="HGPｺﾞｼｯｸE"/>
              </a:rPr>
              <a:t>○「1周目は災害で5分使っていましたが、2周目は2分半に収まっていました」</a:t>
            </a:r>
          </a:p>
        </p:txBody>
      </p:sp>
      <p:sp>
        <p:nvSpPr>
          <p:cNvPr id="8" name="Rectangle 7"/>
          <p:cNvSpPr/>
          <p:nvPr/>
        </p:nvSpPr>
        <p:spPr>
          <a:xfrm>
            <a:off x="5120640" y="2121408"/>
            <a:ext cx="4526280" cy="178308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800" b="1">
                <a:solidFill>
                  <a:srgbClr val="000000"/>
                </a:solidFill>
                <a:latin typeface="HGPｺﾞｼｯｸE"/>
                <a:ea typeface="HGPｺﾞｼｯｸE"/>
              </a:rPr>
              <a:t>型②　人を褒める</a:t>
            </a:r>
          </a:p>
          <a:p>
            <a:pPr algn="l">
              <a:spcAft>
                <a:spcPts val="500"/>
              </a:spcAft>
            </a:pPr>
            <a:r>
              <a:rPr sz="1500" b="0">
                <a:solidFill>
                  <a:srgbClr val="000000"/>
                </a:solidFill>
                <a:latin typeface="HGPｺﾞｼｯｸE"/>
                <a:ea typeface="HGPｺﾞｼｯｸE"/>
              </a:rPr>
              <a:t>✕「事例が良かったです」</a:t>
            </a:r>
          </a:p>
          <a:p>
            <a:pPr algn="l">
              <a:spcAft>
                <a:spcPts val="500"/>
              </a:spcAft>
            </a:pPr>
            <a:r>
              <a:rPr sz="1500" b="1">
                <a:solidFill>
                  <a:srgbClr val="000000"/>
                </a:solidFill>
                <a:latin typeface="HGPｺﾞｼｯｸE"/>
                <a:ea typeface="HGPｺﾞｼｯｸE"/>
              </a:rPr>
              <a:t>○「あの事例を自分で用意してきた○○さんが凄いですね」</a:t>
            </a:r>
          </a:p>
        </p:txBody>
      </p:sp>
      <p:sp>
        <p:nvSpPr>
          <p:cNvPr id="9" name="Rectangle 8"/>
          <p:cNvSpPr/>
          <p:nvPr/>
        </p:nvSpPr>
        <p:spPr>
          <a:xfrm>
            <a:off x="411480" y="4114800"/>
            <a:ext cx="9098280" cy="160020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800"/>
              </a:spcAft>
            </a:pPr>
            <a:r>
              <a:rPr sz="1800" b="1">
                <a:solidFill>
                  <a:srgbClr val="000000"/>
                </a:solidFill>
                <a:latin typeface="HGPｺﾞｼｯｸE"/>
                <a:ea typeface="HGPｺﾞｼｯｸE"/>
              </a:rPr>
              <a:t>直す点は「1人1つだけ」</a:t>
            </a:r>
          </a:p>
          <a:p>
            <a:pPr algn="l">
              <a:spcAft>
                <a:spcPts val="500"/>
              </a:spcAft>
            </a:pPr>
            <a:r>
              <a:rPr sz="1500" b="0">
                <a:solidFill>
                  <a:srgbClr val="000000"/>
                </a:solidFill>
                <a:latin typeface="HGPｺﾞｼｯｸE"/>
                <a:ea typeface="HGPｺﾞｼｯｸE"/>
              </a:rPr>
              <a:t>一度に3つも4つも指摘すると、どれも直りません。</a:t>
            </a:r>
          </a:p>
          <a:p>
            <a:pPr algn="l">
              <a:spcAft>
                <a:spcPts val="500"/>
              </a:spcAft>
            </a:pPr>
            <a:r>
              <a:rPr sz="1500" b="0">
                <a:solidFill>
                  <a:srgbClr val="000000"/>
                </a:solidFill>
                <a:latin typeface="HGPｺﾞｼｯｸE"/>
                <a:ea typeface="HGPｺﾞｼｯｸE"/>
              </a:rPr>
              <a:t>その人が次の商談で一番効く1つに絞って伝えてください。</a:t>
            </a:r>
          </a:p>
          <a:p>
            <a:pPr algn="l">
              <a:spcAft>
                <a:spcPts val="500"/>
              </a:spcAft>
            </a:pPr>
            <a:r>
              <a:rPr sz="1600" b="1">
                <a:solidFill>
                  <a:srgbClr val="FF0000"/>
                </a:solidFill>
                <a:latin typeface="HGPｺﾞｼｯｸE"/>
                <a:ea typeface="HGPｺﾞｼｯｸE"/>
              </a:rPr>
              <a:t>順番は必ず「良い点 → 直す点1つ」。逆にしない。</a:t>
            </a:r>
          </a:p>
        </p:txBody>
      </p:sp>
      <p:sp>
        <p:nvSpPr>
          <p:cNvPr id="10" name="Rectangle 9"/>
          <p:cNvSpPr/>
          <p:nvPr/>
        </p:nvSpPr>
        <p:spPr>
          <a:xfrm>
            <a:off x="411480" y="585216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“質”の高い褒めを“数”多く言うことが重要である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本日のまとめ</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28</a:t>
            </a:r>
          </a:p>
        </p:txBody>
      </p:sp>
      <p:sp>
        <p:nvSpPr>
          <p:cNvPr id="5" name="Rectangle 4"/>
          <p:cNvSpPr/>
          <p:nvPr/>
        </p:nvSpPr>
        <p:spPr>
          <a:xfrm>
            <a:off x="411480" y="1325880"/>
            <a:ext cx="9098280" cy="210312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1000"/>
              </a:spcAft>
            </a:pPr>
            <a:r>
              <a:rPr sz="1800" b="1">
                <a:solidFill>
                  <a:srgbClr val="000000"/>
                </a:solidFill>
                <a:latin typeface="HGPｺﾞｼｯｸE"/>
                <a:ea typeface="HGPｺﾞｼｯｸE"/>
              </a:rPr>
              <a:t>本日持ち帰ること</a:t>
            </a:r>
          </a:p>
          <a:p>
            <a:pPr algn="l">
              <a:spcAft>
                <a:spcPts val="800"/>
              </a:spcAft>
            </a:pPr>
            <a:r>
              <a:rPr sz="1700" b="0">
                <a:solidFill>
                  <a:srgbClr val="000000"/>
                </a:solidFill>
                <a:latin typeface="HGPｺﾞｼｯｸE"/>
                <a:ea typeface="HGPｺﾞｼｯｸE"/>
              </a:rPr>
              <a:t>① 災害は「事実 → 事例 → サラッと次へ」。3分で抜ける</a:t>
            </a:r>
          </a:p>
          <a:p>
            <a:pPr algn="l">
              <a:spcAft>
                <a:spcPts val="800"/>
              </a:spcAft>
            </a:pPr>
            <a:r>
              <a:rPr sz="1700" b="0">
                <a:solidFill>
                  <a:srgbClr val="000000"/>
                </a:solidFill>
                <a:latin typeface="HGPｺﾞｼｯｸE"/>
                <a:ea typeface="HGPｺﾞｼｯｸE"/>
              </a:rPr>
              <a:t>② ⑪にページが無いのは、一般論では意味が無いから。事例は自分で用意する</a:t>
            </a:r>
          </a:p>
          <a:p>
            <a:pPr algn="l">
              <a:spcAft>
                <a:spcPts val="800"/>
              </a:spcAft>
            </a:pPr>
            <a:r>
              <a:rPr sz="1700" b="0">
                <a:solidFill>
                  <a:srgbClr val="000000"/>
                </a:solidFill>
                <a:latin typeface="HGPｺﾞｼｯｸE"/>
                <a:ea typeface="HGPｺﾞｼｯｸE"/>
              </a:rPr>
              <a:t>③ 創る → 貯める → 夜に使う。このサイクルはセットでしか成立しない</a:t>
            </a:r>
          </a:p>
          <a:p>
            <a:pPr algn="l">
              <a:spcAft>
                <a:spcPts val="500"/>
              </a:spcAft>
            </a:pPr>
            <a:r>
              <a:rPr sz="1700" b="1">
                <a:solidFill>
                  <a:srgbClr val="FF0000"/>
                </a:solidFill>
                <a:latin typeface="HGPｺﾞｼｯｸE"/>
                <a:ea typeface="HGPｺﾞｼｯｸE"/>
              </a:rPr>
              <a:t>④ p.21の一言でシミュレーションに受け渡す</a:t>
            </a:r>
          </a:p>
        </p:txBody>
      </p:sp>
      <p:sp>
        <p:nvSpPr>
          <p:cNvPr id="6" name="Rectangle 5"/>
          <p:cNvSpPr/>
          <p:nvPr/>
        </p:nvSpPr>
        <p:spPr>
          <a:xfrm>
            <a:off x="411480" y="3657600"/>
            <a:ext cx="9098280" cy="210312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1000"/>
              </a:spcAft>
            </a:pPr>
            <a:r>
              <a:rPr sz="1800" b="1">
                <a:solidFill>
                  <a:srgbClr val="000000"/>
                </a:solidFill>
                <a:latin typeface="HGPｺﾞｼｯｸE"/>
                <a:ea typeface="HGPｺﾞｼｯｸE"/>
              </a:rPr>
              <a:t>宿題（次回までに）</a:t>
            </a:r>
          </a:p>
          <a:p>
            <a:pPr algn="l">
              <a:spcAft>
                <a:spcPts val="800"/>
              </a:spcAft>
            </a:pPr>
            <a:r>
              <a:rPr sz="1700" b="0">
                <a:solidFill>
                  <a:srgbClr val="000000"/>
                </a:solidFill>
                <a:latin typeface="HGPｺﾞｼｯｸE"/>
                <a:ea typeface="HGPｺﾞｼｯｸE"/>
              </a:rPr>
              <a:t>① 本日つくった災害事例を清書し、90秒で言えるようにしてくること</a:t>
            </a:r>
          </a:p>
          <a:p>
            <a:pPr algn="l">
              <a:spcAft>
                <a:spcPts val="800"/>
              </a:spcAft>
            </a:pPr>
            <a:r>
              <a:rPr sz="1700" b="0">
                <a:solidFill>
                  <a:srgbClr val="000000"/>
                </a:solidFill>
                <a:latin typeface="HGPｺﾞｼｯｸE"/>
                <a:ea typeface="HGPｺﾞｼｯｸE"/>
              </a:rPr>
              <a:t>② アプローチブック p.9〜p.21 の結論の一文を、資料を見ずに通しで言えるようにしてくること</a:t>
            </a:r>
          </a:p>
          <a:p>
            <a:pPr algn="l">
              <a:spcAft>
                <a:spcPts val="500"/>
              </a:spcAft>
            </a:pPr>
            <a:r>
              <a:rPr sz="1700" b="0">
                <a:solidFill>
                  <a:srgbClr val="000000"/>
                </a:solidFill>
                <a:latin typeface="HGPｺﾞｼｯｸE"/>
                <a:ea typeface="HGPｺﾞｼｯｸE"/>
              </a:rPr>
              <a:t>③ 実商談を1件、災害パートに何分使ったか計測してくること</a:t>
            </a:r>
          </a:p>
        </p:txBody>
      </p:sp>
      <p:sp>
        <p:nvSpPr>
          <p:cNvPr id="7" name="Rectangle 6"/>
          <p:cNvSpPr/>
          <p:nvPr/>
        </p:nvSpPr>
        <p:spPr>
          <a:xfrm>
            <a:off x="411480" y="5989320"/>
            <a:ext cx="9098280" cy="38404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600" b="1">
                <a:solidFill>
                  <a:srgbClr val="000000"/>
                </a:solidFill>
                <a:latin typeface="HGPｺﾞｼｯｸE"/>
                <a:ea typeface="HGPｺﾞｼｯｸE"/>
              </a:rPr>
              <a:t>次回・第4回は「時期訴求・料金訴求（ルール⑬〜⑳）」／アプローチブック p.23〜p.26</a:t>
            </a:r>
          </a:p>
        </p:txBody>
      </p:sp>
    </p:spTree>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119793" y="470959"/>
            <a:ext cx="9666414" cy="216982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この度は</a:t>
            </a:r>
            <a:r>
              <a:rPr kumimoji="1"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㈱船井総合研究所　住宅用太陽光・蓄電池の売り方マスター研修</a:t>
            </a:r>
            <a:r>
              <a:rPr kumimoji="1"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にご参加いただき、誠にありがとうございました。</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0" algn="l" defTabSz="914400" rtl="0" eaLnBrk="0" fontAlgn="auto" latinLnBrk="0" hangingPunct="0">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１．講座及びテキストに関するお問い合わせは、下記までお願いいたします。</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0" algn="l" defTabSz="914400" rtl="0" eaLnBrk="0" fontAlgn="auto" latinLnBrk="0" hangingPunct="0">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２．本テキストの著作権は、引用部分を除き、全て</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株</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船井総合研究所に帰属しています。</a:t>
            </a:r>
          </a:p>
          <a:p>
            <a:pPr marL="0" marR="0" lvl="0" indent="0" algn="l" defTabSz="914400" rtl="0" eaLnBrk="1" fontAlgn="auto" latinLnBrk="0" hangingPunct="1">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３．本セミナーで入手したテキスト、</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DVD</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、その他の文書等は許可なく複製を作成すること、また二次利用することを禁止します。</a:t>
            </a:r>
            <a:b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b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４．本セミナーの内容と同じ、または類似した研修の開催や、第三者に行わせることを禁じます。</a:t>
            </a:r>
            <a:b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b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５．録音、録画、撮影などの行為はお断りします。</a:t>
            </a:r>
            <a:b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b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６．本セミナーで入手したテキストおよび資料等をＳＮＳ等を通じて第三者に開示することを禁じます。</a:t>
            </a:r>
          </a:p>
          <a:p>
            <a:pPr marL="0" marR="0" lvl="0" indent="0" algn="l" defTabSz="914400" rtl="0" eaLnBrk="1" fontAlgn="auto" latinLnBrk="0" hangingPunct="1">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７．なお、上記３～６の事項が発覚した場合、本人または法人に対して損害賠償を行う場合があります。</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0" algn="l" defTabSz="914400" rtl="0" eaLnBrk="1" fontAlgn="auto" latinLnBrk="0" hangingPunct="1">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８．当社ではセミナー中の様子を撮影し、当社の宣伝に使用することがあります。あらかじめご了承ください。　　　　 　   　　　　　　　　　</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p:txBody>
      </p:sp>
      <p:sp>
        <p:nvSpPr>
          <p:cNvPr id="3" name="Rectangle 10"/>
          <p:cNvSpPr>
            <a:spLocks noChangeArrowheads="1"/>
          </p:cNvSpPr>
          <p:nvPr/>
        </p:nvSpPr>
        <p:spPr bwMode="auto">
          <a:xfrm>
            <a:off x="92512" y="2926534"/>
            <a:ext cx="9702351" cy="1143000"/>
          </a:xfrm>
          <a:prstGeom prst="rect">
            <a:avLst/>
          </a:prstGeom>
          <a:solidFill>
            <a:srgbClr val="FFFFFF"/>
          </a:solidFill>
          <a:ln w="19050">
            <a:solidFill>
              <a:srgbClr val="000066"/>
            </a:solidFill>
            <a:miter lim="800000"/>
            <a:headEnd/>
            <a:tailEnd/>
          </a:ln>
        </p:spPr>
        <p:txBody>
          <a:bodyPr anchor="ctr"/>
          <a:lstStyle/>
          <a:p>
            <a:pPr marL="0" marR="0" lvl="0" indent="0" algn="ctr" defTabSz="914400" rtl="0" eaLnBrk="0" fontAlgn="auto" latinLnBrk="0" hangingPunct="0">
              <a:lnSpc>
                <a:spcPct val="150000"/>
              </a:lnSpc>
              <a:spcBef>
                <a:spcPts val="0"/>
              </a:spcBef>
              <a:spcAft>
                <a:spcPts val="0"/>
              </a:spcAft>
              <a:buClrTx/>
              <a:buSzTx/>
              <a:buFontTx/>
              <a:buNone/>
              <a:tabLst/>
              <a:defRPr/>
            </a:pPr>
            <a:r>
              <a:rPr kumimoji="1" lang="ja-JP" altLang="en-US" sz="22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rPr>
              <a:t>株式会社船井総合研究所</a:t>
            </a:r>
            <a:endParaRPr kumimoji="1" lang="en-US" altLang="ja-JP" sz="22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endParaRPr>
          </a:p>
          <a:p>
            <a:pPr marL="0" marR="0" lvl="0" indent="0" algn="ctr" defTabSz="914400" rtl="0" eaLnBrk="0" fontAlgn="auto" latinLnBrk="0" hangingPunct="0">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rPr>
              <a:t>『</a:t>
            </a:r>
            <a:r>
              <a:rPr kumimoji="1" lang="ja-JP" altLang="en-US" sz="24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rPr>
              <a:t>住宅用太陽光・蓄電池の売り方マスター研修</a:t>
            </a:r>
            <a:r>
              <a:rPr kumimoji="1" lang="en-US" altLang="ja-JP" sz="24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rPr>
              <a:t>』</a:t>
            </a:r>
          </a:p>
        </p:txBody>
      </p:sp>
      <p:sp>
        <p:nvSpPr>
          <p:cNvPr id="4" name="Rectangle 11"/>
          <p:cNvSpPr>
            <a:spLocks noChangeArrowheads="1"/>
          </p:cNvSpPr>
          <p:nvPr/>
        </p:nvSpPr>
        <p:spPr bwMode="auto">
          <a:xfrm>
            <a:off x="92512" y="4641034"/>
            <a:ext cx="9702351" cy="1956318"/>
          </a:xfrm>
          <a:prstGeom prst="rect">
            <a:avLst/>
          </a:prstGeom>
          <a:solidFill>
            <a:srgbClr val="FFFFFF"/>
          </a:solidFill>
          <a:ln w="19050">
            <a:solidFill>
              <a:srgbClr val="000066"/>
            </a:solidFill>
            <a:miter lim="800000"/>
            <a:headEnd/>
            <a:tailEnd/>
          </a:ln>
        </p:spPr>
        <p:txBody>
          <a:bodyPr anchor="ctr"/>
          <a:lstStyle/>
          <a:p>
            <a:pPr marL="0" marR="0" lvl="0" indent="139700" algn="just"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prstClr val="black"/>
                </a:solidFill>
                <a:effectLst/>
                <a:uLnTx/>
                <a:uFillTx/>
                <a:latin typeface="HGP明朝E" pitchFamily="18" charset="-128"/>
                <a:ea typeface="HGP明朝E" pitchFamily="18" charset="-128"/>
                <a:cs typeface="+mn-cs"/>
              </a:rPr>
              <a:t>2026</a:t>
            </a:r>
            <a:r>
              <a:rPr kumimoji="1" lang="ja-JP" altLang="en-US" sz="1400" b="0" i="0" u="none" strike="noStrike" kern="1200" cap="none" spc="0" normalizeH="0" baseline="0" noProof="0">
                <a:ln>
                  <a:noFill/>
                </a:ln>
                <a:solidFill>
                  <a:prstClr val="black"/>
                </a:solidFill>
                <a:effectLst/>
                <a:uLnTx/>
                <a:uFillTx/>
                <a:latin typeface="HGP明朝E" pitchFamily="18" charset="-128"/>
                <a:ea typeface="HGP明朝E" pitchFamily="18" charset="-128"/>
                <a:cs typeface="+mn-cs"/>
              </a:rPr>
              <a:t>年</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１</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1</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月発行</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著　者　 ：　株式会社船井総合研究所　　専門工事支援部 北 隆人</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発行所　：　株式会社船井総合研究所</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大阪本社</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　　　　　　　　　　　　　　　　　　　　　　　　　　　</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東京本社（サステナグローススクエア</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TOKYO</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〒５４１－００４１　大阪市中央区北浜４－４－１０　　　　　　　〒１０４－００２８　東京都中央区八重洲二丁目</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2</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番</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1</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号</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　　　　　　　　　　　　　　　　　　　　　　　　　　　　　　　　　　　　　　　　　　　　　　東京ミッドタウン八重洲 八重洲セントラルタワー </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35</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階</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ＴＥＬ　０６－６２３２－０２７１（代表）　　　　　　　　　　　　　　　　　ＴＥＬ：０３－４３５６－０２７１（通）</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E</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Mail</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　 </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takato-kita@funaisoken.co.jp</a:t>
            </a:r>
            <a:endPar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p:txBody>
      </p:sp>
      <p:sp>
        <p:nvSpPr>
          <p:cNvPr id="5" name="Rectangle 12"/>
          <p:cNvSpPr>
            <a:spLocks noChangeArrowheads="1"/>
          </p:cNvSpPr>
          <p:nvPr/>
        </p:nvSpPr>
        <p:spPr bwMode="auto">
          <a:xfrm>
            <a:off x="92512" y="4069534"/>
            <a:ext cx="9702351" cy="571500"/>
          </a:xfrm>
          <a:prstGeom prst="rect">
            <a:avLst/>
          </a:prstGeom>
          <a:solidFill>
            <a:srgbClr val="7030A0"/>
          </a:solidFill>
          <a:ln w="19050">
            <a:solidFill>
              <a:srgbClr val="000066"/>
            </a:solidFill>
            <a:miter lim="800000"/>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200" b="0" i="0" u="none" strike="noStrike" kern="1200" cap="none" spc="0" normalizeH="0" baseline="0" noProof="0" dirty="0">
                <a:ln>
                  <a:noFill/>
                </a:ln>
                <a:solidFill>
                  <a:prstClr val="white"/>
                </a:solidFill>
                <a:effectLst/>
                <a:uLnTx/>
                <a:uFillTx/>
                <a:latin typeface="HGP明朝E" pitchFamily="18" charset="-128"/>
                <a:ea typeface="HGP明朝E" pitchFamily="18" charset="-128"/>
                <a:cs typeface="+mn-cs"/>
              </a:rPr>
              <a:t>機密情報／無断転用禁止　</a:t>
            </a:r>
            <a:endParaRPr kumimoji="1" lang="ja-JP" altLang="en-US" sz="2400" b="0" i="0" u="none" strike="noStrike" kern="1200" cap="none" spc="0" normalizeH="0" baseline="0" noProof="0" dirty="0">
              <a:ln>
                <a:noFill/>
              </a:ln>
              <a:solidFill>
                <a:prstClr val="white"/>
              </a:solidFill>
              <a:effectLst/>
              <a:uLnTx/>
              <a:uFillTx/>
              <a:latin typeface="HGP明朝E" pitchFamily="18" charset="-128"/>
              <a:ea typeface="HGP明朝E" pitchFamily="18" charset="-128"/>
              <a:cs typeface="+mn-cs"/>
            </a:endParaRPr>
          </a:p>
        </p:txBody>
      </p:sp>
    </p:spTree>
    <p:extLst>
      <p:ext uri="{BB962C8B-B14F-4D97-AF65-F5344CB8AC3E}">
        <p14:creationId xmlns:p14="http://schemas.microsoft.com/office/powerpoint/2010/main" val="104647417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お気に入り">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お気に入り">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ソーラープロジェクト大社様】2024年11月度お打ち合わせ資料 .pptx" id="{F2A59035-B9C3-4A75-B90B-5E71CD3F6C43}" vid="{552278E5-979D-4048-BBE5-2AFDF89082E8}"/>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25900</TotalTime>
  <Words>6897</Words>
  <Application>Microsoft Office PowerPoint</Application>
  <PresentationFormat>A4 210 x 297 mm</PresentationFormat>
  <Paragraphs>716</Paragraphs>
  <Slides>71</Slides>
  <Notes>32</Notes>
  <HiddenSlides>0</HiddenSlides>
  <MMClips>0</MMClips>
  <ScaleCrop>false</ScaleCrop>
  <HeadingPairs>
    <vt:vector size="6" baseType="variant">
      <vt:variant>
        <vt:lpstr>使用されているフォント</vt:lpstr>
      </vt:variant>
      <vt:variant>
        <vt:i4>15</vt:i4>
      </vt:variant>
      <vt:variant>
        <vt:lpstr>テーマ</vt:lpstr>
      </vt:variant>
      <vt:variant>
        <vt:i4>2</vt:i4>
      </vt:variant>
      <vt:variant>
        <vt:lpstr>スライド タイトル</vt:lpstr>
      </vt:variant>
      <vt:variant>
        <vt:i4>71</vt:i4>
      </vt:variant>
    </vt:vector>
  </HeadingPairs>
  <TitlesOfParts>
    <vt:vector size="88" baseType="lpstr">
      <vt:lpstr>BIZ UDPゴシック</vt:lpstr>
      <vt:lpstr>Google Sans Text</vt:lpstr>
      <vt:lpstr>HGPｺﾞｼｯｸE</vt:lpstr>
      <vt:lpstr>HGP創英角ｺﾞｼｯｸUB</vt:lpstr>
      <vt:lpstr>HGP明朝E</vt:lpstr>
      <vt:lpstr>HGSｺﾞｼｯｸM</vt:lpstr>
      <vt:lpstr>Meiryo UI</vt:lpstr>
      <vt:lpstr>メイリオ</vt:lpstr>
      <vt:lpstr>游ゴシック</vt:lpstr>
      <vt:lpstr>游ゴシック体</vt:lpstr>
      <vt:lpstr>Arial</vt:lpstr>
      <vt:lpstr>Calibri</vt:lpstr>
      <vt:lpstr>Lucida Calligraphy</vt:lpstr>
      <vt:lpstr>Monotype Corsiva</vt:lpstr>
      <vt:lpstr>Wingdings</vt:lpstr>
      <vt:lpstr>Office テーマ</vt:lpstr>
      <vt:lpstr>1_Office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船井総合研究所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F2038</dc:creator>
  <cp:lastModifiedBy>Ryusho Sameshima</cp:lastModifiedBy>
  <cp:revision>713</cp:revision>
  <cp:lastPrinted>2025-11-06T11:25:07Z</cp:lastPrinted>
  <dcterms:created xsi:type="dcterms:W3CDTF">2017-03-26T07:08:56Z</dcterms:created>
  <dcterms:modified xsi:type="dcterms:W3CDTF">2026-05-20T08:32:28Z</dcterms:modified>
</cp:coreProperties>
</file>