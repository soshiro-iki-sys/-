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202" r:id="rId34"/>
    <p:sldId id="1203" r:id="rId35"/>
    <p:sldId id="1204" r:id="rId36"/>
    <p:sldId id="1205" r:id="rId37"/>
    <p:sldId id="1206" r:id="rId38"/>
    <p:sldId id="1207" r:id="rId39"/>
    <p:sldId id="1208" r:id="rId40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・災害は「短く終える技術」、FABと経済メリットは「難しいから時間をかける」と最初に説明する</a:t>
            </a:r>
          </a:p>
          <a:p>
            <a:r>
              <a:t>・金額（見積り）は第4回。今日は出さない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・講師はまず「やりすぎ例」を実演して見せる。受講者に違和感を体験させてから正解を示す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・Bは想像で作らない。ルール③で聞いた「導入しなかった理由」「今の困りごと」から作る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・その日のうちに復習すると定着する（翌日には50％忘れる）ことを添える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2026</a:t>
            </a:r>
            <a:r>
              <a:rPr kumimoji="1" lang="ja-JP" altLang="en-US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年度　</a:t>
            </a:r>
            <a:r>
              <a:rPr kumimoji="1" lang="ja-JP" altLang="en-US" sz="1200" b="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F7964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BIZ UDPゴシック"/>
                <a:ea typeface="BIZ UDPゴシック"/>
              </a:rPr>
              <a:t>2026年度　営業研修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BIZ UDPゴシック"/>
                <a:ea typeface="BIZ UDPゴシック"/>
              </a:rPr>
              <a:t>第3回　必要性訴求②</a:t>
            </a:r>
          </a:p>
          <a:p>
            <a:pPr algn="l"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  <a:latin typeface="BIZ UDPゴシック"/>
                <a:ea typeface="BIZ UDPゴシック"/>
              </a:rPr>
              <a:t>災害対策・商品説明・経済メリット</a:t>
            </a:r>
          </a:p>
          <a:p>
            <a:pPr algn="l"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2026年8月下旬　＠船井総研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5256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お客様に合わせて商品を説明し、経済メリットを納得させる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9098280" cy="27889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研修が終わったときの「できる状態」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災害の話を第三者話法だけで、3分以内に終えられる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FABの3要素を使い分け、お客様ごとの「B（利益）」を言える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シミュレーションを2通りの伝え方で説明できる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金額を出さずに、経済メリットだけで納得をつくれる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66360"/>
            <a:ext cx="9098280" cy="7772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本日の比重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災害対策15分　／　商品説明43分　／　経済メリット30分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536192"/>
          <a:ext cx="9098280" cy="3547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/>
                <a:gridCol w="393192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内容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扱うもの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0:00-0:12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前回の振り返り／契約とは／3つの切り口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第2回：ルール①〜⑨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0:12-0:27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 災害対策　ルール⑩⑪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p.18〜p.19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0:27-0:37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休憩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0:37-1:20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商品説明＝FAB式営業　ルール⑫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FAB／アプローチブック p.20・p.21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1:20-1:50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③ 経済メリットの伝え方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シミュレーションの2つの見せ方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1:50-2:00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ロープレ／チェック／まとめ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94960"/>
            <a:ext cx="9098280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後半2つ（FAB・経済メリット）が本日の主役です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この2つは「知っている」だけでは使えません。今日は手を動かす時間を長く取ります。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前回の振り返り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第2回「聞く姿勢づくり＆必要性訴求①」で押さえたこと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4434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聴く姿勢作り（①〜⑥）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・失注理由は「商談設定」か「商談内容」しかない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・先に聞くから、自分の話を聞いてもらえる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・包み込みの法則で「先生－生徒」の関係をつくる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・太陽光と蓄電池は切り離さず、常にセットで話す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828800"/>
            <a:ext cx="4434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必要性訴求①（⑦〜⑨）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・電気代は2011年以降45％、約5.5万円上昇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・再エネ賦課金は13年で18倍（4.18円/kWh）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・30年で432万円〜700万円以上を支払う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・基本設計は「下げてから上げる」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206240"/>
            <a:ext cx="9098280" cy="1600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宿題の確認（5分）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① 自社ストーリー5段構成を、20秒で言ってみてください（2名指名）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② アプローチブック p.9・p.14・p.17 の結論の一文を、資料を見ずに言えますか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実商談のチェックシートで、○が付かなかったルールはどれでしたか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契約とは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契約は「取る」ものではありません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10512"/>
            <a:ext cx="9098280" cy="100584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契約とは</a:t>
            </a:r>
          </a:p>
          <a:p>
            <a:pPr algn="ctr">
              <a:spcAft>
                <a:spcPts val="500"/>
              </a:spcAft>
            </a:pPr>
            <a:r>
              <a:rPr sz="2200" b="1">
                <a:solidFill>
                  <a:srgbClr val="FF0000"/>
                </a:solidFill>
                <a:latin typeface="HGPｺﾞｼｯｸE"/>
                <a:ea typeface="HGPｺﾞｼｯｸE"/>
              </a:rPr>
              <a:t>契約を阻害する要因（ネック）が、すべて解消された状態のこと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6080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押しの強さで獲得するのではなく、お客様が抱える不安や疑問を取り除くことが契約に繋がります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55264"/>
          <a:ext cx="9098280" cy="2578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1600200"/>
                <a:gridCol w="70408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7つの阻害要因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解消の仕方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会社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会社紹介をしっかり行い、信用を築く。来店商談も有効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自己紹介をしっかり行い、信用を築く。ビジネスマナーの徹底も重要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プラン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要望をしっかり聴き、優先順位に基づいて複数のプランを作成・提案する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④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予算と上限額を確認し、逸脱しないプランを提案する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キーマン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キーマンだけでなく、可能であれば家族全員に商談に参加してもらう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今後のスケジュールをお客様とともに確認・設定し、購買意欲を高める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⑦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競合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スピード営業で参入障壁を高めると同時にアポを取り続け、競合を待つ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907024"/>
            <a:ext cx="9098280" cy="41148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本日つぶすのは③プランと④金額。FAB＝プランのネック、経済メリット＝金額のネックです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必要性訴求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必要性を訴求する3つの切り口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566928" cy="12070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810512"/>
            <a:ext cx="6537960" cy="12070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電気代が高騰している ⇒ 払わなくていい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プロスペクト理論（損失回避）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人は、利益よりも損失の方が大きく感じられる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例：5%off! ＜ 消費税5%増税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130552"/>
            <a:ext cx="1737360" cy="5669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第2回で実施済み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182112"/>
            <a:ext cx="566928" cy="120700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182112"/>
            <a:ext cx="6537960" cy="120700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災害対策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災害時も安心。ただし長く話すほど失敗する。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主な災害時の停電発生件数と日数を「事実」で見せる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502152"/>
            <a:ext cx="1737360" cy="566928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本日・前半15分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53712"/>
            <a:ext cx="566928" cy="120700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553712"/>
            <a:ext cx="6537960" cy="120700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一番重要な要素ではあるが、メリットがあまり出ないお宅にも訴求するためには、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経済メリット訴求のみでは安定感がなくなってしまう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873752"/>
            <a:ext cx="1737360" cy="566928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本日・後半30分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943600"/>
            <a:ext cx="9098280" cy="4572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②③に加えて、本日は「商品説明（FAB式営業）」を挟みます。ここが一番難しいパートです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3つのパートを、この順番でつなぎます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2880360" cy="3246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PART 1</a:t>
            </a:r>
          </a:p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② 災害対策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15分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ルール：ルール⑩⑪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資料：p.18・p.19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・「もしも」の不安をつくる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・長く話さない。3分で抜ける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828800"/>
            <a:ext cx="2880360" cy="32461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PART 2</a:t>
            </a:r>
          </a:p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商品説明（FAB）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43分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ルール：ルール⑫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資料：p.20・p.21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・お客様ごとの「B」を言う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・手を動かす時間を長く取る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828800"/>
            <a:ext cx="2880360" cy="3246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PART 3</a:t>
            </a:r>
          </a:p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30分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ルール：シミュレーション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資料：（資料の外）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・2通りの伝え方を使い分ける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・金額（見積り）はまだ出さない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46120" y="3246120"/>
            <a:ext cx="219456" cy="292608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6355080" y="3246120"/>
            <a:ext cx="219456" cy="292608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5303520"/>
            <a:ext cx="9098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なぜこの順番か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不安（PART1）→ 解決策の中身（PART2）→ それがいくら得か（PART3）。中身を説明する前に「お得です」と言っても、何がお得なのか伝わりません。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ルール⑩：非常時に備える意義の理解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「いつ身の回りで起きてもおかしくない」に腹落ちさせる</a:t>
            </a:r>
          </a:p>
        </p:txBody>
      </p:sp>
      <p:pic>
        <p:nvPicPr>
          <p:cNvPr id="7" name="Picture 6" descr="ab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p.18　予測が困難な地震情報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「いつ災害が起こるか分からないですね」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地震リスクが最低とされた札幌で、大規模停電が起きた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地震調査委員会が2018年6月に発表した「今後30年以内に震度6弱以上」の確率で札幌が最下位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その3か月後に北海道胆振東部地震が発生。気象庁も「確度の高い地震の予測は難しい」と明言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「うちの地域は地震来ないから」を潰すためのページ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専門家ですら、いつ「もしものこと」が起きるのか分からない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ルール⑩：3段構成で逃げ道を無くす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「実は、日本で最も権威のある『地震調査委員会』という機関が、定期的に地震のデータを出しているんです」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36992" y="1755648"/>
            <a:ext cx="1572768" cy="62179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①権威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487168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「そのデータの2018年6月版では、札幌市の地震発生確率が全国で最も低かったんですね」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487168"/>
            <a:ext cx="1572768" cy="62179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②事実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18687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「ところが、その3か月後に胆振東部地震が起きてしまいました。気象庁も『確度の高い地震の予測は難しい』と明言しています」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3218687"/>
            <a:ext cx="1572768" cy="62179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③事実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950207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「どこでどのくらい大きな地震が来るかなんて、分からないですよね？」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36992" y="3950207"/>
            <a:ext cx="1572768" cy="62179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HGPｺﾞｼｯｸE"/>
                <a:ea typeface="HGPｺﾞｼｯｸE"/>
              </a:rPr>
              <a:t>着地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4754880"/>
          <a:ext cx="9098280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37560"/>
                <a:gridCol w="576072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よくあるネガ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切り返し方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この地域では災害なんて起きていない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そうですよね。実は札幌の方も同じことを（→p.18へ）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備蓄はしてあるから大丈夫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食料は備えられますが、電気だけは備蓄できないんですよね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停電なんてすぐ復旧するでしょう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胆振東部地震では、復旧まで2週間かかった地域もありました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11480" y="617220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否定せず、事実と事例で包み込む。議論にしない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ルール⑩：停電被害の実績で「規模」を見せる</a:t>
            </a:r>
          </a:p>
        </p:txBody>
      </p:sp>
      <p:pic>
        <p:nvPicPr>
          <p:cNvPr id="6" name="Picture 5" descr="ab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4632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p.19　自然災害と停電被害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783080"/>
          <a:ext cx="4617720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960120"/>
                <a:gridCol w="13258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災害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停電戸数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備考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2016年4月　熊本地震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約50万戸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2018年9月　台風21号（関東）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2018年9月　台風24号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約180万戸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2018年9月　北海道胆振東部地震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約300万戸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日本初のブラックアウト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2019年9月　台風15号（関東）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93万戸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5日連続で停電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今後10年以内　南海トラフ地震？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892040" y="4846320"/>
            <a:ext cx="4617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胆振東部地震は平成最大規模。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復旧まで2週間かかった地域もありました。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災害大国だからこそ、もしもの時には備える必要があるのです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ルール⑪：非常時対策の効果の確認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災害トークは「第三者話法」でしか伝えない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286000"/>
            <a:ext cx="4526280" cy="1874519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このルールに対応するページは</a:t>
            </a:r>
          </a:p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アプローチブックにありません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「事例」でないと意味が無いからです。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印刷された一般論では「うちの場合は？」に答えられません。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286000"/>
            <a:ext cx="4526280" cy="1874519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第三者話法の型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✕「停電しても安心ですよ」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← 自分の意見。刺さらない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○「実際に○○市のA様が、台風の停電で3日間、冷蔵庫と照明を動かせたそうです」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343400"/>
          <a:ext cx="9098280" cy="1719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/>
                <a:gridCol w="2926080"/>
                <a:gridCol w="484632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メーカー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特徴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URL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Panasonic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動画＋テキストの記事があり使いやすい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https://sumai.panasonic.jp/chikuden/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SmartStar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災害時の活用に特化した動画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https://www.smartstar.jp/voice/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ニチコン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販売店にフィットしたコンテンツ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https://www.nichicon.co.jp/products/ess/about/voice.html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98932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一般論ではなく「事例」。「私が〜」ではなく「実際に〜あります」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災害トークの落とし穴：長く話すほど失注する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4526280" cy="32461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✕　やりすぎ例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「南海トラフが来たら、この地域は震度7です。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ライフラインは1か月止まると言われています。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お子さんもいらっしゃいますよね。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真っ暗な中で、水も出ない状態で……」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何が起きるか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・商談の雰囲気が暗くなる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・「不安を煽られた」と警戒される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・お客様が黙り、ラリーが止まる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・そのあとの商品説明が入らなくなる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810512"/>
            <a:ext cx="4526280" cy="32461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○　適切な例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「札幌が地震の確率が最も低いと出ていたのに、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3か月後に大きな地震が来てしまったんですね。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気象庁も予測は難しいと言っています。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どこで起きるかは分からないですよね？」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何が違うか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・主語が「事実」と「第三者」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・お客様の家族を想像させていない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・最後が質問で終わり、ラリーが続く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・3分で次のページへ抜けられる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2120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災害は「事実 → 事例 → サラッと次へ」。3分で抜ける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94560" y="2606040"/>
            <a:ext cx="5532120" cy="164592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1000"/>
              </a:spcAft>
            </a:pPr>
            <a:r>
              <a:rPr sz="4400" b="1">
                <a:solidFill>
                  <a:srgbClr val="000000"/>
                </a:solidFill>
                <a:latin typeface="HGPｺﾞｼｯｸE"/>
                <a:ea typeface="HGPｺﾞｼｯｸE"/>
              </a:rPr>
              <a:t>休憩　10分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後半は商品説明（FAB）と経済メリットです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なぜ「商品説明」が必要なのか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794760" cy="141732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購入 ＝ 価値 ÷ 価格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この値が1を超えたとき、</a:t>
            </a:r>
          </a:p>
          <a:p>
            <a:pPr algn="ctr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人は購入に至る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1783080"/>
            <a:ext cx="461772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100均で考えると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100円の商品を買うのは、100円以上の価値を感じているから。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つまり X &gt; 100円 ÷ 100円 の状態です。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401568"/>
            <a:ext cx="4526280" cy="2011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やり方①　価値を上げる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①電気代のネガ（第2回）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②災害対策（PART1）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＋ 商品そのものの価値（FAB）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PART2はここ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3401568"/>
            <a:ext cx="4526280" cy="2011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やり方②　価格を下げる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価格 −（経済メリット③）を下げる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＝ 実質いくらになるか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PART3はここ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※ 見積り金額そのものは第4回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57784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価値を上げるか、価格を下げるか。この2つしかない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FAB式営業：価値の伝え方は3階建て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1480"/>
                <a:gridCol w="2286000"/>
                <a:gridCol w="3063240"/>
                <a:gridCol w="105156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要素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意味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固定／変動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できる営業の割合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Feature（特徴）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その製品の特長・長所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固定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ほとんどの営業マンができる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Advantage（メリット）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その特徴が「全ての人に」もたらす利点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固定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約8割ができる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Benefit（ベネフィット）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「目の前のお客様が」受ける利益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変動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トップ2割しかできない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160520"/>
            <a:ext cx="9098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例）コーヒーマシン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F：専用カプセルを入れてボタン一つで本格的なコーヒーが淹れられる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A：誰でも安定した味を再現でき、手間も汚れも少ない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B：忙しい朝でもボタン1つで一息つける／毎月カプセルが届くので買い忘れがない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お客様に対してのB（利益）を、いかに具体的に話せるかが最重要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太陽光＋蓄電池のFAB（模範例）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9098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595959"/>
                </a:solidFill>
                <a:latin typeface="HGPｺﾞｼｯｸE"/>
                <a:ea typeface="HGPｺﾞｼｯｸE"/>
              </a:rPr>
              <a:t>F　特徴（固定）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太陽光で発電した電気を蓄電池に貯めて、夜も自宅で使えます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697480"/>
            <a:ext cx="9098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595959"/>
                </a:solidFill>
                <a:latin typeface="HGPｺﾞｼｯｸE"/>
                <a:ea typeface="HGPｺﾞｼｯｸE"/>
              </a:rPr>
              <a:t>A　メリット（固定・誰にでも同じ）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電力会社から買う電気が減り、停電のときも電気が使えます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11880"/>
            <a:ext cx="9098280" cy="214884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B　ベネフィット（変動・お客様ごとに変える）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「お子様が受験生でしたね。夜遅くまでエアコンをつけても電気代を気にせずに済みます」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「奥様が日中パートに出られない日も、太陽光の電気で洗濯乾燥機を回せます」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「ご主人は在宅勤務が週2日でしたね。在宅の日ほどお得になります」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「停電のとき、お母様が避難所に行かずに済みます」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8978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Bの材料は、ルール③のヒアリングで聞いた話の中にある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Bの材料は、ヒアリングで手に入れる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58521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ルール③で聞いたこと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そこから作るB（ベネフィット）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「価格が高かったからやめた」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「月々のご負担は電気代の範囲に収まります。今と変わらない支出で、資産が残ります」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「シミュレーションがピンとこなかった」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「今日は数字だけでなく、〇〇様のお家で1日どう電気が動くかでご説明します」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「会社が信用しきれなかった」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「当社は3年ごとに訪問して報告書をお出ししています。設置して終わりにしません」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「子供が受験で電気代が心配」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「夜遅くまでエアコンをつけても、電気代を気にせずに済みます」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「停電の経験がなくて実感がない」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「〇〇市のA様も同じでしたが、台風の停電で3日間、冷蔵庫が止まらなかったそうです」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486400"/>
            <a:ext cx="9098280" cy="7772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聞いていないことは、Bにできません。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だからルール③のオープンクエスチョン3回が効いてきます。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ルール⑫：太陽光・蓄電池の使い方の理解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シミュレーションに移る前に基本概念をおさらいする</a:t>
            </a:r>
          </a:p>
        </p:txBody>
      </p:sp>
      <p:pic>
        <p:nvPicPr>
          <p:cNvPr id="7" name="Picture 6" descr="ab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p.21　太陽光発電・蓄電池の使い方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「太陽光・蓄電池の活用方法が分かる」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売電価格が電気代より安い今は「自家消費」が主流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p.20で「買うより自給自足」を示し、p.21で具体的な使い方を見せる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売電単価15円 ＜ 買電単価30円。貯めて使う方が得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この説明がFのベース。曖昧だとBも作れない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具体的なシミュレーションを見ていきましょう！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1日の電気の流れ（これは図なしで言えるように）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2834640" cy="22402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朝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発電量が少ない時間帯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電力会社から電気を購入する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（買電消費）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810512"/>
            <a:ext cx="2834640" cy="2240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昼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太陽光発電が活発な時間帯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① 太陽光の電気をまず家庭で使う（自家消費）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② 余った電気は蓄電池に充電する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③ さらに余った電気は売電する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810512"/>
            <a:ext cx="2834640" cy="2240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夕方〜夜間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発電できない時間帯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蓄電池に貯めた電気を使う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73552" y="2697480"/>
            <a:ext cx="274320" cy="32004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6291072" y="2697480"/>
            <a:ext cx="274320" cy="32004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206240"/>
            <a:ext cx="9098280" cy="1508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このサイクルは、太陽光と蓄電池が「両方」あって初めて成立します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・太陽光だけ　→　昼に余った電気は売るしかない。売電15円＜買電30円なので損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・蓄電池だけ　→　貯める電気を電力会社から買うことになる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・セット　　　→　自分で創った電気を、自分で使い切れる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創る（太陽光）→ 貯める（蓄電池）→ 夜に使う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ワーク①：お手元の顧客設定集からFABを考える（15分）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F・Aは全員同じで構いません。Bだけは、その顧客設定に合わせて3本書いてください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21408"/>
          <a:ext cx="9098280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920240"/>
                <a:gridCol w="662940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要素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記入してください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特徴（固定）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メリット（固定）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ベネフィット（変動）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ベネフィット（変動）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ベネフィット（変動）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669280"/>
            <a:ext cx="9098280" cy="621792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B①②③は、必ず「〇〇様は〜でしたよね」から書き始めること。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主語がお客様になっていなければ、それはAです。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ワーク②：ペアで実演する（10分）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4526280" cy="19202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やること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2人1組。営業役／お客様役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書いたFABを、そのまま口で言う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2分で交代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83080"/>
            <a:ext cx="4526280" cy="19202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聞き手のチェック項目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・Bの主語が「お客様」になっていたか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・Bが3本とも違う切り口だったか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・スペック（kWh・サイクル数）で終わっていないか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931920"/>
            <a:ext cx="90982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FABでやりがちな失敗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370832"/>
          <a:ext cx="9098280" cy="1883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29000"/>
                <a:gridCol w="2926080"/>
                <a:gridCol w="274320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やりがちな失敗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なぜダメか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直し方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Fだけ並べる（kWh・変換効率・サイクル数）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スペックはお客様の生活と結びつかない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Aに翻訳してからBへ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Aで止まる（「電気代が安くなります」）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全員に同じことを言っている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「〇〇様は」で始める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Bを想像で作る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ヒアリングしていないので外れる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ルール③で聞いた話から作る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経済メリット：一番重要だが、それだけでは危ない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9098280" cy="11430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経済メリットは一番重要な要素。ただしメリットがあまり出ないお宅にも訴求するには、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経済メリット訴求のみでは安定感がなくなってしまう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154680"/>
            <a:ext cx="4526280" cy="150876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✕　経済メリットだけで押す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狭小住宅・北向き屋根・電気使用量が少ないお宅では、数字が出ません。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数字が出ない＝売れない、になってしまいます。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154680"/>
            <a:ext cx="4526280" cy="15087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○　①②③を積んだ上で③を出す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①電気代のネガ ②災害対策 ＋ 商品の価値（FAB）を積んでから、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最後に③経済メリットで背中を押す。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92040"/>
            <a:ext cx="9098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金額ばかり褒めてはいけない理由も同じです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「元が取れる／取れない」で判断させると、狭小住宅への提案が困難になります。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金額の褒め → 体験の褒めへ変換しましょう。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94360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③は「決め手」であって「入り口」ではない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シミュレーションの読み方（例）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FIT期間中と、FIT期間が終わったあとで、毎月の実質負担額が変わります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384048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560320"/>
          <a:ext cx="4526280" cy="804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17373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14,429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401568"/>
            <a:ext cx="4526280" cy="868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9,573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319 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121408"/>
            <a:ext cx="4526280" cy="384048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FIT期間終了後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0" y="2560320"/>
          <a:ext cx="4526280" cy="804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17373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12,686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0" y="3401568"/>
            <a:ext cx="4526280" cy="868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11,316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377 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480560"/>
            <a:ext cx="9098280" cy="12344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この表のどこを読むか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お客様が見るのは「毎月の実質負担額」と「1日あたり」だけです。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分割支払額（24,002円）を先に見せると、そこで思考が止まります。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1日あたりの金額まで落として初めて、判断できる数字になる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伝え方①：ローン返済額を含めたトータル金額でお伝えする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9098280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＜ポイント＞　分割払いの場合、返済中は合計の支出が増える。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　　　　　　　完済後は返済額が無くなるため、支出が減少する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560320"/>
          <a:ext cx="9098280" cy="22311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292608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ローン支払い中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完済後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＋ ローンの分割額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22,000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23,000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846320"/>
            <a:ext cx="452628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・長期で考えられる方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・完済後の姿に価値を感じる方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846320"/>
            <a:ext cx="4526280" cy="9601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注意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返済中は支出が増えます。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ここを隠すと後で必ず不信になります。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94360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完済後に支出が「1,000円」まで下がる絵を見せる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伝え方②：電気代の減収分のみをお伝えする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ローンの話をいったん外し、「電気代がいくら減るか」だけを見せる方法です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21408"/>
          <a:ext cx="90982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1645920"/>
                <a:gridCol w="2377440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期間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削減額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1年間での削減額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¥168,000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10年間での削減額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¥1,680,000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30年間での削減額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¥5,040,000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251960"/>
            <a:ext cx="4526280" cy="14630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・現金一括で検討される方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・「月々の支出が増える」ことに強い抵抗がある方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・数字が多いと混乱される方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251960"/>
            <a:ext cx="4526280" cy="14630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使い分けの原則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①で反応が鈍い（＝返済中の支出増で止まった）と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感じたら、②に切り替える。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どちらも同じ事実を、別の枠組みで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見せているだけです。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70448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30年で500万円以上の削減。これが「価格を下げる」の中身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前提：シミュレーションは疑われています</a:t>
            </a:r>
          </a:p>
        </p:txBody>
      </p:sp>
      <p:pic>
        <p:nvPicPr>
          <p:cNvPr id="6" name="Picture 5" descr="sim_tru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5074920" cy="3093459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983480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595959"/>
                </a:solidFill>
                <a:latin typeface="HGPｺﾞｼｯｸE"/>
                <a:ea typeface="HGPｺﾞｼｯｸE"/>
              </a:rPr>
              <a:t>出典：エネがえる運営事務局調べ（国際航業株式会社）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3794760" cy="14173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経済効果シミュレーションの信憑性を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疑ったことがある人</a:t>
            </a:r>
          </a:p>
          <a:p>
            <a:pPr algn="ctr">
              <a:spcAft>
                <a:spcPts val="500"/>
              </a:spcAft>
            </a:pPr>
            <a:r>
              <a:rPr sz="3400" b="1">
                <a:solidFill>
                  <a:srgbClr val="FF0000"/>
                </a:solidFill>
                <a:latin typeface="HGPｺﾞｼｯｸE"/>
                <a:ea typeface="HGPｺﾞｼｯｸE"/>
              </a:rPr>
              <a:t>75.4％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3383280"/>
            <a:ext cx="379476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だからどうするか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・金額の大きさで勝とうとしない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・前提条件を先に口で言う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　（電気使用量・単価・設置容量）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・お客様の検針票の実額から出発する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・「盛っていない」ことが伝わる方が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　金額より効く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978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✕ シミュレーション金額　　◎ 安心感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相見積もりになったときのポイント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1783080"/>
            <a:ext cx="4892040" cy="109728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400" b="1">
                <a:solidFill>
                  <a:srgbClr val="000000"/>
                </a:solidFill>
                <a:latin typeface="HGPｺﾞｼｯｸE"/>
                <a:ea typeface="HGPｺﾞｼｯｸE"/>
              </a:rPr>
              <a:t>信頼　×　比較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3063240"/>
          <a:ext cx="9098280" cy="22311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68680"/>
                <a:gridCol w="384048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言い方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信頼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前提条件を隠さない。数字の出どころを言う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「この数字は〇〇様の検針票から計算しています」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比較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他社下げをせず、お客様に判断軸を与える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「設置後の点検体制で比べてみてください」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他社の強みで戦わず、自社の強みで戦う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会社の安定性／地域密着性／メーカーとしての価値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978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金額で勝とうとせず、安心感で選ばれる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F0000"/>
                </a:solidFill>
                <a:latin typeface="HGPｺﾞｼｯｸE"/>
                <a:ea typeface="HGPｺﾞｼｯｸE"/>
              </a:rPr>
              <a:t>今日は「金額」を出しません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03120"/>
          <a:ext cx="9098279" cy="29626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931920"/>
                <a:gridCol w="3977639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今日やったこと（経済メリット）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第4回でやること（金額訴求）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目的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「電気代がいくら減るか」を納得してもらう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「毎月いくら払うか」を払える形にする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出す数字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削減額（月14,000円／30年504万円）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月々の支払額・概算見積・総額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使う道具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シミュレーション＋概算見積＋カタログ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（必要性訴求の一部）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⑯〜⑳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20640"/>
            <a:ext cx="9098280" cy="11430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なぜ分けるのか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「いくら得か」が腹落ちしていない状態で「いくら払うか」を出すと、支払額だけが記憶に残ります。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今日は「得の大きさ」を作りきるところまでです。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FABと経済メリットを通す（10分）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246120"/>
                <a:gridCol w="822960"/>
                <a:gridCol w="32918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進行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使うもの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狙う反応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災害（⑩⑪）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p.18・p.19＋事例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使い方（⑫）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買うより自給自足した方が良いですね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商品説明（FAB）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ワーク①で書いたB3本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うちの場合はそうなるんですね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経済メリット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シミュレーション（伝え方①または②）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思ったより減るんですね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251960"/>
            <a:ext cx="4526280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顧客設定（第2回と同じ田中様ご夫婦）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・ご主人48歳／奥様45歳／高校生・中学生のお子様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・築14年・南向き切妻屋根・オール電化ではない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・太陽光・蓄電池ともに未導入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・電気代 月18,000円　・住宅ローン返済中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・お子様が来年受験／ご主人は在宅勤務が週2日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251960"/>
            <a:ext cx="4526280" cy="196596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・災害が1分で終わったか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・Bの主語が「田中様」になっていたか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・受験・在宅勤務をBに使えたか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・伝え方①②のどちらを選んだか、理由を言えるか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・金額（見積り）を口にしていないか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チェックシート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ロープレのあと、自分で○△×をつけてください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00784"/>
          <a:ext cx="9098280" cy="369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89788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パート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できたか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 災害対策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第三者話法だけで語れた（自分の意見を混ぜない）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3分以内（ロープレでは1分）で終えられた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「うちの地域は災害が来ない」を切り返せた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 商品説明（FAB）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F・A・Bを区別して言えた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Bの主語が「お客様」になっていた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Bを3本、違う切り口で言えた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ヒアリングで聞いた話からBを作れた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 経済メリット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伝え方①②のどちらを使うか選べた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前提条件（検針票の実額）から出発できた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削減額を「1日あたり」まで落とせた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金額（見積り）を口にしなかった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商談運営：発言比率6：4／最後までセット提案を崩さなかったか</a:t>
            </a:r>
          </a:p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黄色が本日の主役。×が付いた項目は、次の商談までに必ず直してください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9098280" cy="2103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本日持ち帰ること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契約とは「阻害要因がすべて解消された状態」。今日つぶしたのは③プランと④金額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災害は「事実 → 事例 → サラッと次へ」。3分で抜ける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③ FABのBは「お客様が主語」。材料はヒアリングの中にある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④ 経済メリットは2通りの伝え方を使い分ける。金額で勝とうとせず、安心感で選ばれる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657600"/>
            <a:ext cx="9098280" cy="21031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宿題（次回までに）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実際の担当顧客1件について、FABのBを3本書いてくること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伝え方①②の両方を、シミュレーションを見ずに口で説明できるようにしてくること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実商談を1件、災害パートに何分使ったか計測してくること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989320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次回・第4回は「時期訴求・料金訴求（ルール⑬〜⑳）」／ここで初めて金額を出します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