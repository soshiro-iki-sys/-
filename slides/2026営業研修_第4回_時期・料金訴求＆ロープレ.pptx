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jp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02" r:id="rId2"/>
  </p:sldMasterIdLst>
  <p:notesMasterIdLst>
    <p:notesMasterId r:id="rId74"/>
  </p:notesMasterIdLst>
  <p:handoutMasterIdLst>
    <p:handoutMasterId r:id="rId75"/>
  </p:handoutMasterIdLst>
  <p:sldIdLst>
    <p:sldId id="344" r:id="rId3"/>
    <p:sldId id="1179" r:id="rId11"/>
    <p:sldId id="1180" r:id="rId12"/>
    <p:sldId id="1181" r:id="rId13"/>
    <p:sldId id="1182" r:id="rId14"/>
    <p:sldId id="1183" r:id="rId15"/>
    <p:sldId id="1184" r:id="rId16"/>
    <p:sldId id="1185" r:id="rId17"/>
    <p:sldId id="1186" r:id="rId18"/>
    <p:sldId id="1187" r:id="rId19"/>
    <p:sldId id="1188" r:id="rId20"/>
    <p:sldId id="1189" r:id="rId21"/>
    <p:sldId id="1190" r:id="rId22"/>
    <p:sldId id="1191" r:id="rId23"/>
    <p:sldId id="1192" r:id="rId24"/>
    <p:sldId id="1193" r:id="rId25"/>
    <p:sldId id="1194" r:id="rId26"/>
    <p:sldId id="1195" r:id="rId27"/>
    <p:sldId id="1196" r:id="rId28"/>
    <p:sldId id="1197" r:id="rId29"/>
    <p:sldId id="1198" r:id="rId30"/>
    <p:sldId id="1199" r:id="rId31"/>
    <p:sldId id="1200" r:id="rId32"/>
    <p:sldId id="1201" r:id="rId33"/>
    <p:sldId id="1202" r:id="rId34"/>
    <p:sldId id="1203" r:id="rId35"/>
    <p:sldId id="1204" r:id="rId36"/>
    <p:sldId id="1205" r:id="rId37"/>
    <p:sldId id="1206" r:id="rId38"/>
    <p:sldId id="1207" r:id="rId39"/>
    <p:sldId id="1178" r:id="rId73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DE1"/>
    <a:srgbClr val="362A2A"/>
    <a:srgbClr val="9BBB59"/>
    <a:srgbClr val="FB43D4"/>
    <a:srgbClr val="E85504"/>
    <a:srgbClr val="0066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6343" autoAdjust="0"/>
  </p:normalViewPr>
  <p:slideViewPr>
    <p:cSldViewPr showGuides="1">
      <p:cViewPr varScale="1">
        <p:scale>
          <a:sx n="82" d="100"/>
          <a:sy n="82" d="100"/>
        </p:scale>
        <p:origin x="1694" y="72"/>
      </p:cViewPr>
      <p:guideLst>
        <p:guide orient="horz" pos="84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3246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73" Type="http://schemas.openxmlformats.org/officeDocument/2006/relationships/slide" Target="slides/slide900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4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695728E3-876B-4768-9AB0-7D988C1247D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2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4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E00352D2-49C1-4968-AB3E-0C456C91C2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722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A8D18B60-6E12-48B8-B760-06957378EDAD}" type="datetimeFigureOut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48" tIns="47425" rIns="94848" bIns="47425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8" y="4686501"/>
            <a:ext cx="5388610" cy="4439841"/>
          </a:xfrm>
          <a:prstGeom prst="rect">
            <a:avLst/>
          </a:prstGeom>
        </p:spPr>
        <p:txBody>
          <a:bodyPr vert="horz" lIns="94848" tIns="47425" rIns="94848" bIns="47425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B76C3785-4774-4B27-AA13-6B236C476115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633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・本日で20のルールが全部つながる。次回は通しロープレだけだと予告しておく</a:t>
            </a:r>
          </a:p>
          <a:p>
            <a:r>
              <a:t>・金額の話は「安く見せる」ではなく「払える形にする」ことだと最初に握る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・8ルールと多い。⑲⑳は厳密なルールではなく推奨事項なので巻いてよい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・数字は必ずお客様の検針票の額に置き換える。144万円のまま話さない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・断定しない。「予測はできない、ただしデータでは」という冷静な分析のトーンで話す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・ここで資料が切り替わる。手元でアプローチブックを閉じ、シミュレーションを出す動作まで練習させる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・「電力会社への捨て金を、同額のままご自宅の資産にスライドさせるだけ」という言い方を思い出させる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・次回は解説をほとんどしない。20のルールを全部持ってくるよう強く伝える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DEDC6-F80D-48C2-B138-00A27E7F2E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4A63-54DC-4F0A-84AB-53668F1114D2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4A45F-A8A8-4DDE-B673-AED63056AB3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025A-80F9-47C5-83D6-D2A5A3B97719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BD1E-31C5-4520-B82E-04337BC9ED08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DA76A-BB70-46AD-B592-B57DADC2881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B68-78AE-4B40-9B77-32E3BBE4C65E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1A2F7-89F4-4CBB-9F6E-BD9D54E64EE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CFBB6-5FCD-4CD1-A658-5A106B94C497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A81-3346-464B-A479-530443E8B95D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2015-3E19-41F4-BCCA-3D5A7443FCC4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68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2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6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97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5"/>
            <a:ext cx="4206531" cy="22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853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4"/>
            <a:ext cx="2228850" cy="365125"/>
          </a:xfrm>
        </p:spPr>
        <p:txBody>
          <a:bodyPr/>
          <a:lstStyle>
            <a:lvl1pPr>
              <a:defRPr sz="975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6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2" cy="605918"/>
          </a:xfrm>
        </p:spPr>
        <p:txBody>
          <a:bodyPr>
            <a:noAutofit/>
          </a:bodyPr>
          <a:lstStyle>
            <a:lvl1pPr algn="ctr">
              <a:defRPr sz="2925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8" y="-3521490"/>
            <a:ext cx="11734664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2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4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8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4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9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70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70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70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70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タイトル（目次と対応させてください。）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フォント：メイリオ見出し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48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lang="ja-JP" altLang="en-US" sz="1097" dirty="0"/>
              <a:t>真ん中寄せ</a:t>
            </a:r>
            <a:endParaRPr kumimoji="1" lang="en-US" altLang="ja-JP" sz="1097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0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小見出し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32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0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本文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18</a:t>
            </a:r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70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6209500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443844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6385553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9174585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84692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373420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2173626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4031544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183429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14061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9192423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8287582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574412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4216793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630091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9707223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2250322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8730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798260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77527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75716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737084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467632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827395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5174241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6451614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73428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627575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158225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76358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04416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219349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2207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855753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455775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13398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38974779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19484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134033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649018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 userDrawn="1"/>
        </p:nvSpPr>
        <p:spPr>
          <a:xfrm>
            <a:off x="34397" y="6634602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74295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 </a:t>
            </a:r>
            <a:r>
              <a:rPr lang="ja-JP" altLang="en-US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650" kern="1200" dirty="0">
              <a:solidFill>
                <a:schemeClr val="tx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592269"/>
            <a:ext cx="2311400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731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731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タイトル 1"/>
          <p:cNvSpPr>
            <a:spLocks noGrp="1"/>
          </p:cNvSpPr>
          <p:nvPr>
            <p:ph type="ctrTitle"/>
          </p:nvPr>
        </p:nvSpPr>
        <p:spPr>
          <a:xfrm>
            <a:off x="-2" y="8468"/>
            <a:ext cx="8949798" cy="620688"/>
          </a:xfrm>
        </p:spPr>
        <p:txBody>
          <a:bodyPr>
            <a:normAutofit/>
          </a:bodyPr>
          <a:lstStyle>
            <a:lvl1pPr>
              <a:defRPr sz="2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pic>
        <p:nvPicPr>
          <p:cNvPr id="8" name="Picture 1" descr="C:\Users\F2034\Pictures\6.会社データ(ロゴ・サイン）\パターンC(タグ無し）\パターンC(タグ無し）カラー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7351" y="68626"/>
            <a:ext cx="979838" cy="50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0598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9067-D5A7-4D20-AE49-915E5BDB9F4F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8E823636-1305-4F53-9866-547E7D8CE7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8150" y="3403600"/>
            <a:ext cx="8979346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 descr="パターンA_カラー.jpg">
            <a:extLst>
              <a:ext uri="{FF2B5EF4-FFF2-40B4-BE49-F238E27FC236}">
                <a16:creationId xmlns:a16="http://schemas.microsoft.com/office/drawing/2014/main" id="{3DBCC9CD-6C0C-47EC-80E8-87633DBE3D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193360" y="6453336"/>
            <a:ext cx="1512168" cy="263485"/>
          </a:xfrm>
          <a:prstGeom prst="rect">
            <a:avLst/>
          </a:prstGeom>
        </p:spPr>
      </p:pic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AFCC08E-3E46-4DAF-AB38-B8819EC7D9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04528" y="2564904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4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〇月度お打合せ資料</a:t>
            </a:r>
          </a:p>
        </p:txBody>
      </p:sp>
      <p:sp>
        <p:nvSpPr>
          <p:cNvPr id="10" name="コンテンツ プレースホルダー 8">
            <a:extLst>
              <a:ext uri="{FF2B5EF4-FFF2-40B4-BE49-F238E27FC236}">
                <a16:creationId xmlns:a16="http://schemas.microsoft.com/office/drawing/2014/main" id="{28B2D2FF-C2AA-40BF-9A54-68583069E6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4528" y="2085777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株式会社御中</a:t>
            </a:r>
          </a:p>
        </p:txBody>
      </p:sp>
      <p:sp>
        <p:nvSpPr>
          <p:cNvPr id="11" name="コンテンツ プレースホルダー 8">
            <a:extLst>
              <a:ext uri="{FF2B5EF4-FFF2-40B4-BE49-F238E27FC236}">
                <a16:creationId xmlns:a16="http://schemas.microsoft.com/office/drawing/2014/main" id="{ECF04A37-370B-4768-A875-EF9C667848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36976" y="3433465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14991236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EF3C9B-15A5-4754-B97A-474B280C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D5602E-9916-437E-9C25-C8047E09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43BD0A-BD54-4DF0-A3BE-6D3FA31F9069}"/>
              </a:ext>
            </a:extLst>
          </p:cNvPr>
          <p:cNvSpPr txBox="1"/>
          <p:nvPr userDrawn="1"/>
        </p:nvSpPr>
        <p:spPr>
          <a:xfrm>
            <a:off x="-15552" y="44624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50" charset="-128"/>
              </a:rPr>
              <a:t>本日のお打合せ内容</a:t>
            </a:r>
            <a:endParaRPr kumimoji="1" lang="ja-JP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EA3A4F-1EF2-4A9E-BD1F-DE9A3E01A425}"/>
              </a:ext>
            </a:extLst>
          </p:cNvPr>
          <p:cNvSpPr/>
          <p:nvPr userDrawn="1"/>
        </p:nvSpPr>
        <p:spPr>
          <a:xfrm>
            <a:off x="69725" y="666126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お打合せ事項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B66B0E-B525-4135-A640-3C5077DFBABA}"/>
              </a:ext>
            </a:extLst>
          </p:cNvPr>
          <p:cNvSpPr/>
          <p:nvPr userDrawn="1"/>
        </p:nvSpPr>
        <p:spPr>
          <a:xfrm>
            <a:off x="72749" y="3911838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次回お打合せ日程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8C66AEEA-90B1-4FF5-983E-12E09DD67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500" y="1129818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2400" b="1"/>
            </a:lvl1pPr>
          </a:lstStyle>
          <a:p>
            <a:pPr lvl="0"/>
            <a:r>
              <a:rPr kumimoji="1" lang="ja-JP" altLang="en-US" dirty="0"/>
              <a:t>①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②</a:t>
            </a:r>
            <a:endParaRPr kumimoji="1" lang="en-US" altLang="ja-JP" dirty="0"/>
          </a:p>
        </p:txBody>
      </p:sp>
      <p:sp>
        <p:nvSpPr>
          <p:cNvPr id="20" name="テキスト プレースホルダー 16">
            <a:extLst>
              <a:ext uri="{FF2B5EF4-FFF2-40B4-BE49-F238E27FC236}">
                <a16:creationId xmlns:a16="http://schemas.microsoft.com/office/drawing/2014/main" id="{347F4DAF-2DE1-4CC8-9835-4DFC642B51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500" y="4374514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1800" b="1"/>
            </a:lvl1pPr>
          </a:lstStyle>
          <a:p>
            <a:pPr lvl="0"/>
            <a:r>
              <a:rPr kumimoji="1" lang="en-US" altLang="ja-JP" dirty="0"/>
              <a:t>2024</a:t>
            </a:r>
            <a:r>
              <a:rPr kumimoji="1" lang="ja-JP" altLang="en-US" dirty="0"/>
              <a:t>年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961619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600E18-DBF4-4DED-A3E8-EBDE8D9EA3B5}"/>
              </a:ext>
            </a:extLst>
          </p:cNvPr>
          <p:cNvSpPr/>
          <p:nvPr userDrawn="1"/>
        </p:nvSpPr>
        <p:spPr bwMode="auto">
          <a:xfrm>
            <a:off x="272480" y="332656"/>
            <a:ext cx="9454650" cy="626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  <a:miter lim="800000"/>
            <a:headEnd/>
            <a:tailEnd/>
          </a:ln>
        </p:spPr>
        <p:txBody>
          <a:bodyPr wrap="none" rtlCol="0" anchor="t"/>
          <a:lstStyle/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2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</a:p>
          <a:p>
            <a:pPr lvl="2"/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EF40AA-2D98-4C1A-9B75-77B4B1EC2A46}"/>
              </a:ext>
            </a:extLst>
          </p:cNvPr>
          <p:cNvSpPr/>
          <p:nvPr userDrawn="1"/>
        </p:nvSpPr>
        <p:spPr bwMode="auto">
          <a:xfrm>
            <a:off x="128464" y="188640"/>
            <a:ext cx="2592288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決定事項</a:t>
            </a:r>
          </a:p>
        </p:txBody>
      </p:sp>
    </p:spTree>
    <p:extLst>
      <p:ext uri="{BB962C8B-B14F-4D97-AF65-F5344CB8AC3E}">
        <p14:creationId xmlns:p14="http://schemas.microsoft.com/office/powerpoint/2010/main" val="254292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B55609-F8C4-4A71-A410-286691A672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472" y="68627"/>
            <a:ext cx="3960812" cy="552062"/>
          </a:xfr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9062224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EC131-7E93-4E21-A3A0-1A53928AA2CA}" type="datetime1">
              <a:rPr kumimoji="1" lang="ja-JP" altLang="en-US" smtClean="0"/>
              <a:t>2026/5/20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538144" y="6491969"/>
            <a:ext cx="2311400" cy="365125"/>
          </a:xfrm>
        </p:spPr>
        <p:txBody>
          <a:bodyPr/>
          <a:lstStyle/>
          <a:p>
            <a:fld id="{619B85A0-BB21-4C42-9028-BB80073B34C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8939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0" y="6642000"/>
            <a:ext cx="9906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2DF90-A6ED-4A10-B24A-8E192E8967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4600" y="656743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23687FF-647B-4F7E-A20E-637EB01FA9D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0"/>
            <a:ext cx="9906000" cy="54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0" y="271681"/>
            <a:ext cx="338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2026</a:t>
            </a:r>
            <a:r>
              <a:rPr kumimoji="1" lang="ja-JP" altLang="en-US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年度　</a:t>
            </a:r>
            <a:r>
              <a:rPr kumimoji="1" lang="ja-JP" altLang="en-US" sz="1200" b="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住宅用太陽光・蓄電池研修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Text Box 16"/>
          <p:cNvSpPr txBox="1">
            <a:spLocks noChangeArrowheads="1"/>
          </p:cNvSpPr>
          <p:nvPr userDrawn="1"/>
        </p:nvSpPr>
        <p:spPr bwMode="auto">
          <a:xfrm>
            <a:off x="6048044" y="6677175"/>
            <a:ext cx="393488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ja-JP" sz="900" dirty="0">
                <a:ea typeface="ＭＳ Ｐゴシック" pitchFamily="50" charset="-128"/>
              </a:rPr>
              <a:t>Copyright</a:t>
            </a:r>
            <a:r>
              <a:rPr lang="ja-JP" altLang="en-US" sz="900" dirty="0">
                <a:ea typeface="ＭＳ Ｐゴシック" pitchFamily="50" charset="-128"/>
              </a:rPr>
              <a:t>　</a:t>
            </a:r>
            <a:r>
              <a:rPr lang="en-US" altLang="ja-JP" sz="900" dirty="0" err="1">
                <a:ea typeface="ＭＳ Ｐゴシック" pitchFamily="50" charset="-128"/>
              </a:rPr>
              <a:t>Funai</a:t>
            </a:r>
            <a:r>
              <a:rPr lang="en-US" altLang="ja-JP" sz="900" dirty="0">
                <a:ea typeface="ＭＳ Ｐゴシック" pitchFamily="50" charset="-128"/>
              </a:rPr>
              <a:t> Consulting Co.ltd</a:t>
            </a:r>
            <a:r>
              <a:rPr lang="ja-JP" altLang="en-US" sz="900" dirty="0">
                <a:ea typeface="ＭＳ Ｐゴシック" pitchFamily="50" charset="-128"/>
              </a:rPr>
              <a:t>　　禁転載・禁複写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6029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51D2E0-CC30-4DAC-88BB-E6AB37505372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682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C9A310-3AB5-49FE-B1F9-2C427DCC1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1834" r="3141" b="3667"/>
          <a:stretch/>
        </p:blipFill>
        <p:spPr>
          <a:xfrm>
            <a:off x="-15552" y="-27384"/>
            <a:ext cx="9921552" cy="6888954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0DF95E-7A9A-442E-9966-946D2B47649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4BACC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D832A5-E759-420F-B835-DF29A241CBFB}"/>
              </a:ext>
            </a:extLst>
          </p:cNvPr>
          <p:cNvSpPr txBox="1"/>
          <p:nvPr/>
        </p:nvSpPr>
        <p:spPr>
          <a:xfrm>
            <a:off x="288032" y="1988840"/>
            <a:ext cx="9619052" cy="29238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BIZ UDPゴシック"/>
                <a:ea typeface="BIZ UDPゴシック"/>
              </a:rPr>
              <a:t>2026年度　営業研修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BIZ UDPゴシック"/>
                <a:ea typeface="BIZ UDPゴシック"/>
              </a:rPr>
              <a:t>第4回　時期・料金訴求</a:t>
            </a:r>
          </a:p>
          <a:p>
            <a:pPr algn="l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BIZ UDPゴシック"/>
                <a:ea typeface="BIZ UDPゴシック"/>
              </a:rPr>
              <a:t>＆ロープレ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BIZ UDPゴシック"/>
                <a:ea typeface="BIZ UDPゴシック"/>
              </a:rPr>
              <a:t>〜太陽光＋蓄電池セット販売〜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1E207B-1CE8-4FD8-B86D-32251E1C4C12}"/>
              </a:ext>
            </a:extLst>
          </p:cNvPr>
          <p:cNvSpPr txBox="1"/>
          <p:nvPr/>
        </p:nvSpPr>
        <p:spPr>
          <a:xfrm>
            <a:off x="4664968" y="4471938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BIZ UDPゴシック"/>
                <a:ea typeface="BIZ UDPゴシック"/>
              </a:rPr>
              <a:t>2026年9月上旬　＠船井総研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B7CC725-B595-4742-A8BF-D882BB45AE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88" y="5736453"/>
            <a:ext cx="2309225" cy="4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986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本日のゴール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9052560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F0000"/>
                </a:solidFill>
                <a:latin typeface="HGPｺﾞｼｯｸE"/>
                <a:ea typeface="HGPｺﾞｼｯｸE"/>
              </a:rPr>
              <a:t>「今が一番お得だ」と思わせ、払える金額として着地させる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9098280" cy="27889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研修が終わったときの「できる状態」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①　「待てば安くなる」を、データと事実で断ち切れる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②　太陽光＋蓄電池を「出費」ではなく「投資」として説明できる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③　金額を 1日 → 1か月 → 総額 の順で出せる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000000"/>
                </a:solidFill>
                <a:latin typeface="HGPｺﾞｼｯｸE"/>
                <a:ea typeface="HGPｺﾞｼｯｸE"/>
              </a:rPr>
              <a:t>④　アプローチブックを閉じて、見積りへ自然に受け渡せる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166360"/>
            <a:ext cx="9098280" cy="7772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000000"/>
                </a:solidFill>
                <a:latin typeface="HGPｺﾞｼｯｸE"/>
                <a:ea typeface="HGPｺﾞｼｯｸE"/>
              </a:rPr>
              <a:t>本日の範囲：営業ルール ⑬〜⑳　／　アプローチブック p.23〜p.26 ＋ 見積り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本日のアジェンダ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81328"/>
          <a:ext cx="9098279" cy="4005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931920"/>
                <a:gridCol w="3749039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時間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内容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扱うもの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0:00-0:10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前回の振り返り／宿題の確認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第3回：ルール⑩〜⑫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0:10-0:50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時期訴求　ルール⑬〜⑮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 p.23〜p.26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0:50-1:00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休憩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1:00-1:15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金額訴求　ルール⑯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月々支払い額のみ／逃げ方3つ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1:15-1:30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分割して伝える（フレーミング効果）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1日 → 1か月 → 総額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1:30-1:45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金額訴求　ルール⑰〜⑳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容量・見積り・後始末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1:45-1:57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ロールプレイング（2周）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p.23〜26　→　金額提示まで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1:57-2:00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チェック／まとめ／宿題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前回の振り返り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第3回「必要性訴求②＆ロープレ」で押さえたこと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4434840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必要性訴求②（⑩〜⑫）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・災害は「事実 → 事例 → サラッと次へ」。3分で抜ける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・⑪にページが無いのは、一般論では意味が無いから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・創る → 貯める → 夜に使う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0000"/>
                </a:solidFill>
                <a:latin typeface="HGPｺﾞｼｯｸE"/>
                <a:ea typeface="HGPｺﾞｼｯｸE"/>
              </a:rPr>
              <a:t>・このサイクルはセットでしか成立しない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828800"/>
            <a:ext cx="4434840" cy="21031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ここまでで作れているもの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聴く姿勢（①〜⑥）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＋ 電気代のネガ（⑦⑧⑨）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＋ もしもの備え（⑩⑪）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＋ 使い方のイメージ（⑫）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＝ お客様は「欲しい」状態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206240"/>
            <a:ext cx="9098280" cy="16002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宿題の確認（10分）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HGPｺﾞｼｯｸE"/>
                <a:ea typeface="HGPｺﾞｼｯｸE"/>
              </a:rPr>
              <a:t>① 災害事例を90秒で言ってみてください（2名指名）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HGPｺﾞｼｯｸE"/>
                <a:ea typeface="HGPｺﾞｼｯｸE"/>
              </a:rPr>
              <a:t>② アプローチブック p.9〜p.21 の結論の一文を、通しで言えますか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HGPｺﾞｼｯｸE"/>
                <a:ea typeface="HGPｺﾞｼｯｸE"/>
              </a:rPr>
              <a:t>③ 実商談で、災害パートに何分使いましたか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全体像①：契約までの4ステップ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5</a:t>
            </a:r>
          </a:p>
        </p:txBody>
      </p:sp>
      <p:pic>
        <p:nvPicPr>
          <p:cNvPr id="5" name="Picture 4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34557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5080" y="1600200"/>
            <a:ext cx="3154680" cy="141732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0000"/>
                </a:solidFill>
                <a:latin typeface="HGPｺﾞｼｯｸE"/>
                <a:ea typeface="HGPｺﾞｼｯｸE"/>
              </a:rPr>
              <a:t>本日の範囲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STEP3　時期訴求（⑬〜⑮）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STEP4　金額訴求（⑯〜⑳）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3246120"/>
            <a:ext cx="3154680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土台はもう積んである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①〜⑫で「聴く姿勢」と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「必要性」は作れました。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残るはピラミッドの上2段。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ここで初めて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0000"/>
                </a:solidFill>
                <a:latin typeface="HGPｺﾞｼｯｸE"/>
                <a:ea typeface="HGPｺﾞｼｯｸE"/>
              </a:rPr>
              <a:t>「いつ」と「いくら」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の話をします。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順番を飛ばすと、価格だけで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判断されて終わります。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全体像②：太陽光＋蓄電池営業 20のルール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9372600" cy="4297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1463040"/>
                <a:gridCol w="2468880"/>
                <a:gridCol w="425196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ゴール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詳細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前準備・聴く姿勢作り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商談の趣旨を認識する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①〜⑥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第2回で実施済み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必要性訴求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現状を正確に把握する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⑦〜⑨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第2回で実施済み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⑩〜⑫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第3回で実施済み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時期訴求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早期対策を進める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⑬導入に向けた考え方の転換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「導入するかどうか」から「いつ導入するのが最も賢明か」へ転換させる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⑭物価指数とコストトレンドの説明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消費者物価指数が上昇中で、待つほど導入費用が上がる理解を得る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⑮投資対効果の視点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「出費」ではなく将来の電気代削減に繋がる「投資」と捉えてもらう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金額訴求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費用対効果に納得する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⑯概算の機器導入費用のおさらい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電気代出費の範囲内に収まれば導入に問題ないかどうか尋ねる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⑰太陽光設置容量の確認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屋根に載せられるパネルの量と発電量を算出して伝える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⑱概算見積りの提示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最適な見積書を提示し、その場で導入することに前向きな答えをもらう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⑲正式見積りの提示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1週間以内に工事スタッフと共に現場調査の上、正確な見積もりを提示する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⑳後始末の実施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契約書を交わし、その日中に御礼のハガキをポストに投函する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5806440"/>
            <a:ext cx="9372600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本日で20のルールが全部つながります。次回は通しロープレだけです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52560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ゴール：早期対策を進める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783080"/>
          <a:ext cx="937260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0"/>
                <a:gridCol w="1600200"/>
                <a:gridCol w="2606040"/>
                <a:gridCol w="40233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ゴール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POINT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時期訴求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早期対策を進める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⑬導入に向けた考え方の転換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「導入するか」の迷いを断ち、「いつ導入するのが最も合理的か」へ移行させる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⑭物価指数とコストトレンドの説明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「待てば安くなる」に、客観データと「実質負担額」の視点で反論する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⑮投資対効果の視点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単なる「節約」ではなく「資産形成」であることを、持ち家との比較で納得させる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886200"/>
            <a:ext cx="45262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使うアプローチブック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p.23　10年後に設置する vs すぐ設置する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p.24　待っても安くならないの？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p.25　まとまった費用をかけずに導入する方法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p.26　かしこいスマートハウスの導入時期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3886200"/>
            <a:ext cx="4526280" cy="20116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このパートの勝ち筋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お客様の頭の中を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「導入するかどうか」から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「いつ導入するのが賢いか」へ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切り替えるのが目的です。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やるかどうかの議論に戻らせない。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ルール⑬：導入に向けた考え方の転換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「導入するか」の迷いを断ち、「いつ導入するのが最も合理的か」へ移行させる</a:t>
            </a:r>
          </a:p>
        </p:txBody>
      </p:sp>
      <p:pic>
        <p:nvPicPr>
          <p:cNvPr id="7" name="Picture 6" descr="ab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0"/>
            <a:ext cx="4160520" cy="2879555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53492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p.23　10年後に設置 vs すぐ設置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286000"/>
            <a:ext cx="4617720" cy="1051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0C0"/>
                </a:solidFill>
                <a:latin typeface="HGPｺﾞｼｯｸE"/>
                <a:ea typeface="HGPｺﾞｼｯｸE"/>
              </a:rPr>
              <a:t>ゴール（お客様の反応）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「今、設置した方が将来的にお得なのですね」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3456432"/>
            <a:ext cx="461772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説明のポイント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10年後に設置すると、その10年で144万円の電気代を払うだけ（月12,000円の場合）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その間、売電収入も自家消費による電気代削減の恩恵も受けられない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設置までの10年で、電気代の支払いと売電単価の減少というデメリットしかない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この「機会損失」を具体的に認識させ、待つことのデメリットを明確にする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815584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設置を遅くするにつれ、経済メリットは少なくなります！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ルール⑬：「機会損失」を自分事にする3手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73609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「導入を待つということは、この経済効果を得られるチャンスを先送りにする、つまり『機会損失』が生じているのと同じなんです」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（損失回避の心理を刺激する。「損」という言葉を必ず使う）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936992" y="1755648"/>
            <a:ext cx="1572768" cy="347472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HGPｺﾞｼｯｸE"/>
                <a:ea typeface="HGPｺﾞｼｯｸE"/>
              </a:rPr>
              <a:t>①言葉を置く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79191"/>
            <a:ext cx="73609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「〇〇様の場合は月々約18,000円ですので、10年間ですと216万円の機会損失になりますね」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（検針票の実額に必ず置き換える。一般論のままにしない）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936992" y="2679191"/>
            <a:ext cx="1572768" cy="347472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HGPｺﾞｼｯｸE"/>
                <a:ea typeface="HGPｺﾞｼｯｸE"/>
              </a:rPr>
              <a:t>②数字を置換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02735"/>
            <a:ext cx="73609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「この『10年間何もしない場合の支出』と『今すぐ始めて得られるメリット』、どちらが大きいと思われますか？」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「もし、この216万円を別のことに使えるとしたら、何に使いたいですか？」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3602735"/>
            <a:ext cx="1572768" cy="347472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HGPｺﾞｼｯｸE"/>
                <a:ea typeface="HGPｺﾞｼｯｸE"/>
              </a:rPr>
              <a:t>③質問で促す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815584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お客様自身に考えさせ、損失の大きさを実感させる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「今じゃなくていい」を潰す：スマホで考える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90982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595959"/>
                </a:solidFill>
                <a:latin typeface="HGPｺﾞｼｯｸE"/>
                <a:ea typeface="HGPｺﾞｼｯｸE"/>
              </a:rPr>
              <a:t>最新のスマホが欲しいと思っているのに、まだ買っていない人の言い分と同じ構造です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21408"/>
            <a:ext cx="4526280" cy="196596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買わない人の言い分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① 今じゃなくていいや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② 待てば安くなる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③ 最新のものが出た後、型落ちを買おう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121408"/>
            <a:ext cx="4526280" cy="1965960"/>
          </a:xfrm>
          <a:prstGeom prst="rect">
            <a:avLst/>
          </a:prstGeom>
          <a:solidFill>
            <a:srgbClr val="EAF1DD"/>
          </a:solidFill>
          <a:ln w="12700">
            <a:solidFill>
              <a:srgbClr val="7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潰し方（3点）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① 電気代は毎年のように上がり続けている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② 待っている間の機会損失（プロスペクト理論）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③ 数年で性能は変わらない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297680"/>
            <a:ext cx="90982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【必要性】は、もう作れているはずです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最新のものが欲しい／バッテリーの持ちをよくしたい／いい画質で写真を撮りたい ── これがスマホの必要性。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太陽光＋蓄電池で言えば、①〜⑫でここまで作ってきました。あとは「いつ」の問題だけです。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「今が一番お得だ」と感じてもらうのがゴール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ルール⑭：物価指数とコストトレンドの説明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「待てば安くなる」に、客観データと「実質負担額」の視点で反論する</a:t>
            </a:r>
          </a:p>
        </p:txBody>
      </p:sp>
      <p:pic>
        <p:nvPicPr>
          <p:cNvPr id="7" name="Picture 6" descr="ab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0"/>
            <a:ext cx="4160520" cy="2879555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53492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p.24　待っても安くならないの？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286000"/>
            <a:ext cx="4617720" cy="1051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0C0"/>
                </a:solidFill>
                <a:latin typeface="HGPｺﾞｼｯｸE"/>
                <a:ea typeface="HGPｺﾞｼｯｸE"/>
              </a:rPr>
              <a:t>ゴール（お客様の反応）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「待っても物価は安くなるどころか、上がっていく一方なのですね」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3456432"/>
            <a:ext cx="461772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説明のポイント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消費者物価指数は2020年1月を100として、2026年3月時点で112.7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6年で物価は12.7％上昇。電気代だけでなく世の中全体が上がっている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「太陽光・蓄電池だけが将来大幅に安くなる」という期待は現実的ではない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待って価格がわずかに下がるのを期待するより、今導入して高騰リスクを回避する方が賢明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815584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待っていても必ずしも安くなるとは限らないのです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ルール⑭：なぜ蓄電池は安くならないのか（根拠）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90982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595959"/>
                </a:solidFill>
                <a:latin typeface="HGPｺﾞｼｯｸE"/>
                <a:ea typeface="HGPｺﾞｼｯｸE"/>
              </a:rPr>
              <a:t>「本当に安くならないの？」と突っ込まれたときの材料。原材料の供給構造が変わらないためです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21408"/>
            <a:ext cx="452628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炭酸リチウム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・世界最大の生産国はチリ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・日本は100％輸入、うち80％がチリから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・アタカマ塩湖でかん水を1年間天日干しにして作る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・世界シェアNo.1の企業ですら半自動化どまり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生産量を急に増やせない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121408"/>
            <a:ext cx="452628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コバルト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・レアメタル。コンゴ民主共和国に生産が集中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・コンゴ産の20％が手掘り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・約4万人の子供が働いていると推計（アムネスティ）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・児童労働問題により生産量を増やせない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特定の国に依存し、増産できない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480560"/>
            <a:ext cx="909828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言い方の型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もちろん、将来の価格を正確に予測することは誰にもできません。ただ、現在のデータやトレンドから合理的に判断すると、大幅な価格低下を期待して好機を逃すよりも、確実なメリットを早く享受する方が賢明ではないでしょうか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ルール⑮：投資対効果の視点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単なる「節約」ではなく「資産形成」であることを、持ち家との比較で納得させる</a:t>
            </a:r>
          </a:p>
        </p:txBody>
      </p:sp>
      <p:pic>
        <p:nvPicPr>
          <p:cNvPr id="7" name="Picture 6" descr="ab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0"/>
            <a:ext cx="4160520" cy="2879555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53492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p.25　まとまった費用をかけずに導入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286000"/>
            <a:ext cx="4617720" cy="1051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0C0"/>
                </a:solidFill>
                <a:latin typeface="HGPｺﾞｼｯｸE"/>
                <a:ea typeface="HGPｺﾞｼｯｸE"/>
              </a:rPr>
              <a:t>ゴール（お客様の反応）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「長期的には、財産になるのですね」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3456432"/>
            <a:ext cx="461772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説明のポイント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実質負担額 ＝ 設置費用 − メリット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太陽光が生み出す経済メリットが、導入時の実質的な負担を軽くする（設置費用は太陽光が稼いでくれる）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家賃を払いたくないから持ち家を買う。電気代を払いたくないから創蓄を導入する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創蓄は支払っている最中も経済メリットが出るのが、住宅ローンとの違い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815584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持ち家と同じように、長期的な財産になるものなのです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時期訴求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ルール⑮：「賃貸 vs 持ち家」で言い換える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909828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/>
                <a:gridCol w="2834640"/>
                <a:gridCol w="40233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払い続けるもの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結果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賃貸住宅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家賃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払い続けても自分のものにはならない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電気を買う生活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電気代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払い続けても自分のものにはならない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持ち家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ローン（初期費用）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払い終われば資産になる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太陽光＋蓄電池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ローン（初期費用）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払い終われば資産。しかも電気代が大幅に減る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pic>
        <p:nvPicPr>
          <p:cNvPr id="7" name="Picture 6" descr="ab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069080"/>
            <a:ext cx="3108960" cy="2151755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626364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406908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①「財産（資産）」という言葉を明確に使う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「単に電気代が安くなるだけでなく、ご自宅に新たな『価値』や『財産』が生まれるとお考えください」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5394960"/>
            <a:ext cx="5669280" cy="11430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②「賢いお金の使い方」の視点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「同じお金を支払うなら、消費してなくなるものより、将来の支出を減らしてくれるものに使う方が賢いと言えませんか」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2606040"/>
            <a:ext cx="5532120" cy="1645920"/>
          </a:xfrm>
          <a:prstGeom prst="round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1000"/>
              </a:spcAft>
            </a:pPr>
            <a:r>
              <a:rPr sz="4400" b="1">
                <a:solidFill>
                  <a:srgbClr val="000000"/>
                </a:solidFill>
                <a:latin typeface="HGPｺﾞｼｯｸE"/>
                <a:ea typeface="HGPｺﾞｼｯｸE"/>
              </a:rPr>
              <a:t>休憩　10分</a:t>
            </a:r>
          </a:p>
          <a:p>
            <a:pPr algn="ctr">
              <a:spcAft>
                <a:spcPts val="500"/>
              </a:spcAft>
            </a:pPr>
            <a:r>
              <a:rPr sz="1800" b="0">
                <a:solidFill>
                  <a:srgbClr val="000000"/>
                </a:solidFill>
                <a:latin typeface="HGPｺﾞｼｯｸE"/>
                <a:ea typeface="HGPｺﾞｼｯｸE"/>
              </a:rPr>
              <a:t>後半は「金額訴求」に入ります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52560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ゴール：費用対効果に納得してもらう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783080"/>
          <a:ext cx="9372600" cy="2670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2788920"/>
                <a:gridCol w="539496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POINT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金額訴求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⑯概算の機器導入費用のおさらい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支払っている光熱費で太陽光＋蓄電池を導入できることを伝える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⑰太陽光設置容量の確認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設置容量を確認することで設置後のイメージを膨らませる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⑱概算見積りの提示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月々1万円程度の予算で提案し、金額面でのハードルを大きく下げる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⑲正式見積りの提示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成約率最大化のために、正式見積りの提出で即決を促す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⑳後始末の実施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契約後のアフターフォローをしっかり行うことでお客様の不安を払拭する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572000"/>
            <a:ext cx="4526280" cy="1325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0000"/>
                </a:solidFill>
                <a:latin typeface="HGPｺﾞｼｯｸE"/>
                <a:ea typeface="HGPｺﾞｼｯｸE"/>
              </a:rPr>
              <a:t>ここからアプローチブックを離れます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使うのはシミュレーション・概算見積・カタログ・契約書・お礼状です。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572000"/>
            <a:ext cx="452628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⑲⑳は「推奨事項」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厳密な営業ルールではなく、成約率を最大化するために守ることを推奨する内容です。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ルール⑯：概算の機器導入費用（月額）のおさらい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支払っている光熱費で太陽光＋蓄電池を導入できることを伝える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86000"/>
            <a:ext cx="4526280" cy="141732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000000"/>
                </a:solidFill>
                <a:latin typeface="HGPｺﾞｼｯｸE"/>
                <a:ea typeface="HGPｺﾞｼｯｸE"/>
              </a:rPr>
              <a:t>光熱費 ＝ 生涯ローン</a:t>
            </a:r>
          </a:p>
          <a:p>
            <a:pPr algn="ctr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いま払っている光熱費が、どこまで太陽光＋蓄電池に置き換わるか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286000"/>
            <a:ext cx="45262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考え方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機器の費用だけでなく、既にかかっている電気代と常に天秤にかけながら進める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「電気代の範囲内に収まれば、導入には問題ないですか？」と尋ねる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931920"/>
            <a:ext cx="9098280" cy="178308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0000"/>
                </a:solidFill>
                <a:latin typeface="HGPｺﾞｼｯｸE"/>
                <a:ea typeface="HGPｺﾞｼｯｸE"/>
              </a:rPr>
              <a:t>まずは「月々支払い額」のみを理解いただくことに終始する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HGPｺﾞｼｯｸE"/>
                <a:ea typeface="HGPｺﾞｼｯｸE"/>
              </a:rPr>
              <a:t>総額費用の具体的な提示は、ここでは禁物です。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HGPｺﾞｼｯｸE"/>
                <a:ea typeface="HGPｺﾞｼｯｸE"/>
              </a:rPr>
              <a:t>総額から入ると、価値ではなく価格だけで判断されてしまいます。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電気代の範囲内に収まるかどうか。それだけをここで握る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ルール⑯：「総額はいくら？」と聞かれたときの逃げ方3つ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90982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595959"/>
                </a:solidFill>
                <a:latin typeface="HGPｺﾞｼｯｸE"/>
                <a:ea typeface="HGPｺﾞｼｯｸE"/>
              </a:rPr>
              <a:t>ことあるごとに聞かれます。使いやすい「かわし方」を先に持っておきましょう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121408"/>
          <a:ext cx="9098279" cy="2642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3977639"/>
                <a:gridCol w="46634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かわし方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評価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「改めてご自宅にあったお見積りをお出ししたいので…」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最も理にかなっているが、「ザックリでいいから教えて」と言われやすいのが難点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「上に確認を取らないと分からなくて…」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使い勝手は良いが、皆さんのお立場とのバランスになる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③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「この後のお話で、一通り出てきますので…」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やや強引な「ルールでの包み込み」パターン。軽いツッコミなら十分交わせる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4846320"/>
            <a:ext cx="9098280" cy="8686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ワーク（3分）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自分が一番言いやすいものを1つ選び、声に出して言ってみてください。棒読みだと見抜かれます。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総額は最後。ここでは月々の額だけを握る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分割して伝える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①　フレーミング効果を使う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9098280" cy="73152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0000"/>
                </a:solidFill>
                <a:latin typeface="HGPｺﾞｼｯｸE"/>
                <a:ea typeface="HGPｺﾞｼｯｸE"/>
              </a:rPr>
              <a:t>✕　「結論、材工込みで総額200万円です」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743200"/>
            <a:ext cx="909828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フレーミング効果とは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物事を表現する枠組み（フレーム）を変えることで、与える印象が変わり、購入意欲が高まる効果。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160520"/>
            <a:ext cx="4526280" cy="15544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例）10万円のバッグ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HGPｺﾞｼｯｸE"/>
                <a:ea typeface="HGPｺﾞｼｯｸE"/>
              </a:rPr>
              <a:t>「10年間使ったら1万円/年だし、安いかも…」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分割して伝えると、印象が変わる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4160520"/>
            <a:ext cx="4526280" cy="15544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例）飲み会に置き換える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HGPｺﾞｼｯｸE"/>
                <a:ea typeface="HGPｺﾞｼｯｸE"/>
              </a:rPr>
              <a:t>「会社の飲み会を2回我慢すれば手に入ります」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身近な支出に置き換えると、判断しやすくなる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金額は「いくらか」ではなく「どう見せるか」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分割して伝える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②　伝える順番は 1日 → 1か月 → 総額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10512"/>
            <a:ext cx="2103120" cy="123444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1日あたり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810512"/>
            <a:ext cx="2880360" cy="123444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1日500円 ≒ コーヒー一杯分ぐらい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810512"/>
            <a:ext cx="3749039" cy="123444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【YES取り】「旦那様、1日500円くらいコンビニで何か買われてますよね？」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46120"/>
            <a:ext cx="2103120" cy="123444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1か月あたり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246120"/>
            <a:ext cx="2880360" cy="123444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1か月1万円 ≒ 電気代の支払額より安い（＋停電保険）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246120"/>
            <a:ext cx="3749039" cy="123444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【YES取り】「奥さんも、旦那さんの飲み会2回くらい削ったっていいですよね？」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【第三者話法】「皆さん、停電保険って言われますね」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892040"/>
            <a:ext cx="2103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総支払額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4892040"/>
            <a:ext cx="2880360" cy="123444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「300万円」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892040"/>
            <a:ext cx="3749039" cy="1234440"/>
          </a:xfrm>
          <a:prstGeom prst="rect">
            <a:avLst/>
          </a:prstGeom>
          <a:noFill/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総支払額は最後に伝えるのがベター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325880" y="3035808"/>
            <a:ext cx="274320" cy="237744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325880" y="4681728"/>
            <a:ext cx="274320" cy="237744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626364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小さい単位から出す。総額はいちばん最後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ルール⑰：太陽光設置容量の確認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設置容量を確認することで設置後のイメージを膨らませる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67712"/>
            <a:ext cx="9098280" cy="11430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① 屋根に載る太陽光の容量を決める</a:t>
            </a:r>
            <a:r>
              <a:rPr sz="1900" b="1">
                <a:solidFill>
                  <a:srgbClr val="595959"/>
                </a:solidFill>
                <a:latin typeface="HGPｺﾞｼｯｸE"/>
                <a:ea typeface="HGPｺﾞｼｯｸE"/>
              </a:rPr>
              <a:t>　→　</a:t>
            </a:r>
            <a:r>
              <a:rPr sz="1900" b="1">
                <a:solidFill>
                  <a:srgbClr val="FF0000"/>
                </a:solidFill>
                <a:latin typeface="HGPｺﾞｼｯｸE"/>
                <a:ea typeface="HGPｺﾞｼｯｸE"/>
              </a:rPr>
              <a:t>② 蓄電池は 太陽光容量 × 1.5 で自動的に決まる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蓄電池の容量は据え置き。お客様に選択肢を与えない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566160"/>
            <a:ext cx="4526280" cy="21579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考え方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⑰は「テストクロージング」にあたる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即決営業の技術は「マインドセット」「言質」「反論処理」「テストクロージング」など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⑯の概算費用を踏まえ、「パネル枚数」を使ってお客様の出費の限度額（≒温度感）を測る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ここで温度感を測ってから⑱の見積り提示に進む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3566160"/>
            <a:ext cx="4526280" cy="2157984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実践するときのコツ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・容量と価格帯を一覧表にまとめておくと便利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・容量によってパワコン価格も変わるので注意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・補助金がもらえるエリアを除き、蓄電池は適正容量で提案する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パネル枚数で話すと、お客様が設置後の家を想像しやすくなる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太陽光の容量が決まれば、蓄電池は自動的に決まる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ルール⑱：概算見積りの提示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月々1万円程度の予算で提案し、金額面でのハードルを大きく下げる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67712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価格の「根源的分岐点」── 人は予算を「1, 2, 3, 5」、購入価格を「4, 8, 18（, 27）」の循環で考えます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606040"/>
          <a:ext cx="4526280" cy="1719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/>
                <a:gridCol w="256032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お客様の予算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実際に許容する価格帯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1万円予算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8,000円　〜　18,000円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2万円予算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18,000円　〜　27,000円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3万円予算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27,000円　〜　40,000円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120640" y="2606040"/>
            <a:ext cx="4526280" cy="1719072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クリアすべきこと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お客様の「予算の中での割安感」を得ること。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月額1万円予算内（上限18,000円内）で納められる提案を入れておくことがポイントです。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434840"/>
            <a:ext cx="909828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精度を上げるツール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① SolarMaster … 航空写真を用いた診断ツール。屋根面積と方角から搭載可能容量を算出（新型・一部非対応パネル、屋根材は考慮外）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② 国際航業／エネがえる … 簡易診断ツール。費用や商談フロー上①が難しい場合に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月1万円台に収める提案を、必ず1本用意しておく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アプローチブックを閉じて、見積りへ受け渡す</a:t>
            </a:r>
          </a:p>
        </p:txBody>
      </p:sp>
      <p:pic>
        <p:nvPicPr>
          <p:cNvPr id="6" name="Picture 5" descr="ab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3749039" cy="2594763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38912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p.26（最終ページ）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83080"/>
            <a:ext cx="5029200" cy="13716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①　p.26を閉じる前に握る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【実演】「費用対効果でみれば、早いうちにセット導入するのがお得です。ここまではよろしいでしょうか？」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291840"/>
            <a:ext cx="5029200" cy="137160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②　電気代と天秤にかける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【実演】「いま月18,000円お支払いですよね。その範囲内に収まれば、導入に問題はないですか？」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4800600"/>
            <a:ext cx="5029200" cy="13716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③　シミュレーションを開く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【実演】「では、〇〇様のお家の屋根で実際にどうなるか、見ていきましょう」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ルール⑲：正式見積りの提示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成約率最大化のために、正式見積りの提出で即決を促す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49424"/>
            <a:ext cx="9098280" cy="47548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セオリーは商談時にそのまま提示。図面が無い・条件が変わる場合は別日提示もやむなし（1〜2割は仕方ありません）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761488"/>
          <a:ext cx="9098280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3063240"/>
                <a:gridCol w="55778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ポイント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なぜそうするか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「ケーブル単価」まで記載する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「その他部材」とまとめない。「高い」と感じても「やらない」ではなく「どこか削れないか」という交渉に変わる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「お客様の声」ご協力お値引を実施する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お客様が感じる「安さ」は実際の価格ではなく「基準値との差 × その為に要した労力」。単なる値引きはありがたみを感じにくい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③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（定価記載のある）メーカーカタログを同封する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本商材は「比較される前提」で考える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安さとは「基準値との差 × その為に要した労力」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ルール⑳：後始末の実施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19072"/>
            <a:ext cx="9098280" cy="420624"/>
          </a:xfrm>
          <a:prstGeom prst="rect">
            <a:avLst/>
          </a:prstGeom>
          <a:noFill/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POINT　</a:t>
            </a: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契約後のアフターフォローをしっかり行うことでお客様の不安を払拭する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49424"/>
            <a:ext cx="9098280" cy="47548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できる営業マンほど「後始末」まで気を抜きません。クーリング・オフ期間（8日間）はキャンセルを見越して対応します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724912"/>
          <a:ext cx="909828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5960"/>
                <a:gridCol w="713232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時期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やること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契約時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正式見積りの提示が前後することになっても、必ず一筆いただけるようにする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契約直後〜5日以内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なるべく翌日までに、お礼状（ハガキで構いません）を投函する。直筆のコメントが添えられていると尚良い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8日間〜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期間終了後も取り消しができないわけではない。油断せず、完工まで2週間ごとに連絡を取る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864608"/>
            <a:ext cx="9098280" cy="8686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取り組み事例：エコプラスワン様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お礼状に「訪問時の話題」と「夫婦両者のお名前」を入れる　→　クーリングオフほぼなし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契約時は良い買い物と思っていても、その後に不安が強くなる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1周目：Paragraph 03（p.23〜p.26）を通す（6分）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4526280" cy="21031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やること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① 2人1組（営業／お客様役）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② p.23から始めて、p.26の「早いうちにセット導入がお得」で終わる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③ 3分で交代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783080"/>
            <a:ext cx="4526280" cy="210312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この周で見るポイント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・「機会損失」という言葉を使えたか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・数字をお客様の実額（月18,000円）に置き換えたか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・「財産」「投資」という言葉で締めたか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114800"/>
            <a:ext cx="9098280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お客様役はこの断り文句を必ず1回入れてください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0000"/>
                </a:solidFill>
                <a:latin typeface="HGPｺﾞｼｯｸE"/>
                <a:ea typeface="HGPｺﾞｼｯｸE"/>
              </a:rPr>
              <a:t>「もう少し待てば、蓄電池も安くなるんじゃないですか？」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→ 営業役は物価指数（6年で12.7％上昇）と原材料の話で返す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85216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やるかどうかの議論に戻らせない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顧客設定（第2回・第3回と同じ田中様ご夫婦）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55648"/>
          <a:ext cx="9098280" cy="3749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74066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項目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設定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ご家族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田中様ご夫婦（ご主人48歳・会社員／奥様45歳・パート）＋ 高校生・中学生のお子様2人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お住まい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築14年の戸建て（4LDK）。南向き切妻屋根。オール電化ではない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導入状況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太陽光・蓄電池ともに未導入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月平均 18,000円（夏場は24,000円）　→　30年で648万円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温度感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ご主人＝慎重。「元が取れるのか」が最大の関心。奥様＝前向き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本日の追加設定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住宅ローンを月9万円返済中。「これ以上ローンを増やしたくない」という意識がある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断り文句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「もう少し待てば、蓄電池も安くなるんじゃないですか？」「総額でいくらになるんですか？」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806440"/>
            <a:ext cx="9098280" cy="512064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ローン返済中の設定です。「追加の出費」ではなく「置き換え」だと伝えられるかを見ています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2周目：金額提示まで通す（6分）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4526280" cy="201168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やること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① 3人1組（営業／ご主人役／奥様役）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② p.23から始め、アプローチブックを閉じて金額提示まで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③ 3分で交代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783080"/>
            <a:ext cx="4526280" cy="20116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この周で見るポイント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・総額を先に言ってしまっていないか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・1日 → 1か月 → 総額 の順を守れたか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HGPｺﾞｼｯｸE"/>
                <a:ea typeface="HGPｺﾞｼｯｸE"/>
              </a:rPr>
              <a:t>・最後までセット提案を崩していないか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4023360"/>
          <a:ext cx="909828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2926080"/>
                <a:gridCol w="29260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進行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使うもの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時間の目安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時期訴求（⑬⑭⑮）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 p.23〜p.26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1分30秒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受け渡し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アプローチブックを閉じる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金額訴求（⑯⑰⑱）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シミュレーション・概算見積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1分15秒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806440"/>
            <a:ext cx="9098280" cy="60350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このページの結論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総額を口にするのは最後の15秒だけ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チェックシート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0000"/>
                </a:solidFill>
                <a:latin typeface="HGPｺﾞｼｯｸE"/>
                <a:ea typeface="HGPｺﾞｼｯｸE"/>
              </a:rPr>
              <a:t>ロープレのあと、自分で○△×をつけてください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737360"/>
          <a:ext cx="9372600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1783080"/>
                <a:gridCol w="2880360"/>
                <a:gridCol w="237744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ルール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該当ページ／道具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狙った台詞を引き出せたか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結論を言えたか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⑬導入に向けた考え方の転換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今設置した方がお得なのですね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設置を遅くするほどメリットが減る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⑭物価指数とコストトレンド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待っても上がる一方なのですね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待っても安くなるとは限らない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⑮投資対効果の視点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p.25・26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長期的には財産になるのですね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持ち家と同じく長期的な財産になる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⑯概算の機器導入費用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シミュレーション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電気代の範囲なら問題ない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月々の額だけを握れた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⑰太陽光設置容量の確認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図面・診断ツール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（枚数のイメージが湧いた反応）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蓄電池は容量×1.5で提案した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⑱概算見積りの提示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概算見積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月1万円台なら、と前向きな答え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伝える順番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1日 → 1か月 → 総額 の順を守れた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商談運営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発言比率6：4／ご主人2：奥様2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セット提案を崩さなかった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715000"/>
            <a:ext cx="937260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「結論を言えたか」の欄は、資料を閉じて声に出して確認します（暗唱チェック）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本日のまとめ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9098280" cy="2103120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本日持ち帰ること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① お客様の頭を「導入するか」から「いつ導入するのが賢いか」へ切り替える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② 待っても安くならない。物価は6年で12.7％上がり、原材料の構造も変わらない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③ 電気代は「賃貸の家賃」。創蓄は払い終われば「持ち家」になる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FF0000"/>
                </a:solidFill>
                <a:latin typeface="HGPｺﾞｼｯｸE"/>
                <a:ea typeface="HGPｺﾞｼｯｸE"/>
              </a:rPr>
              <a:t>④ 金額は 1日 → 1か月 → 総額 の順。総額は最後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657600"/>
            <a:ext cx="9098280" cy="21031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HGPｺﾞｼｯｸE"/>
                <a:ea typeface="HGPｺﾞｼｯｸE"/>
              </a:rPr>
              <a:t>宿題（次回までに）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① 自社の「容量と価格帯の一覧表」をつくり、月1万円台の提案を1本用意してくること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② 20のルール全部を、アプローチブックのページと対応させて言えるようにしてくること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HGPｺﾞｼｯｸE"/>
                <a:ea typeface="HGPｺﾞｼｯｸE"/>
              </a:rPr>
              <a:t>③ 実商談を1件、総額を口にしたタイミングを記録してくること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989320"/>
            <a:ext cx="9098280" cy="38404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次回・第5回は「総仕上げ通しロープレ」／アプローチブック p.2〜p.26 を頭から通します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19793" y="470959"/>
            <a:ext cx="9666414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この度は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㈱船井総合研究所　住宅用太陽光・蓄電池の売り方マスター研修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にご参加いただき、誠にありがとうございました。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１．講座及びテキストに関するお問い合わせは、下記までお願いいたします。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２．本テキストの著作権は、引用部分を除き、全て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(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)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船井総合研究所に帰属しています。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３．本セミナーで入手したテキスト、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DVD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、その他の文書等は許可なく複製を作成すること、また二次利用することを禁止します。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４．本セミナーの内容と同じ、または類似した研修の開催や、第三者に行わせることを禁じます。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５．録音、録画、撮影などの行為はお断りします。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６．本セミナーで入手したテキストおよび資料等をＳＮＳ等を通じて第三者に開示することを禁じます。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７．なお、上記３～６の事項が発覚した場合、本人または法人に対して損害賠償を行う場合があります。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８．当社ではセミナー中の様子を撮影し、当社の宣伝に使用することがあります。あらかじめご了承ください。　　　　 　   　　　　　　　　　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92512" y="2926534"/>
            <a:ext cx="9702351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株式会社船井総合研究所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『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住宅用太陽光・蓄電池の売り方マスター研修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』</a:t>
            </a: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92512" y="4641034"/>
            <a:ext cx="9702351" cy="195631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1397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2026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年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月発行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著　者　 ：　株式会社船井総合研究所　　専門工事支援部 北 隆人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発行所　：　株式会社船井総合研究所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大阪本社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東京本社（サステナグローススクエア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TOKYO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）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〒５４１－００４１　大阪市中央区北浜４－４－１０　　　　　　　〒１０４－００２８　東京都中央区八重洲二丁目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号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　　　　　　　　　　　　　　　　　　　東京ミッドタウン八重洲 八重洲セントラルタワー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35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階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ＴＥＬ　０６－６２３２－０２７１（代表）　　　　　　　　　　　　　　　　　ＴＥＬ：０３－４３５６－０２７１（通）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E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Mail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takato-kita@funaisoken.co.jp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2512" y="4069534"/>
            <a:ext cx="9702351" cy="571500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機密情報／無断転用禁止　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4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【ソーラープロジェクト大社様】2024年11月度お打ち合わせ資料 .pptx" id="{F2A59035-B9C3-4A75-B90B-5E71CD3F6C43}" vid="{552278E5-979D-4048-BBE5-2AFDF89082E8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25900</TotalTime>
  <Words>6897</Words>
  <Application>Microsoft Office PowerPoint</Application>
  <PresentationFormat>A4 210 x 297 mm</PresentationFormat>
  <Paragraphs>716</Paragraphs>
  <Slides>71</Slides>
  <Notes>32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71</vt:i4>
      </vt:variant>
    </vt:vector>
  </HeadingPairs>
  <TitlesOfParts>
    <vt:vector size="88" baseType="lpstr">
      <vt:lpstr>BIZ UDPゴシック</vt:lpstr>
      <vt:lpstr>Google Sans Text</vt:lpstr>
      <vt:lpstr>HGPｺﾞｼｯｸE</vt:lpstr>
      <vt:lpstr>HGP創英角ｺﾞｼｯｸUB</vt:lpstr>
      <vt:lpstr>HGP明朝E</vt:lpstr>
      <vt:lpstr>HGSｺﾞｼｯｸM</vt:lpstr>
      <vt:lpstr>Meiryo UI</vt:lpstr>
      <vt:lpstr>メイリオ</vt:lpstr>
      <vt:lpstr>游ゴシック</vt:lpstr>
      <vt:lpstr>游ゴシック体</vt:lpstr>
      <vt:lpstr>Arial</vt:lpstr>
      <vt:lpstr>Calibri</vt:lpstr>
      <vt:lpstr>Lucida Calligraphy</vt:lpstr>
      <vt:lpstr>Monotype Corsiva</vt:lpstr>
      <vt:lpstr>Wingdings</vt:lpstr>
      <vt:lpstr>Office テーマ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船井総合研究所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F2038</dc:creator>
  <cp:lastModifiedBy>Ryusho Sameshima</cp:lastModifiedBy>
  <cp:revision>713</cp:revision>
  <cp:lastPrinted>2025-11-06T11:25:07Z</cp:lastPrinted>
  <dcterms:created xsi:type="dcterms:W3CDTF">2017-03-26T07:08:56Z</dcterms:created>
  <dcterms:modified xsi:type="dcterms:W3CDTF">2026-05-20T08:32:28Z</dcterms:modified>
</cp:coreProperties>
</file>