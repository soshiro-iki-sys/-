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jpg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702" r:id="rId2"/>
  </p:sldMasterIdLst>
  <p:notesMasterIdLst>
    <p:notesMasterId r:id="rId74"/>
  </p:notesMasterIdLst>
  <p:handoutMasterIdLst>
    <p:handoutMasterId r:id="rId75"/>
  </p:handoutMasterIdLst>
  <p:sldIdLst>
    <p:sldId id="344" r:id="rId3"/>
    <p:sldId id="1179" r:id="rId11"/>
    <p:sldId id="1180" r:id="rId12"/>
    <p:sldId id="1181" r:id="rId13"/>
    <p:sldId id="1182" r:id="rId14"/>
    <p:sldId id="1183" r:id="rId15"/>
    <p:sldId id="1184" r:id="rId16"/>
    <p:sldId id="1185" r:id="rId17"/>
    <p:sldId id="1186" r:id="rId18"/>
    <p:sldId id="1187" r:id="rId19"/>
    <p:sldId id="1188" r:id="rId20"/>
    <p:sldId id="1189" r:id="rId21"/>
    <p:sldId id="1190" r:id="rId22"/>
    <p:sldId id="1191" r:id="rId23"/>
    <p:sldId id="1192" r:id="rId24"/>
    <p:sldId id="1193" r:id="rId25"/>
    <p:sldId id="1194" r:id="rId26"/>
    <p:sldId id="1195" r:id="rId27"/>
    <p:sldId id="1196" r:id="rId28"/>
    <p:sldId id="1197" r:id="rId29"/>
    <p:sldId id="1198" r:id="rId30"/>
    <p:sldId id="1199" r:id="rId31"/>
    <p:sldId id="1200" r:id="rId32"/>
    <p:sldId id="1201" r:id="rId33"/>
    <p:sldId id="1178" r:id="rId73"/>
  </p:sldIdLst>
  <p:sldSz cx="9906000" cy="6858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DE1"/>
    <a:srgbClr val="362A2A"/>
    <a:srgbClr val="9BBB59"/>
    <a:srgbClr val="FB43D4"/>
    <a:srgbClr val="E85504"/>
    <a:srgbClr val="0066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3" autoAdjust="0"/>
    <p:restoredTop sz="96343" autoAdjust="0"/>
  </p:normalViewPr>
  <p:slideViewPr>
    <p:cSldViewPr showGuides="1">
      <p:cViewPr varScale="1">
        <p:scale>
          <a:sx n="82" d="100"/>
          <a:sy n="82" d="100"/>
        </p:scale>
        <p:origin x="1694" y="72"/>
      </p:cViewPr>
      <p:guideLst>
        <p:guide orient="horz" pos="845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3246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73" Type="http://schemas.openxmlformats.org/officeDocument/2006/relationships/slide" Target="slides/slide900.xml"/><Relationship Id="rId74" Type="http://schemas.openxmlformats.org/officeDocument/2006/relationships/notesMaster" Target="notesMasters/notesMaster1.xml"/><Relationship Id="rId75" Type="http://schemas.openxmlformats.org/officeDocument/2006/relationships/handoutMaster" Target="handoutMasters/handout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18830" cy="495029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4" y="2"/>
            <a:ext cx="2918830" cy="495029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r">
              <a:defRPr sz="1200"/>
            </a:lvl1pPr>
          </a:lstStyle>
          <a:p>
            <a:fld id="{695728E3-876B-4768-9AB0-7D988C1247D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2" y="9371288"/>
            <a:ext cx="2918830" cy="495028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4" y="9371288"/>
            <a:ext cx="2918830" cy="495028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r">
              <a:defRPr sz="1200"/>
            </a:lvl1pPr>
          </a:lstStyle>
          <a:p>
            <a:fld id="{E00352D2-49C1-4968-AB3E-0C456C91C2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3722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r">
              <a:defRPr sz="1200"/>
            </a:lvl1pPr>
          </a:lstStyle>
          <a:p>
            <a:fld id="{A8D18B60-6E12-48B8-B760-06957378EDAD}" type="datetimeFigureOut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48" tIns="47425" rIns="94848" bIns="47425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8" y="4686501"/>
            <a:ext cx="5388610" cy="4439841"/>
          </a:xfrm>
          <a:prstGeom prst="rect">
            <a:avLst/>
          </a:prstGeom>
        </p:spPr>
        <p:txBody>
          <a:bodyPr vert="horz" lIns="94848" tIns="47425" rIns="94848" bIns="47425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2" y="9371285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4" y="9371285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r">
              <a:defRPr sz="1200"/>
            </a:lvl1pPr>
          </a:lstStyle>
          <a:p>
            <a:fld id="{B76C3785-4774-4B27-AA13-6B236C476115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6C3785-4774-4B27-AA13-6B236C476115}" type="slidenum">
              <a:rPr kumimoji="1" lang="ja-JP" altLang="en-US" smtClean="0"/>
              <a:pPr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2633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・本日は「教わる場」ではなく「試す場」だと最初に宣言する</a:t>
            </a:r>
          </a:p>
          <a:p>
            <a:r>
              <a:t>・全員が必ず1回は最後まで通す。途中で止まっても止めない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・解説パートが延びたら削る。ロープレの50分は死守する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・講師は完璧にやらない。あえて1か所詰まってみせ、そこからの立て直し方も見せる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・最後は必ず全員に一言ずつ言ってもらってから締める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DEDC6-F80D-48C2-B138-00A27E7F2E65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4A63-54DC-4F0A-84AB-53668F1114D2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4A45F-A8A8-4DDE-B673-AED63056AB3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025A-80F9-47C5-83D6-D2A5A3B97719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BD1E-31C5-4520-B82E-04337BC9ED08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DA76A-BB70-46AD-B592-B57DADC2881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B68-78AE-4B40-9B77-32E3BBE4C65E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1A2F7-89F4-4CBB-9F6E-BD9D54E64EE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CFBB6-5FCD-4CD1-A658-5A106B94C497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A81-3346-464B-A479-530443E8B95D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2015-3E19-41F4-BCCA-3D5A7443FCC4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768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2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6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097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5"/>
            <a:ext cx="4206531" cy="22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853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853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853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4"/>
            <a:ext cx="2228850" cy="365125"/>
          </a:xfrm>
        </p:spPr>
        <p:txBody>
          <a:bodyPr/>
          <a:lstStyle>
            <a:lvl1pPr>
              <a:defRPr sz="975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6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2" cy="605918"/>
          </a:xfrm>
        </p:spPr>
        <p:txBody>
          <a:bodyPr>
            <a:noAutofit/>
          </a:bodyPr>
          <a:lstStyle>
            <a:lvl1pPr algn="ctr">
              <a:defRPr sz="2925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8" y="-3521490"/>
            <a:ext cx="11734664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2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4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8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4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9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70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70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70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70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タイトル（目次と対応させてください。）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フォント：メイリオ見出し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48</a:t>
            </a:r>
          </a:p>
          <a:p>
            <a:pPr algn="ctr"/>
            <a:r>
              <a:rPr lang="ja-JP" altLang="en-US" sz="1097" dirty="0"/>
              <a:t>ボールド</a:t>
            </a:r>
            <a:endParaRPr lang="en-US" altLang="ja-JP" sz="1097" dirty="0"/>
          </a:p>
          <a:p>
            <a:pPr algn="ctr"/>
            <a:r>
              <a:rPr lang="ja-JP" altLang="en-US" sz="1097" dirty="0"/>
              <a:t>真ん中寄せ</a:t>
            </a:r>
            <a:endParaRPr kumimoji="1" lang="en-US" altLang="ja-JP" sz="1097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0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小見出し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フォント：メイリオ本文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32</a:t>
            </a:r>
          </a:p>
          <a:p>
            <a:pPr algn="ctr"/>
            <a:r>
              <a:rPr lang="ja-JP" altLang="en-US" sz="1097" dirty="0"/>
              <a:t>ボールド</a:t>
            </a:r>
            <a:endParaRPr lang="en-US" altLang="ja-JP" sz="1097" dirty="0"/>
          </a:p>
          <a:p>
            <a:pPr algn="ctr"/>
            <a:r>
              <a:rPr kumimoji="1" lang="ja-JP" altLang="en-US" sz="1097" dirty="0"/>
              <a:t>左寄せ</a:t>
            </a:r>
            <a:endParaRPr kumimoji="1" lang="en-US" altLang="ja-JP" sz="1097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0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本文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フォント：メイリオ本文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18</a:t>
            </a:r>
          </a:p>
          <a:p>
            <a:pPr algn="ctr"/>
            <a:r>
              <a:rPr kumimoji="1" lang="ja-JP" altLang="en-US" sz="1097" dirty="0"/>
              <a:t>左寄せ</a:t>
            </a:r>
            <a:endParaRPr kumimoji="1" lang="en-US" altLang="ja-JP" sz="1097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70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76209500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84438440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63855536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9174585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484692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4373420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2173626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4031544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183429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1114061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9192423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8287582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1574412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4216793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26300916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97072234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2250322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787302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0798260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775279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6575716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1737084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9467632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7827395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5174241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6451614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1173428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4627575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158225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5763589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04416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5219349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2207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98557532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4557753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713398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</p:spTree>
    <p:extLst>
      <p:ext uri="{BB962C8B-B14F-4D97-AF65-F5344CB8AC3E}">
        <p14:creationId xmlns:p14="http://schemas.microsoft.com/office/powerpoint/2010/main" val="389747795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65194846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2134033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0649018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 userDrawn="1"/>
        </p:nvSpPr>
        <p:spPr>
          <a:xfrm>
            <a:off x="34397" y="6634602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l" defTabSz="74295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 </a:t>
            </a:r>
            <a:r>
              <a:rPr lang="ja-JP" altLang="en-US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650" baseline="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650" baseline="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650" kern="1200" dirty="0">
              <a:solidFill>
                <a:schemeClr val="tx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3797300" y="6592269"/>
            <a:ext cx="2311400" cy="365125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731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731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タイトル 1"/>
          <p:cNvSpPr>
            <a:spLocks noGrp="1"/>
          </p:cNvSpPr>
          <p:nvPr>
            <p:ph type="ctrTitle"/>
          </p:nvPr>
        </p:nvSpPr>
        <p:spPr>
          <a:xfrm>
            <a:off x="-2" y="8468"/>
            <a:ext cx="8949798" cy="620688"/>
          </a:xfrm>
        </p:spPr>
        <p:txBody>
          <a:bodyPr>
            <a:normAutofit/>
          </a:bodyPr>
          <a:lstStyle>
            <a:lvl1pPr>
              <a:defRPr sz="26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pic>
        <p:nvPicPr>
          <p:cNvPr id="8" name="Picture 1" descr="C:\Users\F2034\Pictures\6.会社データ(ロゴ・サイン）\パターンC(タグ無し）\パターンC(タグ無し）カラー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7351" y="68626"/>
            <a:ext cx="979838" cy="50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10598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9067-D5A7-4D20-AE49-915E5BDB9F4F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8E823636-1305-4F53-9866-547E7D8CE7E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8150" y="3403600"/>
            <a:ext cx="8979346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図 6" descr="パターンA_カラー.jpg">
            <a:extLst>
              <a:ext uri="{FF2B5EF4-FFF2-40B4-BE49-F238E27FC236}">
                <a16:creationId xmlns:a16="http://schemas.microsoft.com/office/drawing/2014/main" id="{3DBCC9CD-6C0C-47EC-80E8-87633DBE3D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193360" y="6453336"/>
            <a:ext cx="1512168" cy="263485"/>
          </a:xfrm>
          <a:prstGeom prst="rect">
            <a:avLst/>
          </a:prstGeom>
        </p:spPr>
      </p:pic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AFCC08E-3E46-4DAF-AB38-B8819EC7D9A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04528" y="2564904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4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〇月度お打合せ資料</a:t>
            </a:r>
          </a:p>
        </p:txBody>
      </p:sp>
      <p:sp>
        <p:nvSpPr>
          <p:cNvPr id="10" name="コンテンツ プレースホルダー 8">
            <a:extLst>
              <a:ext uri="{FF2B5EF4-FFF2-40B4-BE49-F238E27FC236}">
                <a16:creationId xmlns:a16="http://schemas.microsoft.com/office/drawing/2014/main" id="{28B2D2FF-C2AA-40BF-9A54-68583069E68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04528" y="2085777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株式会社御中</a:t>
            </a:r>
          </a:p>
        </p:txBody>
      </p:sp>
      <p:sp>
        <p:nvSpPr>
          <p:cNvPr id="11" name="コンテンツ プレースホルダー 8">
            <a:extLst>
              <a:ext uri="{FF2B5EF4-FFF2-40B4-BE49-F238E27FC236}">
                <a16:creationId xmlns:a16="http://schemas.microsoft.com/office/drawing/2014/main" id="{ECF04A37-370B-4768-A875-EF9C667848E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36976" y="3433465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日付</a:t>
            </a:r>
          </a:p>
        </p:txBody>
      </p:sp>
    </p:spTree>
    <p:extLst>
      <p:ext uri="{BB962C8B-B14F-4D97-AF65-F5344CB8AC3E}">
        <p14:creationId xmlns:p14="http://schemas.microsoft.com/office/powerpoint/2010/main" val="149912360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ジェン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AEF3C9B-15A5-4754-B97A-474B280C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9477-32A0-4799-AD80-C098563D5CC0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D5602E-9916-437E-9C25-C8047E09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43BD0A-BD54-4DF0-A3BE-6D3FA31F9069}"/>
              </a:ext>
            </a:extLst>
          </p:cNvPr>
          <p:cNvSpPr txBox="1"/>
          <p:nvPr userDrawn="1"/>
        </p:nvSpPr>
        <p:spPr>
          <a:xfrm>
            <a:off x="-15552" y="44624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50" charset="-128"/>
              </a:rPr>
              <a:t>本日のお打合せ内容</a:t>
            </a:r>
            <a:endParaRPr kumimoji="1" lang="ja-JP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EA3A4F-1EF2-4A9E-BD1F-DE9A3E01A425}"/>
              </a:ext>
            </a:extLst>
          </p:cNvPr>
          <p:cNvSpPr/>
          <p:nvPr userDrawn="1"/>
        </p:nvSpPr>
        <p:spPr>
          <a:xfrm>
            <a:off x="69725" y="666126"/>
            <a:ext cx="2592000" cy="2923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お打合せ事項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7B66B0E-B525-4135-A640-3C5077DFBABA}"/>
              </a:ext>
            </a:extLst>
          </p:cNvPr>
          <p:cNvSpPr/>
          <p:nvPr userDrawn="1"/>
        </p:nvSpPr>
        <p:spPr>
          <a:xfrm>
            <a:off x="72749" y="3911838"/>
            <a:ext cx="2592000" cy="2923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次回お打合せ日程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0CE6683-2EEC-4A4B-B2A1-E385C7062BF3}"/>
              </a:ext>
            </a:extLst>
          </p:cNvPr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" descr="C:\Users\F2034\Pictures\6.会社データ(ロゴ・サイン）\パターンC(タグ無し）\パターンC(タグ無し）カラー.png">
            <a:extLst>
              <a:ext uri="{FF2B5EF4-FFF2-40B4-BE49-F238E27FC236}">
                <a16:creationId xmlns:a16="http://schemas.microsoft.com/office/drawing/2014/main" id="{8872FC31-1813-49E9-8E6B-E9B5CED7B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1432" y="68626"/>
            <a:ext cx="979838" cy="504000"/>
          </a:xfrm>
          <a:prstGeom prst="rect">
            <a:avLst/>
          </a:prstGeom>
          <a:noFill/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1EA9E4-A15B-418D-B69C-E609A5DDD9EC}"/>
              </a:ext>
            </a:extLst>
          </p:cNvPr>
          <p:cNvSpPr/>
          <p:nvPr userDrawn="1"/>
        </p:nvSpPr>
        <p:spPr>
          <a:xfrm>
            <a:off x="0" y="6678000"/>
            <a:ext cx="9906000" cy="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8DDC5E-044B-4C3D-BEA8-24AF979B3258}"/>
              </a:ext>
            </a:extLst>
          </p:cNvPr>
          <p:cNvSpPr txBox="1"/>
          <p:nvPr userDrawn="1"/>
        </p:nvSpPr>
        <p:spPr>
          <a:xfrm>
            <a:off x="6609184" y="6649964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</a:t>
            </a:r>
            <a:r>
              <a:rPr lang="ja-JP" altLang="en-US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800" kern="1200" dirty="0">
              <a:solidFill>
                <a:schemeClr val="bg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52F86702-B75D-40EF-96B7-30E910044692}"/>
              </a:ext>
            </a:extLst>
          </p:cNvPr>
          <p:cNvSpPr txBox="1">
            <a:spLocks/>
          </p:cNvSpPr>
          <p:nvPr userDrawn="1"/>
        </p:nvSpPr>
        <p:spPr>
          <a:xfrm>
            <a:off x="3797300" y="65922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SｺﾞｼｯｸM" pitchFamily="50" charset="-128"/>
                <a:ea typeface="HGSｺﾞｼｯｸM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SｺﾞｼｯｸM" pitchFamily="50" charset="-128"/>
              <a:ea typeface="HGSｺﾞｼｯｸM" pitchFamily="50" charset="-128"/>
              <a:cs typeface="+mn-cs"/>
            </a:endParaRPr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8C66AEEA-90B1-4FF5-983E-12E09DD67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500" y="1129818"/>
            <a:ext cx="5505450" cy="1792288"/>
          </a:xfrm>
        </p:spPr>
        <p:txBody>
          <a:bodyPr>
            <a:normAutofit/>
          </a:bodyPr>
          <a:lstStyle>
            <a:lvl1pPr marL="0" indent="0">
              <a:buFont typeface="+mj-ea"/>
              <a:buNone/>
              <a:defRPr sz="2400" b="1"/>
            </a:lvl1pPr>
          </a:lstStyle>
          <a:p>
            <a:pPr lvl="0"/>
            <a:r>
              <a:rPr kumimoji="1" lang="ja-JP" altLang="en-US" dirty="0"/>
              <a:t>①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②</a:t>
            </a:r>
            <a:endParaRPr kumimoji="1" lang="en-US" altLang="ja-JP" dirty="0"/>
          </a:p>
        </p:txBody>
      </p:sp>
      <p:sp>
        <p:nvSpPr>
          <p:cNvPr id="20" name="テキスト プレースホルダー 16">
            <a:extLst>
              <a:ext uri="{FF2B5EF4-FFF2-40B4-BE49-F238E27FC236}">
                <a16:creationId xmlns:a16="http://schemas.microsoft.com/office/drawing/2014/main" id="{347F4DAF-2DE1-4CC8-9835-4DFC642B51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500" y="4374514"/>
            <a:ext cx="5505450" cy="1792288"/>
          </a:xfrm>
        </p:spPr>
        <p:txBody>
          <a:bodyPr>
            <a:normAutofit/>
          </a:bodyPr>
          <a:lstStyle>
            <a:lvl1pPr marL="0" indent="0">
              <a:buFont typeface="+mj-ea"/>
              <a:buNone/>
              <a:defRPr sz="1800" b="1"/>
            </a:lvl1pPr>
          </a:lstStyle>
          <a:p>
            <a:pPr lvl="0"/>
            <a:r>
              <a:rPr kumimoji="1" lang="en-US" altLang="ja-JP" dirty="0"/>
              <a:t>2024</a:t>
            </a:r>
            <a:r>
              <a:rPr kumimoji="1" lang="ja-JP" altLang="en-US" dirty="0"/>
              <a:t>年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961619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600E18-DBF4-4DED-A3E8-EBDE8D9EA3B5}"/>
              </a:ext>
            </a:extLst>
          </p:cNvPr>
          <p:cNvSpPr/>
          <p:nvPr userDrawn="1"/>
        </p:nvSpPr>
        <p:spPr bwMode="auto">
          <a:xfrm>
            <a:off x="272480" y="332656"/>
            <a:ext cx="9454650" cy="62646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  <a:miter lim="800000"/>
            <a:headEnd/>
            <a:tailEnd/>
          </a:ln>
        </p:spPr>
        <p:txBody>
          <a:bodyPr wrap="none" rtlCol="0" anchor="t"/>
          <a:lstStyle/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2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  </a:t>
            </a:r>
          </a:p>
          <a:p>
            <a:pPr lvl="2"/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4EF40AA-2D98-4C1A-9B75-77B4B1EC2A46}"/>
              </a:ext>
            </a:extLst>
          </p:cNvPr>
          <p:cNvSpPr/>
          <p:nvPr userDrawn="1"/>
        </p:nvSpPr>
        <p:spPr bwMode="auto">
          <a:xfrm>
            <a:off x="128464" y="188640"/>
            <a:ext cx="2592288" cy="432048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決定事項</a:t>
            </a:r>
          </a:p>
        </p:txBody>
      </p:sp>
    </p:spTree>
    <p:extLst>
      <p:ext uri="{BB962C8B-B14F-4D97-AF65-F5344CB8AC3E}">
        <p14:creationId xmlns:p14="http://schemas.microsoft.com/office/powerpoint/2010/main" val="2542922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アジェン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0CE6683-2EEC-4A4B-B2A1-E385C7062BF3}"/>
              </a:ext>
            </a:extLst>
          </p:cNvPr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" descr="C:\Users\F2034\Pictures\6.会社データ(ロゴ・サイン）\パターンC(タグ無し）\パターンC(タグ無し）カラー.png">
            <a:extLst>
              <a:ext uri="{FF2B5EF4-FFF2-40B4-BE49-F238E27FC236}">
                <a16:creationId xmlns:a16="http://schemas.microsoft.com/office/drawing/2014/main" id="{8872FC31-1813-49E9-8E6B-E9B5CED7B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1432" y="68626"/>
            <a:ext cx="979838" cy="504000"/>
          </a:xfrm>
          <a:prstGeom prst="rect">
            <a:avLst/>
          </a:prstGeom>
          <a:noFill/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1EA9E4-A15B-418D-B69C-E609A5DDD9EC}"/>
              </a:ext>
            </a:extLst>
          </p:cNvPr>
          <p:cNvSpPr/>
          <p:nvPr userDrawn="1"/>
        </p:nvSpPr>
        <p:spPr>
          <a:xfrm>
            <a:off x="0" y="6678000"/>
            <a:ext cx="9906000" cy="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8DDC5E-044B-4C3D-BEA8-24AF979B3258}"/>
              </a:ext>
            </a:extLst>
          </p:cNvPr>
          <p:cNvSpPr txBox="1"/>
          <p:nvPr userDrawn="1"/>
        </p:nvSpPr>
        <p:spPr>
          <a:xfrm>
            <a:off x="6609184" y="6649964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</a:t>
            </a:r>
            <a:r>
              <a:rPr lang="ja-JP" altLang="en-US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800" kern="1200" dirty="0">
              <a:solidFill>
                <a:schemeClr val="bg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52F86702-B75D-40EF-96B7-30E910044692}"/>
              </a:ext>
            </a:extLst>
          </p:cNvPr>
          <p:cNvSpPr txBox="1">
            <a:spLocks/>
          </p:cNvSpPr>
          <p:nvPr userDrawn="1"/>
        </p:nvSpPr>
        <p:spPr>
          <a:xfrm>
            <a:off x="3797300" y="65922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SｺﾞｼｯｸM" pitchFamily="50" charset="-128"/>
                <a:ea typeface="HGSｺﾞｼｯｸM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SｺﾞｼｯｸM" pitchFamily="50" charset="-128"/>
              <a:ea typeface="HGSｺﾞｼｯｸM" pitchFamily="50" charset="-128"/>
              <a:cs typeface="+mn-cs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B55609-F8C4-4A71-A410-286691A672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472" y="68627"/>
            <a:ext cx="3960812" cy="552062"/>
          </a:xfr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9062224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EC131-7E93-4E21-A3A0-1A53928AA2CA}" type="datetime1">
              <a:rPr kumimoji="1" lang="ja-JP" altLang="en-US" smtClean="0"/>
              <a:t>2026/5/20</a:t>
            </a:fld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538144" y="6491969"/>
            <a:ext cx="2311400" cy="365125"/>
          </a:xfrm>
        </p:spPr>
        <p:txBody>
          <a:bodyPr/>
          <a:lstStyle/>
          <a:p>
            <a:fld id="{619B85A0-BB21-4C42-9028-BB80073B34CD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18939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0" y="6642000"/>
            <a:ext cx="9906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2DF90-A6ED-4A10-B24A-8E192E896765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594600" y="656743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23687FF-647B-4F7E-A20E-637EB01FA9DF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0"/>
            <a:ext cx="9906000" cy="5486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0" y="271681"/>
            <a:ext cx="338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200" b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2026</a:t>
            </a:r>
            <a:r>
              <a:rPr kumimoji="1" lang="ja-JP" altLang="en-US" sz="1200" b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年度　</a:t>
            </a:r>
            <a:r>
              <a:rPr kumimoji="1" lang="ja-JP" altLang="en-US" sz="1200" b="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住宅用太陽光・蓄電池研修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59477-32A0-4799-AD80-C098563D5CC0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Text Box 16"/>
          <p:cNvSpPr txBox="1">
            <a:spLocks noChangeArrowheads="1"/>
          </p:cNvSpPr>
          <p:nvPr userDrawn="1"/>
        </p:nvSpPr>
        <p:spPr bwMode="auto">
          <a:xfrm>
            <a:off x="6048044" y="6677175"/>
            <a:ext cx="393488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ja-JP" sz="900" dirty="0">
                <a:ea typeface="ＭＳ Ｐゴシック" pitchFamily="50" charset="-128"/>
              </a:rPr>
              <a:t>Copyright</a:t>
            </a:r>
            <a:r>
              <a:rPr lang="ja-JP" altLang="en-US" sz="900" dirty="0">
                <a:ea typeface="ＭＳ Ｐゴシック" pitchFamily="50" charset="-128"/>
              </a:rPr>
              <a:t>　</a:t>
            </a:r>
            <a:r>
              <a:rPr lang="en-US" altLang="ja-JP" sz="900" dirty="0" err="1">
                <a:ea typeface="ＭＳ Ｐゴシック" pitchFamily="50" charset="-128"/>
              </a:rPr>
              <a:t>Funai</a:t>
            </a:r>
            <a:r>
              <a:rPr lang="en-US" altLang="ja-JP" sz="900" dirty="0">
                <a:ea typeface="ＭＳ Ｐゴシック" pitchFamily="50" charset="-128"/>
              </a:rPr>
              <a:t> Consulting Co.ltd</a:t>
            </a:r>
            <a:r>
              <a:rPr lang="ja-JP" altLang="en-US" sz="900" dirty="0">
                <a:ea typeface="ＭＳ Ｐゴシック" pitchFamily="50" charset="-128"/>
              </a:rPr>
              <a:t>　　禁転載・禁複写</a:t>
            </a: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3797300" y="660290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51D2E0-CC30-4DAC-88BB-E6AB37505372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682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4C9A310-3AB5-49FE-B1F9-2C427DCC1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" t="1834" r="3141" b="3667"/>
          <a:stretch/>
        </p:blipFill>
        <p:spPr>
          <a:xfrm>
            <a:off x="-15552" y="-27384"/>
            <a:ext cx="9921552" cy="6888954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50DF95E-7A9A-442E-9966-946D2B47649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8064A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D832A5-E759-420F-B835-DF29A241CBFB}"/>
              </a:ext>
            </a:extLst>
          </p:cNvPr>
          <p:cNvSpPr txBox="1"/>
          <p:nvPr/>
        </p:nvSpPr>
        <p:spPr>
          <a:xfrm>
            <a:off x="288032" y="1988840"/>
            <a:ext cx="9619052" cy="29238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BIZ UDPゴシック"/>
                <a:ea typeface="BIZ UDPゴシック"/>
              </a:rPr>
              <a:t>2026年度　営業研修</a:t>
            </a:r>
            <a:endParaRPr lang="en-US" altLang="ja-JP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BIZ UDPゴシック"/>
                <a:ea typeface="BIZ UDPゴシック"/>
              </a:rPr>
              <a:t>第5回　総仕上げ</a:t>
            </a:r>
          </a:p>
          <a:p>
            <a:pPr algn="l"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BIZ UDPゴシック"/>
                <a:ea typeface="BIZ UDPゴシック"/>
              </a:rPr>
              <a:t>通しロープレ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BIZ UDPゴシック"/>
                <a:ea typeface="BIZ UDPゴシック"/>
              </a:rPr>
              <a:t>〜太陽光＋蓄電池セット販売〜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1E207B-1CE8-4FD8-B86D-32251E1C4C12}"/>
              </a:ext>
            </a:extLst>
          </p:cNvPr>
          <p:cNvSpPr txBox="1"/>
          <p:nvPr/>
        </p:nvSpPr>
        <p:spPr>
          <a:xfrm>
            <a:off x="4664968" y="4471938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BIZ UDPゴシック"/>
                <a:ea typeface="BIZ UDPゴシック"/>
              </a:rPr>
              <a:t>2026年9月下旬　＠船井総研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B7CC725-B595-4742-A8BF-D882BB45AE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388" y="5736453"/>
            <a:ext cx="2309225" cy="47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986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本日のゴール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9052560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FF0000"/>
                </a:solidFill>
                <a:latin typeface="HGPｺﾞｼｯｸE"/>
                <a:ea typeface="HGPｺﾞｼｯｸE"/>
              </a:rPr>
              <a:t>アプローチブック26ページを、止まらずに1人で通せる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9098280" cy="27889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研修が終わったときの「できる状態」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①　p.2からp.26まで、資料を見ながら止まらずに話せる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②　20のルールを、アプローチブックのページと対応させて言える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③　よくある断り文句5つに、その場で切り返せる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④　最後までセット提案を崩さずに、仮契約まで運べる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5166360"/>
            <a:ext cx="9098280" cy="7772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0000"/>
                </a:solidFill>
                <a:latin typeface="HGPｺﾞｼｯｸE"/>
                <a:ea typeface="HGPｺﾞｼｯｸE"/>
              </a:rPr>
              <a:t>本日は解説をほとんどしません。時間の大半をロープレに使います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本日のアジェンダ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81328"/>
          <a:ext cx="9098279" cy="40050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3931920"/>
                <a:gridCol w="3749039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時間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内容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扱うもの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0:00-0:10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全5回の振り返り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第1回〜第4回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0:10-0:25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20のルール ↔ アプローチブックの総復習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対応表／商談の設計図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0:25-0:40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講師による通しデモ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アプローチブック p.2〜p.26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0:40-0:50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休憩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0:50-1:15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ロールプレイング①　前半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p.2〜p.17（ルール①〜⑨）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1:15-1:40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ロールプレイング②　後半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p.18〜p.26＋見積り（ルール⑩〜⑳）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1:40-1:55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個別フィードバック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評価シート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1:55-2:00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全5回の総括／明日からの行動計画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全5回でやってきたこと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9372600" cy="36027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2331720"/>
                <a:gridCol w="1051560"/>
                <a:gridCol w="1737360"/>
                <a:gridCol w="35204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回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テーマ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扱ったルール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アプローチブック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核になる考え方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第1回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業界商材の知識講座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知識は「自信」の材料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第2回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聞く姿勢づくり＆必要性訴求①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①〜⑨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p.2〜p.17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先に聞くから、聞いてもらえる／下げてから上げる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第3回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災害対策・商品説明・経済メリット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⑩〜⑫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p.18〜p.21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災害は3分で抜ける／FABのBは「お客様が主語」／経済メリットは2通り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第4回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時期・料金訴求＆ロープレ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⑬〜⑳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p.23〜p.26＋見積り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「いつ導入するのが賢いか」へ転換／総額は最後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第5回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総仕上げ通しロープレ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①〜⑳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p.2〜p.26 通し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全部つなげて、1人で通す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440680"/>
            <a:ext cx="9372600" cy="82296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ここまでで、商談で使う材料はすべて揃っています。</a:t>
            </a:r>
          </a:p>
          <a:p>
            <a:pPr algn="l">
              <a:spcAft>
                <a:spcPts val="500"/>
              </a:spcAft>
            </a:pPr>
            <a:r>
              <a:rPr sz="1800" b="1">
                <a:solidFill>
                  <a:srgbClr val="FF0000"/>
                </a:solidFill>
                <a:latin typeface="HGPｺﾞｼｯｸE"/>
                <a:ea typeface="HGPｺﾞｼｯｸE"/>
              </a:rPr>
              <a:t>あとは「順番どおりに、止まらずに出せるか」だけです。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総復習：契約までの4ステップ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5</a:t>
            </a:r>
          </a:p>
        </p:txBody>
      </p:sp>
      <p:pic>
        <p:nvPicPr>
          <p:cNvPr id="5" name="Picture 4" descr="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86400" cy="34557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5080" y="1463040"/>
            <a:ext cx="3154680" cy="4160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積む順番を絶対に飛ばさない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STEP1　聴く姿勢（①〜⑥）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95959"/>
                </a:solidFill>
                <a:latin typeface="HGPｺﾞｼｯｸE"/>
                <a:ea typeface="HGPｺﾞｼｯｸE"/>
              </a:rPr>
              <a:t>この営業の話を聞きたいと思わせる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STEP2　必要性訴求（⑦〜⑫）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95959"/>
                </a:solidFill>
                <a:latin typeface="HGPｺﾞｼｯｸE"/>
                <a:ea typeface="HGPｺﾞｼｯｸE"/>
              </a:rPr>
              <a:t>太陽光・蓄電池は必要だと思ってもらう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STEP3　時期訴求（⑬〜⑮）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95959"/>
                </a:solidFill>
                <a:latin typeface="HGPｺﾞｼｯｸE"/>
                <a:ea typeface="HGPｺﾞｼｯｸE"/>
              </a:rPr>
              <a:t>今導入するのがお得だと認識させる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STEP4　金額訴求（⑯〜⑳）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HGPｺﾞｼｯｸE"/>
                <a:ea typeface="HGPｺﾞｼｯｸE"/>
              </a:rPr>
              <a:t>自分でも払えそうな金額だと理解させる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土台が無いまま金額の話をすると、価格だけで判断されて終わります。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保存版：20のルール ↔ アプローチブック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この1枚を手元に置いてロープレしてください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17904"/>
          <a:ext cx="9372600" cy="4919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1371600"/>
                <a:gridCol w="3291840"/>
                <a:gridCol w="2057400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ルール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ページ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狙う反応（お客様の台詞）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使う話法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①商談テーブルの確認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（商談前）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検針票・図面／夫婦両主権者／1時間を押さえる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②自社の概要・訪問趣旨の理解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商談の構成が分かる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物語効果・ラポール形成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③未導入理由の確認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（資料なし）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導入しなかった理由が3つ出る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オープンクエスチョン×3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④前向きな検討に対する言質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（資料なし）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解消できれば導入する予定です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一貫性の法則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⑤太陽光が当たり前であることの理解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p.3・p.4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義務化・今後必須の流れになるの!?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包み込みの法則①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⑥直近の国策動向のおさらい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p.5〜p.7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じゃあつけた方がいいかもねえ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包み込みの法則②・二者択一話法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⑦直近数か年の電気代推移の理解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p.9・10・12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10年で5.5万円も上がっているのですね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⑧再エネ賦課金の構造の理解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p.11・13〜16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賦課金が上昇して電気代が上がるのですね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YES取り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⑨長期で支払う電気代総額の理解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30年でそんなにも払わないといけないのですね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第三者話法・損失回避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⑩非常時に備える意義の理解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p.18・p.19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いつ災害が起こるか分からないですね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⑪非常時対策の効果の確認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（ページなし）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停電時も電気が使えた方が安心です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第三者話法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⑫太陽光・蓄電池の使い方の理解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p.20・p.21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買うより自給自足した方が良いですね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⑬導入に向けた考え方の転換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今設置した方が将来的にお得なのですね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プロスペクト理論（機会損失）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⑭物価指数とコストトレンドの説明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待っても上がる一方なのですね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⑮投資対効果の視点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p.25・p.26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長期的には財産になるのですね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二者択一話法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⑯概算の機器導入費用のおさらい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シミュレーション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電気代の範囲なら問題ないです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⑰太陽光設置容量の確認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図面・診断ツール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（枚数のイメージが湧いた反応）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テストクロージング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⑱概算見積りの提示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概算見積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月1万円台なら、と前向きな答え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フレーミング効果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⑲正式見積りの提示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正式見積・カタログ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（その場で即決）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⑳後始末の実施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契約書・お礼状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（クーリングオフさせない）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商談の設計図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60分の商談を、どこに何分使うか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9098280" cy="3035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005840"/>
                <a:gridCol w="2834640"/>
                <a:gridCol w="960120"/>
                <a:gridCol w="21945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パート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ルール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アプローチブック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時間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出てはいけない話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聴く姿勢作り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①〜⑥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p.2〜p.7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15分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金額・製品スペック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必要性訴求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⑦〜⑫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p.9〜p.21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20分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金額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　うち災害（⑩⑪）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⑩⑪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p.18・p.19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3分以内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お客様の家族を想像させる話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時期訴求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⑬〜⑮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p.23〜p.26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10分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総額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金額訴求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⑯〜⑱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シミュレーション・概算見積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12分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後始末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⑲⑳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正式見積・契約書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3分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754880"/>
            <a:ext cx="4526280" cy="1481328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発言比率とラリー数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・営業マン：お客様 ＝ 6：4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・お客様側の4は ご主人2：奥様2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・ラリー数は30回（「うん」を除く）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754880"/>
            <a:ext cx="4526280" cy="1481328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順番を守る理由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価値が伝わる前に価格を出すと、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お客様は価格だけで判断します。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聞かれても「この後のお話で一通り出てきますので」でかわす。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講師による通しデモ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p.2〜p.26を15分で通します。ここを見てください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548640" cy="7315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0000"/>
                </a:solidFill>
                <a:latin typeface="HGPｺﾞｼｯｸE"/>
                <a:ea typeface="HGPｺﾞｼｯｸE"/>
              </a:rPr>
              <a:t>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783080"/>
            <a:ext cx="8412480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ページをめくる速さ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1ページに何秒かけているか。止まっているページはどこか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624328"/>
            <a:ext cx="548640" cy="7315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0000"/>
                </a:solidFill>
                <a:latin typeface="HGPｺﾞｼｯｸE"/>
                <a:ea typeface="HGPｺﾞｼｯｸE"/>
              </a:rPr>
              <a:t>②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624328"/>
            <a:ext cx="8412480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質問を投げる位置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どこで話を振り、どこで黙っているか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465576"/>
            <a:ext cx="548640" cy="7315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0000"/>
                </a:solidFill>
                <a:latin typeface="HGPｺﾞｼｯｸE"/>
                <a:ea typeface="HGPｺﾞｼｯｸE"/>
              </a:rPr>
              <a:t>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465576"/>
            <a:ext cx="8412480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結論の一文の言い方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各ページの緑帯を、どのタイミングで口にしているか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306824"/>
            <a:ext cx="548640" cy="7315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0000"/>
                </a:solidFill>
                <a:latin typeface="HGPｺﾞｼｯｸE"/>
                <a:ea typeface="HGPｺﾞｼｯｸE"/>
              </a:rPr>
              <a:t>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306824"/>
            <a:ext cx="8412480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災害パートの長さ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時計を見て測ってください。3分を超えていないか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148072"/>
            <a:ext cx="548640" cy="7315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0000"/>
                </a:solidFill>
                <a:latin typeface="HGPｺﾞｼｯｸE"/>
                <a:ea typeface="HGPｺﾞｼｯｸE"/>
              </a:rPr>
              <a:t>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5148072"/>
            <a:ext cx="8412480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セット提案の一貫性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「蓄電池が」ではなく「太陽光と蓄電池で」と言い続けているか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035040"/>
            <a:ext cx="9098280" cy="384048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デモ中に気づいたことは、手元の評価シートにメモしてください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2606040"/>
            <a:ext cx="5532120" cy="1645920"/>
          </a:xfrm>
          <a:prstGeom prst="round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1000"/>
              </a:spcAft>
            </a:pPr>
            <a:r>
              <a:rPr sz="4400" b="1">
                <a:solidFill>
                  <a:srgbClr val="000000"/>
                </a:solidFill>
                <a:latin typeface="HGPｺﾞｼｯｸE"/>
                <a:ea typeface="HGPｺﾞｼｯｸE"/>
              </a:rPr>
              <a:t>休憩　10分</a:t>
            </a:r>
          </a:p>
          <a:p>
            <a:pPr algn="ctr">
              <a:spcAft>
                <a:spcPts val="500"/>
              </a:spcAft>
            </a:pPr>
            <a:r>
              <a:rPr sz="1800" b="0">
                <a:solidFill>
                  <a:srgbClr val="000000"/>
                </a:solidFill>
                <a:latin typeface="HGPｺﾞｼｯｸE"/>
                <a:ea typeface="HGPｺﾞｼｯｸE"/>
              </a:rPr>
              <a:t>後半はロールプレイングです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ロールプレイングの進め方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3人1組。全員が必ず1回は営業役をやります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9098280" cy="25786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40280"/>
                <a:gridCol w="68580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役割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やること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営業役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アプローチブックを実際にめくりながら進める。詰まっても止まらない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お客様役（ご主人）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慎重派。「元が取れるのか」を必ず一度は聞く。指定の断り文句を1回入れる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お客様役（奥様）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前向き。ただし黙り込まない。ご主人との温度差を出す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（観察役）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4人組の場合。評価シートを見ながら、発言比率とラリー数を数える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206240"/>
            <a:ext cx="4526280" cy="201168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進め方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① 合図で開始。時間は講師が計ります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② 詰まっても止めない。飛ばして先に進む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③ 終わったら、すぐ評価シートに○△×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④ 交代。全員が営業役をやるまで回す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206240"/>
            <a:ext cx="4526280" cy="201168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F0000"/>
                </a:solidFill>
                <a:latin typeface="HGPｺﾞｼｯｸE"/>
                <a:ea typeface="HGPｺﾞｼｯｸE"/>
              </a:rPr>
              <a:t>やってはいけないこと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✕ 途中で「今のところもう一回」と巻き戻す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✕ お客様役が意地悪をしすぎる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✕ 資料を読み上げるだけで質問を投げない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✕ 蓄電池だけ／太陽光だけの提案になる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顧客設定A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田中様ご夫婦（第2〜4回と同じ・標準ケース）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55648"/>
          <a:ext cx="9098280" cy="3749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763524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項目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設定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ご家族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田中様ご夫婦（ご主人48歳・会社員／奥様45歳・パート）＋ 高校生・中学生のお子様2人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お住まい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築14年の戸建て（4LDK）。南向き切妻屋根。オール電化ではない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導入状況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太陽光・蓄電池ともに未導入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電気代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月平均 18,000円（夏場は24,000円）。30年で648万円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温度感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ご主人＝慎重。「元が取れるのか」が最大の関心。奥様＝前向き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その他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住宅ローンを月9万円返済中。停電の経験はない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断り文句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「以前も訪問販売が来て、高かったからやめた」／「総額でいくらになるんですか？」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669280"/>
            <a:ext cx="9098280" cy="621792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ロールプレイング①（前半 p.2〜p.17）で使います</a:t>
            </a:r>
          </a:p>
          <a:p>
            <a:pPr algn="ctr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太陽光も蓄電池も未導入＝セット販売のケースです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顧客設定B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佐藤様ご夫婦（即決を渋るケース）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55648"/>
          <a:ext cx="9098280" cy="3749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763524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項目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設定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ご家族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佐藤様ご夫婦（ご主人52歳・自営業／奥様50歳・会社員）＋ 大学生のお子様1人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お住まい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築8年の戸建て（3LDK）。東西面の寄棟屋根。オール電化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導入状況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太陽光・蓄電池ともに未導入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電気代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月平均 24,000円（オール電化のため冬が高い）。30年で864万円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温度感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ご主人＝比較検討したがる。奥様＝決められない。二人とも「その場では決めない」主義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その他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知人が別会社で見積りを取っている。補助金の情報をネットで見ている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断り文句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「補助金が出るまで待ちたい」／「他の会社の話も聞いてみたい」／「妻と相談して決めます」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669280"/>
            <a:ext cx="9098280" cy="621792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ロールプレイング②（後半 p.18〜p.26＋見積り）で使います</a:t>
            </a:r>
          </a:p>
          <a:p>
            <a:pPr algn="ctr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断り文句3つを必ず出してください。切り返しの練習が目的です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評価シート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ロープレのたびに○△×をつけてください（①＝前半／②＝後半）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54480"/>
          <a:ext cx="4571999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1143000"/>
                <a:gridCol w="521207"/>
                <a:gridCol w="53035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ルール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ページ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①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②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①商談テーブルの確認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（商談前）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②自社の概要・訪問趣旨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③未導入理由の確認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（資料なし）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④前向きな検討への言質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（資料なし）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⑤太陽光が当たり前であること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p.3・p.4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⑥直近の国策動向のおさらい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p.5〜p.7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⑦電気代推移の理解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p.9・10・12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⑧再エネ賦課金の構造の理解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p.11・13〜16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⑨電気代総額の理解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⑩非常時に備える意義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p.18・p.19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74920" y="1554480"/>
          <a:ext cx="4571999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1143000"/>
                <a:gridCol w="521207"/>
                <a:gridCol w="53035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ルール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ページ／道具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①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②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⑪非常時対策の効果の確認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（ページなし）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⑫太陽光・蓄電池の使い方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p.20・p.21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⑬導入に向けた考え方の転換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⑭物価指数とコストトレンド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⑮投資対効果の視点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p.25・p.26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⑯概算の機器導入費用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シミュレーション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⑰太陽光設置容量の確認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図面・診断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⑱概算見積りの提示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概算見積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⑲⑳正式見積り・後始末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見積・お礼状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商談運営（6：4／30ラリー）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4892040"/>
            <a:ext cx="9372600" cy="566928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HGPｺﾞｼｯｸE"/>
                <a:ea typeface="HGPｺﾞｼｯｸE"/>
              </a:rPr>
              <a:t>最後までセット提案を崩さなかったか　</a:t>
            </a: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①　　　　②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596128"/>
            <a:ext cx="9372600" cy="68580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気づいたこと（自由記入）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フィードバックの型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お互いにフィードバックするときの言い方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90982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595959"/>
                </a:solidFill>
                <a:latin typeface="HGPｺﾞｼｯｸE"/>
                <a:ea typeface="HGPｺﾞｼｯｸE"/>
              </a:rPr>
              <a:t>褒め方は商談でもそのまま使えます。「質の高い褒め」を「数」多く言うのが基本です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21408"/>
            <a:ext cx="4526280" cy="178308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型①　比較して褒める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✕「良かったです」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○「①では災害に5分使っていましたが、②では2分半に収まっていました」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121408"/>
            <a:ext cx="4526280" cy="178308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型②　人を褒める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✕「切り返しが良かったです」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○「あの場面でとっさに事例を出せた○○さんが凄いですね」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114800"/>
            <a:ext cx="9098280" cy="16002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直す点は「1人1つだけ」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一度に3つも4つも指摘すると、どれも直りません。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その人が次の商談で一番効く1つに絞って伝えてください。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順番は必ず「良い点 → 直す点1つ」。逆にしない。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85216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“質”の高い褒めを“数”多く言うことが重要である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ロールプレイング①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前半：p.2〜p.17を通す（顧客設定A・25分）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9098280" cy="2670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/>
                <a:gridCol w="2331720"/>
                <a:gridCol w="822960"/>
                <a:gridCol w="47091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進行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アプローチブック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時間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狙う反応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ルール①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（商談前の確認）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3条件が揃っている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ルール②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3分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商談の構成が分かる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ルール③④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（閉じたまま）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4分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導入しなかった理由／今日決めることに同意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ルール⑤⑥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p.3〜p.7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5分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じゃあつけた方がいいかもねえ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ルール⑦⑧⑨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p.9〜p.17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7分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30年でそんなにも払わないといけないのですね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434840"/>
            <a:ext cx="4526280" cy="17830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この周で見るポイント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・自社ストーリーを20秒で言えたか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・オープンクエスチョンを3回投げたか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・p.9〜p.17を7分で抜けられたか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434840"/>
            <a:ext cx="452628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お客様役が必ず入れる断り文句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「以前も訪問販売が来て、高かったからやめた」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→ Yes,but法 → 第三者話法 → YES取り で返す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ロールプレイング②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後半：p.18〜p.26＋見積り（顧客設定B・25分）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9098280" cy="2670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/>
                <a:gridCol w="2926080"/>
                <a:gridCol w="914400"/>
                <a:gridCol w="40233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進行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アプローチブック／道具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時間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狙う反応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ルール⑩⑪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p.18・p.19＋事例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3分以内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いつ災害が起こるか分からないですね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ルール⑫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p.20・p.21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3分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買うより自給自足した方が良いですね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ルール⑬⑭⑮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p.23〜p.26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6分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長期的には財産になるのですね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受け渡し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アプローチブックを閉じる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30秒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ルール⑯⑰⑱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シミュレーション・概算見積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7分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月1万円台なら、と前向きな答え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434840"/>
            <a:ext cx="4526280" cy="17830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この周で見るポイント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・災害が3分以内に終わったか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・1日 → 1か月 → 総額 の順を守れたか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・断り文句3つを全部さばけたか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434840"/>
            <a:ext cx="452628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お客様役が必ず入れる断り文句（3つ）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①「補助金が出るまで待ちたい」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②「他の会社の話も聞いてみたい」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③「妻と相談して決めます」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よく出る断り文句 早見表①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切り返しの原則：① 同意 → ②「だからこそ」→ ③ 第三者事例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19072"/>
            <a:ext cx="9098280" cy="160020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「補助金が出るまで待ちたい」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確かに補助金があれば嬉しいですよね。実は今、『補助金待ちで損をする』方が非常に多いんです。待っている間に値上がりし続ける電気代を払い続けると、おそらく年間15〜20万円以上になります。しかも補助金は抽選式ですので、必ずしももらえるとは限りません。そう考えると、最も安く導入できるタイミングは、間違いなく『今』なんです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456432"/>
            <a:ext cx="9098280" cy="137160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「また考えて連絡します」（その場で解決できる場合）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「お気持ちは痛いほど分かります。一生に何度もない大きな買い物ですから。よければ、検討したいとお考えのことをお教えいただけませんか？」→ 出てきた不安に、シミュレーションと現地調査で答える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965192"/>
            <a:ext cx="9098280" cy="1325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「また考えて連絡します」（即決に至らなかった場合）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「時期が空くと導入しない言い訳を探してしまいがちで、絶好のタイミングを逃してしまうかもしれません。○○日11時までにご検討いただけますか？ 〇日に私からご連絡します。それまでは、このキャンペーン枠を私の責任で確保しておきますね」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よく出る断り文句 早見表②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9098280" cy="14173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「妻と相談して決めます」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ごもっともです。奥様のご意見は大切ですよね。では仮のお話ですが、もしこの後奥様にお話しされて、『家計も助かるし、災害時も安心だからやりましょう』と快諾いただけたとしたら、〇〇様ご自身としては『進めたい』というお気持ちでよろしいでしょうか？」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（NO／曖昧な場合）→「ということは、〇〇様ご自身の中に、まだ引っかかる点があるということですね？」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834640"/>
            <a:ext cx="9098280" cy="14173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「他の会社の話も聞いてみたい」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おっしゃる通りです。ただ、太陽光や蓄電池選びで一番怖いことをご存じでしょうか。それは『表面上の価格だけで選んでしまい、施工やアフターフォローで失敗すること』なんです。設置後の定期点検、トラブル時の即日対応、15年20年先まで責任を持つ企業体制。これら『設置後の安心』まで含めた総合力では、絶対に負けない自信がございます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389120"/>
            <a:ext cx="9098280" cy="14173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「今は資金的に余裕がない」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一つだけ整理させてください。今のままでも、電気代という『終わりのないローン』は払い続けますよね？今回のお話はただの追加の出費ではありません。『電力会社への捨て金』を、同額のまま『ご自宅の資産』にスライドさせるだけです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5943600"/>
            <a:ext cx="9098280" cy="384048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相手の意見に自分の意見を重ねるのは最大のNG。「私が〜」ではなく「実際に〜あります」で返す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クロージング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9098280" cy="109728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000000"/>
                </a:solidFill>
                <a:latin typeface="HGPｺﾞｼｯｸE"/>
                <a:ea typeface="HGPｺﾞｼｯｸE"/>
              </a:rPr>
              <a:t>クロージングとは、買うべき理由を説明・説得して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000000"/>
                </a:solidFill>
                <a:latin typeface="HGPｺﾞｼｯｸE"/>
                <a:ea typeface="HGPｺﾞｼｯｸE"/>
              </a:rPr>
              <a:t>契約を迫る行為</a:t>
            </a:r>
            <a:r>
              <a:rPr sz="2000" b="1">
                <a:solidFill>
                  <a:srgbClr val="FF0000"/>
                </a:solidFill>
                <a:latin typeface="HGPｺﾞｼｯｸE"/>
                <a:ea typeface="HGPｺﾞｼｯｸE"/>
              </a:rPr>
              <a:t>ではない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743200"/>
            <a:ext cx="9098280" cy="1234440"/>
          </a:xfrm>
          <a:prstGeom prst="round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クロージングとは</a:t>
            </a:r>
          </a:p>
          <a:p>
            <a:pPr algn="ctr">
              <a:spcAft>
                <a:spcPts val="500"/>
              </a:spcAft>
            </a:pPr>
            <a:r>
              <a:rPr sz="3000" b="1">
                <a:solidFill>
                  <a:srgbClr val="FF0000"/>
                </a:solidFill>
                <a:latin typeface="HGPｺﾞｼｯｸE"/>
                <a:ea typeface="HGPｺﾞｼｯｸE"/>
              </a:rPr>
              <a:t>お客様の意思決定をサポートすることである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206240"/>
            <a:ext cx="9098280" cy="96012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つまり「買わない理由を解消し、お客様自身に買うべき理由を発見していただく作業」のことである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5394960"/>
            <a:ext cx="9098280" cy="8686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断り文句が出るのは「必要でないから」ではなく、単に「迷っているから」。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営業マンがすべきことは「背中を押してあげること」だけです。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総復習：商談の正しい進め方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9098280" cy="35844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85800"/>
                <a:gridCol w="2377440"/>
                <a:gridCol w="603504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原則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中身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（1）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蓄電池の営業スタイル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「説明」だけで50万円超は売れない。①買わない理由をなくす ②買う理由を確認する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（2）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ラリー数と発言比率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営業：お客様＝6：4（お客様側は夫婦で2：2）。ラリー数は30回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（3）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話の振り方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ネガティブな話＝クローズド／ポジティブな話＝オープン。A（言わせたいこと）ありきでQを投げる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（4）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切り返し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 同意（Yes,but法）→ ②「だからこそ」（オウム返し法）→ ③ 第三者事例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（5）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主権者商談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本主権者がいない状態での価格提示は厳禁。価値が伝わらないまま価格に引っ張られる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5303520"/>
            <a:ext cx="452628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話を振る目的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本来こちらが説明する内容を、相手の口から言わせること。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5303520"/>
            <a:ext cx="452628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「だからこそ」の使い方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前後は論理的に意味をなしている必要は全くありません。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後始末と追客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契約したあとが、次の紹介につながります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9098280" cy="21579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5960"/>
                <a:gridCol w="713232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時期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やること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契約時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正式見積りの提示が前後することになっても、必ず一筆いただけるようにする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契約直後〜5日以内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なるべく翌日までにお礼状（ハガキで可）を投函。直筆コメント・訪問時の話題・夫婦両者のお名前を入れる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8日間〜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期間終了後も取り消しができないわけではない。油断せず、完工まで2週間ごとに連絡を取る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069080"/>
            <a:ext cx="452628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現地調査までに熱が冷めるとき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・お礼手紙の送付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　→ 判断は「論理」、決断は「感情」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・裏側の近況報告（いま図面を確認しています）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　→ 放置されている感を与えない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・ドローンで屋根の状態まで調査すると伝える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　→ プロとしての価値を高める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069080"/>
            <a:ext cx="4526280" cy="214884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連絡が途絶えたとき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・期日には必ず営業マン側から連絡する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　→ 待つと音信不通になる確率が高まる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・商談終了時に懸念点へのアプローチをしておくと、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　次の連絡が自然なトークの運びになる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取り組み事例：エコプラスワン様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お礼状の工夫でクーリングオフほぼなし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個別フィードバック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評価シートを見ながら、1人ずつ確認します（15分）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9098280" cy="11887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全員に共通で確認すること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①〜⑳のうち、○が付かなかったルールはどれか　／　その原因は「知らない」か「言えない」か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3154680"/>
          <a:ext cx="909828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120"/>
                <a:gridCol w="585216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原因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対処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知らない（内容が頭に入っていない）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該当ページの結論の一文を暗唱する。docs/知識_営業ルール20.md を読み直す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言えない（知っているが口から出ない）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声に出す回数が足りない。次の商談まで毎日3回、そのページだけ音読する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飛ばした（時間が足りなかった）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手前のパートが長すぎる。商談の設計図の時間配分に戻る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5440680"/>
            <a:ext cx="9098280" cy="82296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直す点は1人1つだけ。次の商談で一番効く1つに絞って伝えます。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順番は必ず「良い点 → 直す点1つ」。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明日からの行動計画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研修は今日で終わりですが、定着はここからです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909828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忘却曲線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翌日には50％、1週間後にはほとんど忘れます。その日のうちに復習することで記憶が定着します。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880360"/>
          <a:ext cx="9098280" cy="27980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4754880"/>
                <a:gridCol w="315468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いつ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やること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記入してください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今日中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アプローチブック p.2〜p.26 の結論の一文を通しで音読する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今週中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実商談を1件、評価シートをつけて振り返る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今週中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○が付かなかったルールを3つ書き出し、対処を決める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今月中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通しロープレを社内で2回やる（相手：　　　　　　　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5623560"/>
            <a:ext cx="9098280" cy="6583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成長の7割は「経験」から生まれます（ロミンガーの法則：経験70／薫陶20／研修10）。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今日学んだ10を、明日の現場で70に変えてください。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おわりに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9098280" cy="1417320"/>
          </a:xfrm>
          <a:prstGeom prst="round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HGPｺﾞｼｯｸE"/>
                <a:ea typeface="HGPｺﾞｼｯｸE"/>
              </a:rPr>
              <a:t>太陽光と蓄電池は、切り離さない。</a:t>
            </a:r>
          </a:p>
          <a:p>
            <a:pPr algn="ctr">
              <a:spcAft>
                <a:spcPts val="500"/>
              </a:spcAft>
            </a:pPr>
            <a:r>
              <a:rPr sz="3000" b="1">
                <a:solidFill>
                  <a:srgbClr val="FF0000"/>
                </a:solidFill>
                <a:latin typeface="HGPｺﾞｼｯｸE"/>
                <a:ea typeface="HGPｺﾞｼｯｸE"/>
              </a:rPr>
              <a:t>スマートハウスを、お届けする。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246120"/>
            <a:ext cx="9098280" cy="201168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HGPｺﾞｼｯｸE"/>
                <a:ea typeface="HGPｺﾞｼｯｸE"/>
              </a:rPr>
              <a:t>全5回でお伝えしてきたことは、突き詰めればこの2つです。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① お客様の「買わない理由」を、順番どおりに1つずつ潰していくこと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② お客様自身に「買うべき理由」を発見していただくこと</a:t>
            </a:r>
          </a:p>
          <a:p>
            <a:pPr algn="ctr">
              <a:spcAft>
                <a:spcPts val="500"/>
              </a:spcAft>
            </a:pPr>
            <a:r>
              <a:rPr sz="1800" b="0">
                <a:solidFill>
                  <a:srgbClr val="000000"/>
                </a:solidFill>
                <a:latin typeface="HGPｺﾞｼｯｸE"/>
                <a:ea typeface="HGPｺﾞｼｯｸE"/>
              </a:rPr>
              <a:t>アプローチブックは、そのための地図です。何度も開いてください。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5532120"/>
            <a:ext cx="9098280" cy="73152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0000"/>
                </a:solidFill>
                <a:latin typeface="HGPｺﾞｼｯｸE"/>
                <a:ea typeface="HGPｺﾞｼｯｸE"/>
              </a:rPr>
              <a:t>全5回、お疲れさまでした。現場でお会いしましょう。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119793" y="470959"/>
            <a:ext cx="9666414" cy="216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この度は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㈱船井総合研究所　住宅用太陽光・蓄電池の売り方マスター研修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】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にご参加いただき、誠にありがとうございました。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１．講座及びテキストに関するお問い合わせは、下記までお願いいたします。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２．本テキストの著作権は、引用部分を除き、全て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(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株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)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船井総合研究所に帰属しています。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３．本セミナーで入手したテキスト、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DVD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、その他の文書等は許可なく複製を作成すること、また二次利用することを禁止します。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４．本セミナーの内容と同じ、または類似した研修の開催や、第三者に行わせることを禁じます。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５．録音、録画、撮影などの行為はお断りします。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６．本セミナーで入手したテキストおよび資料等をＳＮＳ等を通じて第三者に開示することを禁じます。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７．なお、上記３～６の事項が発覚した場合、本人または法人に対して損害賠償を行う場合があります。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８．当社ではセミナー中の様子を撮影し、当社の宣伝に使用することがあります。あらかじめご了承ください。　　　　 　   　　　　　　　　　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92512" y="2926534"/>
            <a:ext cx="9702351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株式会社船井総合研究所</a:t>
            </a:r>
            <a:endParaRPr kumimoji="1" lang="en-US" altLang="ja-JP" sz="22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『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住宅用太陽光・蓄電池の売り方マスター研修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』</a:t>
            </a: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92512" y="4641034"/>
            <a:ext cx="9702351" cy="195631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1397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2026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年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１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月発行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著　者　 ：　株式会社船井総合研究所　　専門工事支援部 北 隆人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発行所　：　株式会社船井総合研究所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【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大阪本社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】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　　　　　　　　　　　　　　　　　　　　　　　　　　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【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東京本社（サステナグローススクエア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TOKYO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）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】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〒５４１－００４１　大阪市中央区北浜４－４－１０　　　　　　　〒１０４－００２８　東京都中央区八重洲二丁目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2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番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号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　　　　　　　　　　　　　　　　　　　　　　　　　　　　　　　　　　　　　　　　　　　　　東京ミッドタウン八重洲 八重洲セントラルタワー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35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階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ＴＥＬ　０６－６２３２－０２７１（代表）　　　　　　　　　　　　　　　　　ＴＥＬ：０３－４３５６－０２７１（通）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E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Mail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takato-kita@funaisoken.co.jp</a:t>
            </a:r>
            <a:endParaRPr kumimoji="1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2512" y="4069534"/>
            <a:ext cx="9702351" cy="571500"/>
          </a:xfrm>
          <a:prstGeom prst="rect">
            <a:avLst/>
          </a:prstGeom>
          <a:solidFill>
            <a:srgbClr val="7030A0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機密情報／無断転用禁止　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47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お気に入り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お気に入り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【ソーラープロジェクト大社様】2024年11月度お打ち合わせ資料 .pptx" id="{F2A59035-B9C3-4A75-B90B-5E71CD3F6C43}" vid="{552278E5-979D-4048-BBE5-2AFDF89082E8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25900</TotalTime>
  <Words>6897</Words>
  <Application>Microsoft Office PowerPoint</Application>
  <PresentationFormat>A4 210 x 297 mm</PresentationFormat>
  <Paragraphs>716</Paragraphs>
  <Slides>71</Slides>
  <Notes>32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71</vt:i4>
      </vt:variant>
    </vt:vector>
  </HeadingPairs>
  <TitlesOfParts>
    <vt:vector size="88" baseType="lpstr">
      <vt:lpstr>BIZ UDPゴシック</vt:lpstr>
      <vt:lpstr>Google Sans Text</vt:lpstr>
      <vt:lpstr>HGPｺﾞｼｯｸE</vt:lpstr>
      <vt:lpstr>HGP創英角ｺﾞｼｯｸUB</vt:lpstr>
      <vt:lpstr>HGP明朝E</vt:lpstr>
      <vt:lpstr>HGSｺﾞｼｯｸM</vt:lpstr>
      <vt:lpstr>Meiryo UI</vt:lpstr>
      <vt:lpstr>メイリオ</vt:lpstr>
      <vt:lpstr>游ゴシック</vt:lpstr>
      <vt:lpstr>游ゴシック体</vt:lpstr>
      <vt:lpstr>Arial</vt:lpstr>
      <vt:lpstr>Calibri</vt:lpstr>
      <vt:lpstr>Lucida Calligraphy</vt:lpstr>
      <vt:lpstr>Monotype Corsiva</vt:lpstr>
      <vt:lpstr>Wingdings</vt:lpstr>
      <vt:lpstr>Office テーマ</vt:lpstr>
      <vt:lpstr>1_Office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船井総合研究所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F2038</dc:creator>
  <cp:lastModifiedBy>Ryusho Sameshima</cp:lastModifiedBy>
  <cp:revision>713</cp:revision>
  <cp:lastPrinted>2025-11-06T11:25:07Z</cp:lastPrinted>
  <dcterms:created xsi:type="dcterms:W3CDTF">2017-03-26T07:08:56Z</dcterms:created>
  <dcterms:modified xsi:type="dcterms:W3CDTF">2026-05-20T08:32:28Z</dcterms:modified>
</cp:coreProperties>
</file>