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・本日は「教わる場」ではなく「試す場」だと最初に宣言する</a:t>
            </a:r>
          </a:p>
          <a:p>
            <a:r>
              <a:t>・全員が必ず1回は最後まで通す。途中で止まっても止めない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・解説パートが延びたら削る。ロープレの50分は死守する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・講師は完璧にやらない。あえて1か所詰まってみせ、そこからの立て直し方も見せる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・最後は必ず全員に一言ずつ言ってもらってから締める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2026</a:t>
            </a:r>
            <a:r>
              <a:rPr kumimoji="1" lang="ja-JP" altLang="en-US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年度　</a:t>
            </a:r>
            <a:r>
              <a:rPr kumimoji="1" lang="ja-JP" altLang="en-US" sz="1200" b="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8064A2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BIZ UDPゴシック"/>
                <a:ea typeface="BIZ UDPゴシック"/>
              </a:rPr>
              <a:t>2026年度　営業研修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200"/>
              </a:spcAft>
            </a:pPr>
            <a:r>
              <a:rPr sz="5200" b="1">
                <a:solidFill>
                  <a:srgbClr val="FFFFFF"/>
                </a:solidFill>
                <a:latin typeface="BIZ UDPゴシック"/>
                <a:ea typeface="BIZ UDPゴシック"/>
              </a:rPr>
              <a:t>第5回　総仕上げ</a:t>
            </a:r>
          </a:p>
          <a:p>
            <a:pPr algn="l">
              <a:spcAft>
                <a:spcPts val="1000"/>
              </a:spcAft>
            </a:pPr>
            <a:r>
              <a:rPr sz="5200" b="1">
                <a:solidFill>
                  <a:srgbClr val="FFFFFF"/>
                </a:solidFill>
                <a:latin typeface="BIZ UDPゴシック"/>
                <a:ea typeface="BIZ UDPゴシック"/>
              </a:rPr>
              <a:t>通しロープレ</a:t>
            </a:r>
          </a:p>
          <a:p>
            <a:pPr algn="l"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2026年9月下旬　＠船井総研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5256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F0000"/>
                </a:solidFill>
                <a:latin typeface="HGPｺﾞｼｯｸE"/>
                <a:ea typeface="HGPｺﾞｼｯｸE"/>
              </a:rPr>
              <a:t>アプローチブック26ページを、止まらずに1人で通せる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9098280" cy="27889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研修が終わったときの「できる状態」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p.2からp.26まで、資料を見ながら止まらずに話せる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20のルールを、アプローチブックのページと対応させて言える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よくある断り文句5つに、その場で切り返せる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最後までセット提案を崩さずに、仮契約まで運べる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66360"/>
            <a:ext cx="9098280" cy="7772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本日は解説をほとんどしません。時間の大半をロープレに使います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81328"/>
          <a:ext cx="9098279" cy="4005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3931920"/>
                <a:gridCol w="3749039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内容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扱うもの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0:00-0:10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全5回の振り返り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第1回〜第4回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0:10-0:25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20のルール ↔ アプローチブックの総復習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対応表／商談の設計図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0:25-0:40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講師による通しデモ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p.2〜p.26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0:40-0:50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休憩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0:50-1:15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ロールプレイング①　前半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p.2〜p.17（ルール①〜⑨）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1:15-1:40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ロールプレイング②　後半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p.18〜p.26＋見積り（ルール⑩〜⑳）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1:40-1:55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個別フィードバック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評価シート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1:55-2:00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全5回の総括／明日からの行動計画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全5回でやってきたこと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937260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2331720"/>
                <a:gridCol w="1051560"/>
                <a:gridCol w="1737360"/>
                <a:gridCol w="35204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回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テーマ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扱ったルール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アプローチブック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核になる考え方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第1回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業界商材の知識講座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知識は「自信」の材料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第2回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聞く姿勢づくり＆必要性訴求①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①〜⑨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p.2〜p.17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先に聞くから、聞いてもらえる／下げてから上げる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第3回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必要性訴求②＆ロープレ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⑩〜⑫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p.18〜p.21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災害は事実→事例→サラッと次へ／創る・貯める・使う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第4回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時期・料金訴求＆ロープレ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⑬〜⑳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p.23〜p.26＋見積り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「いつ導入するのが賢いか」へ転換／総額は最後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第5回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総仕上げ通しロープレ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①〜⑳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p.2〜p.26 通し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全部つなげて、1人で通す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5440680"/>
            <a:ext cx="9372600" cy="82296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ここまでで、商談で使う材料はすべて揃っています。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あとは「順番どおりに、止まらずに出せるか」だけです。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総復習：契約までの4ステップ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pic>
        <p:nvPicPr>
          <p:cNvPr id="5" name="Picture 4" descr="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486400" cy="34557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55080" y="1463040"/>
            <a:ext cx="3154680" cy="4160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積む順番を絶対に飛ばさない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STEP1　聴く姿勢（①〜⑥）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この営業の話を聞きたいと思わせる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STEP2　必要性訴求（⑦〜⑫）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太陽光・蓄電池は必要だと思ってもらう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STEP3　時期訴求（⑬〜⑮）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今導入するのがお得だと認識させる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STEP4　金額訴求（⑯〜⑳）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自分でも払えそうな金額だと理解させる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土台が無いまま金額の話をすると、価格だけで判断されて終わります。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保存版：20のルール ↔ アプローチブック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この1枚を手元に置いてロープレしてください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517904"/>
          <a:ext cx="9372600" cy="4919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1371600"/>
                <a:gridCol w="3291840"/>
                <a:gridCol w="205740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狙う反応（お客様の台詞）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使う話法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①商談テーブルの確認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（商談前）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検針票・図面／夫婦両主権者／1時間を押さえる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②自社の概要・訪問趣旨の理解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商談の構成が分かる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物語効果・ラポール形成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③未導入理由の確認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（資料なし）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導入しなかった理由が3つ出る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オープンクエスチョン×3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④前向きな検討に対する言質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（資料なし）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解消できれば導入する予定です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一貫性の法則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⑤太陽光が当たり前であることの理解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p.3・p.4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義務化・今後必須の流れになるの!?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包み込みの法則①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⑥直近の国策動向のおさらい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p.5〜p.7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じゃあつけた方がいいかもねえ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包み込みの法則②・二者択一話法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⑦直近数か年の電気代推移の理解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p.9・10・12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10年で5.5万円も上がっているのですね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⑧再エネ賦課金の構造の理解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p.11・13〜16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賦課金が上昇して電気代が上がるのですね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YES取り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⑨長期で支払う電気代総額の理解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30年でそんなにも払わないといけないのですね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第三者話法・損失回避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⑩非常時に備える意義の理解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p.18・p.19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⑪非常時対策の効果の確認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（ページなし）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停電時も電気が使えた方が安心です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第三者話法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⑫太陽光・蓄電池の使い方の理解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買うより自給自足した方が良いですね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今設置した方が将来的にお得なのですね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プロスペクト理論（機会損失）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⑭物価指数とコストトレンドの説明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待っても上がる一方なのですね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p.25・p.26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長期的には財産になるのですね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二者択一話法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⑯概算の機器導入費用のおさらい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電気代の範囲なら問題ないです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図面・診断ツール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（枚数のイメージが湧いた反応）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テストクロージング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月1万円台なら、と前向きな答え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フレーミング効果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⑲正式見積りの提示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正式見積・カタログ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（その場で即決）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⑳後始末の実施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契約書・お礼状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（クーリングオフさせない）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商談の設計図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60分の商談を、どこに何分使うか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005840"/>
                <a:gridCol w="2834640"/>
                <a:gridCol w="960120"/>
                <a:gridCol w="21945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パート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アプローチブック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出てはいけない話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聴く姿勢作り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①〜⑥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p.2〜p.7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金額・製品スペック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必要性訴求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⑦〜⑫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p.9〜p.21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　うち災害（⑩⑪）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⑩⑪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p.18・p.19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3分以内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お客様の家族を想像させる話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時期訴求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⑬〜⑮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金額訴求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⑯〜⑱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シミュレーション・概算見積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12分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後始末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正式見積・契約書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54880"/>
            <a:ext cx="4526280" cy="148132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発言比率とラリー数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・営業マン：お客様 ＝ 6：4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・お客様側の4は ご主人2：奥様2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・ラリー数は30回（「うん」を除く）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754880"/>
            <a:ext cx="4526280" cy="14813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順番を守る理由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価値が伝わる前に価格を出すと、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お客様は価格だけで判断します。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聞かれても「この後のお話で一通り出てきますので」でかわす。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講師による通しデモ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p.2〜p.26を15分で通します。ここを見てください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548640" cy="7315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783080"/>
            <a:ext cx="84124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ページをめくる速さ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1ページに何秒かけているか。止まっているページはどこか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24328"/>
            <a:ext cx="548640" cy="7315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624328"/>
            <a:ext cx="84124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質問を投げる位置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どこで話を振り、どこで黙っているか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465576"/>
            <a:ext cx="548640" cy="7315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465576"/>
            <a:ext cx="84124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結論の一文の言い方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各ページの緑帯を、どのタイミングで口にしているか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306824"/>
            <a:ext cx="548640" cy="7315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306824"/>
            <a:ext cx="84124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災害パートの長さ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時計を見て測ってください。3分を超えていないか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48072"/>
            <a:ext cx="548640" cy="7315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5148072"/>
            <a:ext cx="84124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セット提案の一貫性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「蓄電池が」ではなく「太陽光と蓄電池で」と言い続けているか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35040"/>
            <a:ext cx="9098280" cy="3840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デモ中に気づいたことは、手元の評価シートにメモしてください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94560" y="2606040"/>
            <a:ext cx="5532120" cy="164592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0"/>
              </a:spcAft>
            </a:pPr>
            <a:r>
              <a:rPr sz="4400" b="1">
                <a:solidFill>
                  <a:srgbClr val="000000"/>
                </a:solidFill>
                <a:latin typeface="HGPｺﾞｼｯｸE"/>
                <a:ea typeface="HGPｺﾞｼｯｸE"/>
              </a:rPr>
              <a:t>休憩　10分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後半はロールプレイングです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3人1組。全員が必ず1回は営業役をやります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578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68580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役割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営業役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アプローチブックを実際にめくりながら進める。詰まっても止まらない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お客様役（ご主人）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慎重派。「元が取れるのか」を必ず一度は聞く。指定の断り文句を1回入れる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お客様役（奥様）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前向き。ただし黙り込まない。ご主人との温度差を出す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（観察役）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4人組の場合。評価シートを見ながら、発言比率とラリー数を数える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206240"/>
            <a:ext cx="4526280" cy="2011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進め方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合図で開始。時間は講師が計ります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詰まっても止めない。飛ばして先に進む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終わったら、すぐ評価シートに○△×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④ 交代。全員が営業役をやるまで回す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206240"/>
            <a:ext cx="4526280" cy="201168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やってはいけないこと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 途中で「今のところもう一回」と巻き戻す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 お客様役が意地悪をしすぎる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 資料を読み上げるだけで質問を投げない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✕ 蓄電池だけ／太陽光だけの提案になる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顧客設定A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田中様ご夫婦（第2〜4回と同じ・標準ケース）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55648"/>
          <a:ext cx="9098280" cy="3749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40"/>
                <a:gridCol w="76352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設定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ご家族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田中様ご夫婦（ご主人48歳・会社員／奥様45歳・パート）＋ 高校生・中学生のお子様2人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お住まい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築14年の戸建て（4LDK）。南向き切妻屋根。オール電化ではない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導入状況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太陽光・蓄電池ともに未導入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月平均 18,000円（夏場は24,000円）。30年で648万円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温度感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ご主人＝慎重。「元が取れるのか」が最大の関心。奥様＝前向き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住宅ローンを月9万円返済中。停電の経験はない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断り文句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「以前も訪問販売が来て、高かったからやめた」／「総額でいくらになるんですか？」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669280"/>
            <a:ext cx="9098280" cy="621792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ロールプレイング①（前半 p.2〜p.17）で使います</a:t>
            </a:r>
          </a:p>
          <a:p>
            <a:pPr algn="ctr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太陽光も蓄電池も未導入＝セット販売のケースです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顧客設定B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佐藤様ご夫婦（即決を渋るケース）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55648"/>
          <a:ext cx="9098280" cy="3749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40"/>
                <a:gridCol w="76352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設定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ご家族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佐藤様ご夫婦（ご主人52歳・自営業／奥様50歳・会社員）＋ 大学生のお子様1人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お住まい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築8年の戸建て（3LDK）。東西面の寄棟屋根。オール電化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導入状況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太陽光・蓄電池ともに未導入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月平均 24,000円（オール電化のため冬が高い）。30年で864万円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温度感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ご主人＝比較検討したがる。奥様＝決められない。二人とも「その場では決めない」主義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知人が別会社で見積りを取っている。補助金の情報をネットで見ている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断り文句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「補助金が出るまで待ちたい」／「他の会社の話も聞いてみたい」／「妻と相談して決めます」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669280"/>
            <a:ext cx="9098280" cy="621792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ロールプレイング②（後半 p.18〜p.26＋見積り）で使います</a:t>
            </a:r>
          </a:p>
          <a:p>
            <a:pPr algn="ctr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断り文句3つを必ず出してください。切り返しの練習が目的です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評価シート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ロープレのたびに○△×をつけてください（①＝前半／②＝後半）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554480"/>
          <a:ext cx="457199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521207"/>
                <a:gridCol w="530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①商談テーブルの確認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（商談前）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②自社の概要・訪問趣旨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③未導入理由の確認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（資料なし）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④前向きな検討への言質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（資料なし）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⑤太陽光が当たり前であること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p.3・p.4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⑥直近の国策動向のおさらい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p.5〜p.7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⑦電気代推移の理解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p.9・10・12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⑧再エネ賦課金の構造の理解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p.11・13〜16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⑨電気代総額の理解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⑩非常時に備える意義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p.18・p.19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74920" y="1554480"/>
          <a:ext cx="457199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521207"/>
                <a:gridCol w="530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ページ／道具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⑪非常時対策の効果の確認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（ページなし）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⑫太陽光・蓄電池の使い方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⑬導入に向けた考え方の転換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⑭物価指数とコストトレンド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⑮投資対効果の視点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p.25・p.26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⑯概算の機器導入費用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⑰太陽光設置容量の確認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図面・診断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⑱概算見積りの提示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⑲⑳正式見積り・後始末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見積・お礼状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商談運営（6：4／30ラリー）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892040"/>
            <a:ext cx="9372600" cy="566928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最後までセット提案を崩さなかったか　</a:t>
            </a: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①　　　　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596128"/>
            <a:ext cx="9372600" cy="68580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気づいたこと（自由記入）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フィードバックの型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お互いにフィードバックするときの言い方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褒め方は商談でもそのまま使えます。「質の高い褒め」を「数」多く言うのが基本です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17830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型①　比較して褒める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✕「良かったです」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○「①では災害に5分使っていましたが、②では2分半に収まっていました」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121408"/>
            <a:ext cx="4526280" cy="17830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型②　人を褒める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✕「切り返しが良かったです」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○「あの場面でとっさに事例を出せた○○さんが凄いですね」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114800"/>
            <a:ext cx="9098280" cy="1600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直す点は「1人1つだけ」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一度に3つも4つも指摘すると、どれも直りません。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その人が次の商談で一番効く1つに絞って伝えてください。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順番は必ず「良い点 → 直す点1つ」。逆にしない。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“質”の高い褒めを“数”多く言うことが重要である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前半：p.2〜p.17を通す（顧客設定A・25分）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2331720"/>
                <a:gridCol w="822960"/>
                <a:gridCol w="47091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進行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アプローチブック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狙う反応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（商談前の確認）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3条件が揃っている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商談の構成が分かる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ルール③④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（閉じたまま）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導入しなかった理由／今日決めることに同意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ルール⑤⑥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p.3〜p.7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5分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じゃあつけた方がいいかもねえ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ルール⑦⑧⑨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p.9〜p.17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7分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30年でそんなにも払わないといけないのですね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434840"/>
            <a:ext cx="4526280" cy="1783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・自社ストーリーを20秒で言えたか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・オープンクエスチョンを3回投げたか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・p.9〜p.17を7分で抜けられたか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434840"/>
            <a:ext cx="452628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お客様役が必ず入れる断り文句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「以前も訪問販売が来て、高かったからやめた」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→ Yes,but法 → 第三者話法 → YES取り で返す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後半：p.18〜p.26＋見積り（顧客設定B・25分）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2926080"/>
                <a:gridCol w="914400"/>
                <a:gridCol w="40233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進行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アプローチブック／道具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狙う反応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ルール⑩⑪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p.18・p.19＋事例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3分以内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買うより自給自足した方が良いですね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ルール⑬⑭⑮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p.23〜p.26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6分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長期的には財産になるのですね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受け渡し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アプローチブックを閉じる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ルール⑯⑰⑱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シミュレーション・概算見積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7分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月1万円台なら、と前向きな答え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434840"/>
            <a:ext cx="4526280" cy="1783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・災害が3分以内に終わったか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・1日 → 1か月 → 総額 の順を守れたか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・断り文句3つを全部さばけたか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434840"/>
            <a:ext cx="452628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お客様役が必ず入れる断り文句（3つ）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①「補助金が出るまで待ちたい」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②「他の会社の話も聞いてみたい」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③「妻と相談して決めます」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よく出る断り文句 早見表①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切り返しの原則：① 同意 → ②「だからこそ」→ ③ 第三者事例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1600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「補助金が出るまで待ちたい」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確かに補助金があれば嬉しいですよね。実は今、『補助金待ちで損をする』方が非常に多いんです。待っている間に値上がりし続ける電気代を払い続けると、おそらく年間15〜20万円以上になります。しかも補助金は抽選式ですので、必ずしももらえるとは限りません。そう考えると、最も安く導入できるタイミングは、間違いなく『今』なん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456432"/>
            <a:ext cx="9098280" cy="13716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「また考えて連絡します」（その場で解決できる場合）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「お気持ちは痛いほど分かります。一生に何度もない大きな買い物ですから。よければ、検討したいとお考えのことをお教えいただけませんか？」→ 出てきた不安に、シミュレーションと現地調査で答える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965192"/>
            <a:ext cx="9098280" cy="13258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「また考えて連絡します」（即決に至らなかった場合）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「時期が空くと導入しない言い訳を探してしまいがちで、絶好のタイミングを逃してしまうかもしれません。○○日11時までにご検討いただけますか？ 〇日に私からご連絡します。それまでは、このキャンペーン枠を私の責任で確保しておきますね」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よく出る断り文句 早見表②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9098280" cy="14173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「妻と相談して決めます」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ごもっともです。奥様のご意見は大切ですよね。では仮のお話ですが、もしこの後奥様にお話しされて、『家計も助かるし、災害時も安心だからやりましょう』と快諾いただけたとしたら、〇〇様ご自身としては『進めたい』というお気持ちでよろしいでしょうか？」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（NO／曖昧な場合）→「ということは、〇〇様ご自身の中に、まだ引っかかる点があるということですね？」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834640"/>
            <a:ext cx="9098280" cy="14173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「他の会社の話も聞いてみたい」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おっしゃる通りです。ただ、太陽光や蓄電池選びで一番怖いことをご存じでしょうか。それは『表面上の価格だけで選んでしまい、施工やアフターフォローで失敗すること』なんです。設置後の定期点検、トラブル時の即日対応、15年20年先まで責任を持つ企業体制。これら『設置後の安心』まで含めた総合力では、絶対に負けない自信がございま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389120"/>
            <a:ext cx="9098280" cy="14173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「今は資金的に余裕がない」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一つだけ整理させてください。今のままでも、電気代という『終わりのないローン』は払い続けますよね？今回のお話はただの追加の出費ではありません。『電力会社への捨て金』を、同額のまま『ご自宅の資産』にスライドさせるだけです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943600"/>
            <a:ext cx="9098280" cy="3840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相手の意見に自分の意見を重ねるのは最大のNG。「私が〜」ではなく「実際に〜あります」で返す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クロージング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9098280" cy="109728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00000"/>
                </a:solidFill>
                <a:latin typeface="HGPｺﾞｼｯｸE"/>
                <a:ea typeface="HGPｺﾞｼｯｸE"/>
              </a:rPr>
              <a:t>クロージングとは、買うべき理由を説明・説得して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00000"/>
                </a:solidFill>
                <a:latin typeface="HGPｺﾞｼｯｸE"/>
                <a:ea typeface="HGPｺﾞｼｯｸE"/>
              </a:rPr>
              <a:t>契約を迫る行為</a:t>
            </a: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ではない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43200"/>
            <a:ext cx="9098280" cy="123444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クロージングとは</a:t>
            </a:r>
          </a:p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0000"/>
                </a:solidFill>
                <a:latin typeface="HGPｺﾞｼｯｸE"/>
                <a:ea typeface="HGPｺﾞｼｯｸE"/>
              </a:rPr>
              <a:t>お客様の意思決定をサポートすることである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206240"/>
            <a:ext cx="9098280" cy="96012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つまり「買わない理由を解消し、お客様自身に買うべき理由を発見していただく作業」のことである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94960"/>
            <a:ext cx="909828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断り文句が出るのは「必要でないから」ではなく、単に「迷っているから」。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営業マンがすべきことは「背中を押してあげること」だけです。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総復習：商談の正しい進め方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9098280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85800"/>
                <a:gridCol w="2377440"/>
                <a:gridCol w="60350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原則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中身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（1）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蓄電池の営業スタイル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「説明」だけで50万円超は売れない。①買わない理由をなくす ②買う理由を確認する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（2）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ラリー数と発言比率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営業：お客様＝6：4（お客様側は夫婦で2：2）。ラリー数は30回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（3）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話の振り方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ネガティブな話＝クローズド／ポジティブな話＝オープン。A（言わせたいこと）ありきでQを投げる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（4）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切り返し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 同意（Yes,but法）→ ②「だからこそ」（オウム返し法）→ ③ 第三者事例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（5）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主権者商談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本主権者がいない状態での価格提示は厳禁。価値が伝わらないまま価格に引っ張られる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03520"/>
            <a:ext cx="4526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話を振る目的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本来こちらが説明する内容を、相手の口から言わせること。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5303520"/>
            <a:ext cx="4526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「だからこそ」の使い方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前後は論理的に意味をなしている必要は全くありません。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後始末と追客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契約したあとが、次の紹介につながります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157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13232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時期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契約時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正式見積りの提示が前後することになっても、必ず一筆いただけるようにする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契約直後〜5日以内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なるべく翌日までにお礼状（ハガキで可）を投函。直筆コメント・訪問時の話題・夫婦両者のお名前を入れる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8日間〜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期間終了後も取り消しができないわけではない。油断せず、完工まで2週間ごとに連絡を取る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069080"/>
            <a:ext cx="452628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現地調査までに熱が冷めるとき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・お礼手紙の送付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　→ 判断は「論理」、決断は「感情」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・裏側の近況報告（いま図面を確認しています）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　→ 放置されている感を与えない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・ドローンで屋根の状態まで調査すると伝える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　→ プロとしての価値を高める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069080"/>
            <a:ext cx="4526280" cy="21488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連絡が途絶えたとき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・期日には必ず営業マン側から連絡する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　→ 待つと音信不通になる確率が高まる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・商談終了時に懸念点へのアプローチをしておくと、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次の連絡が自然なトークの運びになる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取り組み事例：エコプラスワン様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お礼状の工夫でクーリングオフほぼなし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個別フィードバック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評価シートを見ながら、1人ずつ確認します（15分）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909828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全員に共通で確認すること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①〜⑳のうち、○が付かなかったルールはどれか　／　その原因は「知らない」か「言えない」か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3154680"/>
          <a:ext cx="909828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58521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原因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対処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知らない（内容が頭に入っていない）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該当ページの結論の一文を暗唱する。docs/知識_営業ルール20.md を読み直す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言えない（知っているが口から出ない）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声に出す回数が足りない。次の商談まで毎日3回、そのページだけ音読する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飛ばした（時間が足りなかった）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手前のパートが長すぎる。商談の設計図の時間配分に戻る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440680"/>
            <a:ext cx="9098280" cy="82296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直す点は1人1つだけ。次の商談で一番効く1つに絞って伝えます。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順番は必ず「良い点 → 直す点1つ」。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明日からの行動計画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研修は今日で終わりですが、定着はここからです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9098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忘却曲線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翌日には50％、1週間後にはほとんど忘れます。その日のうちに復習することで記憶が定着します。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880360"/>
          <a:ext cx="909828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4754880"/>
                <a:gridCol w="31546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いつ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記入してください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今日中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p.2〜p.26 の結論の一文を通しで音読する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今週中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実商談を1件、評価シートをつけて振り返る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今週中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○が付かなかったルールを3つ書き出し、対処を決める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今月中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通しロープレを社内で2回やる（相手：　　　　　　　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623560"/>
            <a:ext cx="9098280" cy="65836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成長の7割は「経験」から生まれます（ロミンガーの法則：経験70／薫陶20／研修10）。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今日学んだ10を、明日の現場で70に変えてください。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おわりに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9098280" cy="141732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太陽光と蓄電池は、切り離さない。</a:t>
            </a:r>
          </a:p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0000"/>
                </a:solidFill>
                <a:latin typeface="HGPｺﾞｼｯｸE"/>
                <a:ea typeface="HGPｺﾞｼｯｸE"/>
              </a:rPr>
              <a:t>スマートハウスを、お届けする。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246120"/>
            <a:ext cx="9098280" cy="2011680"/>
          </a:xfrm>
          <a:prstGeom prst="rect">
            <a:avLst/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全5回でお伝えしてきたことは、突き詰めればこの2つです。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① お客様の「買わない理由」を、順番どおりに1つずつ潰していくこと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② お客様自身に「買うべき理由」を発見していただくこと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アプローチブックは、そのための地図です。何度も開いてください。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532120"/>
            <a:ext cx="9098280" cy="7315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全5回、お疲れさまでした。現場でお会いしましょう。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