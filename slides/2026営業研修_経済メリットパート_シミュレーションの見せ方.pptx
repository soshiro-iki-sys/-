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jpg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702" r:id="rId2"/>
  </p:sldMasterIdLst>
  <p:notesMasterIdLst>
    <p:notesMasterId r:id="rId74"/>
  </p:notesMasterIdLst>
  <p:handoutMasterIdLst>
    <p:handoutMasterId r:id="rId75"/>
  </p:handoutMasterIdLst>
  <p:sldIdLst>
    <p:sldId id="344" r:id="rId3"/>
    <p:sldId id="1179" r:id="rId11"/>
    <p:sldId id="1180" r:id="rId12"/>
    <p:sldId id="1181" r:id="rId13"/>
    <p:sldId id="1182" r:id="rId14"/>
    <p:sldId id="1183" r:id="rId15"/>
    <p:sldId id="1184" r:id="rId16"/>
    <p:sldId id="1185" r:id="rId17"/>
    <p:sldId id="1186" r:id="rId18"/>
    <p:sldId id="1187" r:id="rId19"/>
    <p:sldId id="1188" r:id="rId20"/>
    <p:sldId id="1189" r:id="rId21"/>
    <p:sldId id="1190" r:id="rId22"/>
    <p:sldId id="1191" r:id="rId23"/>
    <p:sldId id="1192" r:id="rId24"/>
    <p:sldId id="1193" r:id="rId25"/>
    <p:sldId id="1194" r:id="rId26"/>
    <p:sldId id="1195" r:id="rId27"/>
    <p:sldId id="1196" r:id="rId28"/>
    <p:sldId id="1197" r:id="rId29"/>
    <p:sldId id="1198" r:id="rId30"/>
    <p:sldId id="1178" r:id="rId73"/>
  </p:sldIdLst>
  <p:sldSz cx="9906000" cy="6858000" type="A4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DE1"/>
    <a:srgbClr val="362A2A"/>
    <a:srgbClr val="9BBB59"/>
    <a:srgbClr val="FB43D4"/>
    <a:srgbClr val="E85504"/>
    <a:srgbClr val="0066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3" autoAdjust="0"/>
    <p:restoredTop sz="96343" autoAdjust="0"/>
  </p:normalViewPr>
  <p:slideViewPr>
    <p:cSldViewPr showGuides="1">
      <p:cViewPr varScale="1">
        <p:scale>
          <a:sx n="82" d="100"/>
          <a:sy n="82" d="100"/>
        </p:scale>
        <p:origin x="1694" y="72"/>
      </p:cViewPr>
      <p:guideLst>
        <p:guide orient="horz" pos="845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1" d="100"/>
          <a:sy n="101" d="100"/>
        </p:scale>
        <p:origin x="3246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73" Type="http://schemas.openxmlformats.org/officeDocument/2006/relationships/slide" Target="slides/slide900.xml"/><Relationship Id="rId74" Type="http://schemas.openxmlformats.org/officeDocument/2006/relationships/notesMaster" Target="notesMasters/notesMaster1.xml"/><Relationship Id="rId75" Type="http://schemas.openxmlformats.org/officeDocument/2006/relationships/handoutMaster" Target="handoutMasters/handout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4" y="2"/>
            <a:ext cx="2918830" cy="495029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695728E3-876B-4768-9AB0-7D988C1247D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2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4" y="9371288"/>
            <a:ext cx="2918830" cy="495028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E00352D2-49C1-4968-AB3E-0C456C91C2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722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/>
          <a:lstStyle>
            <a:lvl1pPr algn="r">
              <a:defRPr sz="1200"/>
            </a:lvl1pPr>
          </a:lstStyle>
          <a:p>
            <a:fld id="{A8D18B60-6E12-48B8-B760-06957378EDAD}" type="datetimeFigureOut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48" tIns="47425" rIns="94848" bIns="47425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8" y="4686501"/>
            <a:ext cx="5388610" cy="4439841"/>
          </a:xfrm>
          <a:prstGeom prst="rect">
            <a:avLst/>
          </a:prstGeom>
        </p:spPr>
        <p:txBody>
          <a:bodyPr vert="horz" lIns="94848" tIns="47425" rIns="94848" bIns="47425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4" y="9371285"/>
            <a:ext cx="2918830" cy="493316"/>
          </a:xfrm>
          <a:prstGeom prst="rect">
            <a:avLst/>
          </a:prstGeom>
        </p:spPr>
        <p:txBody>
          <a:bodyPr vert="horz" lIns="94848" tIns="47425" rIns="94848" bIns="47425" rtlCol="0" anchor="b"/>
          <a:lstStyle>
            <a:lvl1pPr algn="r">
              <a:defRPr sz="1200"/>
            </a:lvl1pPr>
          </a:lstStyle>
          <a:p>
            <a:fld id="{B76C3785-4774-4B27-AA13-6B236C476115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C3785-4774-4B27-AA13-6B236C476115}" type="slidenum">
              <a:rPr kumimoji="1" lang="ja-JP" altLang="en-US" smtClean="0"/>
              <a:pPr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633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・講義は25分。残りは全部ロープレに使うと最初に宣言する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・出典：創蓄セット販売 強化合宿 p.18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・出典：創蓄セット販売 強化合宿 p.17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・P8の上段（販売金額・ローン条件）は、聞かれるまで見せない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・出典：創蓄セット販売 強化合宿 p.25・p.26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・「元が取れる／取れない」で判断させると、狭小住宅への提案が困難になる（合宿 p.36）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・出典：創蓄セット販売 強化合宿 p.24・p.36／第3回 27枚目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DEDC6-F80D-48C2-B138-00A27E7F2E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4A63-54DC-4F0A-84AB-53668F1114D2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4A45F-A8A8-4DDE-B673-AED63056AB3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F025A-80F9-47C5-83D6-D2A5A3B97719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BD1E-31C5-4520-B82E-04337BC9ED08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DA76A-BB70-46AD-B592-B57DADC2881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97B68-78AE-4B40-9B77-32E3BBE4C65E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1A2F7-89F4-4CBB-9F6E-BD9D54E64EE6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CFBB6-5FCD-4CD1-A658-5A106B94C497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7A81-3346-464B-A479-530443E8B95D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2015-3E19-41F4-BCCA-3D5A7443FCC4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87FF-647B-4F7E-A20E-637EB01FA9D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768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2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6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097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5"/>
            <a:ext cx="4206531" cy="22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853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853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853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4"/>
            <a:ext cx="2228850" cy="365125"/>
          </a:xfrm>
        </p:spPr>
        <p:txBody>
          <a:bodyPr/>
          <a:lstStyle>
            <a:lvl1pPr>
              <a:defRPr sz="975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6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2" cy="605918"/>
          </a:xfrm>
        </p:spPr>
        <p:txBody>
          <a:bodyPr>
            <a:noAutofit/>
          </a:bodyPr>
          <a:lstStyle>
            <a:lvl1pPr algn="ctr">
              <a:defRPr sz="2925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8" y="-3521490"/>
            <a:ext cx="11734664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2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4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8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4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9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97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70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70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70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70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タイトル（目次と対応させてください。）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フォント：メイリオ見出し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48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lang="ja-JP" altLang="en-US" sz="1097" dirty="0"/>
              <a:t>真ん中寄せ</a:t>
            </a:r>
            <a:endParaRPr kumimoji="1" lang="en-US" altLang="ja-JP" sz="1097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0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小見出し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32</a:t>
            </a:r>
          </a:p>
          <a:p>
            <a:pPr algn="ctr"/>
            <a:r>
              <a:rPr lang="ja-JP" altLang="en-US" sz="1097" dirty="0"/>
              <a:t>ボールド</a:t>
            </a:r>
            <a:endParaRPr lang="en-US" altLang="ja-JP" sz="1097" dirty="0"/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0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本文</a:t>
            </a:r>
            <a:endParaRPr kumimoji="1" lang="en-US" altLang="ja-JP" sz="1097" dirty="0"/>
          </a:p>
          <a:p>
            <a:pPr algn="ctr"/>
            <a:r>
              <a:rPr kumimoji="1" lang="ja-JP" altLang="en-US" sz="1097" dirty="0"/>
              <a:t>フォント：メイリオ本文</a:t>
            </a:r>
            <a:endParaRPr kumimoji="1" lang="en-US" altLang="ja-JP" sz="1097" dirty="0"/>
          </a:p>
          <a:p>
            <a:pPr algn="ctr"/>
            <a:r>
              <a:rPr lang="ja-JP" altLang="en-US" sz="1097" dirty="0"/>
              <a:t>サイズ：</a:t>
            </a:r>
            <a:r>
              <a:rPr lang="en-US" altLang="ja-JP" sz="1097" dirty="0"/>
              <a:t>18</a:t>
            </a:r>
          </a:p>
          <a:p>
            <a:pPr algn="ctr"/>
            <a:r>
              <a:rPr kumimoji="1" lang="ja-JP" altLang="en-US" sz="1097" dirty="0"/>
              <a:t>左寄せ</a:t>
            </a:r>
            <a:endParaRPr kumimoji="1" lang="en-US" altLang="ja-JP" sz="1097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70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97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6209500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84438440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63855536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9174585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484692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373420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2173626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4031544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183429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14061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9192423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8287582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5744121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4216793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6300916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97072234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2250322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87302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798260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77527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75716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1737084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467632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78273959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5174241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6451614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1173428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4627575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1582251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763589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044164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52193495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2207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9855753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5455775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77133986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</p:spTree>
    <p:extLst>
      <p:ext uri="{BB962C8B-B14F-4D97-AF65-F5344CB8AC3E}">
        <p14:creationId xmlns:p14="http://schemas.microsoft.com/office/powerpoint/2010/main" val="389747795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65194846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2134033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 25"/>
          <p:cNvGraphicFramePr>
            <a:graphicFrameLocks noGrp="1"/>
          </p:cNvGraphicFramePr>
          <p:nvPr userDrawn="1"/>
        </p:nvGraphicFramePr>
        <p:xfrm>
          <a:off x="0" y="727606"/>
          <a:ext cx="438463" cy="588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463">
                  <a:extLst>
                    <a:ext uri="{9D8B030D-6E8A-4147-A177-3AD203B41FA5}">
                      <a16:colId xmlns:a16="http://schemas.microsoft.com/office/drawing/2014/main" val="2456847792"/>
                    </a:ext>
                  </a:extLst>
                </a:gridCol>
              </a:tblGrid>
              <a:tr h="98041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①タイトル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06185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②タイトル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67891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③タイトル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11894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④タイトル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09632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⑤タイトル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06519"/>
                  </a:ext>
                </a:extLst>
              </a:tr>
              <a:tr h="9804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1" dirty="0">
                          <a:solidFill>
                            <a:schemeClr val="bg1"/>
                          </a:solidFill>
                        </a:rPr>
                        <a:t>⑥タイトル</a:t>
                      </a:r>
                    </a:p>
                  </a:txBody>
                  <a:tcPr marL="74295" marR="74295"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7652"/>
                  </a:ext>
                </a:extLst>
              </a:tr>
            </a:tbl>
          </a:graphicData>
        </a:graphic>
      </p:graphicFrame>
      <p:sp>
        <p:nvSpPr>
          <p:cNvPr id="35" name="正方形/長方形 34"/>
          <p:cNvSpPr/>
          <p:nvPr userDrawn="1"/>
        </p:nvSpPr>
        <p:spPr>
          <a:xfrm>
            <a:off x="85255" y="1119975"/>
            <a:ext cx="267950" cy="534118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463" dirty="0"/>
              <a:t>こちらで変更します。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6610097"/>
            <a:ext cx="9906000" cy="2476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7" name="Text Box 31"/>
          <p:cNvSpPr txBox="1">
            <a:spLocks noChangeArrowheads="1"/>
          </p:cNvSpPr>
          <p:nvPr userDrawn="1"/>
        </p:nvSpPr>
        <p:spPr bwMode="auto">
          <a:xfrm>
            <a:off x="42215" y="6580034"/>
            <a:ext cx="4206531" cy="26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Copyright©Funai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 Incorporated 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　　（</a:t>
            </a:r>
            <a:r>
              <a:rPr lang="en-US" altLang="ja-JP" sz="1138" b="1" dirty="0" err="1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Funai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Consulting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 </a:t>
            </a:r>
            <a:r>
              <a:rPr lang="en-US" altLang="ja-JP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Inc.</a:t>
            </a:r>
            <a:r>
              <a:rPr lang="ja-JP" altLang="en-US" sz="1138" b="1" dirty="0">
                <a:solidFill>
                  <a:schemeClr val="bg1"/>
                </a:solidFill>
                <a:latin typeface="Monotype Corsiva" pitchFamily="66" charset="0"/>
                <a:ea typeface="HGP創英角ｺﾞｼｯｸUB" pitchFamily="50" charset="-128"/>
              </a:rPr>
              <a:t>）</a:t>
            </a:r>
            <a:endParaRPr lang="en-US" altLang="ja-JP" sz="1138" b="1" dirty="0">
              <a:solidFill>
                <a:schemeClr val="bg1"/>
              </a:solidFill>
              <a:latin typeface="Monotype Corsiva" pitchFamily="66" charset="0"/>
              <a:ea typeface="HGP創英角ｺﾞｼｯｸUB" pitchFamily="50" charset="-128"/>
            </a:endParaRP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2"/>
          </p:nvPr>
        </p:nvSpPr>
        <p:spPr>
          <a:xfrm>
            <a:off x="7677150" y="6551360"/>
            <a:ext cx="2228850" cy="365125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</a:defRPr>
            </a:lvl1pPr>
          </a:lstStyle>
          <a:p>
            <a:fld id="{85FC83C8-0BB2-4721-BA19-3C9CC69276E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2" name="楕円 21"/>
          <p:cNvSpPr/>
          <p:nvPr userDrawn="1"/>
        </p:nvSpPr>
        <p:spPr>
          <a:xfrm>
            <a:off x="-2244328" y="-788766"/>
            <a:ext cx="14437221" cy="1759809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4" name="タイトル 1"/>
          <p:cNvSpPr>
            <a:spLocks noGrp="1"/>
          </p:cNvSpPr>
          <p:nvPr>
            <p:ph type="title"/>
          </p:nvPr>
        </p:nvSpPr>
        <p:spPr>
          <a:xfrm>
            <a:off x="255770" y="245205"/>
            <a:ext cx="9378221" cy="605918"/>
          </a:xfrm>
        </p:spPr>
        <p:txBody>
          <a:bodyPr>
            <a:noAutofit/>
          </a:bodyPr>
          <a:lstStyle>
            <a:lvl1pPr algn="ctr">
              <a:defRPr sz="39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-2650779" y="-1508644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-200669" y="-3521490"/>
            <a:ext cx="1173466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918180" y="-2387723"/>
            <a:ext cx="2642953" cy="350769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7" name="楕円 26"/>
          <p:cNvSpPr/>
          <p:nvPr userDrawn="1"/>
        </p:nvSpPr>
        <p:spPr>
          <a:xfrm>
            <a:off x="10081668" y="4975630"/>
            <a:ext cx="340519" cy="417363"/>
          </a:xfrm>
          <a:prstGeom prst="ellipse">
            <a:avLst/>
          </a:prstGeom>
          <a:solidFill>
            <a:srgbClr val="8B9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8" name="楕円 27"/>
          <p:cNvSpPr/>
          <p:nvPr userDrawn="1"/>
        </p:nvSpPr>
        <p:spPr>
          <a:xfrm>
            <a:off x="10081668" y="3641505"/>
            <a:ext cx="340519" cy="41736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29" name="楕円 28"/>
          <p:cNvSpPr/>
          <p:nvPr userDrawn="1"/>
        </p:nvSpPr>
        <p:spPr>
          <a:xfrm>
            <a:off x="10081668" y="2307380"/>
            <a:ext cx="340519" cy="41736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0" name="楕円 29"/>
          <p:cNvSpPr/>
          <p:nvPr userDrawn="1"/>
        </p:nvSpPr>
        <p:spPr>
          <a:xfrm>
            <a:off x="10081668" y="973255"/>
            <a:ext cx="340519" cy="417363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3"/>
          </a:p>
        </p:txBody>
      </p:sp>
      <p:sp>
        <p:nvSpPr>
          <p:cNvPr id="31" name="四角形吹き出し 30"/>
          <p:cNvSpPr/>
          <p:nvPr userDrawn="1"/>
        </p:nvSpPr>
        <p:spPr>
          <a:xfrm>
            <a:off x="10657068" y="419727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文字の色</a:t>
            </a:r>
          </a:p>
        </p:txBody>
      </p:sp>
      <p:sp>
        <p:nvSpPr>
          <p:cNvPr id="32" name="四角形吹き出し 31"/>
          <p:cNvSpPr/>
          <p:nvPr userDrawn="1"/>
        </p:nvSpPr>
        <p:spPr>
          <a:xfrm>
            <a:off x="10657068" y="182193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やじるしなどの図形の色</a:t>
            </a:r>
          </a:p>
        </p:txBody>
      </p:sp>
      <p:sp>
        <p:nvSpPr>
          <p:cNvPr id="33" name="四角形吹き出し 32"/>
          <p:cNvSpPr/>
          <p:nvPr userDrawn="1"/>
        </p:nvSpPr>
        <p:spPr>
          <a:xfrm>
            <a:off x="10657068" y="4490184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ベースの色</a:t>
            </a:r>
          </a:p>
        </p:txBody>
      </p:sp>
      <p:sp>
        <p:nvSpPr>
          <p:cNvPr id="34" name="四角形吹き出し 33"/>
          <p:cNvSpPr/>
          <p:nvPr userDrawn="1"/>
        </p:nvSpPr>
        <p:spPr>
          <a:xfrm>
            <a:off x="10657068" y="3156059"/>
            <a:ext cx="1438387" cy="970890"/>
          </a:xfrm>
          <a:prstGeom prst="wedgeRectCallout">
            <a:avLst>
              <a:gd name="adj1" fmla="val -61477"/>
              <a:gd name="adj2" fmla="val 239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強調の色</a:t>
            </a:r>
          </a:p>
        </p:txBody>
      </p:sp>
      <p:sp>
        <p:nvSpPr>
          <p:cNvPr id="39" name="四角形吹き出し 38"/>
          <p:cNvSpPr/>
          <p:nvPr userDrawn="1"/>
        </p:nvSpPr>
        <p:spPr>
          <a:xfrm>
            <a:off x="-2959618" y="-919028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タイトル（目次と対応させてください。）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フォント：メイリオ見出し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48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lang="ja-JP" altLang="en-US" sz="1463" dirty="0"/>
              <a:t>真ん中寄せ</a:t>
            </a:r>
            <a:endParaRPr kumimoji="1" lang="en-US" altLang="ja-JP" sz="1463" dirty="0"/>
          </a:p>
        </p:txBody>
      </p:sp>
      <p:sp>
        <p:nvSpPr>
          <p:cNvPr id="45" name="四角形吹き出し 44"/>
          <p:cNvSpPr/>
          <p:nvPr userDrawn="1"/>
        </p:nvSpPr>
        <p:spPr>
          <a:xfrm>
            <a:off x="-2933551" y="2899809"/>
            <a:ext cx="2448136" cy="1838056"/>
          </a:xfrm>
          <a:prstGeom prst="wedgeRectCallout">
            <a:avLst>
              <a:gd name="adj1" fmla="val 68120"/>
              <a:gd name="adj2" fmla="val 16336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小見出し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32</a:t>
            </a:r>
          </a:p>
          <a:p>
            <a:pPr algn="ctr"/>
            <a:r>
              <a:rPr lang="ja-JP" altLang="en-US" sz="1463" dirty="0"/>
              <a:t>ボールド</a:t>
            </a:r>
            <a:endParaRPr lang="en-US" altLang="ja-JP" sz="1463" dirty="0"/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46" name="四角形吹き出し 45"/>
          <p:cNvSpPr/>
          <p:nvPr userDrawn="1"/>
        </p:nvSpPr>
        <p:spPr>
          <a:xfrm>
            <a:off x="-2933551" y="4895865"/>
            <a:ext cx="2448136" cy="1838056"/>
          </a:xfrm>
          <a:prstGeom prst="wedgeRectCallout">
            <a:avLst>
              <a:gd name="adj1" fmla="val 68617"/>
              <a:gd name="adj2" fmla="val -24441"/>
            </a:avLst>
          </a:prstGeom>
          <a:solidFill>
            <a:srgbClr val="076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本文</a:t>
            </a:r>
            <a:endParaRPr kumimoji="1" lang="en-US" altLang="ja-JP" sz="1463" dirty="0"/>
          </a:p>
          <a:p>
            <a:pPr algn="ctr"/>
            <a:r>
              <a:rPr kumimoji="1" lang="ja-JP" altLang="en-US" sz="1463" dirty="0"/>
              <a:t>フォント：メイリオ本文</a:t>
            </a:r>
            <a:endParaRPr kumimoji="1" lang="en-US" altLang="ja-JP" sz="1463" dirty="0"/>
          </a:p>
          <a:p>
            <a:pPr algn="ctr"/>
            <a:r>
              <a:rPr lang="ja-JP" altLang="en-US" sz="1463" dirty="0"/>
              <a:t>サイズ：</a:t>
            </a:r>
            <a:r>
              <a:rPr lang="en-US" altLang="ja-JP" sz="1463" dirty="0"/>
              <a:t>18</a:t>
            </a:r>
          </a:p>
          <a:p>
            <a:pPr algn="ctr"/>
            <a:r>
              <a:rPr kumimoji="1" lang="ja-JP" altLang="en-US" sz="1463" dirty="0"/>
              <a:t>左寄せ</a:t>
            </a:r>
            <a:endParaRPr kumimoji="1" lang="en-US" altLang="ja-JP" sz="1463" dirty="0"/>
          </a:p>
        </p:txBody>
      </p:sp>
      <p:sp>
        <p:nvSpPr>
          <p:cNvPr id="23" name="四角形吹き出し 22"/>
          <p:cNvSpPr/>
          <p:nvPr userDrawn="1"/>
        </p:nvSpPr>
        <p:spPr>
          <a:xfrm>
            <a:off x="10657068" y="5752795"/>
            <a:ext cx="1645113" cy="970890"/>
          </a:xfrm>
          <a:prstGeom prst="wedgeRectCallout">
            <a:avLst>
              <a:gd name="adj1" fmla="val -62408"/>
              <a:gd name="adj2" fmla="val 9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63" dirty="0"/>
              <a:t>この赤ガイド線内に収まるように作成してください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0649018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 userDrawn="1"/>
        </p:nvSpPr>
        <p:spPr>
          <a:xfrm>
            <a:off x="34397" y="6634602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74295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 </a:t>
            </a:r>
            <a:r>
              <a:rPr lang="ja-JP" altLang="en-US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650" baseline="0" dirty="0">
                <a:solidFill>
                  <a:schemeClr val="tx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650" kern="1200" dirty="0">
              <a:solidFill>
                <a:schemeClr val="tx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592269"/>
            <a:ext cx="2311400" cy="365125"/>
          </a:xfrm>
          <a:prstGeom prst="rect">
            <a:avLst/>
          </a:prstGeom>
        </p:spPr>
        <p:txBody>
          <a:bodyPr vert="horz" lIns="74295" tIns="37148" rIns="74295" bIns="37148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731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731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タイトル 1"/>
          <p:cNvSpPr>
            <a:spLocks noGrp="1"/>
          </p:cNvSpPr>
          <p:nvPr>
            <p:ph type="ctrTitle"/>
          </p:nvPr>
        </p:nvSpPr>
        <p:spPr>
          <a:xfrm>
            <a:off x="-2" y="8468"/>
            <a:ext cx="8949798" cy="620688"/>
          </a:xfrm>
        </p:spPr>
        <p:txBody>
          <a:bodyPr>
            <a:normAutofit/>
          </a:bodyPr>
          <a:lstStyle>
            <a:lvl1pPr>
              <a:defRPr sz="2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pic>
        <p:nvPicPr>
          <p:cNvPr id="8" name="Picture 1" descr="C:\Users\F2034\Pictures\6.会社データ(ロゴ・サイン）\パターンC(タグ無し）\パターンC(タグ無し）カラー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87351" y="68626"/>
            <a:ext cx="979838" cy="50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10598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9067-D5A7-4D20-AE49-915E5BDB9F4F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8E823636-1305-4F53-9866-547E7D8CE7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8150" y="3403600"/>
            <a:ext cx="8979346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図 6" descr="パターンA_カラー.jpg">
            <a:extLst>
              <a:ext uri="{FF2B5EF4-FFF2-40B4-BE49-F238E27FC236}">
                <a16:creationId xmlns:a16="http://schemas.microsoft.com/office/drawing/2014/main" id="{3DBCC9CD-6C0C-47EC-80E8-87633DBE3D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193360" y="6453336"/>
            <a:ext cx="1512168" cy="263485"/>
          </a:xfrm>
          <a:prstGeom prst="rect">
            <a:avLst/>
          </a:prstGeom>
        </p:spPr>
      </p:pic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AFCC08E-3E46-4DAF-AB38-B8819EC7D9A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04528" y="2564904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4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〇月度お打合せ資料</a:t>
            </a:r>
          </a:p>
        </p:txBody>
      </p:sp>
      <p:sp>
        <p:nvSpPr>
          <p:cNvPr id="10" name="コンテンツ プレースホルダー 8">
            <a:extLst>
              <a:ext uri="{FF2B5EF4-FFF2-40B4-BE49-F238E27FC236}">
                <a16:creationId xmlns:a16="http://schemas.microsoft.com/office/drawing/2014/main" id="{28B2D2FF-C2AA-40BF-9A54-68583069E6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4528" y="2085777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株式会社御中</a:t>
            </a:r>
          </a:p>
        </p:txBody>
      </p:sp>
      <p:sp>
        <p:nvSpPr>
          <p:cNvPr id="11" name="コンテンツ プレースホルダー 8">
            <a:extLst>
              <a:ext uri="{FF2B5EF4-FFF2-40B4-BE49-F238E27FC236}">
                <a16:creationId xmlns:a16="http://schemas.microsoft.com/office/drawing/2014/main" id="{ECF04A37-370B-4768-A875-EF9C667848E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36976" y="3433465"/>
            <a:ext cx="5545138" cy="719138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日付</a:t>
            </a:r>
          </a:p>
        </p:txBody>
      </p:sp>
    </p:spTree>
    <p:extLst>
      <p:ext uri="{BB962C8B-B14F-4D97-AF65-F5344CB8AC3E}">
        <p14:creationId xmlns:p14="http://schemas.microsoft.com/office/powerpoint/2010/main" val="14991236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AEF3C9B-15A5-4754-B97A-474B280C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D5602E-9916-437E-9C25-C8047E09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43BD0A-BD54-4DF0-A3BE-6D3FA31F9069}"/>
              </a:ext>
            </a:extLst>
          </p:cNvPr>
          <p:cNvSpPr txBox="1"/>
          <p:nvPr userDrawn="1"/>
        </p:nvSpPr>
        <p:spPr>
          <a:xfrm>
            <a:off x="-15552" y="44624"/>
            <a:ext cx="640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 pitchFamily="50" charset="-128"/>
              </a:rPr>
              <a:t>本日のお打合せ内容</a:t>
            </a:r>
            <a:endParaRPr kumimoji="1" lang="ja-JP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EA3A4F-1EF2-4A9E-BD1F-DE9A3E01A425}"/>
              </a:ext>
            </a:extLst>
          </p:cNvPr>
          <p:cNvSpPr/>
          <p:nvPr userDrawn="1"/>
        </p:nvSpPr>
        <p:spPr>
          <a:xfrm>
            <a:off x="69725" y="666126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お打合せ事項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7B66B0E-B525-4135-A640-3C5077DFBABA}"/>
              </a:ext>
            </a:extLst>
          </p:cNvPr>
          <p:cNvSpPr/>
          <p:nvPr userDrawn="1"/>
        </p:nvSpPr>
        <p:spPr>
          <a:xfrm>
            <a:off x="72749" y="3911838"/>
            <a:ext cx="2592000" cy="29237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次回お打合せ日程</a:t>
            </a:r>
            <a:endParaRPr kumimoji="1" lang="ja-JP" altLang="en-US" sz="16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8C66AEEA-90B1-4FF5-983E-12E09DD67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500" y="1129818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2400" b="1"/>
            </a:lvl1pPr>
          </a:lstStyle>
          <a:p>
            <a:pPr lvl="0"/>
            <a:r>
              <a:rPr kumimoji="1" lang="ja-JP" altLang="en-US" dirty="0"/>
              <a:t>①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②</a:t>
            </a:r>
            <a:endParaRPr kumimoji="1" lang="en-US" altLang="ja-JP" dirty="0"/>
          </a:p>
        </p:txBody>
      </p:sp>
      <p:sp>
        <p:nvSpPr>
          <p:cNvPr id="20" name="テキスト プレースホルダー 16">
            <a:extLst>
              <a:ext uri="{FF2B5EF4-FFF2-40B4-BE49-F238E27FC236}">
                <a16:creationId xmlns:a16="http://schemas.microsoft.com/office/drawing/2014/main" id="{347F4DAF-2DE1-4CC8-9835-4DFC642B51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500" y="4374514"/>
            <a:ext cx="5505450" cy="1792288"/>
          </a:xfrm>
        </p:spPr>
        <p:txBody>
          <a:bodyPr>
            <a:normAutofit/>
          </a:bodyPr>
          <a:lstStyle>
            <a:lvl1pPr marL="0" indent="0">
              <a:buFont typeface="+mj-ea"/>
              <a:buNone/>
              <a:defRPr sz="1800" b="1"/>
            </a:lvl1pPr>
          </a:lstStyle>
          <a:p>
            <a:pPr lvl="0"/>
            <a:r>
              <a:rPr kumimoji="1" lang="en-US" altLang="ja-JP" dirty="0"/>
              <a:t>2024</a:t>
            </a:r>
            <a:r>
              <a:rPr kumimoji="1" lang="ja-JP" altLang="en-US" dirty="0"/>
              <a:t>年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961619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600E18-DBF4-4DED-A3E8-EBDE8D9EA3B5}"/>
              </a:ext>
            </a:extLst>
          </p:cNvPr>
          <p:cNvSpPr/>
          <p:nvPr userDrawn="1"/>
        </p:nvSpPr>
        <p:spPr bwMode="auto">
          <a:xfrm>
            <a:off x="272480" y="332656"/>
            <a:ext cx="9454650" cy="62646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  <a:miter lim="800000"/>
            <a:headEnd/>
            <a:tailEnd/>
          </a:ln>
        </p:spPr>
        <p:txBody>
          <a:bodyPr wrap="none" rtlCol="0" anchor="t"/>
          <a:lstStyle/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2"/>
            <a:r>
              <a: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  </a:t>
            </a:r>
          </a:p>
          <a:p>
            <a:pPr lvl="2"/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4EF40AA-2D98-4C1A-9B75-77B4B1EC2A46}"/>
              </a:ext>
            </a:extLst>
          </p:cNvPr>
          <p:cNvSpPr/>
          <p:nvPr userDrawn="1"/>
        </p:nvSpPr>
        <p:spPr bwMode="auto">
          <a:xfrm>
            <a:off x="128464" y="188640"/>
            <a:ext cx="2592288" cy="432048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決定事項</a:t>
            </a:r>
          </a:p>
        </p:txBody>
      </p:sp>
    </p:spTree>
    <p:extLst>
      <p:ext uri="{BB962C8B-B14F-4D97-AF65-F5344CB8AC3E}">
        <p14:creationId xmlns:p14="http://schemas.microsoft.com/office/powerpoint/2010/main" val="2542922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アジェン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0CE6683-2EEC-4A4B-B2A1-E385C7062BF3}"/>
              </a:ext>
            </a:extLst>
          </p:cNvPr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" descr="C:\Users\F2034\Pictures\6.会社データ(ロゴ・サイン）\パターンC(タグ無し）\パターンC(タグ無し）カラー.png">
            <a:extLst>
              <a:ext uri="{FF2B5EF4-FFF2-40B4-BE49-F238E27FC236}">
                <a16:creationId xmlns:a16="http://schemas.microsoft.com/office/drawing/2014/main" id="{8872FC31-1813-49E9-8E6B-E9B5CED7B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41432" y="68626"/>
            <a:ext cx="979838" cy="504000"/>
          </a:xfrm>
          <a:prstGeom prst="rect">
            <a:avLst/>
          </a:prstGeom>
          <a:noFill/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C1EA9E4-A15B-418D-B69C-E609A5DDD9EC}"/>
              </a:ext>
            </a:extLst>
          </p:cNvPr>
          <p:cNvSpPr/>
          <p:nvPr userDrawn="1"/>
        </p:nvSpPr>
        <p:spPr>
          <a:xfrm>
            <a:off x="0" y="6678000"/>
            <a:ext cx="9906000" cy="1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8DDC5E-044B-4C3D-BEA8-24AF979B3258}"/>
              </a:ext>
            </a:extLst>
          </p:cNvPr>
          <p:cNvSpPr txBox="1"/>
          <p:nvPr userDrawn="1"/>
        </p:nvSpPr>
        <p:spPr>
          <a:xfrm>
            <a:off x="6609184" y="6649964"/>
            <a:ext cx="3240360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Copyright</a:t>
            </a:r>
            <a:r>
              <a:rPr lang="ja-JP" altLang="en-US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Funai Consulting Inc.</a:t>
            </a:r>
            <a:r>
              <a:rPr lang="ja-JP" altLang="en-US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 </a:t>
            </a:r>
            <a:r>
              <a:rPr lang="en-US" altLang="ja-JP" sz="800" baseline="0" dirty="0">
                <a:solidFill>
                  <a:schemeClr val="bg1"/>
                </a:solidFill>
                <a:latin typeface="Lucida Calligraphy" pitchFamily="66" charset="0"/>
                <a:ea typeface="Arial Unicode MS" pitchFamily="50" charset="-128"/>
                <a:cs typeface="Arial Unicode MS" pitchFamily="50" charset="-128"/>
              </a:rPr>
              <a:t>All Rights Reserved.</a:t>
            </a:r>
            <a:endParaRPr kumimoji="1" lang="ja-JP" altLang="en-US" sz="800" kern="1200" dirty="0">
              <a:solidFill>
                <a:schemeClr val="bg1"/>
              </a:solidFill>
              <a:latin typeface="Lucida Calligraphy" pitchFamily="66" charset="0"/>
              <a:ea typeface="Arial Unicode MS" pitchFamily="50" charset="-128"/>
              <a:cs typeface="Arial Unicode MS" pitchFamily="50" charset="-128"/>
            </a:endParaRPr>
          </a:p>
        </p:txBody>
      </p:sp>
      <p:sp>
        <p:nvSpPr>
          <p:cNvPr id="15" name="スライド番号プレースホルダ 5">
            <a:extLst>
              <a:ext uri="{FF2B5EF4-FFF2-40B4-BE49-F238E27FC236}">
                <a16:creationId xmlns:a16="http://schemas.microsoft.com/office/drawing/2014/main" id="{52F86702-B75D-40EF-96B7-30E910044692}"/>
              </a:ext>
            </a:extLst>
          </p:cNvPr>
          <p:cNvSpPr txBox="1">
            <a:spLocks/>
          </p:cNvSpPr>
          <p:nvPr userDrawn="1"/>
        </p:nvSpPr>
        <p:spPr>
          <a:xfrm>
            <a:off x="3797300" y="659226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HGSｺﾞｼｯｸM" pitchFamily="50" charset="-128"/>
                <a:ea typeface="HGSｺﾞｼｯｸM" pitchFamily="50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82566-0BE5-4691-A89E-B3D89F8502D1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GSｺﾞｼｯｸM" pitchFamily="50" charset="-128"/>
                <a:ea typeface="HGSｺﾞｼｯｸM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GSｺﾞｼｯｸM" pitchFamily="50" charset="-128"/>
              <a:ea typeface="HGSｺﾞｼｯｸM" pitchFamily="50" charset="-128"/>
              <a:cs typeface="+mn-cs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B55609-F8C4-4A71-A410-286691A672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472" y="68627"/>
            <a:ext cx="3960812" cy="552062"/>
          </a:xfr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9062224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EC131-7E93-4E21-A3A0-1A53928AA2CA}" type="datetime1">
              <a:rPr kumimoji="1" lang="ja-JP" altLang="en-US" smtClean="0"/>
              <a:t>2026/5/20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538144" y="6491969"/>
            <a:ext cx="2311400" cy="365125"/>
          </a:xfrm>
        </p:spPr>
        <p:txBody>
          <a:bodyPr/>
          <a:lstStyle/>
          <a:p>
            <a:fld id="{619B85A0-BB21-4C42-9028-BB80073B34C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18939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0" y="6642000"/>
            <a:ext cx="9906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2DF90-A6ED-4A10-B24A-8E192E896765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594600" y="656743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23687FF-647B-4F7E-A20E-637EB01FA9DF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0" y="0"/>
            <a:ext cx="9906000" cy="5486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0" y="271681"/>
            <a:ext cx="3384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200" b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株式会社山岸様　住宅用太陽光・蓄電池研修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59477-32A0-4799-AD80-C098563D5CC0}" type="datetime1">
              <a:rPr kumimoji="1" lang="ja-JP" altLang="en-US" smtClean="0"/>
              <a:pPr/>
              <a:t>2026/5/20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8" name="Text Box 16"/>
          <p:cNvSpPr txBox="1">
            <a:spLocks noChangeArrowheads="1"/>
          </p:cNvSpPr>
          <p:nvPr userDrawn="1"/>
        </p:nvSpPr>
        <p:spPr bwMode="auto">
          <a:xfrm>
            <a:off x="6048044" y="6677175"/>
            <a:ext cx="393488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ja-JP" sz="900" dirty="0">
                <a:ea typeface="ＭＳ Ｐゴシック" pitchFamily="50" charset="-128"/>
              </a:rPr>
              <a:t>Copyright</a:t>
            </a:r>
            <a:r>
              <a:rPr lang="ja-JP" altLang="en-US" sz="900" dirty="0">
                <a:ea typeface="ＭＳ Ｐゴシック" pitchFamily="50" charset="-128"/>
              </a:rPr>
              <a:t>　</a:t>
            </a:r>
            <a:r>
              <a:rPr lang="en-US" altLang="ja-JP" sz="900" dirty="0" err="1">
                <a:ea typeface="ＭＳ Ｐゴシック" pitchFamily="50" charset="-128"/>
              </a:rPr>
              <a:t>Funai</a:t>
            </a:r>
            <a:r>
              <a:rPr lang="en-US" altLang="ja-JP" sz="900" dirty="0">
                <a:ea typeface="ＭＳ Ｐゴシック" pitchFamily="50" charset="-128"/>
              </a:rPr>
              <a:t> Consulting Co.ltd</a:t>
            </a:r>
            <a:r>
              <a:rPr lang="ja-JP" altLang="en-US" sz="900" dirty="0">
                <a:ea typeface="ＭＳ Ｐゴシック" pitchFamily="50" charset="-128"/>
              </a:rPr>
              <a:t>　　禁転載・禁複写</a:t>
            </a:r>
          </a:p>
        </p:txBody>
      </p:sp>
      <p:sp>
        <p:nvSpPr>
          <p:cNvPr id="11" name="スライド番号プレースホルダ 5"/>
          <p:cNvSpPr txBox="1">
            <a:spLocks/>
          </p:cNvSpPr>
          <p:nvPr userDrawn="1"/>
        </p:nvSpPr>
        <p:spPr>
          <a:xfrm>
            <a:off x="3797300" y="660290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51D2E0-CC30-4DAC-88BB-E6AB37505372}" type="slidenum">
              <a:rPr kumimoji="1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682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4C9A310-3AB5-49FE-B1F9-2C427DCC1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" t="1834" r="3141" b="3667"/>
          <a:stretch/>
        </p:blipFill>
        <p:spPr>
          <a:xfrm>
            <a:off x="-15552" y="-27384"/>
            <a:ext cx="9921552" cy="6888954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0DF95E-7A9A-442E-9966-946D2B47649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31859B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D832A5-E759-420F-B835-DF29A241CBFB}"/>
              </a:ext>
            </a:extLst>
          </p:cNvPr>
          <p:cNvSpPr txBox="1"/>
          <p:nvPr/>
        </p:nvSpPr>
        <p:spPr>
          <a:xfrm>
            <a:off x="288032" y="1988840"/>
            <a:ext cx="9619052" cy="29238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BIZ UDPゴシック"/>
                <a:ea typeface="BIZ UDPゴシック"/>
              </a:rPr>
              <a:t>株式会社山岸　御中</a:t>
            </a:r>
            <a:endParaRPr lang="en-US" altLang="ja-JP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BIZ UDPゴシック"/>
                <a:ea typeface="BIZ UDPゴシック"/>
              </a:rPr>
              <a:t>経済メリット訴求パート</a:t>
            </a:r>
          </a:p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BIZ UDPゴシック"/>
                <a:ea typeface="BIZ UDPゴシック"/>
              </a:rPr>
              <a:t>シミュレーションの見せ方</a:t>
            </a:r>
          </a:p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BIZ UDPゴシック"/>
                <a:ea typeface="BIZ UDPゴシック"/>
              </a:rPr>
              <a:t>〜太陽光＋蓄電池セット販売〜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71E207B-1CE8-4FD8-B86D-32251E1C4C12}"/>
              </a:ext>
            </a:extLst>
          </p:cNvPr>
          <p:cNvSpPr txBox="1"/>
          <p:nvPr/>
        </p:nvSpPr>
        <p:spPr>
          <a:xfrm>
            <a:off x="4664968" y="4471938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BIZ UDPゴシック"/>
                <a:ea typeface="BIZ UDPゴシック"/>
              </a:rPr>
              <a:t>2026年度　所要60分　株式会社船井総合研究所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B7CC725-B595-4742-A8BF-D882BB45AE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388" y="5736453"/>
            <a:ext cx="2309225" cy="47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986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はじめに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このパートのゴールと、今日の進め方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909828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highlight>
                  <a:srgbClr val="31859B"/>
                </a:highlight>
                <a:latin typeface="HGPｺﾞｼｯｸE"/>
                <a:ea typeface="HGPｺﾞｼｯｸE"/>
              </a:rPr>
              <a:t>講義 25分</a:t>
            </a:r>
            <a:r>
              <a:rPr sz="1500" b="0">
                <a:solidFill>
                  <a:srgbClr val="595959"/>
                </a:solidFill>
                <a:latin typeface="HGPｺﾞｼｯｸE"/>
                <a:ea typeface="HGPｺﾞｼｯｸE"/>
              </a:rPr>
              <a:t>　→　</a:t>
            </a:r>
            <a:r>
              <a:rPr sz="1600" b="1">
                <a:solidFill>
                  <a:srgbClr val="FFFFFF"/>
                </a:solidFill>
                <a:highlight>
                  <a:srgbClr val="31859B"/>
                </a:highlight>
                <a:latin typeface="HGPｺﾞｼｯｸE"/>
                <a:ea typeface="HGPｺﾞｼｯｸE"/>
              </a:rPr>
              <a:t>ロールプレイング 30分</a:t>
            </a:r>
            <a:r>
              <a:rPr sz="1500" b="0">
                <a:solidFill>
                  <a:srgbClr val="595959"/>
                </a:solidFill>
                <a:latin typeface="HGPｺﾞｼｯｸE"/>
                <a:ea typeface="HGPｺﾞｼｯｸE"/>
              </a:rPr>
              <a:t>　→　</a:t>
            </a:r>
            <a:r>
              <a:rPr sz="1600" b="1">
                <a:solidFill>
                  <a:srgbClr val="FFFFFF"/>
                </a:solidFill>
                <a:highlight>
                  <a:srgbClr val="31859B"/>
                </a:highlight>
                <a:latin typeface="HGPｺﾞｼｯｸE"/>
                <a:ea typeface="HGPｺﾞｼｯｸE"/>
              </a:rPr>
              <a:t>まとめ 5分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487168"/>
            <a:ext cx="4389120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　初めての方・数回の方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① 見せるページを絞れる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② 残す数字3つを言い切れる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③ 削減額を言い切ってから支払いに入る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487168"/>
            <a:ext cx="4389120" cy="20116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　契約率を上げたい方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① 前提条件を先に自分から言える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② 「FIT後は？」「上がらなかったら？」に即答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③ 反応を見て伝え方①に切り替えられる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736592"/>
            <a:ext cx="9098280" cy="65836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扱うのは アプローチブック p.20・p.21 ＋ 診断レポート（エネがえる）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614416"/>
            <a:ext cx="9098280" cy="69494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「基本」だけで商談は成立します。</a:t>
            </a: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　「応用」は余力のある人だけ。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はじめに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経済メリットは、商談のどこに効くのか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55648"/>
            <a:ext cx="909828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購入　＝　</a:t>
            </a:r>
            <a:r>
              <a:rPr sz="2600" b="1">
                <a:solidFill>
                  <a:srgbClr val="1F6391"/>
                </a:solidFill>
                <a:latin typeface="HGPｺﾞｼｯｸE"/>
                <a:ea typeface="HGPｺﾞｼｯｸE"/>
              </a:rPr>
              <a:t>価値</a:t>
            </a: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　÷　</a:t>
            </a:r>
            <a:r>
              <a:rPr sz="2600" b="1">
                <a:solidFill>
                  <a:srgbClr val="FF0000"/>
                </a:solidFill>
                <a:latin typeface="HGPｺﾞｼｯｸE"/>
                <a:ea typeface="HGPｺﾞｼｯｸE"/>
              </a:rPr>
              <a:t>価格</a:t>
            </a: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　　この値が1を超えたとき、人は購入に至る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761488"/>
            <a:ext cx="438912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391"/>
                </a:solidFill>
                <a:latin typeface="HGPｺﾞｼｯｸE"/>
                <a:ea typeface="HGPｺﾞｼｯｸE"/>
              </a:rPr>
              <a:t>価値を上げる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① 電気代が高騰している（前回）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② 災害対策（前回）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＋ 商品の価値（FAB）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761488"/>
            <a:ext cx="4389120" cy="118872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価格を下げる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③ 経済メリット（今回）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「価格そのもの」ではなく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「実質いくらになるか」を下げる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114800"/>
            <a:ext cx="9098280" cy="1417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F0000"/>
                </a:solidFill>
                <a:latin typeface="HGPｺﾞｼｯｸE"/>
                <a:ea typeface="HGPｺﾞｼｯｸE"/>
              </a:rPr>
              <a:t>ただし ③は「決め手」であって「入り口」ではない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狭小住宅・北向き屋根・電気使用量が少ないお宅では、数字が出ません。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「元が取れる／取れない」で判断させると、そういうお宅に提案できなくなります。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①②と商品の価値を積んだうえで、最後に③で背中を押す。順番を入れ替えないこと。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687568"/>
            <a:ext cx="9098280" cy="56692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③経済メリットは、価格を下げる側の武器。入り口にはしない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はじめに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今日の基本方針：まず「いくら減るか」だけを言い切る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4389120" cy="713232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0000"/>
                </a:solidFill>
                <a:latin typeface="HGPｺﾞｼｯｸE"/>
                <a:ea typeface="HGPｺﾞｼｯｸE"/>
              </a:rPr>
              <a:t>✕　いきなり「月々◯◯円のお支払いで」から入る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→ 支払額だけが記憶に残る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755648"/>
            <a:ext cx="4389120" cy="713232"/>
          </a:xfrm>
          <a:prstGeom prst="rect">
            <a:avLst/>
          </a:prstGeom>
          <a:solidFill>
            <a:srgbClr val="EAF1DD"/>
          </a:solidFill>
          <a:ln w="12700">
            <a:solidFill>
              <a:srgbClr val="7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○　まず「電気代がいくら減るか」だけを言い切る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HGPｺﾞｼｯｸE"/>
                <a:ea typeface="HGPｺﾞｼｯｸE"/>
              </a:rPr>
              <a:t>→ ローンの話は、そのあと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651760"/>
          <a:ext cx="9098279" cy="24505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3977639"/>
                <a:gridCol w="36576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伝え方② ＝ 今日の基本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伝え方① ＝ 切り替え用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見せるもの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電気代の減収分だけ。ローンは外す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ローン返済額を含めたトータル金額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向いている方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まず全員これ。現金一括／月々の支出増に抵抗がある方／数字が多いと混乱される方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長期で考えられる方／完済後の姿に価値を感じる方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切り替える合図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②で「で、いくら払うの？」と聞かれたとき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5138928"/>
            <a:ext cx="43891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HGPｺﾞｼｯｸE"/>
                <a:ea typeface="HGPｺﾞｼｯｸE"/>
              </a:rPr>
              <a:t>迷ったら②。ローンの話を自分から持ち出さない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5138928"/>
            <a:ext cx="438912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HGPｺﾞｼｯｸE"/>
                <a:ea typeface="HGPｺﾞｼｯｸE"/>
              </a:rPr>
              <a:t>②で得の実感が薄いときだけ①に切り替える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99632"/>
            <a:ext cx="9098280" cy="38404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HGPｺﾞｼｯｸE"/>
                <a:ea typeface="HGPｺﾞｼｯｸE"/>
              </a:rPr>
              <a:t>出典：創蓄セット販売 強化合宿 p.17・p.18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はじめに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使う資料と、見せるページ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9098280" cy="47548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HGPｺﾞｼｯｸE"/>
                <a:ea typeface="HGPｺﾞｼｯｸE"/>
              </a:rPr>
              <a:t>アプローチブック p.20・p.21　→　診断レポート（9ページ）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359152"/>
          <a:ext cx="5669280" cy="3511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2468880"/>
                <a:gridCol w="20116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診断レポート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ページ名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商談での扱い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診断条件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見せない（事前に自分が確認）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太陽光 月別発電量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聞かれたら開く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P3・P4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現在の／FIT中の使い方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対比用に一瞬だけ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FIT終了後の使い方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見せない（P4と同じ）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P6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1ヶ月のシミュレーション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★ 主役① いくら減るか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長期シミュレーション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裏づけとして一瞬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P8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お支払いシミュレーション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★ 主役② いくら払うか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自家消費優先（特定月）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聞かれたら開く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55080" y="2359152"/>
            <a:ext cx="3154680" cy="1920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70C0"/>
                </a:solidFill>
                <a:latin typeface="HGPｺﾞｼｯｸE"/>
                <a:ea typeface="HGPｺﾞｼｯｸE"/>
              </a:rPr>
              <a:t>お客様に残す数字は3つだけ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① 1ヶ月の実質削減額（P6）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② 25年間の累計削減額（P7）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③ 1日あたりの実質負担額（P8）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4425696"/>
            <a:ext cx="3154680" cy="13898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全部めくらない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9ページのうち、見せるのは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P3・P4・P6・P7・P8 の5枚。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残りは聞かれたときの裏づけ。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925312"/>
            <a:ext cx="9098280" cy="42062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ページを行き来しない。綴じ順に1回通すだけで話が終わるように作られています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アプローチブック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p.20　電気を購入する生活から電気を自給自足する生活へ</a:t>
            </a:r>
          </a:p>
        </p:txBody>
      </p:sp>
      <p:pic>
        <p:nvPicPr>
          <p:cNvPr id="6" name="Picture 5" descr="ab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48874"/>
            <a:ext cx="4526280" cy="3131651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917101"/>
            <a:ext cx="452628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p.20　未導入のお家と、太陽光＋蓄電池のお家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「電気を買うより、自給自足した方が良いですね」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697480"/>
            <a:ext cx="4343400" cy="14447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これだけ言えば成立します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左右の家の絵を順に指す。文章は読まない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「①の電気代と②の災害、この2つへの答えがこれです」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「自分で作って、自分で使う。これが答えです」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4197096"/>
            <a:ext cx="4343400" cy="1088136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経験者はここまで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①②で作ったネガを、ここで初めて解決策に変える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「賦課金も使った分だけ」とp.14に戻してもよい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上昇する電気代を削減するために、自給自足が求められます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ここで金額の話をしない。「考え方」を1つ置くだけのページです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アプローチブック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p.21　太陽光発電・蓄電池の使い方</a:t>
            </a:r>
          </a:p>
        </p:txBody>
      </p:sp>
      <p:pic>
        <p:nvPicPr>
          <p:cNvPr id="6" name="Picture 5" descr="ab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48874"/>
            <a:ext cx="4526280" cy="3131651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917101"/>
            <a:ext cx="452628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アプローチブック p.21　1日の電気の流れ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「太陽光・蓄電池の活用方法が分かる」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697480"/>
            <a:ext cx="4343400" cy="14447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これだけ言えば成立します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図を左から順に指でなぞる（朝 → 昼 → 夕 → 深夜）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「朝は買う。昼は作って使い、余りを貯める」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「夕方からは、貯めた電気を使う」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0000"/>
                </a:solidFill>
                <a:latin typeface="HGPｺﾞｼｯｸE"/>
                <a:ea typeface="HGPｺﾞｼｯｸE"/>
              </a:rPr>
              <a:t>「売電15円より買う電気30円が高い。だから売らずに使う」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4197096"/>
            <a:ext cx="4343400" cy="1088136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経験者はここまで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この図は、あとで診断レポート P4 の流れ図とそのまま対応する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図を見ずに「朝・昼・夕」の3つで言えるようにしておく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具体的なシミュレーションを見ていきましょう！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ここが曖昧だと、次のシミュレーションが何を言っているか伝わりません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診断レポート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P3・P4　使う量は同じ。買う量が減る</a:t>
            </a:r>
          </a:p>
        </p:txBody>
      </p:sp>
      <p:pic>
        <p:nvPicPr>
          <p:cNvPr id="6" name="Picture 5" descr="sim34_c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53845"/>
            <a:ext cx="4709160" cy="2121709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41213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診断レポート P3（現在）／P4（FIT期間中）　1ヶ月の電気利用の流れ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「買う電気がこんなに減るんですね」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697480"/>
            <a:ext cx="4343400" cy="14447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これだけ言えば成立します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左が「現在」、右が「導入後」。同じ絵なので並べて見せる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「1ヶ月に使う量は470kWhのまま、変えていません」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0000"/>
                </a:solidFill>
                <a:latin typeface="HGPｺﾞｼｯｸE"/>
                <a:ea typeface="HGPｺﾞｼｯｸE"/>
              </a:rPr>
              <a:t>「自給率が0％から86.75％になります」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4197096"/>
            <a:ext cx="4343400" cy="1088136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経験者はここまで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数字が苦手なお客様には、金額よりこの2枚のほうが速い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「使用のピークは19時〜20時」＝発電しない時間、を押さえておく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使う量は変わらない。買う量が減るだけです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P5（FIT終了後）はP4とほぼ同じ絵。並べると「さっきと同じでは」と言われます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診断レポート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P6-①　棒の長さは3本とも同じ。中身が割れるだけ</a:t>
            </a:r>
          </a:p>
        </p:txBody>
      </p:sp>
      <p:pic>
        <p:nvPicPr>
          <p:cNvPr id="6" name="Picture 5" descr="sim6_b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14779"/>
            <a:ext cx="4709160" cy="1999841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351196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診断レポート P6　1ヶ月の光熱費の比較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「払う総額が、こう分かれるんですね」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697480"/>
            <a:ext cx="4343400" cy="14447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これだけ言えば成立します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まず「3本の棒、長さは同じですよね」と確認させる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「灰色が、これからも払う電気代です」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「緑が蓄電池、オレンジが太陽光で減った分です」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4197096"/>
            <a:ext cx="4343400" cy="1088136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経験者はここまで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下の黄色い棒は「売電収入」。支出減と収入は別物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図の形が、そのまま「払い先が替わる」の言い方になる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安くなるのではなく、払い先が電力会社から自分の設備に替わります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棒の内訳を全部読み上げない。灰色・緑・オレンジの3色だけ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診断レポート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P6-②　節約額の内訳が、そのままセット販売の根拠</a:t>
            </a:r>
          </a:p>
        </p:txBody>
      </p:sp>
      <p:pic>
        <p:nvPicPr>
          <p:cNvPr id="6" name="Picture 5" descr="sim6_brea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53254"/>
            <a:ext cx="4709160" cy="1322891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012721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診断レポート P6　節約額の内訳（左：FIT期間中／右：FIT終了後）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「蓄電池を入れると、こんなに変わるんですね」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697480"/>
            <a:ext cx="4343400" cy="14447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これだけ言えば成立します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太陽光の行と、蓄電池の行を指で2回指す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「太陽光だけだと、この行だけです」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0000"/>
                </a:solidFill>
                <a:latin typeface="HGPｺﾞｼｯｸE"/>
                <a:ea typeface="HGPｺﾞｼｯｸE"/>
              </a:rPr>
              <a:t>「蓄電池を足すと、ここまで増えます」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4197096"/>
            <a:ext cx="4343400" cy="1088136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経験者はここまで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P4の「ピークは19〜20時」と結ぶ＝発電しない時間に要る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セット販売の根拠が数字で載っている唯一の場所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太陽光だけでは届かない。セットで初めてこの数字になります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「電気料金プラン変更」「オール電化」が0なのは、提案に入っていないという意味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診断レポート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P6-③　FIT後に減るのは、売電収入だけ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00784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「10年後はどうなるの？」はほぼ必ず聞かれる。答えは同じページの右側にある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066543"/>
          <a:ext cx="9098280" cy="32552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2011680"/>
                <a:gridCol w="2103120"/>
                <a:gridCol w="24231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節約額の内訳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FIT期間中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FIT期間終了後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電気料金プラン変更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太陽光（自家消費）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6,612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6,612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変わらない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オール電化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蓄電池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4,634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4,634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変わらない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節約額合計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11,246 円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11,246 円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1円も変わらない</a:t>
                      </a:r>
                    </a:p>
                  </a:txBody>
                  <a:tcPr marL="45720" marR="45720" marT="18288" marB="18288" anchor="ctr">
                    <a:solidFill>
                      <a:srgbClr val="EAF1D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＋ 売電収入</a:t>
                      </a:r>
                    </a:p>
                  </a:txBody>
                  <a:tcPr marL="45720" marR="45720" marT="18288" marB="18288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1,706 円</a:t>
                      </a:r>
                    </a:p>
                  </a:txBody>
                  <a:tcPr marL="45720" marR="45720" marT="18288" marB="18288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590 円</a:t>
                      </a:r>
                    </a:p>
                  </a:txBody>
                  <a:tcPr marL="45720" marR="45720" marT="18288" marB="18288" anchor="ctr">
                    <a:solidFill>
                      <a:srgbClr val="FC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ここだけ下がる</a:t>
                      </a:r>
                    </a:p>
                  </a:txBody>
                  <a:tcPr marL="45720" marR="45720" marT="18288" marB="18288" anchor="ctr">
                    <a:solidFill>
                      <a:srgbClr val="FCE4E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＝ 実質削減額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12,952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11,836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差は 1,116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5394960"/>
            <a:ext cx="43891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HGPｺﾞｼｯｸE"/>
                <a:ea typeface="HGPｺﾞｼｯｸE"/>
              </a:rPr>
              <a:t>「減るのは売電収入だけ。自分の分は変わりません」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5394960"/>
            <a:ext cx="438912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HGPｺﾞｼｯｸE"/>
                <a:ea typeface="HGPｺﾞｼｯｸE"/>
              </a:rPr>
              <a:t>買取単価が24円→8.3円に落ちるため、と理由まで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19088"/>
            <a:ext cx="90982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診断レポート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P7　25年でいくら減るか。前提も同じページに載っている</a:t>
            </a:r>
          </a:p>
        </p:txBody>
      </p:sp>
      <p:pic>
        <p:nvPicPr>
          <p:cNvPr id="6" name="Picture 5" descr="sim7_s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40475"/>
            <a:ext cx="4709160" cy="1548450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125500"/>
            <a:ext cx="470916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診断レポート P7　長期シミュレーション（25年間の実質削減額）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755648"/>
            <a:ext cx="434340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HGPｺﾞｼｯｸE"/>
                <a:ea typeface="HGPｺﾞｼｯｸE"/>
              </a:rPr>
              <a:t>引き出す反応（お客様の台詞）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「25年だと、そんなに違うんですね」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2697480"/>
            <a:ext cx="4343400" cy="14447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これだけ言えば成立します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HGPｺﾞｼｯｸE"/>
                <a:ea typeface="HGPｺﾞｼｯｸE"/>
              </a:rPr>
              <a:t>大きいピンクの数字を1つだけ指す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「25年間で、累計 455万円の差になります」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0000"/>
                </a:solidFill>
                <a:latin typeface="HGPｺﾞｼｯｸE"/>
                <a:ea typeface="HGPｺﾞｼｯｸE"/>
              </a:rPr>
              <a:t>先に「電気代が年2％上がる前提です」と言ってから見せる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4197096"/>
            <a:ext cx="4343400" cy="1088136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  <a:r>
              <a:rPr sz="1100" b="1">
                <a:solidFill>
                  <a:srgbClr val="595959"/>
                </a:solidFill>
                <a:latin typeface="HGPｺﾞｼｯｸE"/>
                <a:ea typeface="HGPｺﾞｼｯｸE"/>
              </a:rPr>
              <a:t>　経験者はここまで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「上がらなかったら？」には右下を指す。0％でも360万円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実質光熱費の定義も、同じページに書いてある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303520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緑帯の結論（そのまま言い切る）　</a:t>
            </a:r>
            <a:r>
              <a:rPr sz="15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25年間の実質削減額は 累計 4,553,031 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925312"/>
            <a:ext cx="909828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0000"/>
                </a:solidFill>
                <a:latin typeface="HGPｺﾞｼｯｸE"/>
                <a:ea typeface="HGPｺﾞｼｯｸE"/>
              </a:rPr>
              <a:t>注意　</a:t>
            </a: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グラフは40年まで目盛りがありますが、計算は25年。聞かれたら素直に答える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金額の伝え方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伝え方②　電気代の減収分のみをお伝えする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261872"/>
            <a:ext cx="178308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　全員これ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ローンの話をいったん外して、「電気代がいくら減るか」だけを見せます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084831"/>
          <a:ext cx="909828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4572000"/>
                <a:gridCol w="26974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見る単位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言い方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金額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月で見ると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「毎月の電気代が、これだけ下がります」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15,089円 → 3,844円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「減る額は、毎月これだけです」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12,952 円/月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年で見ると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「1年にすると、これだけ残ります」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約 15.5 万円/年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25年で見ると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「25年だと、累計でこれだけです」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4,553,031 円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4681728"/>
            <a:ext cx="4389120" cy="932688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HGPｺﾞｼｯｸE"/>
                <a:ea typeface="HGPｺﾞｼｯｸE"/>
              </a:rPr>
              <a:t>ここでローンの話をしない。「いくら払うか」は次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4681728"/>
            <a:ext cx="4389120" cy="932688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000000"/>
                </a:solidFill>
                <a:latin typeface="HGPｺﾞｼｯｸE"/>
                <a:ea typeface="HGPｺﾞｼｯｸE"/>
              </a:rPr>
              <a:t>25年の数字はP7を開いて見せる（0％も同じページ）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797296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削減額は「大きい単位」で言う。</a:t>
            </a:r>
            <a:r>
              <a:rPr sz="16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月 → 年 → 25年 と積み上げて、得の大きさを作りきる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金額の伝え方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伝え方①　ローン返済額を含めたトータル金額</a:t>
            </a:r>
          </a:p>
        </p:txBody>
      </p:sp>
      <p:sp>
        <p:nvSpPr>
          <p:cNvPr id="6" name="Rectangle 5"/>
          <p:cNvSpPr/>
          <p:nvPr/>
        </p:nvSpPr>
        <p:spPr>
          <a:xfrm>
            <a:off x="7726679" y="1261872"/>
            <a:ext cx="1783080" cy="384048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　切り替え用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②で「で、いくら払うの？」と聞かれたときだけ、こちらに切り替えます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084831"/>
          <a:ext cx="5577840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737360"/>
                <a:gridCol w="15544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（例）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ローン支払い中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完済後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もともとの電気代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15,000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15,000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＋ ローンの分割額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22,000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 電気代削減額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−14,000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−14,000 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支出合計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23,000 円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1,000 円</a:t>
                      </a:r>
                    </a:p>
                  </a:txBody>
                  <a:tcPr marL="45720" marR="45720" marT="18288" marB="18288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09360" y="2084831"/>
            <a:ext cx="3200400" cy="11155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向いているお客様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・長期で考えられる方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・完済後の姿に価値を感じる方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28416"/>
            <a:ext cx="3200400" cy="1078992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0000"/>
                </a:solidFill>
                <a:latin typeface="HGPｺﾞｼｯｸE"/>
                <a:ea typeface="HGPｺﾞｼｯｸE"/>
              </a:rPr>
              <a:t>注意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返済中は支出が増えます。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ここを隠すと必ず不信になります。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498848"/>
            <a:ext cx="9098280" cy="111556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070C0"/>
                </a:solidFill>
                <a:latin typeface="HGPｺﾞｼｯｸE"/>
                <a:ea typeface="HGPｺﾞｼｯｸE"/>
              </a:rPr>
              <a:t>使い分けの原則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①　まず伝え方②（電気代の減収分のみ）で話す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②　「で、いくら払うの？」と聞かれたら、伝え方①または P8 に進む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どちらも同じ事実を、別の枠組みで見せているだけです。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797296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完済後に支出が「1,000円」まで下がる絵を見せる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金額の伝え方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P8　金額は「下から」伝える。総額は最後</a:t>
            </a:r>
          </a:p>
        </p:txBody>
      </p:sp>
      <p:pic>
        <p:nvPicPr>
          <p:cNvPr id="6" name="Picture 5" descr="sim8_cal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4754880" cy="1619061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345643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診断レポート P8　毎月の実質負担額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767328"/>
            <a:ext cx="475488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この式の読み方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P6で言った「実質削減額」が、そのままここに入っています。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000000"/>
                </a:solidFill>
                <a:latin typeface="HGPｺﾞｼｯｸE"/>
                <a:ea typeface="HGPｺﾞｼｯｸE"/>
              </a:rPr>
              <a:t>「さっきのこの金額が、ここです」と指でつなぐ。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0680" y="1737360"/>
            <a:ext cx="475488" cy="987552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6752" y="1737360"/>
            <a:ext cx="3493008" cy="987552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1日あたりの金額にして表す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FF0000"/>
                </a:solidFill>
                <a:latin typeface="HGPｺﾞｼｯｸE"/>
                <a:ea typeface="HGPｺﾞｼｯｸE"/>
              </a:rPr>
              <a:t>約345円 ≒ コーヒー一杯分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「1日500円くらいコンビニで買われてますよね？」（YES取り）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2807208"/>
            <a:ext cx="475488" cy="9875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6752" y="2807208"/>
            <a:ext cx="3493008" cy="9875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1月あたりの金額にして表す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FF0000"/>
                </a:solidFill>
                <a:latin typeface="HGPｺﾞｼｯｸE"/>
                <a:ea typeface="HGPｺﾞｼｯｸE"/>
              </a:rPr>
              <a:t>10,364円 ≒ いまの電気代より安い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「奥さんも、飲み会2回くらい削ったっていいですよね？」（YES取り）／「皆さん停電保険って」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3877056"/>
            <a:ext cx="475488" cy="987552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HGPｺﾞｼｯｸE"/>
                <a:ea typeface="HGPｺﾞｼｯｸE"/>
              </a:rPr>
              <a:t>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3877056"/>
            <a:ext cx="3493008" cy="987552"/>
          </a:xfrm>
          <a:prstGeom prst="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総支払額を伝える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FF0000"/>
                </a:solidFill>
                <a:latin typeface="HGPｺﾞｼｯｸE"/>
                <a:ea typeface="HGPｺﾞｼｯｸE"/>
              </a:rPr>
              <a:t>聞かれてから。自分から出さない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HGPｺﾞｼｯｸE"/>
                <a:ea typeface="HGPｺﾞｼｯｸE"/>
              </a:rPr>
              <a:t>合宿資料「総支払額は最後に伝えるのがベター」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4974336"/>
            <a:ext cx="4069080" cy="676656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0000"/>
                </a:solidFill>
                <a:latin typeface="HGPｺﾞｼｯｸE"/>
                <a:ea typeface="HGPｺﾞｼｯｸE"/>
              </a:rPr>
              <a:t>下から積む。①→②→③の順</a:t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HGPｺﾞｼｯｸE"/>
                <a:ea typeface="HGPｺﾞｼｯｸE"/>
              </a:rPr>
              <a:t>フレーミング効果（合宿 p.46・p.47）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797296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95959"/>
                </a:solidFill>
                <a:latin typeface="HGPｺﾞｼｯｸE"/>
                <a:ea typeface="HGPｺﾞｼｯｸE"/>
              </a:rPr>
              <a:t>支払額は「小さい単位」で言う。</a:t>
            </a:r>
            <a:r>
              <a:rPr sz="16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1日あたりから話し、販売金額は最後まで自分から出さない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疑いに答える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FF0000"/>
                </a:solidFill>
                <a:latin typeface="HGPｺﾞｼｯｸE"/>
                <a:ea typeface="HGPｺﾞｼｯｸE"/>
              </a:rPr>
              <a:t>前提：シミュレーションは疑われています</a:t>
            </a:r>
          </a:p>
        </p:txBody>
      </p:sp>
      <p:pic>
        <p:nvPicPr>
          <p:cNvPr id="6" name="Picture 5" descr="trust7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4892040" cy="3201386"/>
          </a:xfrm>
          <a:prstGeom prst="rect">
            <a:avLst/>
          </a:prstGeom>
          <a:ln w="12700">
            <a:solidFill>
              <a:srgbClr val="80808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956048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95959"/>
                </a:solidFill>
                <a:latin typeface="HGPｺﾞｼｯｸE"/>
                <a:ea typeface="HGPｺﾞｼｯｸE"/>
              </a:rPr>
              <a:t>出典：エネがえる運営事務局調べ（国際航業株式会社）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1737360"/>
            <a:ext cx="3977639" cy="841248"/>
          </a:xfrm>
          <a:prstGeom prst="rect">
            <a:avLst/>
          </a:prstGeom>
          <a:solidFill>
            <a:srgbClr val="FCE4E4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疑ったことがある人　</a:t>
            </a:r>
            <a:r>
              <a:rPr sz="2800" b="1">
                <a:solidFill>
                  <a:srgbClr val="FF0000"/>
                </a:solidFill>
                <a:latin typeface="HGPｺﾞｼｯｸE"/>
                <a:ea typeface="HGPｺﾞｼｯｸE"/>
              </a:rPr>
              <a:t>75.4</a:t>
            </a:r>
            <a:r>
              <a:rPr sz="1600" b="1">
                <a:solidFill>
                  <a:srgbClr val="FF0000"/>
                </a:solidFill>
                <a:latin typeface="HGPｺﾞｼｯｸE"/>
                <a:ea typeface="HGPｺﾞｼｯｸE"/>
              </a:rPr>
              <a:t> ％</a:t>
            </a:r>
          </a:p>
        </p:txBody>
      </p:sp>
      <p:sp>
        <p:nvSpPr>
          <p:cNvPr id="9" name="Rectangle 8"/>
          <p:cNvSpPr/>
          <p:nvPr/>
        </p:nvSpPr>
        <p:spPr>
          <a:xfrm>
            <a:off x="5532120" y="2724912"/>
            <a:ext cx="3977639" cy="19385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だから、こう伝えます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・金額の大きさで勝とうとしない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・前提条件を先に口で言う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HGPｺﾞｼｯｸE"/>
                <a:ea typeface="HGPｺﾞｼｯｸE"/>
              </a:rPr>
              <a:t>　（使用量・単価・上昇率）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・お客様の検針票の実額から出発する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000000"/>
                </a:solidFill>
                <a:latin typeface="HGPｺﾞｼｯｸE"/>
                <a:ea typeface="HGPｺﾞｼｯｸE"/>
              </a:rPr>
              <a:t>・診断日時・世帯IDを指す（専用の診断）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4809744"/>
            <a:ext cx="3977639" cy="841248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595959"/>
                </a:solidFill>
                <a:latin typeface="HGPｺﾞｼｯｸE"/>
                <a:ea typeface="HGPｺﾞｼｯｸE"/>
              </a:rPr>
              <a:t>✕　シミュレーション金額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0000"/>
                </a:solidFill>
                <a:latin typeface="HGPｺﾞｼｯｸE"/>
                <a:ea typeface="HGPｺﾞｼｯｸE"/>
              </a:rPr>
              <a:t>◎　安心感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797296"/>
            <a:ext cx="9098280" cy="53035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「盛っていない」ことが伝わる方が、金額より効きます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疑いに答える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713232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聞かれたら、ページで答える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261872"/>
            <a:ext cx="196596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ロープレ中の参照用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00784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答えは全部レポートの中にあります。言葉で説得せず、ページを開いて指す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084831"/>
          <a:ext cx="9098280" cy="36941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8920"/>
                <a:gridCol w="4754880"/>
                <a:gridCol w="15544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お客様の質問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答え方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開くページ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10年後（FIT後）はどうなるの？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「減るのは売電収入だけ。自分で使う分は変わりません」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P6 右側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電気代が上がらなかったら？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「上がらない前提の数字も、同じページに出ています」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P7 右下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本当にこんなに減るの？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「○○様の検針票から計算。使う量は変えていません」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P3 と P6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蓄電池まで要る？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「太陽光だけだと、この行だけになります」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P6 内訳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もっと大きい蓄電池の方が得では？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「サイズアップ分のメリットは30年で約3.6万円です」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結局いくら払うの？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0000"/>
                          </a:solidFill>
                          <a:latin typeface="游ゴシック"/>
                          <a:ea typeface="游ゴシック"/>
                        </a:rPr>
                        <a:t>「1日あたり約345円です」（総額から答えない）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P8 を下から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5724144"/>
            <a:ext cx="9098280" cy="603504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0000"/>
                </a:solidFill>
                <a:latin typeface="HGPｺﾞｼｯｸE"/>
                <a:ea typeface="HGPｺﾞｼｯｸE"/>
              </a:rPr>
              <a:t>いちばん多い失敗：「結局いくら？」に総額で答えてしまう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1日あたり → 1月あたり → 総額の順。総額は自分から出さない。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61872"/>
            <a:ext cx="909828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00000"/>
                </a:solidFill>
                <a:latin typeface="HGPｺﾞｼｯｸE"/>
                <a:ea typeface="HGPｺﾞｼｯｸE"/>
              </a:rPr>
              <a:t>このパートで持ち帰ってほしい3つ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10512"/>
            <a:ext cx="658368" cy="117043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HGPｺﾞｼｯｸE"/>
                <a:ea typeface="HGPｺﾞｼｯｸE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" y="1810512"/>
            <a:ext cx="8339327" cy="117043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まず「いくら減るか」を言い切る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ローンの話は、そのあと。自分から持ち出さない（伝え方②）。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090672"/>
            <a:ext cx="658368" cy="117043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HGPｺﾞｼｯｸE"/>
                <a:ea typeface="HGPｺﾞｼｯｸE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3090672"/>
            <a:ext cx="8339327" cy="117043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削減額は大きい単位、支払額は小さい単位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25年で455万円。払うのは1日345円。総額は聞かれてから。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370831"/>
            <a:ext cx="658368" cy="117043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HGPｺﾞｼｯｸE"/>
                <a:ea typeface="HGPｺﾞｼｯｸE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4370831"/>
            <a:ext cx="8339327" cy="117043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HGPｺﾞｼｯｸE"/>
                <a:ea typeface="HGPｺﾞｼｯｸE"/>
              </a:rPr>
              <a:t>金額で勝とうとしない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✕ シミュレーション金額　◎ 安心感。前提を先に言い、検針票の実額から出発する。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687568"/>
            <a:ext cx="9098280" cy="6400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おまけ：金額の褒め → 体験の褒め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「将来的には手出し0円で災害対策もできちゃいますね」「浮いたお金で何ができますか、奥さん？」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ロールプレイング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通し練習：p.20 から P8 まで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9098280" cy="107899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95959"/>
                </a:solidFill>
                <a:latin typeface="HGPｺﾞｼｯｸE"/>
                <a:ea typeface="HGPｺﾞｼｯｸE"/>
              </a:rPr>
              <a:t>進め方（合計30分）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・2人1組。営業役とお客様役。1本8分 → フィードバック4分 → 交代してもう1本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・p.20 を開いた状態から始め、P8 の「1日あたり」まで到達する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・基本｜伝え方②で通す　応用｜お客様役が疑いを1つ入れる（即答集から選ぶ）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926080"/>
            <a:ext cx="4389120" cy="157276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70C0"/>
                </a:solidFill>
                <a:latin typeface="HGPｺﾞｼｯｸE"/>
                <a:ea typeface="HGPｺﾞｼｯｸE"/>
              </a:rPr>
              <a:t>顧客設定（田中様ご夫婦）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・ご主人48歳／奥様45歳／高校生・中学生のお子様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・築14年・南向き切妻屋根・オール電化ではない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・太陽光・蓄電池ともに未導入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・電気代 月20,000円　・住宅ローン返済中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・お子様が来年受験／ご主人は在宅勤務が週2日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926080"/>
            <a:ext cx="4389120" cy="1572768"/>
          </a:xfrm>
          <a:prstGeom prst="rect">
            <a:avLst/>
          </a:prstGeom>
          <a:solidFill>
            <a:srgbClr val="EAF1DD"/>
          </a:solidFill>
          <a:ln w="12700">
            <a:solidFill>
              <a:srgbClr val="7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お客様役・講師が見るところ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・ローンの話を自分から出していないか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・総額（販売金額）を口にしていないか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・1日あたりまで落とせたか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・前提条件を先に言えたか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000000"/>
                </a:solidFill>
                <a:latin typeface="HGPｺﾞｼｯｸE"/>
                <a:ea typeface="HGPｺﾞｼｯｸE"/>
              </a:rPr>
              <a:t>・太陽光だけ／蓄電池だけの話になっていないか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26864"/>
            <a:ext cx="9098280" cy="8778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フィードバックの型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① 良かったページを1つ、ページ番号で言う　② 直すのは1人1つだけ　③ 人ではなくページを指摘する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650992"/>
            <a:ext cx="9098280" cy="65836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HGPｺﾞｼｯｸE"/>
                <a:ea typeface="HGPｺﾞｼｯｸE"/>
              </a:rPr>
              <a:t>「結局いくらですか？」を1回は必ず投げてください。総額で答えたらそこで止めます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ロールプレイング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0000"/>
                </a:solidFill>
                <a:latin typeface="HGPｺﾞｼｯｸE"/>
                <a:ea typeface="HGPｺﾞｼｯｸE"/>
              </a:rPr>
              <a:t>セルフチェックシート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00784"/>
            <a:ext cx="9098280" cy="292608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HGPｺﾞｼｯｸE"/>
                <a:ea typeface="HGPｺﾞｼｯｸE"/>
              </a:rPr>
              <a:t>ロープレのあとに記入し、できていない項目を次回までの宿題にしてください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084831"/>
          <a:ext cx="5806439" cy="3511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77639"/>
                <a:gridCol w="914400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確認すること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今日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次回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p.21で「朝・昼・夕」の流れを図なしで言えた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P6で太陽光の行と蓄電池の行を指して説明できた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「FIT後は？」に、売電収入だけと即答できた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前提条件（上昇率2％）を自分から先に言えた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削減額を25年の累計まで積み上げられた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1日あたりの金額まで落とせた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総額（販売金額）を自分から出さなかった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46520" y="2066543"/>
            <a:ext cx="306324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highlight>
                  <a:srgbClr val="4F6228"/>
                </a:highlight>
                <a:latin typeface="HGPｺﾞｼｯｸE"/>
                <a:ea typeface="HGPｺﾞｼｯｸE"/>
              </a:rPr>
              <a:t>基本</a:t>
            </a: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　合格ライン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F0000"/>
                </a:solidFill>
                <a:latin typeface="HGPｺﾞｼｯｸE"/>
                <a:ea typeface="HGPｺﾞｼｯｸE"/>
              </a:rPr>
              <a:t>7項目中 5つ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うち「総額を出さなかった」は必須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3968496"/>
            <a:ext cx="3063240" cy="10972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highlight>
                  <a:srgbClr val="C55A11"/>
                </a:highlight>
                <a:latin typeface="HGPｺﾞｼｯｸE"/>
                <a:ea typeface="HGPｺﾞｼｯｸE"/>
              </a:rPr>
              <a:t>応用</a:t>
            </a:r>
            <a:r>
              <a:rPr sz="1200" b="1">
                <a:solidFill>
                  <a:srgbClr val="595959"/>
                </a:solidFill>
                <a:latin typeface="HGPｺﾞｼｯｸE"/>
                <a:ea typeface="HGPｺﾞｼｯｸE"/>
              </a:rPr>
              <a:t>　合格ライン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HGPｺﾞｼｯｸE"/>
                <a:ea typeface="HGPｺﾞｼｯｸE"/>
              </a:rPr>
              <a:t>7項目すべて＋疑いへの即答が出る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5175504"/>
            <a:ext cx="3063240" cy="115214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HGPｺﾞｼｯｸE"/>
                <a:ea typeface="HGPｺﾞｼｯｸE"/>
              </a:rPr>
              <a:t>次回までの宿題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担当顧客1件のシミュレーションで、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000000"/>
                </a:solidFill>
                <a:latin typeface="HGPｺﾞｼｯｸE"/>
                <a:ea typeface="HGPｺﾞｼｯｸE"/>
              </a:rPr>
              <a:t>残す数字3つを書き出してくること。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FF0000"/>
                </a:solidFill>
                <a:latin typeface="HGPｺﾞｼｯｸE"/>
                <a:ea typeface="HGPｺﾞｼｯｸE"/>
              </a:rPr>
              <a:t>翌日には50％忘れます。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3560" y="692200"/>
            <a:ext cx="128016" cy="468172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8211" y="672998"/>
            <a:ext cx="9052560" cy="52303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0">
                <a:solidFill>
                  <a:srgbClr val="000000"/>
                </a:solidFill>
                <a:latin typeface="HGP明朝E"/>
                <a:ea typeface="HGP明朝E"/>
              </a:rPr>
              <a:t>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98664" y="6565392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HGPｺﾞｼｯｸE"/>
                <a:ea typeface="HGPｺﾞｼｯｸE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43584"/>
            <a:ext cx="9098280" cy="4114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0000"/>
                </a:solidFill>
                <a:latin typeface="HGPｺﾞｼｯｸE"/>
                <a:ea typeface="HGPｺﾞｼｯｸE"/>
              </a:rPr>
              <a:t>参考：相見積もりになったときのポイント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55648"/>
            <a:ext cx="9098280" cy="786384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000000"/>
                </a:solidFill>
                <a:latin typeface="HGPｺﾞｼｯｸE"/>
                <a:ea typeface="HGPｺﾞｼｯｸE"/>
              </a:rPr>
              <a:t>信頼　×　比較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688336"/>
          <a:ext cx="9098280" cy="21579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3886200"/>
                <a:gridCol w="411480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やること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言い方</a:t>
                      </a:r>
                    </a:p>
                  </a:txBody>
                  <a:tcPr marL="45720" marR="45720" marT="18288" marB="18288" anchor="ctr">
                    <a:solidFill>
                      <a:srgbClr val="00000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信頼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前提条件を隠さない。数字の出どころを言う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「この数字は○○様の検針票から計算しています」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比較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他社下げをせず、お客様に判断軸を与える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「設置後の点検体制で比べてみてください」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游ゴシック"/>
                          <a:ea typeface="游ゴシック"/>
                        </a:rPr>
                        <a:t>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他社の強みで戦わず、自社の強みで戦う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会社の安定性／地域密着性／メーカーとしての価値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4846320"/>
            <a:ext cx="909828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HGPｺﾞｼｯｸE"/>
                <a:ea typeface="HGPｺﾞｼｯｸE"/>
              </a:rPr>
              <a:t>金額ばかり褒めてはいけない理由も同じです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HGPｺﾞｼｯｸE"/>
                <a:ea typeface="HGPｺﾞｼｯｸE"/>
              </a:rPr>
              <a:t>「元が取れる／取れない」で判断させると、狭小住宅・北向き屋根への提案が困難になります。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888736"/>
            <a:ext cx="9098280" cy="438912"/>
          </a:xfrm>
          <a:prstGeom prst="rect">
            <a:avLst/>
          </a:prstGeom>
          <a:solidFill>
            <a:srgbClr val="EA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highlight>
                  <a:srgbClr val="FFFF00"/>
                </a:highlight>
                <a:latin typeface="HGPｺﾞｼｯｸE"/>
                <a:ea typeface="HGPｺﾞｼｯｸE"/>
              </a:rPr>
              <a:t>金額で勝とうとせず、安心感で選ばれる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19793" y="470959"/>
            <a:ext cx="9666414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この度は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㈱船井総合研究所　住宅用太陽光・蓄電池の売り方マスター研修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にご参加いただき、誠にありがとうございました。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１．講座及びテキストに関するお問い合わせは、下記までお願いいたします。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２．本テキストの著作権は、引用部分を除き、全て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(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)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船井総合研究所に帰属しています。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３．本セミナーで入手したテキスト、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DVD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、その他の文書等は許可なく複製を作成すること、また二次利用することを禁止します。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４．本セミナーの内容と同じ、または類似した研修の開催や、第三者に行わせることを禁じます。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５．録音、録画、撮影などの行為はお断りします。</a:t>
            </a:r>
            <a:b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</a:b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６．本セミナーで入手したテキストおよび資料等をＳＮＳ等を通じて第三者に開示することを禁じます。</a:t>
            </a: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７．なお、上記３～６の事項が発覚した場合、本人または法人に対して損害賠償を行う場合があります。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８．当社ではセミナー中の様子を撮影し、当社の宣伝に使用することがあります。あらかじめご了承ください。　　　　 　   　　　　　　　　　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92512" y="2926534"/>
            <a:ext cx="9702351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株式会社船井総合研究所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『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住宅用太陽光・蓄電池の売り方マスター研修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』</a:t>
            </a:r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92512" y="4641034"/>
            <a:ext cx="9702351" cy="195631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1397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2026</a:t>
            </a: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年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１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月発行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著　者　 ：　株式会社船井総合研究所　　専門工事支援部 北 隆人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発行所　：　株式会社船井総合研究所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大阪本社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【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東京本社（サステナグローススクエア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TOKYO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）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】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〒５４１－００４１　大阪市中央区北浜４－４－１０　　　　　　　〒１０４－００２８　東京都中央区八重洲二丁目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2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番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号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　　　　　　　　　　　　　　　　　　　　　　　　　　　　　　　　　　　　　　　　　　　　　東京ミッドタウン八重洲 八重洲セントラルタワー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35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階</a:t>
            </a: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ＴＥＬ　０６－６２３２－０２７１（代表）　　　　　　　　　　　　　　　　　ＴＥＬ：０３－４３５６－０２７１（通）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  <a:p>
            <a:pPr marL="0" marR="0" lvl="0" indent="139700" algn="just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E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Mail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　 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takato-kita@funaisoken.co.jp</a:t>
            </a:r>
            <a:endParaRPr kumimoji="1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2512" y="4069534"/>
            <a:ext cx="9702351" cy="571500"/>
          </a:xfrm>
          <a:prstGeom prst="rect">
            <a:avLst/>
          </a:prstGeom>
          <a:solidFill>
            <a:srgbClr val="7030A0"/>
          </a:solidFill>
          <a:ln w="19050">
            <a:solidFill>
              <a:srgbClr val="000066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P明朝E" pitchFamily="18" charset="-128"/>
                <a:ea typeface="HGP明朝E" pitchFamily="18" charset="-128"/>
                <a:cs typeface="+mn-cs"/>
              </a:rPr>
              <a:t>機密情報／無断転用禁止　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P明朝E" pitchFamily="18" charset="-128"/>
              <a:ea typeface="HGP明朝E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47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お気に入り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【ソーラープロジェクト大社様】2024年11月度お打ち合わせ資料 .pptx" id="{F2A59035-B9C3-4A75-B90B-5E71CD3F6C43}" vid="{552278E5-979D-4048-BBE5-2AFDF89082E8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25900</TotalTime>
  <Words>6897</Words>
  <Application>Microsoft Office PowerPoint</Application>
  <PresentationFormat>A4 210 x 297 mm</PresentationFormat>
  <Paragraphs>716</Paragraphs>
  <Slides>71</Slides>
  <Notes>32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71</vt:i4>
      </vt:variant>
    </vt:vector>
  </HeadingPairs>
  <TitlesOfParts>
    <vt:vector size="88" baseType="lpstr">
      <vt:lpstr>BIZ UDPゴシック</vt:lpstr>
      <vt:lpstr>Google Sans Text</vt:lpstr>
      <vt:lpstr>HGPｺﾞｼｯｸE</vt:lpstr>
      <vt:lpstr>HGP創英角ｺﾞｼｯｸUB</vt:lpstr>
      <vt:lpstr>HGP明朝E</vt:lpstr>
      <vt:lpstr>HGSｺﾞｼｯｸM</vt:lpstr>
      <vt:lpstr>Meiryo UI</vt:lpstr>
      <vt:lpstr>メイリオ</vt:lpstr>
      <vt:lpstr>游ゴシック</vt:lpstr>
      <vt:lpstr>游ゴシック体</vt:lpstr>
      <vt:lpstr>Arial</vt:lpstr>
      <vt:lpstr>Calibri</vt:lpstr>
      <vt:lpstr>Lucida Calligraphy</vt:lpstr>
      <vt:lpstr>Monotype Corsiva</vt:lpstr>
      <vt:lpstr>Wingdings</vt:lpstr>
      <vt:lpstr>Office テーマ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船井総合研究所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F2038</dc:creator>
  <cp:lastModifiedBy>Ryusho Sameshima</cp:lastModifiedBy>
  <cp:revision>713</cp:revision>
  <cp:lastPrinted>2025-11-06T11:25:07Z</cp:lastPrinted>
  <dcterms:created xsi:type="dcterms:W3CDTF">2017-03-26T07:08:56Z</dcterms:created>
  <dcterms:modified xsi:type="dcterms:W3CDTF">2026-05-20T08:32:28Z</dcterms:modified>
</cp:coreProperties>
</file>