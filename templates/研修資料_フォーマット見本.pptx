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9.xml" ContentType="application/vnd.openxmlformats-officedocument.presentationml.slide+xml"/>
  <Override PartName="/ppt/slides/slide26.xml" ContentType="application/vnd.openxmlformats-officedocument.presentationml.slide+xml"/>
  <Override PartName="/ppt/slides/slide51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702" r:id="rId2"/>
  </p:sldMasterIdLst>
  <p:notesMasterIdLst>
    <p:notesMasterId r:id="rId74"/>
  </p:notesMasterIdLst>
  <p:handoutMasterIdLst>
    <p:handoutMasterId r:id="rId75"/>
  </p:handoutMasterIdLst>
  <p:sldIdLst>
    <p:sldId id="344" r:id="rId3"/>
    <p:sldId id="776" r:id="rId21"/>
    <p:sldId id="764" r:id="rId10"/>
    <p:sldId id="697" r:id="rId15"/>
    <p:sldId id="794" r:id="rId28"/>
    <p:sldId id="800" r:id="rId53"/>
    <p:sldId id="1178" r:id="rId73"/>
  </p:sldIdLst>
  <p:sldSz cx="9906000" cy="6858000" type="A4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DE1"/>
    <a:srgbClr val="362A2A"/>
    <a:srgbClr val="9BBB59"/>
    <a:srgbClr val="FB43D4"/>
    <a:srgbClr val="E85504"/>
    <a:srgbClr val="0066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83" autoAdjust="0"/>
    <p:restoredTop sz="96343" autoAdjust="0"/>
  </p:normalViewPr>
  <p:slideViewPr>
    <p:cSldViewPr showGuides="1">
      <p:cViewPr varScale="1">
        <p:scale>
          <a:sx n="82" d="100"/>
          <a:sy n="82" d="100"/>
        </p:scale>
        <p:origin x="1694" y="72"/>
      </p:cViewPr>
      <p:guideLst>
        <p:guide orient="horz" pos="845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101" d="100"/>
          <a:sy n="101" d="100"/>
        </p:scale>
        <p:origin x="3246" y="11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1" Type="http://schemas.openxmlformats.org/officeDocument/2006/relationships/slide" Target="slides/slide19.xml"/><Relationship Id="rId53" Type="http://schemas.openxmlformats.org/officeDocument/2006/relationships/slide" Target="slides/slide51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77" Type="http://schemas.openxmlformats.org/officeDocument/2006/relationships/viewProps" Target="viewProps.xml"/><Relationship Id="rId3" Type="http://schemas.openxmlformats.org/officeDocument/2006/relationships/slide" Target="slides/slide1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15" Type="http://schemas.openxmlformats.org/officeDocument/2006/relationships/slide" Target="slides/slide13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73" Type="http://schemas.openxmlformats.org/officeDocument/2006/relationships/slide" Target="slides/slide71.xml"/><Relationship Id="rId78" Type="http://schemas.openxmlformats.org/officeDocument/2006/relationships/theme" Target="theme/theme1.xml"/><Relationship Id="rId76" Type="http://schemas.openxmlformats.org/officeDocument/2006/relationships/presProps" Target="presProps.xml"/><Relationship Id="rId2" Type="http://schemas.openxmlformats.org/officeDocument/2006/relationships/slideMaster" Target="slideMasters/slideMaster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18830" cy="495029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4" y="2"/>
            <a:ext cx="2918830" cy="495029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r">
              <a:defRPr sz="1200"/>
            </a:lvl1pPr>
          </a:lstStyle>
          <a:p>
            <a:fld id="{695728E3-876B-4768-9AB0-7D988C1247DF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2" y="9371288"/>
            <a:ext cx="2918830" cy="495028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4" y="9371288"/>
            <a:ext cx="2918830" cy="495028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r">
              <a:defRPr sz="1200"/>
            </a:lvl1pPr>
          </a:lstStyle>
          <a:p>
            <a:fld id="{E00352D2-49C1-4968-AB3E-0C456C91C2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3722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r">
              <a:defRPr sz="1200"/>
            </a:lvl1pPr>
          </a:lstStyle>
          <a:p>
            <a:fld id="{A8D18B60-6E12-48B8-B760-06957378EDAD}" type="datetimeFigureOut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48" tIns="47425" rIns="94848" bIns="47425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3578" y="4686501"/>
            <a:ext cx="5388610" cy="4439841"/>
          </a:xfrm>
          <a:prstGeom prst="rect">
            <a:avLst/>
          </a:prstGeom>
        </p:spPr>
        <p:txBody>
          <a:bodyPr vert="horz" lIns="94848" tIns="47425" rIns="94848" bIns="47425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2" y="9371285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15374" y="9371285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r">
              <a:defRPr sz="1200"/>
            </a:lvl1pPr>
          </a:lstStyle>
          <a:p>
            <a:fld id="{B76C3785-4774-4B27-AA13-6B236C476115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6C3785-4774-4B27-AA13-6B236C476115}" type="slidenum">
              <a:rPr kumimoji="1" lang="ja-JP" altLang="en-US" smtClean="0"/>
              <a:pPr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2633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・一人前の社会人とは？⇒一緒に考えていく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6C3785-4774-4B27-AA13-6B236C476115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53849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・一人前の社会人とは？⇒一緒に考えていく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6C3785-4774-4B27-AA13-6B236C476115}" type="slidenum">
              <a:rPr kumimoji="1" lang="ja-JP" altLang="en-US" smtClean="0"/>
              <a:pPr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93249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6C3785-4774-4B27-AA13-6B236C476115}" type="slidenum">
              <a:rPr kumimoji="1" lang="ja-JP" altLang="en-US" smtClean="0"/>
              <a:pPr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8695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DEDC6-F80D-48C2-B138-00A27E7F2E65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4A63-54DC-4F0A-84AB-53668F1114D2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4A45F-A8A8-4DDE-B673-AED63056AB36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F025A-80F9-47C5-83D6-D2A5A3B97719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BD1E-31C5-4520-B82E-04337BC9ED08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DA76A-BB70-46AD-B592-B57DADC28816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97B68-78AE-4B40-9B77-32E3BBE4C65E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1A2F7-89F4-4CBB-9F6E-BD9D54E64EE6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CFBB6-5FCD-4CD1-A658-5A106B94C497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7A81-3346-464B-A479-530443E8B95D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2015-3E19-41F4-BCCA-3D5A7443FCC4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768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2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6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097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5"/>
            <a:ext cx="4206531" cy="223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853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853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853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4"/>
            <a:ext cx="2228850" cy="365125"/>
          </a:xfrm>
        </p:spPr>
        <p:txBody>
          <a:bodyPr/>
          <a:lstStyle>
            <a:lvl1pPr>
              <a:defRPr sz="975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6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2" cy="605918"/>
          </a:xfrm>
        </p:spPr>
        <p:txBody>
          <a:bodyPr>
            <a:noAutofit/>
          </a:bodyPr>
          <a:lstStyle>
            <a:lvl1pPr algn="ctr">
              <a:defRPr sz="2925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8" y="-3521490"/>
            <a:ext cx="11734664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2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4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8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4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9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70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70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70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70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タイトル（目次と対応させてください。）</a:t>
            </a:r>
            <a:endParaRPr kumimoji="1" lang="en-US" altLang="ja-JP" sz="1097" dirty="0"/>
          </a:p>
          <a:p>
            <a:pPr algn="ctr"/>
            <a:r>
              <a:rPr kumimoji="1" lang="ja-JP" altLang="en-US" sz="1097" dirty="0"/>
              <a:t>フォント：メイリオ見出し</a:t>
            </a:r>
            <a:endParaRPr kumimoji="1" lang="en-US" altLang="ja-JP" sz="1097" dirty="0"/>
          </a:p>
          <a:p>
            <a:pPr algn="ctr"/>
            <a:r>
              <a:rPr lang="ja-JP" altLang="en-US" sz="1097" dirty="0"/>
              <a:t>サイズ：</a:t>
            </a:r>
            <a:r>
              <a:rPr lang="en-US" altLang="ja-JP" sz="1097" dirty="0"/>
              <a:t>48</a:t>
            </a:r>
          </a:p>
          <a:p>
            <a:pPr algn="ctr"/>
            <a:r>
              <a:rPr lang="ja-JP" altLang="en-US" sz="1097" dirty="0"/>
              <a:t>ボールド</a:t>
            </a:r>
            <a:endParaRPr lang="en-US" altLang="ja-JP" sz="1097" dirty="0"/>
          </a:p>
          <a:p>
            <a:pPr algn="ctr"/>
            <a:r>
              <a:rPr lang="ja-JP" altLang="en-US" sz="1097" dirty="0"/>
              <a:t>真ん中寄せ</a:t>
            </a:r>
            <a:endParaRPr kumimoji="1" lang="en-US" altLang="ja-JP" sz="1097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0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小見出し</a:t>
            </a:r>
            <a:endParaRPr kumimoji="1" lang="en-US" altLang="ja-JP" sz="1097" dirty="0"/>
          </a:p>
          <a:p>
            <a:pPr algn="ctr"/>
            <a:r>
              <a:rPr kumimoji="1" lang="ja-JP" altLang="en-US" sz="1097" dirty="0"/>
              <a:t>フォント：メイリオ本文</a:t>
            </a:r>
            <a:endParaRPr kumimoji="1" lang="en-US" altLang="ja-JP" sz="1097" dirty="0"/>
          </a:p>
          <a:p>
            <a:pPr algn="ctr"/>
            <a:r>
              <a:rPr lang="ja-JP" altLang="en-US" sz="1097" dirty="0"/>
              <a:t>サイズ：</a:t>
            </a:r>
            <a:r>
              <a:rPr lang="en-US" altLang="ja-JP" sz="1097" dirty="0"/>
              <a:t>32</a:t>
            </a:r>
          </a:p>
          <a:p>
            <a:pPr algn="ctr"/>
            <a:r>
              <a:rPr lang="ja-JP" altLang="en-US" sz="1097" dirty="0"/>
              <a:t>ボールド</a:t>
            </a:r>
            <a:endParaRPr lang="en-US" altLang="ja-JP" sz="1097" dirty="0"/>
          </a:p>
          <a:p>
            <a:pPr algn="ctr"/>
            <a:r>
              <a:rPr kumimoji="1" lang="ja-JP" altLang="en-US" sz="1097" dirty="0"/>
              <a:t>左寄せ</a:t>
            </a:r>
            <a:endParaRPr kumimoji="1" lang="en-US" altLang="ja-JP" sz="1097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0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本文</a:t>
            </a:r>
            <a:endParaRPr kumimoji="1" lang="en-US" altLang="ja-JP" sz="1097" dirty="0"/>
          </a:p>
          <a:p>
            <a:pPr algn="ctr"/>
            <a:r>
              <a:rPr kumimoji="1" lang="ja-JP" altLang="en-US" sz="1097" dirty="0"/>
              <a:t>フォント：メイリオ本文</a:t>
            </a:r>
            <a:endParaRPr kumimoji="1" lang="en-US" altLang="ja-JP" sz="1097" dirty="0"/>
          </a:p>
          <a:p>
            <a:pPr algn="ctr"/>
            <a:r>
              <a:rPr lang="ja-JP" altLang="en-US" sz="1097" dirty="0"/>
              <a:t>サイズ：</a:t>
            </a:r>
            <a:r>
              <a:rPr lang="en-US" altLang="ja-JP" sz="1097" dirty="0"/>
              <a:t>18</a:t>
            </a:r>
          </a:p>
          <a:p>
            <a:pPr algn="ctr"/>
            <a:r>
              <a:rPr kumimoji="1" lang="ja-JP" altLang="en-US" sz="1097" dirty="0"/>
              <a:t>左寄せ</a:t>
            </a:r>
            <a:endParaRPr kumimoji="1" lang="en-US" altLang="ja-JP" sz="1097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70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76209500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84438440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63855536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91745856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4846923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43734206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2173626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40315447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1834291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1114061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91924230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82875826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15744121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42167933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26300916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97072234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22503225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7873026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07982605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57752799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65757162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1737084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9467632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7827395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5174241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6451614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11734280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46275752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1582251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57635899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04416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52193495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522076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98557532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54557753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7133986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</p:spTree>
    <p:extLst>
      <p:ext uri="{BB962C8B-B14F-4D97-AF65-F5344CB8AC3E}">
        <p14:creationId xmlns:p14="http://schemas.microsoft.com/office/powerpoint/2010/main" val="389747795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65194846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21340339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06490185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 userDrawn="1"/>
        </p:nvSpPr>
        <p:spPr>
          <a:xfrm>
            <a:off x="34397" y="6634602"/>
            <a:ext cx="3240360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l" defTabSz="74295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65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Copyright </a:t>
            </a:r>
            <a:r>
              <a:rPr lang="ja-JP" altLang="en-US" sz="65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65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Funai Consulting Inc.</a:t>
            </a:r>
            <a:r>
              <a:rPr lang="ja-JP" altLang="en-US" sz="650" baseline="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650" baseline="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All Rights Reserved.</a:t>
            </a:r>
            <a:endParaRPr kumimoji="1" lang="ja-JP" altLang="en-US" sz="650" kern="1200" dirty="0">
              <a:solidFill>
                <a:schemeClr val="tx1"/>
              </a:solidFill>
              <a:latin typeface="Lucida Calligraphy" pitchFamily="66" charset="0"/>
              <a:ea typeface="Arial Unicode MS" pitchFamily="50" charset="-128"/>
              <a:cs typeface="Arial Unicode MS" pitchFamily="50" charset="-128"/>
            </a:endParaRPr>
          </a:p>
        </p:txBody>
      </p:sp>
      <p:sp>
        <p:nvSpPr>
          <p:cNvPr id="11" name="スライド番号プレースホルダ 5"/>
          <p:cNvSpPr txBox="1">
            <a:spLocks/>
          </p:cNvSpPr>
          <p:nvPr userDrawn="1"/>
        </p:nvSpPr>
        <p:spPr>
          <a:xfrm>
            <a:off x="3797300" y="6592269"/>
            <a:ext cx="2311400" cy="365125"/>
          </a:xfrm>
          <a:prstGeom prst="rect">
            <a:avLst/>
          </a:prstGeom>
        </p:spPr>
        <p:txBody>
          <a:bodyPr vert="horz" lIns="74295" tIns="37148" rIns="74295" bIns="37148" rtlCol="0" anchor="ctr"/>
          <a:lstStyle>
            <a:lvl1pPr algn="ctr">
              <a:defRPr sz="900">
                <a:solidFill>
                  <a:schemeClr val="bg1"/>
                </a:solidFill>
                <a:latin typeface="HGSｺﾞｼｯｸM" pitchFamily="50" charset="-128"/>
                <a:ea typeface="HGSｺﾞｼｯｸM" pitchFamily="50" charset="-128"/>
              </a:defRPr>
            </a:lvl1pPr>
          </a:lstStyle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682566-0BE5-4691-A89E-B3D89F8502D1}" type="slidenum">
              <a:rPr kumimoji="1" lang="ja-JP" altLang="en-US" sz="731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731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2" name="タイトル 1"/>
          <p:cNvSpPr>
            <a:spLocks noGrp="1"/>
          </p:cNvSpPr>
          <p:nvPr>
            <p:ph type="ctrTitle"/>
          </p:nvPr>
        </p:nvSpPr>
        <p:spPr>
          <a:xfrm>
            <a:off x="-2" y="8468"/>
            <a:ext cx="8949798" cy="620688"/>
          </a:xfrm>
        </p:spPr>
        <p:txBody>
          <a:bodyPr>
            <a:normAutofit/>
          </a:bodyPr>
          <a:lstStyle>
            <a:lvl1pPr>
              <a:defRPr sz="26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pic>
        <p:nvPicPr>
          <p:cNvPr id="8" name="Picture 1" descr="C:\Users\F2034\Pictures\6.会社データ(ロゴ・サイン）\パターンC(タグ無し）\パターンC(タグ無し）カラー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87351" y="68626"/>
            <a:ext cx="979838" cy="504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510598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9067-D5A7-4D20-AE49-915E5BDB9F4F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8E823636-1305-4F53-9866-547E7D8CE7E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38150" y="3403600"/>
            <a:ext cx="8979346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図 6" descr="パターンA_カラー.jpg">
            <a:extLst>
              <a:ext uri="{FF2B5EF4-FFF2-40B4-BE49-F238E27FC236}">
                <a16:creationId xmlns:a16="http://schemas.microsoft.com/office/drawing/2014/main" id="{3DBCC9CD-6C0C-47EC-80E8-87633DBE3D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193360" y="6453336"/>
            <a:ext cx="1512168" cy="263485"/>
          </a:xfrm>
          <a:prstGeom prst="rect">
            <a:avLst/>
          </a:prstGeom>
        </p:spPr>
      </p:pic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4AFCC08E-3E46-4DAF-AB38-B8819EC7D9A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04528" y="2564904"/>
            <a:ext cx="5545138" cy="719138"/>
          </a:xfrm>
        </p:spPr>
        <p:txBody>
          <a:bodyPr>
            <a:noAutofit/>
          </a:bodyPr>
          <a:lstStyle>
            <a:lvl1pPr marL="0" indent="0">
              <a:buNone/>
              <a:defRPr sz="4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〇月度お打合せ資料</a:t>
            </a:r>
          </a:p>
        </p:txBody>
      </p:sp>
      <p:sp>
        <p:nvSpPr>
          <p:cNvPr id="10" name="コンテンツ プレースホルダー 8">
            <a:extLst>
              <a:ext uri="{FF2B5EF4-FFF2-40B4-BE49-F238E27FC236}">
                <a16:creationId xmlns:a16="http://schemas.microsoft.com/office/drawing/2014/main" id="{28B2D2FF-C2AA-40BF-9A54-68583069E68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04528" y="2085777"/>
            <a:ext cx="5545138" cy="719138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株式会社御中</a:t>
            </a:r>
          </a:p>
        </p:txBody>
      </p:sp>
      <p:sp>
        <p:nvSpPr>
          <p:cNvPr id="11" name="コンテンツ プレースホルダー 8">
            <a:extLst>
              <a:ext uri="{FF2B5EF4-FFF2-40B4-BE49-F238E27FC236}">
                <a16:creationId xmlns:a16="http://schemas.microsoft.com/office/drawing/2014/main" id="{ECF04A37-370B-4768-A875-EF9C667848E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36976" y="3433465"/>
            <a:ext cx="5545138" cy="719138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日付</a:t>
            </a:r>
          </a:p>
        </p:txBody>
      </p:sp>
    </p:spTree>
    <p:extLst>
      <p:ext uri="{BB962C8B-B14F-4D97-AF65-F5344CB8AC3E}">
        <p14:creationId xmlns:p14="http://schemas.microsoft.com/office/powerpoint/2010/main" val="149912360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アジェン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AEF3C9B-15A5-4754-B97A-474B280C6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59477-32A0-4799-AD80-C098563D5CC0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D5602E-9916-437E-9C25-C8047E09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B43BD0A-BD54-4DF0-A3BE-6D3FA31F9069}"/>
              </a:ext>
            </a:extLst>
          </p:cNvPr>
          <p:cNvSpPr txBox="1"/>
          <p:nvPr userDrawn="1"/>
        </p:nvSpPr>
        <p:spPr>
          <a:xfrm>
            <a:off x="-15552" y="44624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50" charset="-128"/>
              </a:rPr>
              <a:t>本日のお打合せ内容</a:t>
            </a:r>
            <a:endParaRPr kumimoji="1" lang="ja-JP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1EA3A4F-1EF2-4A9E-BD1F-DE9A3E01A425}"/>
              </a:ext>
            </a:extLst>
          </p:cNvPr>
          <p:cNvSpPr/>
          <p:nvPr userDrawn="1"/>
        </p:nvSpPr>
        <p:spPr>
          <a:xfrm>
            <a:off x="69725" y="666126"/>
            <a:ext cx="2592000" cy="29237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お打合せ事項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7B66B0E-B525-4135-A640-3C5077DFBABA}"/>
              </a:ext>
            </a:extLst>
          </p:cNvPr>
          <p:cNvSpPr/>
          <p:nvPr userDrawn="1"/>
        </p:nvSpPr>
        <p:spPr>
          <a:xfrm>
            <a:off x="72749" y="3911838"/>
            <a:ext cx="2592000" cy="29237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次回お打合せ日程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0CE6683-2EEC-4A4B-B2A1-E385C7062BF3}"/>
              </a:ext>
            </a:extLst>
          </p:cNvPr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" descr="C:\Users\F2034\Pictures\6.会社データ(ロゴ・サイン）\パターンC(タグ無し）\パターンC(タグ無し）カラー.png">
            <a:extLst>
              <a:ext uri="{FF2B5EF4-FFF2-40B4-BE49-F238E27FC236}">
                <a16:creationId xmlns:a16="http://schemas.microsoft.com/office/drawing/2014/main" id="{8872FC31-1813-49E9-8E6B-E9B5CED7B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41432" y="68626"/>
            <a:ext cx="979838" cy="504000"/>
          </a:xfrm>
          <a:prstGeom prst="rect">
            <a:avLst/>
          </a:prstGeom>
          <a:noFill/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C1EA9E4-A15B-418D-B69C-E609A5DDD9EC}"/>
              </a:ext>
            </a:extLst>
          </p:cNvPr>
          <p:cNvSpPr/>
          <p:nvPr userDrawn="1"/>
        </p:nvSpPr>
        <p:spPr>
          <a:xfrm>
            <a:off x="0" y="6678000"/>
            <a:ext cx="9906000" cy="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78DDC5E-044B-4C3D-BEA8-24AF979B3258}"/>
              </a:ext>
            </a:extLst>
          </p:cNvPr>
          <p:cNvSpPr txBox="1"/>
          <p:nvPr userDrawn="1"/>
        </p:nvSpPr>
        <p:spPr>
          <a:xfrm>
            <a:off x="6609184" y="6649964"/>
            <a:ext cx="3240360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r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Copyright</a:t>
            </a:r>
            <a:r>
              <a:rPr lang="ja-JP" altLang="en-US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Funai Consulting Inc.</a:t>
            </a:r>
            <a:r>
              <a:rPr lang="ja-JP" altLang="en-US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All Rights Reserved.</a:t>
            </a:r>
            <a:endParaRPr kumimoji="1" lang="ja-JP" altLang="en-US" sz="800" kern="1200" dirty="0">
              <a:solidFill>
                <a:schemeClr val="bg1"/>
              </a:solidFill>
              <a:latin typeface="Lucida Calligraphy" pitchFamily="66" charset="0"/>
              <a:ea typeface="Arial Unicode MS" pitchFamily="50" charset="-128"/>
              <a:cs typeface="Arial Unicode MS" pitchFamily="50" charset="-128"/>
            </a:endParaRPr>
          </a:p>
        </p:txBody>
      </p:sp>
      <p:sp>
        <p:nvSpPr>
          <p:cNvPr id="15" name="スライド番号プレースホルダ 5">
            <a:extLst>
              <a:ext uri="{FF2B5EF4-FFF2-40B4-BE49-F238E27FC236}">
                <a16:creationId xmlns:a16="http://schemas.microsoft.com/office/drawing/2014/main" id="{52F86702-B75D-40EF-96B7-30E910044692}"/>
              </a:ext>
            </a:extLst>
          </p:cNvPr>
          <p:cNvSpPr txBox="1">
            <a:spLocks/>
          </p:cNvSpPr>
          <p:nvPr userDrawn="1"/>
        </p:nvSpPr>
        <p:spPr>
          <a:xfrm>
            <a:off x="3797300" y="659226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  <a:latin typeface="HGSｺﾞｼｯｸM" pitchFamily="50" charset="-128"/>
                <a:ea typeface="HGSｺﾞｼｯｸM" pitchFamily="50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682566-0BE5-4691-A89E-B3D89F8502D1}" type="slidenum">
              <a:rPr kumimoji="1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SｺﾞｼｯｸM" pitchFamily="50" charset="-128"/>
                <a:ea typeface="HGSｺﾞｼｯｸM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SｺﾞｼｯｸM" pitchFamily="50" charset="-128"/>
              <a:ea typeface="HGSｺﾞｼｯｸM" pitchFamily="50" charset="-128"/>
              <a:cs typeface="+mn-cs"/>
            </a:endParaRPr>
          </a:p>
        </p:txBody>
      </p:sp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8C66AEEA-90B1-4FF5-983E-12E09DD675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9500" y="1129818"/>
            <a:ext cx="5505450" cy="1792288"/>
          </a:xfrm>
        </p:spPr>
        <p:txBody>
          <a:bodyPr>
            <a:normAutofit/>
          </a:bodyPr>
          <a:lstStyle>
            <a:lvl1pPr marL="0" indent="0">
              <a:buFont typeface="+mj-ea"/>
              <a:buNone/>
              <a:defRPr sz="2400" b="1"/>
            </a:lvl1pPr>
          </a:lstStyle>
          <a:p>
            <a:pPr lvl="0"/>
            <a:r>
              <a:rPr kumimoji="1" lang="ja-JP" altLang="en-US" dirty="0"/>
              <a:t>①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②</a:t>
            </a:r>
            <a:endParaRPr kumimoji="1" lang="en-US" altLang="ja-JP" dirty="0"/>
          </a:p>
        </p:txBody>
      </p:sp>
      <p:sp>
        <p:nvSpPr>
          <p:cNvPr id="20" name="テキスト プレースホルダー 16">
            <a:extLst>
              <a:ext uri="{FF2B5EF4-FFF2-40B4-BE49-F238E27FC236}">
                <a16:creationId xmlns:a16="http://schemas.microsoft.com/office/drawing/2014/main" id="{347F4DAF-2DE1-4CC8-9835-4DFC642B51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500" y="4374514"/>
            <a:ext cx="5505450" cy="1792288"/>
          </a:xfrm>
        </p:spPr>
        <p:txBody>
          <a:bodyPr>
            <a:normAutofit/>
          </a:bodyPr>
          <a:lstStyle>
            <a:lvl1pPr marL="0" indent="0">
              <a:buFont typeface="+mj-ea"/>
              <a:buNone/>
              <a:defRPr sz="1800" b="1"/>
            </a:lvl1pPr>
          </a:lstStyle>
          <a:p>
            <a:pPr lvl="0"/>
            <a:r>
              <a:rPr kumimoji="1" lang="en-US" altLang="ja-JP" dirty="0"/>
              <a:t>2024</a:t>
            </a:r>
            <a:r>
              <a:rPr kumimoji="1" lang="ja-JP" altLang="en-US" dirty="0"/>
              <a:t>年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961619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3600E18-DBF4-4DED-A3E8-EBDE8D9EA3B5}"/>
              </a:ext>
            </a:extLst>
          </p:cNvPr>
          <p:cNvSpPr/>
          <p:nvPr userDrawn="1"/>
        </p:nvSpPr>
        <p:spPr bwMode="auto">
          <a:xfrm>
            <a:off x="272480" y="332656"/>
            <a:ext cx="9454650" cy="62646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2">
                <a:lumMod val="75000"/>
              </a:schemeClr>
            </a:solidFill>
            <a:miter lim="800000"/>
            <a:headEnd/>
            <a:tailEnd/>
          </a:ln>
        </p:spPr>
        <p:txBody>
          <a:bodyPr wrap="none" rtlCol="0" anchor="t"/>
          <a:lstStyle/>
          <a:p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2"/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   </a:t>
            </a:r>
          </a:p>
          <a:p>
            <a:pPr lvl="2"/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4EF40AA-2D98-4C1A-9B75-77B4B1EC2A46}"/>
              </a:ext>
            </a:extLst>
          </p:cNvPr>
          <p:cNvSpPr/>
          <p:nvPr userDrawn="1"/>
        </p:nvSpPr>
        <p:spPr bwMode="auto">
          <a:xfrm>
            <a:off x="128464" y="188640"/>
            <a:ext cx="2592288" cy="432048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決定事項</a:t>
            </a:r>
          </a:p>
        </p:txBody>
      </p:sp>
    </p:spTree>
    <p:extLst>
      <p:ext uri="{BB962C8B-B14F-4D97-AF65-F5344CB8AC3E}">
        <p14:creationId xmlns:p14="http://schemas.microsoft.com/office/powerpoint/2010/main" val="2542922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アジェン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0CE6683-2EEC-4A4B-B2A1-E385C7062BF3}"/>
              </a:ext>
            </a:extLst>
          </p:cNvPr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" descr="C:\Users\F2034\Pictures\6.会社データ(ロゴ・サイン）\パターンC(タグ無し）\パターンC(タグ無し）カラー.png">
            <a:extLst>
              <a:ext uri="{FF2B5EF4-FFF2-40B4-BE49-F238E27FC236}">
                <a16:creationId xmlns:a16="http://schemas.microsoft.com/office/drawing/2014/main" id="{8872FC31-1813-49E9-8E6B-E9B5CED7B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41432" y="68626"/>
            <a:ext cx="979838" cy="504000"/>
          </a:xfrm>
          <a:prstGeom prst="rect">
            <a:avLst/>
          </a:prstGeom>
          <a:noFill/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C1EA9E4-A15B-418D-B69C-E609A5DDD9EC}"/>
              </a:ext>
            </a:extLst>
          </p:cNvPr>
          <p:cNvSpPr/>
          <p:nvPr userDrawn="1"/>
        </p:nvSpPr>
        <p:spPr>
          <a:xfrm>
            <a:off x="0" y="6678000"/>
            <a:ext cx="9906000" cy="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78DDC5E-044B-4C3D-BEA8-24AF979B3258}"/>
              </a:ext>
            </a:extLst>
          </p:cNvPr>
          <p:cNvSpPr txBox="1"/>
          <p:nvPr userDrawn="1"/>
        </p:nvSpPr>
        <p:spPr>
          <a:xfrm>
            <a:off x="6609184" y="6649964"/>
            <a:ext cx="3240360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r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Copyright</a:t>
            </a:r>
            <a:r>
              <a:rPr lang="ja-JP" altLang="en-US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Funai Consulting Inc.</a:t>
            </a:r>
            <a:r>
              <a:rPr lang="ja-JP" altLang="en-US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All Rights Reserved.</a:t>
            </a:r>
            <a:endParaRPr kumimoji="1" lang="ja-JP" altLang="en-US" sz="800" kern="1200" dirty="0">
              <a:solidFill>
                <a:schemeClr val="bg1"/>
              </a:solidFill>
              <a:latin typeface="Lucida Calligraphy" pitchFamily="66" charset="0"/>
              <a:ea typeface="Arial Unicode MS" pitchFamily="50" charset="-128"/>
              <a:cs typeface="Arial Unicode MS" pitchFamily="50" charset="-128"/>
            </a:endParaRPr>
          </a:p>
        </p:txBody>
      </p:sp>
      <p:sp>
        <p:nvSpPr>
          <p:cNvPr id="15" name="スライド番号プレースホルダ 5">
            <a:extLst>
              <a:ext uri="{FF2B5EF4-FFF2-40B4-BE49-F238E27FC236}">
                <a16:creationId xmlns:a16="http://schemas.microsoft.com/office/drawing/2014/main" id="{52F86702-B75D-40EF-96B7-30E910044692}"/>
              </a:ext>
            </a:extLst>
          </p:cNvPr>
          <p:cNvSpPr txBox="1">
            <a:spLocks/>
          </p:cNvSpPr>
          <p:nvPr userDrawn="1"/>
        </p:nvSpPr>
        <p:spPr>
          <a:xfrm>
            <a:off x="3797300" y="659226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  <a:latin typeface="HGSｺﾞｼｯｸM" pitchFamily="50" charset="-128"/>
                <a:ea typeface="HGSｺﾞｼｯｸM" pitchFamily="50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682566-0BE5-4691-A89E-B3D89F8502D1}" type="slidenum">
              <a:rPr kumimoji="1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SｺﾞｼｯｸM" pitchFamily="50" charset="-128"/>
                <a:ea typeface="HGSｺﾞｼｯｸM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SｺﾞｼｯｸM" pitchFamily="50" charset="-128"/>
              <a:ea typeface="HGSｺﾞｼｯｸM" pitchFamily="50" charset="-128"/>
              <a:cs typeface="+mn-cs"/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4B55609-F8C4-4A71-A410-286691A672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0472" y="68627"/>
            <a:ext cx="3960812" cy="552062"/>
          </a:xfr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9062224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EC131-7E93-4E21-A3A0-1A53928AA2CA}" type="datetime1">
              <a:rPr kumimoji="1" lang="ja-JP" altLang="en-US" smtClean="0"/>
              <a:t>2026/5/20</a:t>
            </a:fld>
            <a:endParaRPr kumimoji="1"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538144" y="6491969"/>
            <a:ext cx="2311400" cy="365125"/>
          </a:xfrm>
        </p:spPr>
        <p:txBody>
          <a:bodyPr/>
          <a:lstStyle/>
          <a:p>
            <a:fld id="{619B85A0-BB21-4C42-9028-BB80073B34CD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71893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/>
        </p:nvSpPr>
        <p:spPr>
          <a:xfrm>
            <a:off x="0" y="6642000"/>
            <a:ext cx="9906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2DF90-A6ED-4A10-B24A-8E192E896765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7594600" y="656743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23687FF-647B-4F7E-A20E-637EB01FA9DF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0" y="0"/>
            <a:ext cx="9906000" cy="5486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0" y="271681"/>
            <a:ext cx="338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200" b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2026</a:t>
            </a:r>
            <a:r>
              <a:rPr kumimoji="1" lang="ja-JP" altLang="en-US" sz="1200" b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年度　</a:t>
            </a:r>
            <a:r>
              <a:rPr kumimoji="1" lang="ja-JP" altLang="en-US" sz="1200" b="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住宅用太陽光・蓄電池研修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59477-32A0-4799-AD80-C098563D5CC0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8" name="Text Box 16"/>
          <p:cNvSpPr txBox="1">
            <a:spLocks noChangeArrowheads="1"/>
          </p:cNvSpPr>
          <p:nvPr userDrawn="1"/>
        </p:nvSpPr>
        <p:spPr bwMode="auto">
          <a:xfrm>
            <a:off x="6048044" y="6677175"/>
            <a:ext cx="3934883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ja-JP" sz="900" dirty="0">
                <a:ea typeface="ＭＳ Ｐゴシック" pitchFamily="50" charset="-128"/>
              </a:rPr>
              <a:t>Copyright</a:t>
            </a:r>
            <a:r>
              <a:rPr lang="ja-JP" altLang="en-US" sz="900" dirty="0">
                <a:ea typeface="ＭＳ Ｐゴシック" pitchFamily="50" charset="-128"/>
              </a:rPr>
              <a:t>　</a:t>
            </a:r>
            <a:r>
              <a:rPr lang="en-US" altLang="ja-JP" sz="900" dirty="0" err="1">
                <a:ea typeface="ＭＳ Ｐゴシック" pitchFamily="50" charset="-128"/>
              </a:rPr>
              <a:t>Funai</a:t>
            </a:r>
            <a:r>
              <a:rPr lang="en-US" altLang="ja-JP" sz="900" dirty="0">
                <a:ea typeface="ＭＳ Ｐゴシック" pitchFamily="50" charset="-128"/>
              </a:rPr>
              <a:t> Consulting Co.ltd</a:t>
            </a:r>
            <a:r>
              <a:rPr lang="ja-JP" altLang="en-US" sz="900" dirty="0">
                <a:ea typeface="ＭＳ Ｐゴシック" pitchFamily="50" charset="-128"/>
              </a:rPr>
              <a:t>　　禁転載・禁複写</a:t>
            </a:r>
          </a:p>
        </p:txBody>
      </p:sp>
      <p:sp>
        <p:nvSpPr>
          <p:cNvPr id="11" name="スライド番号プレースホルダ 5"/>
          <p:cNvSpPr txBox="1">
            <a:spLocks/>
          </p:cNvSpPr>
          <p:nvPr userDrawn="1"/>
        </p:nvSpPr>
        <p:spPr>
          <a:xfrm>
            <a:off x="3797300" y="660290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51D2E0-CC30-4DAC-88BB-E6AB37505372}" type="slidenum">
              <a:rPr kumimoji="1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682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4C9A310-3AB5-49FE-B1F9-2C427DCC18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6" t="1834" r="3141" b="3667"/>
          <a:stretch/>
        </p:blipFill>
        <p:spPr>
          <a:xfrm>
            <a:off x="-15552" y="-27384"/>
            <a:ext cx="9921552" cy="6888954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50DF95E-7A9A-442E-9966-946D2B47649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00B05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CD832A5-E759-420F-B835-DF29A241CBFB}"/>
              </a:ext>
            </a:extLst>
          </p:cNvPr>
          <p:cNvSpPr txBox="1"/>
          <p:nvPr/>
        </p:nvSpPr>
        <p:spPr>
          <a:xfrm>
            <a:off x="288032" y="1988840"/>
            <a:ext cx="9619052" cy="29238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ja-JP" alt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創蓄セット販売</a:t>
            </a:r>
            <a:endParaRPr lang="en-US" altLang="ja-JP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強化合宿</a:t>
            </a:r>
            <a:endParaRPr lang="en-US" altLang="ja-JP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lang="en-US" altLang="ja-JP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</a:t>
            </a:r>
            <a:r>
              <a:rPr lang="ja-JP" alt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r>
              <a:rPr lang="en-US" altLang="ja-JP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r>
              <a:rPr lang="ja-JP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月度）</a:t>
            </a:r>
            <a:endParaRPr kumimoji="1" lang="ja-JP" altLang="en-US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71E207B-1CE8-4FD8-B86D-32251E1C4C12}"/>
              </a:ext>
            </a:extLst>
          </p:cNvPr>
          <p:cNvSpPr txBox="1"/>
          <p:nvPr/>
        </p:nvSpPr>
        <p:spPr>
          <a:xfrm>
            <a:off x="4664968" y="4471938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2026.5.21</a:t>
            </a:r>
            <a:r>
              <a:rPr kumimoji="1" lang="ja-JP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</a:t>
            </a:r>
            <a:r>
              <a:rPr lang="en-US" altLang="ja-JP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23</a:t>
            </a:r>
            <a:r>
              <a:rPr kumimoji="1" lang="ja-JP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＠船井総研　大阪本社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B7CC725-B595-4742-A8BF-D882BB45AE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388" y="5736453"/>
            <a:ext cx="2309225" cy="47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798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318193" y="673532"/>
            <a:ext cx="20746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 dirty="0">
                <a:latin typeface="HGP明朝E" pitchFamily="18" charset="-128"/>
                <a:ea typeface="HGP明朝E" pitchFamily="18" charset="-128"/>
              </a:rPr>
              <a:t>聴く姿勢作り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144016" y="692752"/>
            <a:ext cx="128464" cy="468000"/>
          </a:xfrm>
          <a:prstGeom prst="round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1A8FB4C5-E35B-4CC0-8BD8-BD7F7D7B21ED}"/>
              </a:ext>
            </a:extLst>
          </p:cNvPr>
          <p:cNvGraphicFramePr>
            <a:graphicFrameLocks noGrp="1"/>
          </p:cNvGraphicFramePr>
          <p:nvPr/>
        </p:nvGraphicFramePr>
        <p:xfrm>
          <a:off x="144016" y="1412776"/>
          <a:ext cx="9467988" cy="1889902"/>
        </p:xfrm>
        <a:graphic>
          <a:graphicData uri="http://schemas.openxmlformats.org/drawingml/2006/table">
            <a:tbl>
              <a:tblPr/>
              <a:tblGrid>
                <a:gridCol w="792563">
                  <a:extLst>
                    <a:ext uri="{9D8B030D-6E8A-4147-A177-3AD203B41FA5}">
                      <a16:colId xmlns:a16="http://schemas.microsoft.com/office/drawing/2014/main" val="944090021"/>
                    </a:ext>
                  </a:extLst>
                </a:gridCol>
                <a:gridCol w="1289655">
                  <a:extLst>
                    <a:ext uri="{9D8B030D-6E8A-4147-A177-3AD203B41FA5}">
                      <a16:colId xmlns:a16="http://schemas.microsoft.com/office/drawing/2014/main" val="3969120859"/>
                    </a:ext>
                  </a:extLst>
                </a:gridCol>
                <a:gridCol w="2140855">
                  <a:extLst>
                    <a:ext uri="{9D8B030D-6E8A-4147-A177-3AD203B41FA5}">
                      <a16:colId xmlns:a16="http://schemas.microsoft.com/office/drawing/2014/main" val="1782643991"/>
                    </a:ext>
                  </a:extLst>
                </a:gridCol>
                <a:gridCol w="5244915">
                  <a:extLst>
                    <a:ext uri="{9D8B030D-6E8A-4147-A177-3AD203B41FA5}">
                      <a16:colId xmlns:a16="http://schemas.microsoft.com/office/drawing/2014/main" val="94799754"/>
                    </a:ext>
                  </a:extLst>
                </a:gridCol>
              </a:tblGrid>
              <a:tr h="24019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項目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ゴール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ルール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詳細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946504"/>
                  </a:ext>
                </a:extLst>
              </a:tr>
              <a:tr h="24019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前準備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必要な情報を揃える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①商談テーブルの確認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検針票・ご自宅の図面が手元にある状態で夫婦両主権者・</a:t>
                      </a: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時間以上の時間を抑える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600713"/>
                  </a:ext>
                </a:extLst>
              </a:tr>
              <a:tr h="24019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聴く姿勢作り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商談の趣旨を認識する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②自社の概要・今回の訪問趣旨の理解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この地域で太陽光・蓄電池の実績が豊富にあり、今回はその説明であることを理解してもらう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679193"/>
                  </a:ext>
                </a:extLst>
              </a:tr>
              <a:tr h="240193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③太陽光＋蓄電池の未導入理由の確認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これまで太陽光＋蓄電池を導入してこなかった理由を尋ねる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9005203"/>
                  </a:ext>
                </a:extLst>
              </a:tr>
              <a:tr h="240193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④前向な検討に対する言質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以前導入しなかった理由が解消できれば、導入する予定であることに同意を得る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0778150"/>
                  </a:ext>
                </a:extLst>
              </a:tr>
              <a:tr h="240193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⑤太陽光が当たり前であることの理解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太陽光は</a:t>
                      </a: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10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年の歴史を経て、蓄電池とのセット導入が標準になったことを理解してもらう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584684"/>
                  </a:ext>
                </a:extLst>
              </a:tr>
              <a:tr h="240193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⑥直近の国策動向のおさらい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直近の国策を踏まえ、ますますスマートハウスのお家が普及することを実感してもらう</a:t>
                      </a:r>
                    </a:p>
                  </a:txBody>
                  <a:tcPr marL="4910" marR="4910" marT="49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521071"/>
                  </a:ext>
                </a:extLst>
              </a:tr>
            </a:tbl>
          </a:graphicData>
        </a:graphic>
      </p:graphicFrame>
      <p:pic>
        <p:nvPicPr>
          <p:cNvPr id="16" name="Picture 6">
            <a:extLst>
              <a:ext uri="{FF2B5EF4-FFF2-40B4-BE49-F238E27FC236}">
                <a16:creationId xmlns:a16="http://schemas.microsoft.com/office/drawing/2014/main" id="{D676CD8A-2D39-47CA-AF46-A0DFEF78D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3584" y="2924944"/>
            <a:ext cx="6866716" cy="432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8700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12</a:t>
            </a:fld>
            <a:endParaRPr kumimoji="1"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318193" y="673532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 dirty="0">
                <a:latin typeface="HGP明朝E" pitchFamily="18" charset="-128"/>
                <a:ea typeface="HGP明朝E" pitchFamily="18" charset="-128"/>
              </a:rPr>
              <a:t>必要性訴求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144016" y="692752"/>
            <a:ext cx="128464" cy="468000"/>
          </a:xfrm>
          <a:prstGeom prst="round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50" name="Picture 2" descr="プロスペクト理論とは？行動経済学を身近な例でわかりやすく解説！ - STUDY HACKER（スタディーハッカー）｜社会人の勉強法＆英語学習">
            <a:extLst>
              <a:ext uri="{FF2B5EF4-FFF2-40B4-BE49-F238E27FC236}">
                <a16:creationId xmlns:a16="http://schemas.microsoft.com/office/drawing/2014/main" id="{A19B29EF-26C0-46BB-A851-DE4EFC05A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736" y="2996952"/>
            <a:ext cx="5065259" cy="358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3170156-82AA-4803-A668-A1C7C12FF4BD}"/>
              </a:ext>
            </a:extLst>
          </p:cNvPr>
          <p:cNvSpPr txBox="1"/>
          <p:nvPr/>
        </p:nvSpPr>
        <p:spPr>
          <a:xfrm>
            <a:off x="283543" y="1355284"/>
            <a:ext cx="93042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①プロスペクト理論（</a:t>
            </a:r>
            <a:r>
              <a:rPr lang="ja-JP" altLang="en-US" sz="2400" b="1" dirty="0">
                <a:solidFill>
                  <a:srgbClr val="FF0000"/>
                </a:solidFill>
              </a:rPr>
              <a:t>損失回避</a:t>
            </a:r>
            <a:r>
              <a:rPr lang="ja-JP" altLang="en-US" sz="2400" b="1" dirty="0"/>
              <a:t>）</a:t>
            </a:r>
            <a:endParaRPr kumimoji="1" lang="en-US" altLang="ja-JP" b="1" dirty="0"/>
          </a:p>
          <a:p>
            <a:r>
              <a:rPr kumimoji="1" lang="ja-JP" altLang="en-US" dirty="0"/>
              <a:t>人は、利益よりも損失の方が大きく感じられる</a:t>
            </a:r>
            <a:endParaRPr kumimoji="1" lang="en-US" altLang="ja-JP" dirty="0"/>
          </a:p>
          <a:p>
            <a:r>
              <a:rPr kumimoji="1" lang="ja-JP" altLang="en-US" dirty="0"/>
              <a:t>例：</a:t>
            </a:r>
            <a:r>
              <a:rPr kumimoji="1" lang="en-US" altLang="ja-JP" dirty="0"/>
              <a:t>5%off!&lt;</a:t>
            </a:r>
            <a:r>
              <a:rPr kumimoji="1" lang="ja-JP" altLang="en-US" dirty="0"/>
              <a:t>消費税</a:t>
            </a:r>
            <a:r>
              <a:rPr kumimoji="1" lang="en-US" altLang="ja-JP" dirty="0"/>
              <a:t>5%</a:t>
            </a:r>
            <a:r>
              <a:rPr kumimoji="1" lang="ja-JP" altLang="en-US" dirty="0"/>
              <a:t>増税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必要性訴求－電気代が高騰⇒</a:t>
            </a:r>
            <a:r>
              <a:rPr lang="ja-JP" altLang="en-US" b="1" dirty="0"/>
              <a:t>払いたくない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52281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4C9A310-3AB5-49FE-B1F9-2C427DCC18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6" t="1834" r="3141" b="3667"/>
          <a:stretch/>
        </p:blipFill>
        <p:spPr>
          <a:xfrm>
            <a:off x="-15552" y="-27384"/>
            <a:ext cx="9921552" cy="6888954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50DF95E-7A9A-442E-9966-946D2B47649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accent6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CD832A5-E759-420F-B835-DF29A241CBFB}"/>
              </a:ext>
            </a:extLst>
          </p:cNvPr>
          <p:cNvSpPr txBox="1"/>
          <p:nvPr/>
        </p:nvSpPr>
        <p:spPr>
          <a:xfrm>
            <a:off x="288032" y="1988840"/>
            <a:ext cx="9619052" cy="29238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ja-JP" alt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創蓄セット販売</a:t>
            </a:r>
            <a:endParaRPr lang="en-US" altLang="ja-JP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強化合宿   </a:t>
            </a:r>
            <a:r>
              <a:rPr lang="en-US" altLang="ja-JP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日目</a:t>
            </a:r>
            <a:endParaRPr lang="en-US" altLang="ja-JP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lang="en-US" altLang="ja-JP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</a:t>
            </a:r>
            <a:r>
              <a:rPr lang="ja-JP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r>
              <a:rPr lang="en-US" altLang="ja-JP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r>
              <a:rPr lang="ja-JP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月度）</a:t>
            </a:r>
            <a:endParaRPr kumimoji="1" lang="ja-JP" altLang="en-US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71E207B-1CE8-4FD8-B86D-32251E1C4C12}"/>
              </a:ext>
            </a:extLst>
          </p:cNvPr>
          <p:cNvSpPr txBox="1"/>
          <p:nvPr/>
        </p:nvSpPr>
        <p:spPr>
          <a:xfrm>
            <a:off x="4664968" y="4471938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2026.</a:t>
            </a:r>
            <a:r>
              <a:rPr lang="en-US" altLang="ja-JP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05.21</a:t>
            </a:r>
            <a:r>
              <a:rPr kumimoji="1" lang="ja-JP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</a:t>
            </a:r>
            <a:r>
              <a:rPr lang="en-US" altLang="ja-JP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23</a:t>
            </a:r>
            <a:r>
              <a:rPr kumimoji="1" lang="ja-JP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＠船井総研　大阪本社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B7CC725-B595-4742-A8BF-D882BB45AE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388" y="5736453"/>
            <a:ext cx="2309225" cy="47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131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7BCF2F6-A9D4-4214-AD9D-9226879B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25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1D1524-270B-4C28-B408-636DAD047580}"/>
              </a:ext>
            </a:extLst>
          </p:cNvPr>
          <p:cNvSpPr txBox="1"/>
          <p:nvPr/>
        </p:nvSpPr>
        <p:spPr>
          <a:xfrm>
            <a:off x="-51556" y="1412776"/>
            <a:ext cx="1000911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400" b="1" dirty="0"/>
              <a:t>＜ポイント＞</a:t>
            </a:r>
            <a:endParaRPr lang="en-US" altLang="ja-JP" sz="4400" b="1" dirty="0"/>
          </a:p>
          <a:p>
            <a:pPr algn="ctr"/>
            <a:endParaRPr lang="en-US" altLang="ja-JP" sz="4400" b="1" dirty="0"/>
          </a:p>
          <a:p>
            <a:pPr algn="ctr"/>
            <a:r>
              <a:rPr lang="ja-JP" altLang="en-US" sz="4400" b="1" dirty="0"/>
              <a:t>✖シュミレーション金額</a:t>
            </a:r>
            <a:endParaRPr lang="en-US" altLang="ja-JP" sz="4400" b="1" dirty="0"/>
          </a:p>
          <a:p>
            <a:pPr algn="ctr"/>
            <a:r>
              <a:rPr lang="ja-JP" altLang="en-US" sz="16600" b="1" dirty="0">
                <a:solidFill>
                  <a:srgbClr val="FF0000"/>
                </a:solidFill>
              </a:rPr>
              <a:t>◎安心感</a:t>
            </a:r>
            <a:endParaRPr lang="en-US" altLang="ja-JP" sz="16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2393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45B49C7-0B6F-48CA-A3E5-7B7D7644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50</a:t>
            </a:fld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98E1B9D-7741-4E60-BAD6-F0FD359993DE}"/>
              </a:ext>
            </a:extLst>
          </p:cNvPr>
          <p:cNvSpPr/>
          <p:nvPr/>
        </p:nvSpPr>
        <p:spPr>
          <a:xfrm>
            <a:off x="318193" y="673532"/>
            <a:ext cx="2021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 dirty="0">
                <a:latin typeface="HGP明朝E" pitchFamily="18" charset="-128"/>
                <a:ea typeface="HGP明朝E" pitchFamily="18" charset="-128"/>
              </a:rPr>
              <a:t>クロージング</a:t>
            </a:r>
          </a:p>
        </p:txBody>
      </p:sp>
      <p:sp>
        <p:nvSpPr>
          <p:cNvPr id="4" name="角丸四角形 5">
            <a:extLst>
              <a:ext uri="{FF2B5EF4-FFF2-40B4-BE49-F238E27FC236}">
                <a16:creationId xmlns:a16="http://schemas.microsoft.com/office/drawing/2014/main" id="{0F708FA6-39C5-48F4-8C52-4B30C54398B6}"/>
              </a:ext>
            </a:extLst>
          </p:cNvPr>
          <p:cNvSpPr/>
          <p:nvPr/>
        </p:nvSpPr>
        <p:spPr>
          <a:xfrm>
            <a:off x="144016" y="692752"/>
            <a:ext cx="128464" cy="468000"/>
          </a:xfrm>
          <a:prstGeom prst="round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24D28C3-B9CC-43DC-81BF-F851D6E466F8}"/>
              </a:ext>
            </a:extLst>
          </p:cNvPr>
          <p:cNvSpPr txBox="1"/>
          <p:nvPr/>
        </p:nvSpPr>
        <p:spPr>
          <a:xfrm>
            <a:off x="107504" y="1477808"/>
            <a:ext cx="892899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ja-JP" altLang="en-US" sz="2400" dirty="0">
                <a:solidFill>
                  <a:srgbClr val="362A2A"/>
                </a:solidFill>
                <a:latin typeface="HGPｺﾞｼｯｸE" pitchFamily="50" charset="-128"/>
                <a:ea typeface="HGPｺﾞｼｯｸE" pitchFamily="50" charset="-128"/>
              </a:rPr>
              <a:t>クロージングとは、買うべき理由を説明、説得して契約を迫る</a:t>
            </a:r>
            <a:endParaRPr lang="en-US" altLang="ja-JP" sz="2400" dirty="0">
              <a:solidFill>
                <a:srgbClr val="362A2A"/>
              </a:solidFill>
              <a:latin typeface="HGPｺﾞｼｯｸE" pitchFamily="50" charset="-128"/>
              <a:ea typeface="HGPｺﾞｼｯｸE" pitchFamily="50" charset="-128"/>
            </a:endParaRPr>
          </a:p>
          <a:p>
            <a:pPr algn="ctr">
              <a:defRPr/>
            </a:pPr>
            <a:r>
              <a:rPr lang="ja-JP" altLang="en-US" sz="2400" dirty="0">
                <a:solidFill>
                  <a:srgbClr val="362A2A"/>
                </a:solidFill>
                <a:latin typeface="HGPｺﾞｼｯｸE" pitchFamily="50" charset="-128"/>
                <a:ea typeface="HGPｺﾞｼｯｸE" pitchFamily="50" charset="-128"/>
              </a:rPr>
              <a:t>行為ではない</a:t>
            </a:r>
            <a:endParaRPr lang="en-US" altLang="ja-JP" sz="2400" dirty="0">
              <a:solidFill>
                <a:srgbClr val="362A2A"/>
              </a:solidFill>
              <a:latin typeface="HGPｺﾞｼｯｸE" pitchFamily="50" charset="-128"/>
              <a:ea typeface="HGPｺﾞｼｯｸE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srgbClr val="362A2A"/>
              </a:solidFill>
              <a:latin typeface="HGPｺﾞｼｯｸE" pitchFamily="50" charset="-128"/>
              <a:ea typeface="HGPｺﾞｼｯｸE" pitchFamily="50" charset="-128"/>
            </a:endParaRPr>
          </a:p>
          <a:p>
            <a:pPr algn="ctr"/>
            <a:endParaRPr lang="en-US" altLang="ja-JP" dirty="0">
              <a:latin typeface="HGPｺﾞｼｯｸE" pitchFamily="50" charset="-128"/>
              <a:ea typeface="HGPｺﾞｼｯｸE" pitchFamily="50" charset="-128"/>
            </a:endParaRPr>
          </a:p>
          <a:p>
            <a:pPr algn="ctr"/>
            <a:r>
              <a:rPr lang="ja-JP" altLang="en-US" sz="4000" dirty="0">
                <a:solidFill>
                  <a:srgbClr val="FF0000"/>
                </a:solidFill>
                <a:latin typeface="HGPｺﾞｼｯｸE" pitchFamily="50" charset="-128"/>
                <a:ea typeface="HGPｺﾞｼｯｸE" pitchFamily="50" charset="-128"/>
              </a:rPr>
              <a:t>クロージングとはお客様の意思決定を</a:t>
            </a:r>
            <a:endParaRPr lang="en-US" altLang="ja-JP" sz="4000" dirty="0">
              <a:solidFill>
                <a:srgbClr val="FF0000"/>
              </a:solidFill>
              <a:latin typeface="HGPｺﾞｼｯｸE" pitchFamily="50" charset="-128"/>
              <a:ea typeface="HGPｺﾞｼｯｸE" pitchFamily="50" charset="-128"/>
            </a:endParaRPr>
          </a:p>
          <a:p>
            <a:pPr algn="ctr"/>
            <a:r>
              <a:rPr lang="ja-JP" altLang="en-US" sz="4000" dirty="0">
                <a:solidFill>
                  <a:srgbClr val="FF0000"/>
                </a:solidFill>
                <a:latin typeface="HGPｺﾞｼｯｸE" pitchFamily="50" charset="-128"/>
                <a:ea typeface="HGPｺﾞｼｯｸE" pitchFamily="50" charset="-128"/>
              </a:rPr>
              <a:t>サポートすることである</a:t>
            </a:r>
            <a:endParaRPr lang="en-US" altLang="ja-JP" sz="4000" dirty="0">
              <a:solidFill>
                <a:srgbClr val="FF0000"/>
              </a:solidFill>
              <a:latin typeface="HGPｺﾞｼｯｸE" pitchFamily="50" charset="-128"/>
              <a:ea typeface="HGPｺﾞｼｯｸE" pitchFamily="50" charset="-128"/>
            </a:endParaRPr>
          </a:p>
          <a:p>
            <a:pPr algn="ctr"/>
            <a:endParaRPr lang="en-US" altLang="ja-JP" sz="4000" dirty="0">
              <a:solidFill>
                <a:srgbClr val="FF0000"/>
              </a:solidFill>
              <a:latin typeface="HGPｺﾞｼｯｸE" pitchFamily="50" charset="-128"/>
              <a:ea typeface="HGPｺﾞｼｯｸE" pitchFamily="50" charset="-128"/>
            </a:endParaRPr>
          </a:p>
          <a:p>
            <a:pPr algn="ctr">
              <a:defRPr/>
            </a:pPr>
            <a:r>
              <a:rPr lang="ja-JP" altLang="en-US" sz="2800" dirty="0">
                <a:solidFill>
                  <a:srgbClr val="362A2A"/>
                </a:solidFill>
                <a:latin typeface="HGPｺﾞｼｯｸE" pitchFamily="50" charset="-128"/>
                <a:ea typeface="HGPｺﾞｼｯｸE" pitchFamily="50" charset="-128"/>
              </a:rPr>
              <a:t>つまり、「買わない理由を解消し、お客様自身に買うべき</a:t>
            </a:r>
            <a:endParaRPr lang="en-US" altLang="ja-JP" sz="2800" dirty="0">
              <a:solidFill>
                <a:srgbClr val="362A2A"/>
              </a:solidFill>
              <a:latin typeface="HGPｺﾞｼｯｸE" pitchFamily="50" charset="-128"/>
              <a:ea typeface="HGPｺﾞｼｯｸE" pitchFamily="50" charset="-128"/>
            </a:endParaRPr>
          </a:p>
          <a:p>
            <a:pPr algn="ctr">
              <a:defRPr/>
            </a:pPr>
            <a:r>
              <a:rPr lang="ja-JP" altLang="en-US" sz="2800" dirty="0">
                <a:solidFill>
                  <a:srgbClr val="362A2A"/>
                </a:solidFill>
                <a:latin typeface="HGPｺﾞｼｯｸE" pitchFamily="50" charset="-128"/>
                <a:ea typeface="HGPｺﾞｼｯｸE" pitchFamily="50" charset="-128"/>
              </a:rPr>
              <a:t>理由を発見していただく作業」のことである</a:t>
            </a:r>
            <a:endParaRPr lang="en-US" altLang="ja-JP" sz="2800" dirty="0">
              <a:solidFill>
                <a:srgbClr val="362A2A"/>
              </a:solidFill>
              <a:latin typeface="HGPｺﾞｼｯｸE" pitchFamily="50" charset="-128"/>
              <a:ea typeface="HGPｺﾞｼｯｸE" pitchFamily="50" charset="-128"/>
            </a:endParaRPr>
          </a:p>
          <a:p>
            <a:pPr algn="ctr"/>
            <a:endParaRPr lang="ja-JP" altLang="en-US" sz="3600" dirty="0">
              <a:solidFill>
                <a:srgbClr val="FF0000"/>
              </a:solidFill>
              <a:latin typeface="HGPｺﾞｼｯｸE" pitchFamily="50" charset="-128"/>
              <a:ea typeface="HGPｺﾞｼｯｸE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595066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119793" y="470959"/>
            <a:ext cx="9666414" cy="216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この度は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【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㈱船井総合研究所　住宅用太陽光・蓄電池の売り方マスター研修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】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にご参加いただき、誠にありがとうございました。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１．講座及びテキストに関するお問い合わせは、下記までお願いいたします。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２．本テキストの著作権は、引用部分を除き、全て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(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株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)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船井総合研究所に帰属しています。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３．本セミナーで入手したテキスト、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DVD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、その他の文書等は許可なく複製を作成すること、また二次利用することを禁止します。</a:t>
            </a:r>
            <a:b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４．本セミナーの内容と同じ、または類似した研修の開催や、第三者に行わせることを禁じます。</a:t>
            </a:r>
            <a:b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５．録音、録画、撮影などの行為はお断りします。</a:t>
            </a:r>
            <a:b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６．本セミナーで入手したテキストおよび資料等をＳＮＳ等を通じて第三者に開示することを禁じます。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７．なお、上記３～６の事項が発覚した場合、本人または法人に対して損害賠償を行う場合があります。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８．当社ではセミナー中の様子を撮影し、当社の宣伝に使用することがあります。あらかじめご了承ください。　　　　 　   　　　　　　　　　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92512" y="2926534"/>
            <a:ext cx="9702351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66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株式会社船井総合研究所</a:t>
            </a:r>
            <a:endParaRPr kumimoji="1" lang="en-US" altLang="ja-JP" sz="22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『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住宅用太陽光・蓄電池の売り方マスター研修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』</a:t>
            </a:r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92512" y="4641034"/>
            <a:ext cx="9702351" cy="195631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66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1397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2026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年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１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1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月発行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著　者　 ：　株式会社船井総合研究所　　専門工事支援部 北 隆人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発行所　：　株式会社船井総合研究所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【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大阪本社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】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　　　　　　　　　　　　　　　　　　　　　　　　　　　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【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東京本社（サステナグローススクエア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TOKYO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）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】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〒５４１－００４１　大阪市中央区北浜４－４－１０　　　　　　　〒１０４－００２８　東京都中央区八重洲二丁目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2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番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1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号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　　　　　　　　　　　　　　　　　　　　　　　　　　　　　　　　　　　　　　　　　　　　　　東京ミッドタウン八重洲 八重洲セントラルタワー 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35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階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ＴＥＬ　０６－６２３２－０２７１（代表）　　　　　　　　　　　　　　　　　ＴＥＬ：０３－４３５６－０２７１（通）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E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・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Mail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　 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takato-kita@funaisoken.co.jp</a:t>
            </a:r>
            <a:endParaRPr kumimoji="1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2512" y="4069534"/>
            <a:ext cx="9702351" cy="571500"/>
          </a:xfrm>
          <a:prstGeom prst="rect">
            <a:avLst/>
          </a:prstGeom>
          <a:solidFill>
            <a:srgbClr val="7030A0"/>
          </a:solidFill>
          <a:ln w="19050">
            <a:solidFill>
              <a:srgbClr val="000066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機密情報／無断転用禁止　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474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お気に入り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お気に入り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【ソーラープロジェクト大社様】2024年11月度お打ち合わせ資料 .pptx" id="{F2A59035-B9C3-4A75-B90B-5E71CD3F6C43}" vid="{552278E5-979D-4048-BBE5-2AFDF89082E8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25900</TotalTime>
  <Words>6897</Words>
  <Application>Microsoft Office PowerPoint</Application>
  <PresentationFormat>A4 210 x 297 mm</PresentationFormat>
  <Paragraphs>716</Paragraphs>
  <Slides>71</Slides>
  <Notes>32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71</vt:i4>
      </vt:variant>
    </vt:vector>
  </HeadingPairs>
  <TitlesOfParts>
    <vt:vector size="88" baseType="lpstr">
      <vt:lpstr>BIZ UDPゴシック</vt:lpstr>
      <vt:lpstr>Google Sans Text</vt:lpstr>
      <vt:lpstr>HGPｺﾞｼｯｸE</vt:lpstr>
      <vt:lpstr>HGP創英角ｺﾞｼｯｸUB</vt:lpstr>
      <vt:lpstr>HGP明朝E</vt:lpstr>
      <vt:lpstr>HGSｺﾞｼｯｸM</vt:lpstr>
      <vt:lpstr>Meiryo UI</vt:lpstr>
      <vt:lpstr>メイリオ</vt:lpstr>
      <vt:lpstr>游ゴシック</vt:lpstr>
      <vt:lpstr>游ゴシック体</vt:lpstr>
      <vt:lpstr>Arial</vt:lpstr>
      <vt:lpstr>Calibri</vt:lpstr>
      <vt:lpstr>Lucida Calligraphy</vt:lpstr>
      <vt:lpstr>Monotype Corsiva</vt:lpstr>
      <vt:lpstr>Wingdings</vt:lpstr>
      <vt:lpstr>Office テーマ</vt:lpstr>
      <vt:lpstr>1_Office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船井総合研究所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F2038</dc:creator>
  <cp:lastModifiedBy>Ryusho Sameshima</cp:lastModifiedBy>
  <cp:revision>713</cp:revision>
  <cp:lastPrinted>2025-11-06T11:25:07Z</cp:lastPrinted>
  <dcterms:created xsi:type="dcterms:W3CDTF">2017-03-26T07:08:56Z</dcterms:created>
  <dcterms:modified xsi:type="dcterms:W3CDTF">2026-05-20T08:32:28Z</dcterms:modified>
</cp:coreProperties>
</file>